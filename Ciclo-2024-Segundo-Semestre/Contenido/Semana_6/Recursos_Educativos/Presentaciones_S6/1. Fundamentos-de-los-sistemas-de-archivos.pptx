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Poppins Light"/>
      <p:regular r:id="rId15"/>
      <p:bold r:id="rId16"/>
      <p:italic r:id="rId17"/>
      <p:boldItalic r:id="rId18"/>
    </p:embeddedFont>
    <p:embeddedFont>
      <p:font typeface="Roboto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56uUMbO6hB1hALYXAcQeySiXi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.fntdata"/><Relationship Id="rId11" Type="http://schemas.openxmlformats.org/officeDocument/2006/relationships/slide" Target="slides/slide7.xml"/><Relationship Id="rId22" Type="http://schemas.openxmlformats.org/officeDocument/2006/relationships/font" Target="fonts/Roboto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Ligh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Light-regular.fntdata"/><Relationship Id="rId14" Type="http://schemas.openxmlformats.org/officeDocument/2006/relationships/slide" Target="slides/slide10.xml"/><Relationship Id="rId17" Type="http://schemas.openxmlformats.org/officeDocument/2006/relationships/font" Target="fonts/PoppinsLight-italic.fntdata"/><Relationship Id="rId16" Type="http://schemas.openxmlformats.org/officeDocument/2006/relationships/font" Target="fonts/PoppinsLight-bold.fntdata"/><Relationship Id="rId5" Type="http://schemas.openxmlformats.org/officeDocument/2006/relationships/slide" Target="slides/slide1.xml"/><Relationship Id="rId19" Type="http://schemas.openxmlformats.org/officeDocument/2006/relationships/font" Target="fonts/RobotoLight-regular.fntdata"/><Relationship Id="rId6" Type="http://schemas.openxmlformats.org/officeDocument/2006/relationships/slide" Target="slides/slide2.xml"/><Relationship Id="rId18" Type="http://schemas.openxmlformats.org/officeDocument/2006/relationships/font" Target="fonts/Poppins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6280190" y="1062633"/>
            <a:ext cx="7556421" cy="2934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6150"/>
              <a:buFont typeface="Poppins Light"/>
              <a:buNone/>
            </a:pPr>
            <a:r>
              <a:rPr b="0" i="0" lang="en-US" sz="61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Fundamentos de los sistemas de archivos</a:t>
            </a:r>
            <a:endParaRPr b="0" i="0" sz="61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6280190" y="4337447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son la piedra angular de cualquier sistema operativo, responsables de gestionar y organizar los datos almacenados en los dispositivos de almacenamiento. </a:t>
            </a:r>
            <a:r>
              <a:rPr lang="en-US" sz="17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</a:t>
            </a: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xploraremos los conceptos fundamentales que sustentan la estructura y funcionamiento de los sistemas de archivos, sentando las bases para una comprensión más profunda de este elemento crucial de la tecnología informática.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726638" y="1032986"/>
            <a:ext cx="7690723" cy="1297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50"/>
              <a:buFont typeface="Poppins Light"/>
              <a:buNone/>
            </a:pPr>
            <a:r>
              <a:rPr b="0" i="0" lang="en-US" sz="40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 a los sistemas de archivos</a:t>
            </a:r>
            <a:endParaRPr b="0" i="0" sz="40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726638" y="2875597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914638" y="2953345"/>
            <a:ext cx="90964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45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1401247" y="2875597"/>
            <a:ext cx="3067050" cy="648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¿Qué son los sistemas de archivos?</a:t>
            </a:r>
            <a:endParaRPr b="0" i="0" sz="20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401247" y="3649028"/>
            <a:ext cx="3067050" cy="1993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son el mecanismo que permite a los sistemas operativos organizar y gestionar los datos almacenados en los dispositivos de almacenamiento.</a:t>
            </a:r>
            <a:endParaRPr b="0" i="0" sz="16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4675823" y="2875597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820245" y="2953345"/>
            <a:ext cx="178118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4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5350431" y="2875597"/>
            <a:ext cx="3067050" cy="648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Importancia de los sistemas de archivos</a:t>
            </a:r>
            <a:endParaRPr b="0" i="0" sz="20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5350431" y="3649028"/>
            <a:ext cx="3067050" cy="1993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Desempeñan un papel crucial en la estructura y funcionamiento de los sistemas operativos, facilitando el acceso, la organización y la seguridad de la información.</a:t>
            </a:r>
            <a:endParaRPr b="0" i="0" sz="160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726638" y="6083141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869037" y="6160889"/>
            <a:ext cx="182166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4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1401247" y="6083141"/>
            <a:ext cx="2728793" cy="32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 clave</a:t>
            </a:r>
            <a:endParaRPr b="0" i="0" sz="20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1401247" y="6532126"/>
            <a:ext cx="7016115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Incluyen la capacidad de crear, modificar, eliminar y organizar archivos y directorios, así como controlar el acceso y la integridad de los datos.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2358509"/>
            <a:ext cx="124842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 básica de un sistema de archivos</a:t>
            </a:r>
            <a:endParaRPr b="0" i="0" sz="44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Archivos</a:t>
            </a:r>
            <a:endParaRPr b="0" i="0" sz="22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archivos son la unidad básica de almacenamiento de datos, que contienen información estructurada y organizada.</a:t>
            </a:r>
            <a:endParaRPr b="0" i="0" sz="17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Directorios</a:t>
            </a:r>
            <a:endParaRPr b="0" i="0" sz="22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directorios son contenedores que agrupan y organizan archivos y otros directorios en una estructura jerárquica.</a:t>
            </a:r>
            <a:endParaRPr b="0" i="0" sz="17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Metadatos</a:t>
            </a:r>
            <a:endParaRPr b="0" i="0" sz="22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metadatos son información adicional asociada a los archivos y directorios, como permisos, fechas de creación y modificación.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6201489" y="1048107"/>
            <a:ext cx="7713821" cy="127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00"/>
              <a:buFont typeface="Poppins Light"/>
              <a:buNone/>
            </a:pPr>
            <a:r>
              <a:rPr b="0" i="0" lang="en-US" sz="40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Gestión de archivos y directorios</a:t>
            </a:r>
            <a:endParaRPr b="0" i="0" sz="400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6201489" y="2631400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413421" y="2843332"/>
            <a:ext cx="2909054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Creación y eliminación</a:t>
            </a:r>
            <a:endParaRPr b="0" i="0" sz="20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6413421" y="3285053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permiten crear, renombrar, mover y eliminar archivos y directorios de manera eficiente.</a:t>
            </a:r>
            <a:endParaRPr b="0" i="0" sz="16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10160556" y="2631400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0372487" y="2843332"/>
            <a:ext cx="2553891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Permisos y accesos</a:t>
            </a:r>
            <a:endParaRPr b="0" i="0" sz="200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10372487" y="3285053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controlan los permisos de acceso a archivos y directorios, asegurando la privacidad y seguridad de la información.</a:t>
            </a:r>
            <a:endParaRPr b="0" i="0" sz="16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6201489" y="5008602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413421" y="5220533"/>
            <a:ext cx="3050262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Organización jerárquica</a:t>
            </a:r>
            <a:endParaRPr b="0" i="0" sz="200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6413421" y="5662255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estructura de directorios y subdirectorios permite a los usuarios organizar y navegar fácilmente a través de sus archivos.</a:t>
            </a:r>
            <a:endParaRPr b="0" i="0" sz="16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10160556" y="5008602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0372487" y="5220533"/>
            <a:ext cx="2553891" cy="31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Búsqueda y filtrado</a:t>
            </a:r>
            <a:endParaRPr b="0" i="0" sz="20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10372487" y="5662255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Las funciones de búsqueda y filtrado facilitan la localización de archivos específicos dentro del sistema de archivos.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12219" y="599242"/>
            <a:ext cx="7919561" cy="109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400"/>
              <a:buFont typeface="Poppins Light"/>
              <a:buNone/>
            </a:pPr>
            <a:r>
              <a:rPr b="0" i="0" lang="en-US" sz="34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Operaciones de entrada/salida en sistemas de archivos</a:t>
            </a:r>
            <a:endParaRPr b="0" i="0" sz="340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863203" y="1954887"/>
            <a:ext cx="22860" cy="5675352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48583" y="2337078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77823" y="2151698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36295" y="2217301"/>
            <a:ext cx="76676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05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1836777" y="2129790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Abrir</a:t>
            </a:r>
            <a:endParaRPr b="0" i="0" sz="17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1836777" y="2508052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operación de abrir un archivo permite acceder a su contenido y prepararlo para posteriores operaciones de lectura y escritura.</a:t>
            </a:r>
            <a:endParaRPr b="0" i="0" sz="135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1048583" y="3799642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77823" y="3614261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99505" y="3679865"/>
            <a:ext cx="150138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05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1836777" y="3592354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Leer</a:t>
            </a:r>
            <a:endParaRPr b="0" i="0" sz="17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1836777" y="3970615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lectura de un archivo extrae datos desde el dispositivo de almacenamiento y los transfiere a la memoria del sistema operativo.</a:t>
            </a:r>
            <a:endParaRPr b="0" i="0" sz="13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1048583" y="5262205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77823" y="5076825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797838" y="5142428"/>
            <a:ext cx="153472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0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1836777" y="5054918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Escribir</a:t>
            </a:r>
            <a:endParaRPr b="0" i="0" sz="17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1836777" y="5433179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escritura de un archivo transfiere datos desde la memoria del sistema operativo al dispositivo de almacenamiento.</a:t>
            </a:r>
            <a:endParaRPr b="0" i="0" sz="13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1048583" y="6724769"/>
            <a:ext cx="612219" cy="22860"/>
          </a:xfrm>
          <a:prstGeom prst="roundRect">
            <a:avLst>
              <a:gd fmla="val 32143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77823" y="6539389"/>
            <a:ext cx="393621" cy="393621"/>
          </a:xfrm>
          <a:prstGeom prst="roundRect">
            <a:avLst>
              <a:gd fmla="val 1866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94147" y="6604992"/>
            <a:ext cx="160853" cy="2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endParaRPr b="0" i="0" sz="20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1836777" y="6517481"/>
            <a:ext cx="2186821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Poppins Light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Cerrar</a:t>
            </a:r>
            <a:endParaRPr b="0" i="0" sz="170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1836777" y="6895743"/>
            <a:ext cx="6695003" cy="55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operación de cerrar un archivo completa las transacciones pendientes y libera los recursos utilizados por el archivo.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722114" y="889040"/>
            <a:ext cx="7690842" cy="644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50"/>
              <a:buFont typeface="Poppins Light"/>
              <a:buNone/>
            </a:pPr>
            <a:r>
              <a:rPr b="0" i="0" lang="en-US" sz="40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Tipos de sistemas de archivos</a:t>
            </a:r>
            <a:endParaRPr b="0" i="0" sz="405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114" y="1843207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722114" y="2565202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Windows</a:t>
            </a:r>
            <a:endParaRPr b="0" i="0" sz="20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722114" y="3011210"/>
            <a:ext cx="3695105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FAT, NTFS</a:t>
            </a:r>
            <a:endParaRPr b="0" i="0" sz="1600" u="none" cap="none" strike="noStrike"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6662" y="1843207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4726662" y="2565202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Linux</a:t>
            </a:r>
            <a:endParaRPr b="0" i="0" sz="20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4726662" y="3011210"/>
            <a:ext cx="3695224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ext2, ext3, ext4</a:t>
            </a:r>
            <a:endParaRPr b="0" i="0" sz="1600" u="none" cap="none" strike="noStrike"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114" y="4290179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22114" y="5012174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macOS</a:t>
            </a:r>
            <a:endParaRPr b="0" i="0" sz="20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722114" y="5458182"/>
            <a:ext cx="3695105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HFS, HFS+</a:t>
            </a:r>
            <a:endParaRPr b="0" i="0" sz="1600" u="none" cap="none" strike="noStrike"/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6662" y="4290179"/>
            <a:ext cx="515779" cy="51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4726662" y="5012174"/>
            <a:ext cx="2578894" cy="322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</a:t>
            </a:r>
            <a:endParaRPr b="0" i="0" sz="20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4726662" y="5458182"/>
            <a:ext cx="3695224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Sistemas de archivos comunes: HDFS, Amazon S3</a:t>
            </a:r>
            <a:endParaRPr b="0" i="0" sz="16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722114" y="6350317"/>
            <a:ext cx="7699772" cy="99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operativos utilizan diferentes sistemas de archivos, cada uno con sus propias características y funcionalidades. En las siguientes secciones, exploraremos algunos de los sistemas de archivos más comunes.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229350" y="751642"/>
            <a:ext cx="6356509" cy="66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150"/>
              <a:buFont typeface="Poppins Light"/>
              <a:buNone/>
            </a:pPr>
            <a:r>
              <a:rPr b="0" i="0" lang="en-US" sz="41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FAT</a:t>
            </a:r>
            <a:endParaRPr b="0" i="0" sz="415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6229350" y="1733312"/>
            <a:ext cx="3722965" cy="2935962"/>
          </a:xfrm>
          <a:prstGeom prst="roundRect">
            <a:avLst>
              <a:gd fmla="val 303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449139" y="1953101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205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6449139" y="2412087"/>
            <a:ext cx="3283387" cy="203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El sistema de archivos FAT (File Allocation Table) es uno de los más antiguos y ampliamente utilizados, especialmente en dispositivos más antiguos y sistemas operativos más simples.</a:t>
            </a:r>
            <a:endParaRPr b="0" i="0" sz="165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10164485" y="1733312"/>
            <a:ext cx="3722965" cy="2935962"/>
          </a:xfrm>
          <a:prstGeom prst="roundRect">
            <a:avLst>
              <a:gd fmla="val 303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0384274" y="1953101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</a:t>
            </a:r>
            <a:endParaRPr b="0" i="0" sz="205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10384274" y="2412087"/>
            <a:ext cx="3283387" cy="169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FAT utiliza una tabla de asignación de archivos para rastrear la ubicación de los datos en el disco, así como directorios para organizar los archivos.</a:t>
            </a:r>
            <a:endParaRPr b="0" i="0" sz="165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6229350" y="4881443"/>
            <a:ext cx="3722965" cy="2596396"/>
          </a:xfrm>
          <a:prstGeom prst="roundRect">
            <a:avLst>
              <a:gd fmla="val 343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49139" y="5101233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</a:t>
            </a:r>
            <a:endParaRPr b="0" i="0" sz="20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6449139" y="5560219"/>
            <a:ext cx="3283387" cy="135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FAT es simple, de fácil implementación y ofrece compatibilidad entre diversos sistemas operativos.</a:t>
            </a:r>
            <a:endParaRPr b="0" i="0" sz="165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10164485" y="4881443"/>
            <a:ext cx="3722965" cy="2596396"/>
          </a:xfrm>
          <a:prstGeom prst="roundRect">
            <a:avLst>
              <a:gd fmla="val 343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0384274" y="5101233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Limitaciones</a:t>
            </a:r>
            <a:endParaRPr b="0" i="0" sz="205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10384274" y="5560219"/>
            <a:ext cx="3283387" cy="169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Tiene limitaciones en cuanto al tamaño máximo de archivos y volúmenes, así como en la seguridad y la capacidad de recuperación de datos.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793790" y="1995607"/>
            <a:ext cx="713660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NTFS</a:t>
            </a:r>
            <a:endParaRPr b="0" i="0" sz="445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2200" u="none" cap="none" strike="noStrike"/>
          </a:p>
        </p:txBody>
      </p:sp>
      <p:sp>
        <p:nvSpPr>
          <p:cNvPr id="183" name="Google Shape;183;p8"/>
          <p:cNvSpPr/>
          <p:nvPr/>
        </p:nvSpPr>
        <p:spPr>
          <a:xfrm>
            <a:off x="793790" y="3852505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NTFS (New Technology File System) es el sistema de archivos nativo de los sistemas operativos Windows, diseñado para superar las limitaciones de FAT.</a:t>
            </a:r>
            <a:endParaRPr b="0" i="0" sz="175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5332928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</a:t>
            </a:r>
            <a:endParaRPr b="0" i="0" sz="220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5332928" y="3852505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NTFS utiliza una tabla maestra de archivos (Master File Table) para rastrear la ubicación y metadatos de los archivos, y ofrece características avanzadas de seguridad y recuperación de datos.</a:t>
            </a:r>
            <a:endParaRPr b="0" i="0" sz="175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9872067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</a:t>
            </a:r>
            <a:endParaRPr b="0" i="0" sz="220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9872067" y="3852505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NTFS proporciona un mejor rendimiento, mayor seguridad, y mayor capacidad de gestión de archivos y directorios en comparación con FAT.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793790" y="650319"/>
            <a:ext cx="69886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ext2</a:t>
            </a:r>
            <a:endParaRPr b="0" i="0" sz="4450" u="none" cap="none" strike="noStrike"/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699260"/>
            <a:ext cx="1134070" cy="203275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2268022" y="19260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2200" u="none" cap="none" strike="noStrike"/>
          </a:p>
        </p:txBody>
      </p:sp>
      <p:sp>
        <p:nvSpPr>
          <p:cNvPr id="197" name="Google Shape;197;p9"/>
          <p:cNvSpPr/>
          <p:nvPr/>
        </p:nvSpPr>
        <p:spPr>
          <a:xfrm>
            <a:off x="2268022" y="2416493"/>
            <a:ext cx="6082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ext2 (Second Extended Filesystem) es uno de los sistemas de archivos más antiguos y comunes en sistemas operativos Linux.</a:t>
            </a:r>
            <a:endParaRPr b="0" i="0" sz="1750" u="none" cap="none" strike="noStrike"/>
          </a:p>
        </p:txBody>
      </p:sp>
      <p:pic>
        <p:nvPicPr>
          <p:cNvPr descr="preencoded.png" id="198" name="Google Shape;19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732014"/>
            <a:ext cx="1134070" cy="181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</a:t>
            </a:r>
            <a:endParaRPr b="0" i="0" sz="220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2268022" y="4449247"/>
            <a:ext cx="608218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ext2 utiliza una estructura basada en inodos para rastrear los metadatos y la ubicación de los archivos y directorios.</a:t>
            </a:r>
            <a:endParaRPr b="0" i="0" sz="1750" u="none" cap="none" strike="noStrike"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546527"/>
            <a:ext cx="1134070" cy="203275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</a:t>
            </a:r>
            <a:endParaRPr b="0" i="0" sz="22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2268022" y="6263759"/>
            <a:ext cx="6082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ext2 ofrece características como enlaces simbólicos, permisos de usuario y grupo, y un buen rendimiento en dispositivos de almacenamiento más antiguos.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7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6115645" y="494348"/>
            <a:ext cx="5544503" cy="56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500"/>
              <a:buFont typeface="Poppins Light"/>
              <a:buNone/>
            </a:pPr>
            <a:r>
              <a:rPr b="0" i="0" lang="en-US" sz="35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Sistema de archivos ext3</a:t>
            </a:r>
            <a:endParaRPr b="0" i="0" sz="3500" u="none" cap="none" strike="noStrike"/>
          </a:p>
        </p:txBody>
      </p:sp>
      <p:sp>
        <p:nvSpPr>
          <p:cNvPr id="211" name="Google Shape;211;p10"/>
          <p:cNvSpPr/>
          <p:nvPr/>
        </p:nvSpPr>
        <p:spPr>
          <a:xfrm>
            <a:off x="6373892" y="1325761"/>
            <a:ext cx="22860" cy="6409611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564690" y="1718667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183094" y="1527929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345853" y="1595318"/>
            <a:ext cx="78819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100" u="none" cap="none" strike="noStrike"/>
          </a:p>
        </p:txBody>
      </p:sp>
      <p:sp>
        <p:nvSpPr>
          <p:cNvPr id="215" name="Google Shape;215;p10"/>
          <p:cNvSpPr/>
          <p:nvPr/>
        </p:nvSpPr>
        <p:spPr>
          <a:xfrm>
            <a:off x="7374136" y="1505545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</a:t>
            </a:r>
            <a:endParaRPr b="0" i="0" sz="1750" u="none" cap="none" strike="noStrike"/>
          </a:p>
        </p:txBody>
      </p:sp>
      <p:sp>
        <p:nvSpPr>
          <p:cNvPr id="216" name="Google Shape;216;p10"/>
          <p:cNvSpPr/>
          <p:nvPr/>
        </p:nvSpPr>
        <p:spPr>
          <a:xfrm>
            <a:off x="7374136" y="1894403"/>
            <a:ext cx="6627019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(Third Extended Filesystem) es una evolución del sistema de archivos ext2, introducida para mejorar la fiabilidad y la recuperación de datos.</a:t>
            </a:r>
            <a:endParaRPr b="0" i="0" sz="1400" u="none" cap="none" strike="noStrike"/>
          </a:p>
        </p:txBody>
      </p:sp>
      <p:sp>
        <p:nvSpPr>
          <p:cNvPr id="217" name="Google Shape;217;p10"/>
          <p:cNvSpPr/>
          <p:nvPr/>
        </p:nvSpPr>
        <p:spPr>
          <a:xfrm>
            <a:off x="6564690" y="3222188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183094" y="3031450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308110" y="3098840"/>
            <a:ext cx="154305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10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7374136" y="3009067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</a:t>
            </a:r>
            <a:endParaRPr b="0" i="0" sz="175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7374136" y="3397925"/>
            <a:ext cx="6627019" cy="862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agrega un sistema de registro (journaling) que mejora la integridad de los datos y reduce el tiempo de recuperación después de un cierre forzado o una falla del sistema.</a:t>
            </a:r>
            <a:endParaRPr b="0" i="0" sz="140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6564690" y="5013365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183094" y="4822627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306443" y="4890016"/>
            <a:ext cx="157758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1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7374136" y="4800243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</a:t>
            </a:r>
            <a:endParaRPr b="0" i="0" sz="175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7374136" y="5189101"/>
            <a:ext cx="6627019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ofrece mayor seguridad y confiabilidad en comparación con ext2, mientras mantiene una gran parte de su funcionalidad y rendimiento.</a:t>
            </a:r>
            <a:endParaRPr b="0" i="0" sz="140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6564690" y="6516886"/>
            <a:ext cx="629245" cy="22860"/>
          </a:xfrm>
          <a:prstGeom prst="roundRect">
            <a:avLst>
              <a:gd fmla="val 330335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183094" y="6326148"/>
            <a:ext cx="404455" cy="404455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302633" y="6393537"/>
            <a:ext cx="165259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00"/>
              <a:buFont typeface="Poppins Light"/>
              <a:buNone/>
            </a:pPr>
            <a:r>
              <a:rPr b="0" i="0" lang="en-US" sz="2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endParaRPr b="0" i="0" sz="210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7374136" y="6303764"/>
            <a:ext cx="224742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Poppins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Adopción</a:t>
            </a:r>
            <a:endParaRPr b="0" i="0" sz="175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7374136" y="6692622"/>
            <a:ext cx="6627019" cy="862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ext3 se convirtió en el sistema de archivos predeterminado en muchas distribuciones de Linux, debido a sus mejoras en cuanto a integridad de datos y fiabilidad.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2024-11-04T01:59:09Z</dcterms:created>
  <dc:creator>PptxGenJS</dc:creator>
</cp:coreProperties>
</file>