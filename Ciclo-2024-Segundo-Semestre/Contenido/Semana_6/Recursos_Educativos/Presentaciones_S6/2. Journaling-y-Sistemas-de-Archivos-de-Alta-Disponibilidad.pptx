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Poppins Light"/>
      <p:regular r:id="rId14"/>
      <p:bold r:id="rId15"/>
      <p:italic r:id="rId16"/>
      <p:boldItalic r:id="rId17"/>
    </p:embeddedFont>
    <p:embeddedFont>
      <p:font typeface="Roboto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v/w/5YbjW5nRBNAzRuTWs46ex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RobotoLigh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oppinsLight-bold.fntdata"/><Relationship Id="rId14" Type="http://schemas.openxmlformats.org/officeDocument/2006/relationships/font" Target="fonts/PoppinsLight-regular.fntdata"/><Relationship Id="rId17" Type="http://schemas.openxmlformats.org/officeDocument/2006/relationships/font" Target="fonts/PoppinsLight-boldItalic.fntdata"/><Relationship Id="rId16" Type="http://schemas.openxmlformats.org/officeDocument/2006/relationships/font" Target="fonts/PoppinsLight-italic.fntdata"/><Relationship Id="rId5" Type="http://schemas.openxmlformats.org/officeDocument/2006/relationships/slide" Target="slides/slide1.xml"/><Relationship Id="rId19" Type="http://schemas.openxmlformats.org/officeDocument/2006/relationships/font" Target="fonts/RobotoLight-bold.fntdata"/><Relationship Id="rId6" Type="http://schemas.openxmlformats.org/officeDocument/2006/relationships/slide" Target="slides/slide2.xml"/><Relationship Id="rId18" Type="http://schemas.openxmlformats.org/officeDocument/2006/relationships/font" Target="fonts/Roboto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6237803" y="763429"/>
            <a:ext cx="7641193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5800"/>
              <a:buFont typeface="Poppins Light"/>
              <a:buNone/>
            </a:pPr>
            <a:r>
              <a:rPr b="0" i="0" lang="en-US" sz="58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Journaling y Sistemas de Archivos de Alta Disponibilidad</a:t>
            </a:r>
            <a:endParaRPr b="0" i="0" sz="5800" u="none" cap="none" strike="noStrike"/>
          </a:p>
        </p:txBody>
      </p:sp>
      <p:sp>
        <p:nvSpPr>
          <p:cNvPr id="54" name="Google Shape;54;p1"/>
          <p:cNvSpPr/>
          <p:nvPr/>
        </p:nvSpPr>
        <p:spPr>
          <a:xfrm>
            <a:off x="6237803" y="5029319"/>
            <a:ext cx="7641300" cy="20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En un mundo cada vez más digital, la gestión eficiente de los sistemas de archivos se ha convertido en una pieza clave para garantizar la disponibilidad y seguridad de la información. </a:t>
            </a:r>
            <a:r>
              <a:rPr lang="en-US" sz="1650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</a:t>
            </a: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xploraremos los conceptos fundamentales del journaling y cómo este mecanismo puede mejorar la resiliencia de los sistemas de archivos, permitiendo que nuestras aplicaciones y datos se mantengan siempre accesibles y protegidos.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782955" y="615315"/>
            <a:ext cx="7578090" cy="1398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00"/>
              <a:buFont typeface="Poppins Light"/>
              <a:buNone/>
            </a:pPr>
            <a:r>
              <a:rPr b="0" i="0" lang="en-US" sz="44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 a los sistemas de archivos</a:t>
            </a:r>
            <a:endParaRPr b="0" i="0" sz="440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782955" y="2600682"/>
            <a:ext cx="503277" cy="503277"/>
          </a:xfrm>
          <a:prstGeom prst="roundRect">
            <a:avLst>
              <a:gd fmla="val 18670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985599" y="2684502"/>
            <a:ext cx="97988" cy="33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00"/>
              <a:buFont typeface="Poppins Light"/>
              <a:buNone/>
            </a:pPr>
            <a:r>
              <a:rPr b="0" i="0" lang="en-US" sz="26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  <a:endParaRPr b="0" i="0" sz="26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1509951" y="2600682"/>
            <a:ext cx="2950250" cy="699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Estructura Jerárquica</a:t>
            </a:r>
            <a:endParaRPr b="0" i="0" sz="220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1509951" y="3434001"/>
            <a:ext cx="2950250" cy="250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de archivos se organizan de manera jerárquica, con carpetas (directorios) y archivos, permitiendo una navegación y organización intuitiva de la información.</a:t>
            </a:r>
            <a:endParaRPr b="0" i="0" sz="175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4683919" y="2600682"/>
            <a:ext cx="503277" cy="503277"/>
          </a:xfrm>
          <a:prstGeom prst="roundRect">
            <a:avLst>
              <a:gd fmla="val 18670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839533" y="2684502"/>
            <a:ext cx="191929" cy="33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00"/>
              <a:buFont typeface="Poppins Light"/>
              <a:buNone/>
            </a:pPr>
            <a:r>
              <a:rPr b="0" i="0" lang="en-US" sz="26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endParaRPr b="0" i="0" sz="260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5410914" y="2600682"/>
            <a:ext cx="2796421" cy="349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Metadatos</a:t>
            </a:r>
            <a:endParaRPr b="0" i="0" sz="22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5410914" y="3084433"/>
            <a:ext cx="2950250" cy="2147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Cada archivo y carpeta cuenta con metadatos que proporcionan información adicional, como fechas de creación, permisos de acceso y tamaño.</a:t>
            </a:r>
            <a:endParaRPr b="0" i="0" sz="175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782955" y="6414611"/>
            <a:ext cx="503277" cy="503277"/>
          </a:xfrm>
          <a:prstGeom prst="roundRect">
            <a:avLst>
              <a:gd fmla="val 18670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936427" y="6498431"/>
            <a:ext cx="196215" cy="33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00"/>
              <a:buFont typeface="Poppins Light"/>
              <a:buNone/>
            </a:pPr>
            <a:r>
              <a:rPr b="0" i="0" lang="en-US" sz="26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endParaRPr b="0" i="0" sz="260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1509951" y="6414611"/>
            <a:ext cx="2796421" cy="349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Gestión de Bloques</a:t>
            </a:r>
            <a:endParaRPr b="0" i="0" sz="220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1509951" y="6898362"/>
            <a:ext cx="6851094" cy="71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datos se almacenan en bloques, que se administran y asignan según las necesidades de los archivos y carpetas.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737354" y="584478"/>
            <a:ext cx="6134100" cy="658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100"/>
              <a:buFont typeface="Poppins Light"/>
              <a:buNone/>
            </a:pPr>
            <a:r>
              <a:rPr b="0" i="0" lang="en-US" sz="41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Ventajas del Journaling</a:t>
            </a:r>
            <a:endParaRPr b="0" i="0" sz="410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1041916" y="1558885"/>
            <a:ext cx="22860" cy="6086237"/>
          </a:xfrm>
          <a:prstGeom prst="roundRect">
            <a:avLst>
              <a:gd fmla="val 38710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267480" y="2021324"/>
            <a:ext cx="737354" cy="22860"/>
          </a:xfrm>
          <a:prstGeom prst="roundRect">
            <a:avLst>
              <a:gd fmla="val 38710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816352" y="1795820"/>
            <a:ext cx="473988" cy="473988"/>
          </a:xfrm>
          <a:prstGeom prst="roundRect">
            <a:avLst>
              <a:gd fmla="val 1866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007209" y="1874758"/>
            <a:ext cx="92273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50"/>
              <a:buFont typeface="Poppins Light"/>
              <a:buNone/>
            </a:pPr>
            <a:r>
              <a:rPr b="0" i="0" lang="en-US" sz="24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  <a:endParaRPr b="0" i="0" sz="245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2212062" y="1769507"/>
            <a:ext cx="2815709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Recuperación Rápida</a:t>
            </a:r>
            <a:endParaRPr b="0" i="0" sz="205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2212062" y="2225040"/>
            <a:ext cx="6194584" cy="1011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En caso de un corte de energía o fallo del sistema, el journaling permite una recuperación rápida y confiable, evitando la necesidad de realizar una verificación completa del sistema de archivos.</a:t>
            </a:r>
            <a:endParaRPr b="0" i="0" sz="165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1267480" y="4120277"/>
            <a:ext cx="737354" cy="22860"/>
          </a:xfrm>
          <a:prstGeom prst="roundRect">
            <a:avLst>
              <a:gd fmla="val 38710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816352" y="3894773"/>
            <a:ext cx="473988" cy="473988"/>
          </a:xfrm>
          <a:prstGeom prst="roundRect">
            <a:avLst>
              <a:gd fmla="val 1866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962918" y="3973711"/>
            <a:ext cx="180856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50"/>
              <a:buFont typeface="Poppins Light"/>
              <a:buNone/>
            </a:pPr>
            <a:r>
              <a:rPr b="0" i="0" lang="en-US" sz="24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endParaRPr b="0" i="0" sz="245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2212062" y="3868460"/>
            <a:ext cx="2633543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Integridad de Datos</a:t>
            </a:r>
            <a:endParaRPr b="0" i="0" sz="2050" u="none" cap="none" strike="noStrike"/>
          </a:p>
        </p:txBody>
      </p:sp>
      <p:sp>
        <p:nvSpPr>
          <p:cNvPr id="91" name="Google Shape;91;p3"/>
          <p:cNvSpPr/>
          <p:nvPr/>
        </p:nvSpPr>
        <p:spPr>
          <a:xfrm>
            <a:off x="2212062" y="4323993"/>
            <a:ext cx="6194584" cy="1011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El journaling registra los cambios realizados en el sistema de archivos, asegurando que los datos se mantengan coherentes y evitando la corrupción de archivos.</a:t>
            </a:r>
            <a:endParaRPr b="0" i="0" sz="165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1267480" y="6219230"/>
            <a:ext cx="737354" cy="22860"/>
          </a:xfrm>
          <a:prstGeom prst="roundRect">
            <a:avLst>
              <a:gd fmla="val 387100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816352" y="5993725"/>
            <a:ext cx="473988" cy="473988"/>
          </a:xfrm>
          <a:prstGeom prst="roundRect">
            <a:avLst>
              <a:gd fmla="val 1866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960894" y="6072664"/>
            <a:ext cx="184904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50"/>
              <a:buFont typeface="Poppins Light"/>
              <a:buNone/>
            </a:pPr>
            <a:r>
              <a:rPr b="0" i="0" lang="en-US" sz="24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endParaRPr b="0" i="0" sz="2450" u="none" cap="none" strike="noStrike"/>
          </a:p>
        </p:txBody>
      </p:sp>
      <p:sp>
        <p:nvSpPr>
          <p:cNvPr id="95" name="Google Shape;95;p3"/>
          <p:cNvSpPr/>
          <p:nvPr/>
        </p:nvSpPr>
        <p:spPr>
          <a:xfrm>
            <a:off x="2212062" y="5967413"/>
            <a:ext cx="2633543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50"/>
              <a:buFont typeface="Poppins Light"/>
              <a:buNone/>
            </a:pPr>
            <a:r>
              <a:rPr b="0" i="0" lang="en-US" sz="20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Mayor Rendimiento</a:t>
            </a:r>
            <a:endParaRPr b="0" i="0" sz="2050" u="none" cap="none" strike="noStrike"/>
          </a:p>
        </p:txBody>
      </p:sp>
      <p:sp>
        <p:nvSpPr>
          <p:cNvPr id="96" name="Google Shape;96;p3"/>
          <p:cNvSpPr/>
          <p:nvPr/>
        </p:nvSpPr>
        <p:spPr>
          <a:xfrm>
            <a:off x="2212062" y="6422946"/>
            <a:ext cx="6194584" cy="1011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Roboto Light"/>
              <a:buNone/>
            </a:pPr>
            <a:r>
              <a:rPr b="0" i="0" lang="en-US" sz="16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Al reducir la necesidad de verificaciones exhaustivas, el journaling mejora el rendimiento del sistema de archivos, especialmente en operaciones de escritura y edición.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793790" y="1999893"/>
            <a:ext cx="878026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0" i="0" lang="en-US" sz="44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Implementación del Journaling</a:t>
            </a:r>
            <a:endParaRPr b="0" i="0" sz="445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793790" y="3275648"/>
            <a:ext cx="370224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Registro de Transacciones</a:t>
            </a:r>
            <a:endParaRPr b="0" i="0" sz="22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793790" y="3856792"/>
            <a:ext cx="397811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El journaling se implementa mediante un registro de las transacciones realizadas en el sistema de archivos. Antes de aplicar los cambios, estos se escriben en un "diario" o "log".</a:t>
            </a:r>
            <a:endParaRPr b="0" i="0" sz="175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5332928" y="3275648"/>
            <a:ext cx="397811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Recuperación en Caso de Fallos</a:t>
            </a:r>
            <a:endParaRPr b="0" i="0" sz="220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5332928" y="4211122"/>
            <a:ext cx="397811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Si se produce un fallo, el sistema puede recuperar el estado del sistema de archivos a partir del registro del diario, evitando la necesidad de una verificación completa.</a:t>
            </a:r>
            <a:endParaRPr b="0" i="0" sz="175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9872067" y="3275648"/>
            <a:ext cx="397811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Soporte a Nivel de Sistema Operativo</a:t>
            </a:r>
            <a:endParaRPr b="0" i="0" sz="220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9872067" y="4211122"/>
            <a:ext cx="397811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mayoría de los sistemas operativos modernos, como Linux, Windows y macOS, cuentan con soporte nativo para journaling en sus sistemas de archivos.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200894" y="727472"/>
            <a:ext cx="7715012" cy="127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000"/>
              <a:buFont typeface="Poppins Light"/>
              <a:buNone/>
            </a:pPr>
            <a:r>
              <a:rPr b="0" i="0" lang="en-US" sz="40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Gestión de espacio y fragmentación</a:t>
            </a:r>
            <a:endParaRPr b="0" i="0" sz="400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6200894" y="2309455"/>
            <a:ext cx="3755469" cy="3143726"/>
          </a:xfrm>
          <a:prstGeom prst="roundRect">
            <a:avLst>
              <a:gd fmla="val 272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6412587" y="2521148"/>
            <a:ext cx="2867620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Asignación de Bloques</a:t>
            </a:r>
            <a:endParaRPr b="0" i="0" sz="200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6412587" y="2962394"/>
            <a:ext cx="3332083" cy="1960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sistemas de archivos asignan bloques de almacenamiento a los archivos a medida que se crean y modifican. Esto puede llevar a la fragmentación de los archivos en el dispositivo de almacenamiento.</a:t>
            </a:r>
            <a:endParaRPr b="0" i="0" sz="1600" u="none" cap="none" strike="noStrike"/>
          </a:p>
        </p:txBody>
      </p:sp>
      <p:sp>
        <p:nvSpPr>
          <p:cNvPr id="119" name="Google Shape;119;p5"/>
          <p:cNvSpPr/>
          <p:nvPr/>
        </p:nvSpPr>
        <p:spPr>
          <a:xfrm>
            <a:off x="10160437" y="2309455"/>
            <a:ext cx="3755469" cy="3143726"/>
          </a:xfrm>
          <a:prstGeom prst="roundRect">
            <a:avLst>
              <a:gd fmla="val 2727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0372130" y="2521148"/>
            <a:ext cx="3332083" cy="637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Impacto de la Fragmentación</a:t>
            </a:r>
            <a:endParaRPr b="0" i="0" sz="200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10372130" y="3281243"/>
            <a:ext cx="3332083" cy="1960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 fragmentación reduce el rendimiento del sistema de archivos, ya que los archivos deben ser leídos y escritos en múltiples ubicaciones, lo que aumenta el tiempo de acceso y la latencia.</a:t>
            </a:r>
            <a:endParaRPr b="0" i="0" sz="160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6200894" y="5657255"/>
            <a:ext cx="7715012" cy="1844754"/>
          </a:xfrm>
          <a:prstGeom prst="roundRect">
            <a:avLst>
              <a:gd fmla="val 4648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412587" y="5868948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Gestión Eficiente</a:t>
            </a:r>
            <a:endParaRPr b="0" i="0" sz="200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6412587" y="6310193"/>
            <a:ext cx="7291626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Es importante implementar estrategias de gestión de espacio y desfragmentación para mantener la integridad y el rendimiento del sistema de archivos a lo largo del tiempo.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6161961" y="1051441"/>
            <a:ext cx="6879193" cy="603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750"/>
              <a:buFont typeface="Poppins Light"/>
              <a:buNone/>
            </a:pPr>
            <a:r>
              <a:rPr b="0" i="0" lang="en-US" sz="37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Causas de la fragmentación</a:t>
            </a:r>
            <a:endParaRPr b="0" i="0" sz="3750" u="none" cap="none" strike="noStrike"/>
          </a:p>
        </p:txBody>
      </p:sp>
      <p:pic>
        <p:nvPicPr>
          <p:cNvPr descr="preencoded.png" id="132" name="Google Shape;1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1961" y="1944053"/>
            <a:ext cx="482441" cy="48244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6161961" y="2619494"/>
            <a:ext cx="2412683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Adición de Archivos</a:t>
            </a:r>
            <a:endParaRPr b="0" i="0" sz="1850" u="none" cap="none" strike="noStrike"/>
          </a:p>
        </p:txBody>
      </p:sp>
      <p:sp>
        <p:nvSpPr>
          <p:cNvPr id="134" name="Google Shape;134;p6"/>
          <p:cNvSpPr/>
          <p:nvPr/>
        </p:nvSpPr>
        <p:spPr>
          <a:xfrm>
            <a:off x="6161961" y="3036689"/>
            <a:ext cx="3751659" cy="1234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Roboto Light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 medida que se agregan nuevos archivos al sistema, estos se almacenan en los bloques disponibles, lo que puede llevar a una distribución dispersa de los datos.</a:t>
            </a:r>
            <a:endParaRPr b="0" i="0" sz="1500" u="none" cap="none" strike="noStrike"/>
          </a:p>
        </p:txBody>
      </p:sp>
      <p:pic>
        <p:nvPicPr>
          <p:cNvPr descr="preencoded.png" id="135" name="Google Shape;13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03061" y="1944053"/>
            <a:ext cx="482441" cy="48244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10203061" y="2619494"/>
            <a:ext cx="2815114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Eliminación de Archivos</a:t>
            </a:r>
            <a:endParaRPr b="0" i="0" sz="1850" u="none" cap="none" strike="noStrike"/>
          </a:p>
        </p:txBody>
      </p:sp>
      <p:sp>
        <p:nvSpPr>
          <p:cNvPr id="137" name="Google Shape;137;p6"/>
          <p:cNvSpPr/>
          <p:nvPr/>
        </p:nvSpPr>
        <p:spPr>
          <a:xfrm>
            <a:off x="10203061" y="3036689"/>
            <a:ext cx="3751778" cy="1234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Roboto Light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Cuando se eliminan archivos, los bloques liberados pueden no ser reutilizados de manera eficiente, dejando espacios vacíos que contribuyen a la fragmentación.</a:t>
            </a:r>
            <a:endParaRPr b="0" i="0" sz="1500" u="none" cap="none" strike="noStrike"/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1961" y="4850606"/>
            <a:ext cx="482441" cy="48244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6161961" y="5526048"/>
            <a:ext cx="2986326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Modificación de Archivos</a:t>
            </a:r>
            <a:endParaRPr b="0" i="0" sz="185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6161961" y="5943243"/>
            <a:ext cx="3751659" cy="1234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Roboto Light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Editar y actualizar archivos existentes puede requerir la asignación de nuevos bloques, dispersando aún más los datos del sistema de archivos.</a:t>
            </a:r>
            <a:endParaRPr b="0" i="0" sz="1500" u="none" cap="none" strike="noStrike"/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03061" y="4850606"/>
            <a:ext cx="482441" cy="48244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10203061" y="5526048"/>
            <a:ext cx="3263741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Limitaciones del Dispositivo</a:t>
            </a:r>
            <a:endParaRPr b="0" i="0" sz="185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10203061" y="5943243"/>
            <a:ext cx="3751778" cy="1234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Roboto Light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Las restricciones físicas de los dispositivos de almacenamiento, como discos duros o unidades de estado sólido, también pueden contribuir a la fragmentación.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717471" y="663416"/>
            <a:ext cx="7709059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000"/>
              <a:buFont typeface="Poppins Light"/>
              <a:buNone/>
            </a:pPr>
            <a:r>
              <a:rPr b="0" i="0" lang="en-US" sz="40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Técnicas de desfragmentación</a:t>
            </a:r>
            <a:endParaRPr b="0" i="0" sz="4000" u="none" cap="none" strike="noStrike"/>
          </a:p>
        </p:txBody>
      </p:sp>
      <p:pic>
        <p:nvPicPr>
          <p:cNvPr descr="preencoded.png" id="151" name="Google Shape;1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471" y="2251948"/>
            <a:ext cx="1024890" cy="163996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2049780" y="2456855"/>
            <a:ext cx="3365778" cy="32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Análisis de Fragmentación</a:t>
            </a:r>
            <a:endParaRPr b="0" i="0" sz="200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2049780" y="2900124"/>
            <a:ext cx="6376749" cy="656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El primer paso es analizar el grado de fragmentación del sistema de archivos, utilizando herramientas de monitoreo y diagnóstico.</a:t>
            </a:r>
            <a:endParaRPr b="0" i="0" sz="1600" u="none" cap="none" strike="noStrike"/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471" y="3891915"/>
            <a:ext cx="1024890" cy="183713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2049780" y="4096822"/>
            <a:ext cx="3369350" cy="32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Consolidación de Archivos</a:t>
            </a:r>
            <a:endParaRPr b="0" i="0" sz="2000" u="none" cap="none" strike="noStrike"/>
          </a:p>
        </p:txBody>
      </p:sp>
      <p:sp>
        <p:nvSpPr>
          <p:cNvPr id="156" name="Google Shape;156;p7"/>
          <p:cNvSpPr/>
          <p:nvPr/>
        </p:nvSpPr>
        <p:spPr>
          <a:xfrm>
            <a:off x="2049780" y="4540091"/>
            <a:ext cx="6376749" cy="984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Una vez identificada la fragmentación, se procede a consolidar y reorganizar los archivos, agrupándolos de manera contigua en el dispositivo de almacenamiento.</a:t>
            </a:r>
            <a:endParaRPr b="0" i="0" sz="1600" u="none" cap="none" strike="noStrike"/>
          </a:p>
        </p:txBody>
      </p:sp>
      <p:pic>
        <p:nvPicPr>
          <p:cNvPr descr="preencoded.png" id="157" name="Google Shape;15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471" y="5729049"/>
            <a:ext cx="1024890" cy="183713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2049780" y="5933956"/>
            <a:ext cx="2937272" cy="32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Poppins Light"/>
              <a:buNone/>
            </a:pPr>
            <a:r>
              <a:rPr b="0" i="0" lang="en-US" sz="2000" u="none" cap="none" strike="noStrik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Optimización Proactiva</a:t>
            </a:r>
            <a:endParaRPr b="0" i="0" sz="200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2049780" y="6377226"/>
            <a:ext cx="6376749" cy="984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 Light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Para mantener un sistema de archivos saludable, es importante programar desfragmentaciones periódicas y realizar un monitoreo continuo de la fragmentación.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35981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660678" y="3158847"/>
            <a:ext cx="10883146" cy="58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700"/>
              <a:buFont typeface="Poppins Light"/>
              <a:buNone/>
            </a:pPr>
            <a:r>
              <a:rPr b="0" i="0" lang="en-US" sz="37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Optimización del espacio de almacenamiento</a:t>
            </a:r>
            <a:endParaRPr b="0" i="0" sz="3700" u="none" cap="none" strike="noStrike"/>
          </a:p>
        </p:txBody>
      </p:sp>
      <p:sp>
        <p:nvSpPr>
          <p:cNvPr id="167" name="Google Shape;167;p8"/>
          <p:cNvSpPr/>
          <p:nvPr/>
        </p:nvSpPr>
        <p:spPr>
          <a:xfrm>
            <a:off x="660678" y="4031933"/>
            <a:ext cx="13309044" cy="3398520"/>
          </a:xfrm>
          <a:prstGeom prst="roundRect">
            <a:avLst>
              <a:gd fmla="val 2333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68298" y="4039553"/>
            <a:ext cx="13293804" cy="84582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857012" y="4160401"/>
            <a:ext cx="6265664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Compresión de Archivos</a:t>
            </a:r>
            <a:endParaRPr b="0" i="0" sz="145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7507724" y="4160401"/>
            <a:ext cx="6265664" cy="60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Reducir el tamaño de los archivos mediante técnicas de compresión, como ZIP o GZIP, optimizando el uso del espacio de almacenamiento.</a:t>
            </a:r>
            <a:endParaRPr b="0" i="0" sz="145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668298" y="4885373"/>
            <a:ext cx="13293804" cy="84582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857012" y="5006221"/>
            <a:ext cx="6265664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Deduplicación de Datos</a:t>
            </a:r>
            <a:endParaRPr b="0" i="0" sz="145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7507724" y="5006221"/>
            <a:ext cx="6265664" cy="60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Identificar y eliminar copias duplicadas de archivos o bloques de datos, evitando el uso innecesario de espacio.</a:t>
            </a:r>
            <a:endParaRPr b="0" i="0" sz="145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668298" y="5731193"/>
            <a:ext cx="13293804" cy="84582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857012" y="5852041"/>
            <a:ext cx="6265664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Clasificación y Archivado</a:t>
            </a:r>
            <a:endParaRPr b="0" i="0" sz="145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7507724" y="5852041"/>
            <a:ext cx="6265664" cy="60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Organizar y mover archivos inactivos a medios de almacenamiento secundarios, liberando espacio en los dispositivos principales.</a:t>
            </a:r>
            <a:endParaRPr b="0" i="0" sz="145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668298" y="6577013"/>
            <a:ext cx="13293804" cy="84582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857012" y="6697861"/>
            <a:ext cx="6265664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Thin Provisioning</a:t>
            </a:r>
            <a:endParaRPr b="0" i="0" sz="1450" u="none" cap="none" strike="noStrike"/>
          </a:p>
        </p:txBody>
      </p:sp>
      <p:sp>
        <p:nvSpPr>
          <p:cNvPr id="179" name="Google Shape;179;p8"/>
          <p:cNvSpPr/>
          <p:nvPr/>
        </p:nvSpPr>
        <p:spPr>
          <a:xfrm>
            <a:off x="7507724" y="6697861"/>
            <a:ext cx="6265664" cy="60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Asignar espacio de almacenamiento de manera dinámica, según las necesidades reales, en lugar de reservar espacio fijo.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793790" y="1814155"/>
            <a:ext cx="1045678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4450"/>
              <a:buFont typeface="Poppins Light"/>
              <a:buNone/>
            </a:pPr>
            <a:r>
              <a:rPr b="0" i="0" lang="en-US" sz="445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Casos de estudio y buenas prácticas</a:t>
            </a:r>
            <a:endParaRPr b="0" i="0" sz="4450" u="none" cap="none" strike="noStrike"/>
          </a:p>
        </p:txBody>
      </p:sp>
      <p:sp>
        <p:nvSpPr>
          <p:cNvPr id="186" name="Google Shape;186;p9"/>
          <p:cNvSpPr/>
          <p:nvPr/>
        </p:nvSpPr>
        <p:spPr>
          <a:xfrm>
            <a:off x="793790" y="3089910"/>
            <a:ext cx="397811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Centros de Datos Corporativos</a:t>
            </a:r>
            <a:endParaRPr b="0" i="0" sz="2200" u="none" cap="none" strike="noStrike"/>
          </a:p>
        </p:txBody>
      </p:sp>
      <p:sp>
        <p:nvSpPr>
          <p:cNvPr id="187" name="Google Shape;187;p9"/>
          <p:cNvSpPr/>
          <p:nvPr/>
        </p:nvSpPr>
        <p:spPr>
          <a:xfrm>
            <a:off x="793790" y="4025384"/>
            <a:ext cx="397811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En entornos empresariales de alta disponibilidad, el journaling y la desfragmentación son cruciales para mantener la integridad y el rendimiento de los sistemas de archivos que sustentan las aplicaciones críticas.</a:t>
            </a:r>
            <a:endParaRPr b="0" i="0" sz="1750" u="none" cap="none" strike="noStrike"/>
          </a:p>
        </p:txBody>
      </p:sp>
      <p:sp>
        <p:nvSpPr>
          <p:cNvPr id="188" name="Google Shape;188;p9"/>
          <p:cNvSpPr/>
          <p:nvPr/>
        </p:nvSpPr>
        <p:spPr>
          <a:xfrm>
            <a:off x="5332928" y="3089910"/>
            <a:ext cx="316694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Servidores de Archivos</a:t>
            </a:r>
            <a:endParaRPr b="0" i="0" sz="2200" u="none" cap="none" strike="noStrike"/>
          </a:p>
        </p:txBody>
      </p:sp>
      <p:sp>
        <p:nvSpPr>
          <p:cNvPr id="189" name="Google Shape;189;p9"/>
          <p:cNvSpPr/>
          <p:nvPr/>
        </p:nvSpPr>
        <p:spPr>
          <a:xfrm>
            <a:off x="5332928" y="3671054"/>
            <a:ext cx="3978116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Los servidores de archivos que gestionan el almacenamiento compartido en redes corporativas deben implementar estrategias de gestión de espacio y desfragmentación para garantizar la eficiencia y la accesibilidad de los datos.</a:t>
            </a:r>
            <a:endParaRPr b="0" i="0" sz="1750" u="none" cap="none" strike="noStrike"/>
          </a:p>
        </p:txBody>
      </p:sp>
      <p:sp>
        <p:nvSpPr>
          <p:cNvPr id="190" name="Google Shape;190;p9"/>
          <p:cNvSpPr/>
          <p:nvPr/>
        </p:nvSpPr>
        <p:spPr>
          <a:xfrm>
            <a:off x="9872067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b="0" i="0" lang="en-US" sz="2200" u="none" cap="none" strike="noStrik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Entornos de Nube</a:t>
            </a:r>
            <a:endParaRPr b="0" i="0" sz="2200" u="none" cap="none" strike="noStrike"/>
          </a:p>
        </p:txBody>
      </p:sp>
      <p:sp>
        <p:nvSpPr>
          <p:cNvPr id="191" name="Google Shape;191;p9"/>
          <p:cNvSpPr/>
          <p:nvPr/>
        </p:nvSpPr>
        <p:spPr>
          <a:xfrm>
            <a:off x="9872067" y="3671054"/>
            <a:ext cx="3978116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Roboto Light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En soluciones de almacenamiento en la nube, los proveedores deben asegurar que los sistemas de archivos subyacentes cuenten con journaling y técnicas de optimización de espacio para brindar una experiencia de alta disponibilidad a los usuarios.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2024-11-04T01:59:12Z</dcterms:created>
  <dc:creator>PptxGenJS</dc:creator>
</cp:coreProperties>
</file>