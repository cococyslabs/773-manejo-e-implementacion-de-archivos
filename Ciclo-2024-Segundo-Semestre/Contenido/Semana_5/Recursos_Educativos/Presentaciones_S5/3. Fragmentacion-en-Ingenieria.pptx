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8229600" cx="14630400"/>
  <p:notesSz cx="8229600" cy="14630400"/>
  <p:embeddedFontLst>
    <p:embeddedFont>
      <p:font typeface="Gelasio"/>
      <p:regular r:id="rId10"/>
      <p:bold r:id="rId11"/>
      <p:italic r:id="rId12"/>
      <p:boldItalic r:id="rId13"/>
    </p:embeddedFont>
    <p:embeddedFont>
      <p:font typeface="Gelasio SemiBold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ikCeZge0B1wmOWNY+DLxxLiTm+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Gelasio-bold.fntdata"/><Relationship Id="rId10" Type="http://schemas.openxmlformats.org/officeDocument/2006/relationships/font" Target="fonts/Gelasio-regular.fntdata"/><Relationship Id="rId13" Type="http://schemas.openxmlformats.org/officeDocument/2006/relationships/font" Target="fonts/Gelasio-boldItalic.fntdata"/><Relationship Id="rId12" Type="http://schemas.openxmlformats.org/officeDocument/2006/relationships/font" Target="fonts/Gelasio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GelasioSemiBold-bold.fntdata"/><Relationship Id="rId14" Type="http://schemas.openxmlformats.org/officeDocument/2006/relationships/font" Target="fonts/GelasioSemiBold-regular.fntdata"/><Relationship Id="rId17" Type="http://schemas.openxmlformats.org/officeDocument/2006/relationships/font" Target="fonts/GelasioSemiBold-boldItalic.fntdata"/><Relationship Id="rId16" Type="http://schemas.openxmlformats.org/officeDocument/2006/relationships/font" Target="fonts/GelasioSemiBold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1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1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1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1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Relationship Id="rId5" Type="http://schemas.openxmlformats.org/officeDocument/2006/relationships/image" Target="../media/image16.png"/><Relationship Id="rId6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2" name="Google Shape;5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"/>
          <p:cNvSpPr/>
          <p:nvPr/>
        </p:nvSpPr>
        <p:spPr>
          <a:xfrm>
            <a:off x="6270759" y="2181893"/>
            <a:ext cx="7575300" cy="38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19"/>
              </a:lnSpc>
              <a:spcBef>
                <a:spcPts val="0"/>
              </a:spcBef>
              <a:spcAft>
                <a:spcPts val="0"/>
              </a:spcAft>
              <a:buClr>
                <a:srgbClr val="484237"/>
              </a:buClr>
              <a:buSzPts val="6050"/>
              <a:buFont typeface="Gelasio SemiBold"/>
              <a:buNone/>
            </a:pPr>
            <a:r>
              <a:rPr b="1" i="0" lang="en-US" sz="6050" u="none" cap="none" strike="noStrike">
                <a:solidFill>
                  <a:srgbClr val="484237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Fragmentación </a:t>
            </a:r>
            <a:endParaRPr b="0" i="0" sz="6050" u="none" cap="none" strike="noStrike"/>
          </a:p>
        </p:txBody>
      </p:sp>
      <p:sp>
        <p:nvSpPr>
          <p:cNvPr id="54" name="Google Shape;54;p1"/>
          <p:cNvSpPr/>
          <p:nvPr/>
        </p:nvSpPr>
        <p:spPr>
          <a:xfrm>
            <a:off x="6270759" y="3598902"/>
            <a:ext cx="7575300" cy="21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Exploraremos cómo estas nociones impactan en el diseño y la implementación de sistemas informáticos, y cómo podemos aplicar técnicas efectivas para abordarlas. Esto les brindará una sólida base para enfrentar los desafíos que encontrarán en su carrera de ingeniería.</a:t>
            </a:r>
            <a:endParaRPr b="0" i="0" sz="1750" u="none" cap="none" strike="noStrike"/>
          </a:p>
        </p:txBody>
      </p:sp>
      <p:sp>
        <p:nvSpPr>
          <p:cNvPr id="55" name="Google Shape;55;p1"/>
          <p:cNvSpPr/>
          <p:nvPr/>
        </p:nvSpPr>
        <p:spPr>
          <a:xfrm>
            <a:off x="6270784" y="7237928"/>
            <a:ext cx="358497" cy="358497"/>
          </a:xfrm>
          <a:prstGeom prst="roundRect">
            <a:avLst>
              <a:gd fmla="val 25503939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1" name="Google Shape;6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6"/>
          <p:cNvSpPr/>
          <p:nvPr/>
        </p:nvSpPr>
        <p:spPr>
          <a:xfrm>
            <a:off x="745576" y="754975"/>
            <a:ext cx="8238000" cy="6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01"/>
              </a:lnSpc>
              <a:spcBef>
                <a:spcPts val="0"/>
              </a:spcBef>
              <a:spcAft>
                <a:spcPts val="0"/>
              </a:spcAft>
              <a:buClr>
                <a:srgbClr val="484237"/>
              </a:buClr>
              <a:buSzPts val="4150"/>
              <a:buFont typeface="Gelasio SemiBold"/>
              <a:buNone/>
            </a:pPr>
            <a:r>
              <a:rPr b="1" i="0" lang="en-US" sz="4150" u="none" cap="none" strike="noStrike">
                <a:solidFill>
                  <a:srgbClr val="484237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¿Qué es la fragmentación?</a:t>
            </a:r>
            <a:endParaRPr b="0" i="0" sz="4150" u="none" cap="none" strike="noStrike"/>
          </a:p>
        </p:txBody>
      </p:sp>
      <p:sp>
        <p:nvSpPr>
          <p:cNvPr id="63" name="Google Shape;63;p6"/>
          <p:cNvSpPr/>
          <p:nvPr/>
        </p:nvSpPr>
        <p:spPr>
          <a:xfrm>
            <a:off x="745569" y="1740098"/>
            <a:ext cx="3719989" cy="2931081"/>
          </a:xfrm>
          <a:prstGeom prst="roundRect">
            <a:avLst>
              <a:gd fmla="val 1090" name="adj"/>
            </a:avLst>
          </a:prstGeom>
          <a:solidFill>
            <a:srgbClr val="EEE8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6"/>
          <p:cNvSpPr/>
          <p:nvPr/>
        </p:nvSpPr>
        <p:spPr>
          <a:xfrm>
            <a:off x="958572" y="1953101"/>
            <a:ext cx="2662714" cy="332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050"/>
              <a:buFont typeface="Gelasio SemiBold"/>
              <a:buNone/>
            </a:pPr>
            <a:r>
              <a:rPr b="1" i="0" lang="en-US" sz="205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Definición</a:t>
            </a:r>
            <a:endParaRPr b="0" i="0" sz="2050" u="none" cap="none" strike="noStrike"/>
          </a:p>
        </p:txBody>
      </p:sp>
      <p:sp>
        <p:nvSpPr>
          <p:cNvPr id="65" name="Google Shape;65;p6"/>
          <p:cNvSpPr/>
          <p:nvPr/>
        </p:nvSpPr>
        <p:spPr>
          <a:xfrm>
            <a:off x="958572" y="2413635"/>
            <a:ext cx="3293983" cy="2044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650"/>
              <a:buFont typeface="Gelasio"/>
              <a:buNone/>
            </a:pPr>
            <a:r>
              <a:rPr b="0" i="0" lang="en-US" sz="165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La fragmentación se refiere a la división o dispersión de recursos, datos o componentes de un sistema. Esto puede ocurrir tanto a nivel físico (hardware) como lógico (software).</a:t>
            </a:r>
            <a:endParaRPr b="0" i="0" sz="1650" u="none" cap="none" strike="noStrike"/>
          </a:p>
        </p:txBody>
      </p:sp>
      <p:sp>
        <p:nvSpPr>
          <p:cNvPr id="66" name="Google Shape;66;p6"/>
          <p:cNvSpPr/>
          <p:nvPr/>
        </p:nvSpPr>
        <p:spPr>
          <a:xfrm>
            <a:off x="4678561" y="1740098"/>
            <a:ext cx="3719989" cy="2931081"/>
          </a:xfrm>
          <a:prstGeom prst="roundRect">
            <a:avLst>
              <a:gd fmla="val 1090" name="adj"/>
            </a:avLst>
          </a:prstGeom>
          <a:solidFill>
            <a:srgbClr val="EEE8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4891564" y="1953101"/>
            <a:ext cx="2662714" cy="332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050"/>
              <a:buFont typeface="Gelasio SemiBold"/>
              <a:buNone/>
            </a:pPr>
            <a:r>
              <a:rPr b="1" i="0" lang="en-US" sz="205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Ejemplos</a:t>
            </a:r>
            <a:endParaRPr b="0" i="0" sz="2050" u="none" cap="none" strike="noStrike"/>
          </a:p>
        </p:txBody>
      </p:sp>
      <p:sp>
        <p:nvSpPr>
          <p:cNvPr id="68" name="Google Shape;68;p6"/>
          <p:cNvSpPr/>
          <p:nvPr/>
        </p:nvSpPr>
        <p:spPr>
          <a:xfrm>
            <a:off x="4891564" y="2413635"/>
            <a:ext cx="3293983" cy="2044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650"/>
              <a:buFont typeface="Gelasio"/>
              <a:buNone/>
            </a:pPr>
            <a:r>
              <a:rPr b="0" i="0" lang="en-US" sz="165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Algunos ejemplos de fragmentación incluyen la fragmentación de discos duros, la dispersión de archivos en una base de datos o la división de la memoria en un sistema operativo.</a:t>
            </a:r>
            <a:endParaRPr b="0" i="0" sz="1650" u="none" cap="none" strike="noStrike"/>
          </a:p>
        </p:txBody>
      </p:sp>
      <p:sp>
        <p:nvSpPr>
          <p:cNvPr id="69" name="Google Shape;69;p6"/>
          <p:cNvSpPr/>
          <p:nvPr/>
        </p:nvSpPr>
        <p:spPr>
          <a:xfrm>
            <a:off x="745569" y="4884182"/>
            <a:ext cx="3719989" cy="2590324"/>
          </a:xfrm>
          <a:prstGeom prst="roundRect">
            <a:avLst>
              <a:gd fmla="val 1234" name="adj"/>
            </a:avLst>
          </a:prstGeom>
          <a:solidFill>
            <a:srgbClr val="EEE8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958572" y="5097185"/>
            <a:ext cx="2662714" cy="332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050"/>
              <a:buFont typeface="Gelasio SemiBold"/>
              <a:buNone/>
            </a:pPr>
            <a:r>
              <a:rPr b="1" i="0" lang="en-US" sz="205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Impacto</a:t>
            </a:r>
            <a:endParaRPr b="0" i="0" sz="2050" u="none" cap="none" strike="noStrike"/>
          </a:p>
        </p:txBody>
      </p:sp>
      <p:sp>
        <p:nvSpPr>
          <p:cNvPr id="71" name="Google Shape;71;p6"/>
          <p:cNvSpPr/>
          <p:nvPr/>
        </p:nvSpPr>
        <p:spPr>
          <a:xfrm>
            <a:off x="958572" y="5557718"/>
            <a:ext cx="3293983" cy="1703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650"/>
              <a:buFont typeface="Gelasio"/>
              <a:buNone/>
            </a:pPr>
            <a:r>
              <a:rPr b="0" i="0" lang="en-US" sz="165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La fragmentación puede reducir el rendimiento, la eficiencia y la escalabilidad de un sistema, además de complicar las tareas de mantenimiento y gestión.</a:t>
            </a:r>
            <a:endParaRPr b="0" i="0" sz="1650" u="none" cap="none" strike="noStrike"/>
          </a:p>
        </p:txBody>
      </p:sp>
      <p:sp>
        <p:nvSpPr>
          <p:cNvPr id="72" name="Google Shape;72;p6"/>
          <p:cNvSpPr/>
          <p:nvPr/>
        </p:nvSpPr>
        <p:spPr>
          <a:xfrm>
            <a:off x="4678561" y="4884182"/>
            <a:ext cx="3719989" cy="2590324"/>
          </a:xfrm>
          <a:prstGeom prst="roundRect">
            <a:avLst>
              <a:gd fmla="val 1234" name="adj"/>
            </a:avLst>
          </a:prstGeom>
          <a:solidFill>
            <a:srgbClr val="EEE8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"/>
          <p:cNvSpPr/>
          <p:nvPr/>
        </p:nvSpPr>
        <p:spPr>
          <a:xfrm>
            <a:off x="4891564" y="5097185"/>
            <a:ext cx="2662714" cy="332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050"/>
              <a:buFont typeface="Gelasio SemiBold"/>
              <a:buNone/>
            </a:pPr>
            <a:r>
              <a:rPr b="1" i="0" lang="en-US" sz="205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Importancia</a:t>
            </a:r>
            <a:endParaRPr b="0" i="0" sz="2050" u="none" cap="none" strike="noStrike"/>
          </a:p>
        </p:txBody>
      </p:sp>
      <p:sp>
        <p:nvSpPr>
          <p:cNvPr id="74" name="Google Shape;74;p6"/>
          <p:cNvSpPr/>
          <p:nvPr/>
        </p:nvSpPr>
        <p:spPr>
          <a:xfrm>
            <a:off x="4891564" y="5557718"/>
            <a:ext cx="3293983" cy="1703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650"/>
              <a:buFont typeface="Gelasio"/>
              <a:buNone/>
            </a:pPr>
            <a:r>
              <a:rPr b="0" i="0" lang="en-US" sz="165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Entender y abordar la fragmentación es crucial para garantizar la estabilidad y el correcto funcionamiento de los sistemas informáticos.</a:t>
            </a:r>
            <a:endParaRPr b="0" i="0" sz="16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"/>
          <p:cNvSpPr/>
          <p:nvPr/>
        </p:nvSpPr>
        <p:spPr>
          <a:xfrm>
            <a:off x="735324" y="1006800"/>
            <a:ext cx="8055900" cy="6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09"/>
              </a:lnSpc>
              <a:spcBef>
                <a:spcPts val="0"/>
              </a:spcBef>
              <a:spcAft>
                <a:spcPts val="0"/>
              </a:spcAft>
              <a:buClr>
                <a:srgbClr val="484237"/>
              </a:buClr>
              <a:buSzPts val="4100"/>
              <a:buFont typeface="Gelasio SemiBold"/>
              <a:buNone/>
            </a:pPr>
            <a:r>
              <a:rPr b="1" i="0" lang="en-US" sz="4100" u="none" cap="none" strike="noStrike">
                <a:solidFill>
                  <a:srgbClr val="484237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Causas de la fragmentación</a:t>
            </a:r>
            <a:endParaRPr b="0" i="0" sz="4100" u="none" cap="none" strike="noStrike"/>
          </a:p>
        </p:txBody>
      </p:sp>
      <p:pic>
        <p:nvPicPr>
          <p:cNvPr descr="preencoded.png" id="81" name="Google Shape;8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330" y="1978462"/>
            <a:ext cx="1050488" cy="1882973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7"/>
          <p:cNvSpPr/>
          <p:nvPr/>
        </p:nvSpPr>
        <p:spPr>
          <a:xfrm>
            <a:off x="2100847" y="2188500"/>
            <a:ext cx="56154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050"/>
              <a:buFont typeface="Gelasio SemiBold"/>
              <a:buNone/>
            </a:pPr>
            <a:r>
              <a:rPr b="1" i="0" lang="en-US" sz="205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Asignación dinámica de recursos</a:t>
            </a:r>
            <a:endParaRPr b="0" i="0" sz="2050" u="none" cap="none" strike="noStrike"/>
          </a:p>
        </p:txBody>
      </p:sp>
      <p:sp>
        <p:nvSpPr>
          <p:cNvPr id="83" name="Google Shape;83;p7"/>
          <p:cNvSpPr/>
          <p:nvPr/>
        </p:nvSpPr>
        <p:spPr>
          <a:xfrm>
            <a:off x="2100858" y="2642711"/>
            <a:ext cx="6307812" cy="10086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650"/>
              <a:buFont typeface="Gelasio"/>
              <a:buNone/>
            </a:pPr>
            <a:r>
              <a:rPr b="0" i="0" lang="en-US" sz="165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Los sistemas operativos y las bases de datos utilizan asignación dinámica de memoria y almacenamiento, lo que puede generar fragmentación.</a:t>
            </a:r>
            <a:endParaRPr b="0" i="0" sz="1650" u="none" cap="none" strike="noStrike"/>
          </a:p>
        </p:txBody>
      </p:sp>
      <p:pic>
        <p:nvPicPr>
          <p:cNvPr descr="preencoded.png" id="84" name="Google Shape;8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5330" y="3861435"/>
            <a:ext cx="1050488" cy="1680686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7"/>
          <p:cNvSpPr/>
          <p:nvPr/>
        </p:nvSpPr>
        <p:spPr>
          <a:xfrm>
            <a:off x="2100858" y="4071461"/>
            <a:ext cx="4895255" cy="328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050"/>
              <a:buFont typeface="Gelasio SemiBold"/>
              <a:buNone/>
            </a:pPr>
            <a:r>
              <a:rPr b="1" i="0" lang="en-US" sz="205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Expansión y modificación de sistemas</a:t>
            </a:r>
            <a:endParaRPr b="0" i="0" sz="2050" u="none" cap="none" strike="noStrike"/>
          </a:p>
        </p:txBody>
      </p:sp>
      <p:sp>
        <p:nvSpPr>
          <p:cNvPr id="86" name="Google Shape;86;p7"/>
          <p:cNvSpPr/>
          <p:nvPr/>
        </p:nvSpPr>
        <p:spPr>
          <a:xfrm>
            <a:off x="2100858" y="4525685"/>
            <a:ext cx="6307812" cy="672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650"/>
              <a:buFont typeface="Gelasio"/>
              <a:buNone/>
            </a:pPr>
            <a:r>
              <a:rPr b="0" i="0" lang="en-US" sz="165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A medida que se agregan o eliminan componentes de un sistema, los recursos disponibles se fragmentan y dispersan.</a:t>
            </a:r>
            <a:endParaRPr b="0" i="0" sz="1650" u="none" cap="none" strike="noStrike"/>
          </a:p>
        </p:txBody>
      </p:sp>
      <p:pic>
        <p:nvPicPr>
          <p:cNvPr descr="preencoded.png" id="87" name="Google Shape;87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5330" y="5542121"/>
            <a:ext cx="1050488" cy="1680686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7"/>
          <p:cNvSpPr/>
          <p:nvPr/>
        </p:nvSpPr>
        <p:spPr>
          <a:xfrm>
            <a:off x="2100858" y="5752147"/>
            <a:ext cx="4330184" cy="328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050"/>
              <a:buFont typeface="Gelasio SemiBold"/>
              <a:buNone/>
            </a:pPr>
            <a:r>
              <a:rPr b="1" i="0" lang="en-US" sz="205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Desgaste y deterioro de hardware</a:t>
            </a:r>
            <a:endParaRPr b="0" i="0" sz="2050" u="none" cap="none" strike="noStrike"/>
          </a:p>
        </p:txBody>
      </p:sp>
      <p:sp>
        <p:nvSpPr>
          <p:cNvPr id="89" name="Google Shape;89;p7"/>
          <p:cNvSpPr/>
          <p:nvPr/>
        </p:nvSpPr>
        <p:spPr>
          <a:xfrm>
            <a:off x="2100858" y="6206371"/>
            <a:ext cx="6307812" cy="672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650"/>
              <a:buFont typeface="Gelasio"/>
              <a:buNone/>
            </a:pPr>
            <a:r>
              <a:rPr b="0" i="0" lang="en-US" sz="165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El envejecimiento y el desgaste de los componentes físicos, como discos duros, también pueden contribuir a la fragmentación.</a:t>
            </a:r>
            <a:endParaRPr b="0" i="0" sz="1650" u="none" cap="none" strike="noStrike"/>
          </a:p>
        </p:txBody>
      </p:sp>
      <p:pic>
        <p:nvPicPr>
          <p:cNvPr id="90" name="Google Shape;90;p7"/>
          <p:cNvPicPr preferRelativeResize="0"/>
          <p:nvPr/>
        </p:nvPicPr>
        <p:blipFill rotWithShape="1">
          <a:blip r:embed="rId6">
            <a:alphaModFix/>
          </a:blip>
          <a:srcRect b="0" l="38049" r="0" t="0"/>
          <a:stretch/>
        </p:blipFill>
        <p:spPr>
          <a:xfrm>
            <a:off x="9060575" y="-60625"/>
            <a:ext cx="9202125" cy="835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6" name="Google Shape;9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8"/>
          <p:cNvSpPr/>
          <p:nvPr/>
        </p:nvSpPr>
        <p:spPr>
          <a:xfrm>
            <a:off x="6157801" y="1178725"/>
            <a:ext cx="8039400" cy="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484237"/>
              </a:buClr>
              <a:buSzPts val="3750"/>
              <a:buFont typeface="Gelasio SemiBold"/>
              <a:buNone/>
            </a:pPr>
            <a:r>
              <a:rPr b="1" i="0" lang="en-US" sz="3750" u="none" cap="none" strike="noStrike">
                <a:solidFill>
                  <a:srgbClr val="484237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Impactos de la fragmentación</a:t>
            </a:r>
            <a:endParaRPr b="0" i="0" sz="3750" u="none" cap="none" strike="noStrike"/>
          </a:p>
        </p:txBody>
      </p:sp>
      <p:sp>
        <p:nvSpPr>
          <p:cNvPr id="98" name="Google Shape;98;p8"/>
          <p:cNvSpPr/>
          <p:nvPr/>
        </p:nvSpPr>
        <p:spPr>
          <a:xfrm>
            <a:off x="6157793" y="2065853"/>
            <a:ext cx="7801213" cy="4985028"/>
          </a:xfrm>
          <a:prstGeom prst="roundRect">
            <a:avLst>
              <a:gd fmla="val 577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8"/>
          <p:cNvSpPr/>
          <p:nvPr/>
        </p:nvSpPr>
        <p:spPr>
          <a:xfrm>
            <a:off x="6165413" y="2073473"/>
            <a:ext cx="7785973" cy="1165741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8"/>
          <p:cNvSpPr/>
          <p:nvPr/>
        </p:nvSpPr>
        <p:spPr>
          <a:xfrm>
            <a:off x="6357223" y="2196108"/>
            <a:ext cx="3505557" cy="306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500"/>
              <a:buFont typeface="Gelasio"/>
              <a:buNone/>
            </a:pPr>
            <a:r>
              <a:rPr b="0" i="0" lang="en-US" sz="150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Reducción de rendimiento</a:t>
            </a:r>
            <a:endParaRPr b="0" i="0" sz="1500" u="none" cap="none" strike="noStrike"/>
          </a:p>
        </p:txBody>
      </p:sp>
      <p:sp>
        <p:nvSpPr>
          <p:cNvPr id="101" name="Google Shape;101;p8"/>
          <p:cNvSpPr/>
          <p:nvPr/>
        </p:nvSpPr>
        <p:spPr>
          <a:xfrm>
            <a:off x="10254020" y="2196108"/>
            <a:ext cx="3505557" cy="920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500"/>
              <a:buFont typeface="Gelasio"/>
              <a:buNone/>
            </a:pPr>
            <a:r>
              <a:rPr b="0" i="0" lang="en-US" sz="150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La fragmentación puede generar cuellos de botella y latencia, disminuyendo el rendimiento general del sistema.</a:t>
            </a:r>
            <a:endParaRPr b="0" i="0" sz="1500" u="none" cap="none" strike="noStrike"/>
          </a:p>
        </p:txBody>
      </p:sp>
      <p:sp>
        <p:nvSpPr>
          <p:cNvPr id="102" name="Google Shape;102;p8"/>
          <p:cNvSpPr/>
          <p:nvPr/>
        </p:nvSpPr>
        <p:spPr>
          <a:xfrm>
            <a:off x="6165413" y="3239214"/>
            <a:ext cx="7785973" cy="1472565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8"/>
          <p:cNvSpPr/>
          <p:nvPr/>
        </p:nvSpPr>
        <p:spPr>
          <a:xfrm>
            <a:off x="6357223" y="3361849"/>
            <a:ext cx="3505557" cy="306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500"/>
              <a:buFont typeface="Gelasio"/>
              <a:buNone/>
            </a:pPr>
            <a:r>
              <a:rPr b="0" i="0" lang="en-US" sz="150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Consumo de recursos</a:t>
            </a:r>
            <a:endParaRPr b="0" i="0" sz="1500" u="none" cap="none" strike="noStrike"/>
          </a:p>
        </p:txBody>
      </p:sp>
      <p:sp>
        <p:nvSpPr>
          <p:cNvPr id="104" name="Google Shape;104;p8"/>
          <p:cNvSpPr/>
          <p:nvPr/>
        </p:nvSpPr>
        <p:spPr>
          <a:xfrm>
            <a:off x="10254020" y="3361849"/>
            <a:ext cx="3505557" cy="1227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500"/>
              <a:buFont typeface="Gelasio"/>
              <a:buNone/>
            </a:pPr>
            <a:r>
              <a:rPr b="0" i="0" lang="en-US" sz="150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La fragmentación implica un uso ineficiente de la memoria y el almacenamiento, lo que se traduce en un mayor consumo de recursos.</a:t>
            </a:r>
            <a:endParaRPr b="0" i="0" sz="1500" u="none" cap="none" strike="noStrike"/>
          </a:p>
        </p:txBody>
      </p:sp>
      <p:sp>
        <p:nvSpPr>
          <p:cNvPr id="105" name="Google Shape;105;p8"/>
          <p:cNvSpPr/>
          <p:nvPr/>
        </p:nvSpPr>
        <p:spPr>
          <a:xfrm>
            <a:off x="6165413" y="4711779"/>
            <a:ext cx="7785973" cy="1165741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8"/>
          <p:cNvSpPr/>
          <p:nvPr/>
        </p:nvSpPr>
        <p:spPr>
          <a:xfrm>
            <a:off x="6357223" y="4834414"/>
            <a:ext cx="3505557" cy="306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500"/>
              <a:buFont typeface="Gelasio"/>
              <a:buNone/>
            </a:pPr>
            <a:r>
              <a:rPr b="0" i="0" lang="en-US" sz="150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Complejidad de gestión</a:t>
            </a:r>
            <a:endParaRPr b="0" i="0" sz="1500" u="none" cap="none" strike="noStrike"/>
          </a:p>
        </p:txBody>
      </p:sp>
      <p:sp>
        <p:nvSpPr>
          <p:cNvPr id="107" name="Google Shape;107;p8"/>
          <p:cNvSpPr/>
          <p:nvPr/>
        </p:nvSpPr>
        <p:spPr>
          <a:xfrm>
            <a:off x="10254020" y="4834414"/>
            <a:ext cx="3505557" cy="920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500"/>
              <a:buFont typeface="Gelasio"/>
              <a:buNone/>
            </a:pPr>
            <a:r>
              <a:rPr b="0" i="0" lang="en-US" sz="150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La fragmentación dificulta las tareas de administración, mantenimiento y monitoreo del sistema.</a:t>
            </a:r>
            <a:endParaRPr b="0" i="0" sz="1500" u="none" cap="none" strike="noStrike"/>
          </a:p>
        </p:txBody>
      </p:sp>
      <p:sp>
        <p:nvSpPr>
          <p:cNvPr id="108" name="Google Shape;108;p8"/>
          <p:cNvSpPr/>
          <p:nvPr/>
        </p:nvSpPr>
        <p:spPr>
          <a:xfrm>
            <a:off x="6165413" y="5877520"/>
            <a:ext cx="7785973" cy="1165741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8"/>
          <p:cNvSpPr/>
          <p:nvPr/>
        </p:nvSpPr>
        <p:spPr>
          <a:xfrm>
            <a:off x="6357223" y="6000155"/>
            <a:ext cx="3505557" cy="306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500"/>
              <a:buFont typeface="Gelasio"/>
              <a:buNone/>
            </a:pPr>
            <a:r>
              <a:rPr b="0" i="0" lang="en-US" sz="150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Fallos y errores</a:t>
            </a:r>
            <a:endParaRPr b="0" i="0" sz="1500" u="none" cap="none" strike="noStrike"/>
          </a:p>
        </p:txBody>
      </p:sp>
      <p:sp>
        <p:nvSpPr>
          <p:cNvPr id="110" name="Google Shape;110;p8"/>
          <p:cNvSpPr/>
          <p:nvPr/>
        </p:nvSpPr>
        <p:spPr>
          <a:xfrm>
            <a:off x="10254020" y="6000155"/>
            <a:ext cx="3505557" cy="920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500"/>
              <a:buFont typeface="Gelasio"/>
              <a:buNone/>
            </a:pPr>
            <a:r>
              <a:rPr b="0" i="0" lang="en-US" sz="150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La dispersión de los datos y recursos aumenta la probabilidad de fallos, corrupción de datos y otros problemas.</a:t>
            </a:r>
            <a:endParaRPr b="0" i="0" sz="150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6" name="Google Shape;11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3281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9"/>
          <p:cNvSpPr/>
          <p:nvPr/>
        </p:nvSpPr>
        <p:spPr>
          <a:xfrm>
            <a:off x="6207681" y="566738"/>
            <a:ext cx="7701439" cy="1288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91"/>
              </a:lnSpc>
              <a:spcBef>
                <a:spcPts val="0"/>
              </a:spcBef>
              <a:spcAft>
                <a:spcPts val="0"/>
              </a:spcAft>
              <a:buClr>
                <a:srgbClr val="484237"/>
              </a:buClr>
              <a:buSzPts val="4050"/>
              <a:buFont typeface="Gelasio SemiBold"/>
              <a:buNone/>
            </a:pPr>
            <a:r>
              <a:rPr b="1" i="0" lang="en-US" sz="4050" u="none" cap="none" strike="noStrike">
                <a:solidFill>
                  <a:srgbClr val="484237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Estrategias para mitigar la fragmentación</a:t>
            </a:r>
            <a:endParaRPr b="0" i="0" sz="4050" u="none" cap="none" strike="noStrike"/>
          </a:p>
        </p:txBody>
      </p:sp>
      <p:sp>
        <p:nvSpPr>
          <p:cNvPr id="118" name="Google Shape;118;p9"/>
          <p:cNvSpPr/>
          <p:nvPr/>
        </p:nvSpPr>
        <p:spPr>
          <a:xfrm>
            <a:off x="6207681" y="2395895"/>
            <a:ext cx="463629" cy="463629"/>
          </a:xfrm>
          <a:prstGeom prst="roundRect">
            <a:avLst>
              <a:gd fmla="val 6668" name="adj"/>
            </a:avLst>
          </a:prstGeom>
          <a:solidFill>
            <a:srgbClr val="EEE8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9"/>
          <p:cNvSpPr/>
          <p:nvPr/>
        </p:nvSpPr>
        <p:spPr>
          <a:xfrm>
            <a:off x="6366510" y="2473047"/>
            <a:ext cx="145852" cy="309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400"/>
              <a:buFont typeface="Gelasio SemiBold"/>
              <a:buNone/>
            </a:pPr>
            <a:r>
              <a:rPr b="1" i="0" lang="en-US" sz="240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1</a:t>
            </a:r>
            <a:endParaRPr b="0" i="0" sz="2400" u="none" cap="none" strike="noStrike"/>
          </a:p>
        </p:txBody>
      </p:sp>
      <p:sp>
        <p:nvSpPr>
          <p:cNvPr id="120" name="Google Shape;120;p9"/>
          <p:cNvSpPr/>
          <p:nvPr/>
        </p:nvSpPr>
        <p:spPr>
          <a:xfrm>
            <a:off x="6877407" y="2395895"/>
            <a:ext cx="3078004" cy="644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000"/>
              <a:buFont typeface="Gelasio SemiBold"/>
              <a:buNone/>
            </a:pPr>
            <a:r>
              <a:rPr b="1" i="0" lang="en-US" sz="200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Desfragmentación periódica</a:t>
            </a:r>
            <a:endParaRPr b="0" i="0" sz="2000" u="none" cap="none" strike="noStrike"/>
          </a:p>
        </p:txBody>
      </p:sp>
      <p:sp>
        <p:nvSpPr>
          <p:cNvPr id="121" name="Google Shape;121;p9"/>
          <p:cNvSpPr/>
          <p:nvPr/>
        </p:nvSpPr>
        <p:spPr>
          <a:xfrm>
            <a:off x="6877407" y="3163610"/>
            <a:ext cx="3078004" cy="1648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600"/>
              <a:buFont typeface="Gelasio"/>
              <a:buNone/>
            </a:pPr>
            <a:r>
              <a:rPr b="0" i="0" lang="en-US" sz="160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Realizar procesos de desfragmentación y compactación de datos y recursos para mantener la integridad del sistema.</a:t>
            </a:r>
            <a:endParaRPr b="0" i="0" sz="1600" u="none" cap="none" strike="noStrike"/>
          </a:p>
        </p:txBody>
      </p:sp>
      <p:sp>
        <p:nvSpPr>
          <p:cNvPr id="122" name="Google Shape;122;p9"/>
          <p:cNvSpPr/>
          <p:nvPr/>
        </p:nvSpPr>
        <p:spPr>
          <a:xfrm>
            <a:off x="10161508" y="2395895"/>
            <a:ext cx="463629" cy="463629"/>
          </a:xfrm>
          <a:prstGeom prst="roundRect">
            <a:avLst>
              <a:gd fmla="val 6668" name="adj"/>
            </a:avLst>
          </a:prstGeom>
          <a:solidFill>
            <a:srgbClr val="EEE8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9"/>
          <p:cNvSpPr/>
          <p:nvPr/>
        </p:nvSpPr>
        <p:spPr>
          <a:xfrm>
            <a:off x="10299621" y="2473047"/>
            <a:ext cx="187404" cy="309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400"/>
              <a:buFont typeface="Gelasio SemiBold"/>
              <a:buNone/>
            </a:pPr>
            <a:r>
              <a:rPr b="1" i="0" lang="en-US" sz="240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2</a:t>
            </a:r>
            <a:endParaRPr b="0" i="0" sz="2400" u="none" cap="none" strike="noStrike"/>
          </a:p>
        </p:txBody>
      </p:sp>
      <p:sp>
        <p:nvSpPr>
          <p:cNvPr id="124" name="Google Shape;124;p9"/>
          <p:cNvSpPr/>
          <p:nvPr/>
        </p:nvSpPr>
        <p:spPr>
          <a:xfrm>
            <a:off x="10831235" y="2395895"/>
            <a:ext cx="3078004" cy="644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000"/>
              <a:buFont typeface="Gelasio SemiBold"/>
              <a:buNone/>
            </a:pPr>
            <a:r>
              <a:rPr b="1" i="0" lang="en-US" sz="200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Políticas de asignación óptima</a:t>
            </a:r>
            <a:endParaRPr b="0" i="0" sz="2000" u="none" cap="none" strike="noStrike"/>
          </a:p>
        </p:txBody>
      </p:sp>
      <p:sp>
        <p:nvSpPr>
          <p:cNvPr id="125" name="Google Shape;125;p9"/>
          <p:cNvSpPr/>
          <p:nvPr/>
        </p:nvSpPr>
        <p:spPr>
          <a:xfrm>
            <a:off x="10831235" y="3163610"/>
            <a:ext cx="3078004" cy="1648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600"/>
              <a:buFont typeface="Gelasio"/>
              <a:buNone/>
            </a:pPr>
            <a:r>
              <a:rPr b="0" i="0" lang="en-US" sz="160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Implementar políticas de asignación y desasignación de recursos que minimicen la fragmentación, como la reserva de espacio contiguo.</a:t>
            </a:r>
            <a:endParaRPr b="0" i="0" sz="1600" u="none" cap="none" strike="noStrike"/>
          </a:p>
        </p:txBody>
      </p:sp>
      <p:sp>
        <p:nvSpPr>
          <p:cNvPr id="126" name="Google Shape;126;p9"/>
          <p:cNvSpPr/>
          <p:nvPr/>
        </p:nvSpPr>
        <p:spPr>
          <a:xfrm>
            <a:off x="6207681" y="5249942"/>
            <a:ext cx="463629" cy="463629"/>
          </a:xfrm>
          <a:prstGeom prst="roundRect">
            <a:avLst>
              <a:gd fmla="val 6668" name="adj"/>
            </a:avLst>
          </a:prstGeom>
          <a:solidFill>
            <a:srgbClr val="EEE8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9"/>
          <p:cNvSpPr/>
          <p:nvPr/>
        </p:nvSpPr>
        <p:spPr>
          <a:xfrm>
            <a:off x="6346269" y="5327094"/>
            <a:ext cx="186333" cy="309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400"/>
              <a:buFont typeface="Gelasio SemiBold"/>
              <a:buNone/>
            </a:pPr>
            <a:r>
              <a:rPr b="1" i="0" lang="en-US" sz="240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3</a:t>
            </a:r>
            <a:endParaRPr b="0" i="0" sz="2400" u="none" cap="none" strike="noStrike"/>
          </a:p>
        </p:txBody>
      </p:sp>
      <p:sp>
        <p:nvSpPr>
          <p:cNvPr id="128" name="Google Shape;128;p9"/>
          <p:cNvSpPr/>
          <p:nvPr/>
        </p:nvSpPr>
        <p:spPr>
          <a:xfrm>
            <a:off x="6877399" y="5249950"/>
            <a:ext cx="3422100" cy="3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000"/>
              <a:buFont typeface="Gelasio SemiBold"/>
              <a:buNone/>
            </a:pPr>
            <a:r>
              <a:rPr b="1" i="0" lang="en-US" sz="200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Monitoreo y prevención</a:t>
            </a:r>
            <a:endParaRPr b="0" i="0" sz="2000" u="none" cap="none" strike="noStrike"/>
          </a:p>
        </p:txBody>
      </p:sp>
      <p:sp>
        <p:nvSpPr>
          <p:cNvPr id="129" name="Google Shape;129;p9"/>
          <p:cNvSpPr/>
          <p:nvPr/>
        </p:nvSpPr>
        <p:spPr>
          <a:xfrm>
            <a:off x="6877407" y="5695593"/>
            <a:ext cx="3078004" cy="1648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600"/>
              <a:buFont typeface="Gelasio"/>
              <a:buNone/>
            </a:pPr>
            <a:r>
              <a:rPr b="0" i="0" lang="en-US" sz="160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Monitorear constantemente los niveles de fragmentación y aplicar medidas preventivas antes de que se conviertan en problemas graves.</a:t>
            </a:r>
            <a:endParaRPr b="0" i="0" sz="1600" u="none" cap="none" strike="noStrike"/>
          </a:p>
        </p:txBody>
      </p:sp>
      <p:sp>
        <p:nvSpPr>
          <p:cNvPr id="130" name="Google Shape;130;p9"/>
          <p:cNvSpPr/>
          <p:nvPr/>
        </p:nvSpPr>
        <p:spPr>
          <a:xfrm>
            <a:off x="10161508" y="5249942"/>
            <a:ext cx="463629" cy="463629"/>
          </a:xfrm>
          <a:prstGeom prst="roundRect">
            <a:avLst>
              <a:gd fmla="val 6668" name="adj"/>
            </a:avLst>
          </a:prstGeom>
          <a:solidFill>
            <a:srgbClr val="EEE8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9"/>
          <p:cNvSpPr/>
          <p:nvPr/>
        </p:nvSpPr>
        <p:spPr>
          <a:xfrm>
            <a:off x="10296882" y="5327094"/>
            <a:ext cx="192762" cy="309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400"/>
              <a:buFont typeface="Gelasio SemiBold"/>
              <a:buNone/>
            </a:pPr>
            <a:r>
              <a:rPr b="1" i="0" lang="en-US" sz="240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4</a:t>
            </a:r>
            <a:endParaRPr b="0" i="0" sz="2400" u="none" cap="none" strike="noStrike"/>
          </a:p>
        </p:txBody>
      </p:sp>
      <p:sp>
        <p:nvSpPr>
          <p:cNvPr id="132" name="Google Shape;132;p9"/>
          <p:cNvSpPr/>
          <p:nvPr/>
        </p:nvSpPr>
        <p:spPr>
          <a:xfrm>
            <a:off x="10831235" y="5249942"/>
            <a:ext cx="3078004" cy="644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000"/>
              <a:buFont typeface="Gelasio SemiBold"/>
              <a:buNone/>
            </a:pPr>
            <a:r>
              <a:rPr b="1" i="0" lang="en-US" sz="200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Escalabilidad y reingeniería</a:t>
            </a:r>
            <a:endParaRPr b="0" i="0" sz="2000" u="none" cap="none" strike="noStrike"/>
          </a:p>
        </p:txBody>
      </p:sp>
      <p:sp>
        <p:nvSpPr>
          <p:cNvPr id="133" name="Google Shape;133;p9"/>
          <p:cNvSpPr/>
          <p:nvPr/>
        </p:nvSpPr>
        <p:spPr>
          <a:xfrm>
            <a:off x="10831235" y="6017657"/>
            <a:ext cx="3078004" cy="1648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600"/>
              <a:buFont typeface="Gelasio"/>
              <a:buNone/>
            </a:pPr>
            <a:r>
              <a:rPr b="0" i="0" lang="en-US" sz="160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Diseñar sistemas con una escalabilidad inherente y una arquitectura modular para facilitar la expansión sin generar fragmentación.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2024-11-04T00:00:45Z</dcterms:created>
  <dc:creator>PptxGenJS</dc:creator>
</cp:coreProperties>
</file>