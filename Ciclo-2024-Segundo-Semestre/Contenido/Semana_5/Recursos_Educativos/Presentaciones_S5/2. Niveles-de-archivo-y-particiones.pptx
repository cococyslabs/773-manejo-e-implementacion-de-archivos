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Gelasio"/>
      <p:regular r:id="rId15"/>
      <p:bold r:id="rId16"/>
      <p:italic r:id="rId17"/>
      <p:boldItalic r:id="rId18"/>
    </p:embeddedFont>
    <p:embeddedFont>
      <p:font typeface="Gelasio SemiBol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uier//ltrPh7D3oEE7C/4OHS1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elasioSemiBold-bold.fntdata"/><Relationship Id="rId11" Type="http://schemas.openxmlformats.org/officeDocument/2006/relationships/slide" Target="slides/slide7.xml"/><Relationship Id="rId22" Type="http://schemas.openxmlformats.org/officeDocument/2006/relationships/font" Target="fonts/GelasioSemiBold-boldItalic.fntdata"/><Relationship Id="rId10" Type="http://schemas.openxmlformats.org/officeDocument/2006/relationships/slide" Target="slides/slide6.xml"/><Relationship Id="rId21" Type="http://schemas.openxmlformats.org/officeDocument/2006/relationships/font" Target="fonts/GelasioSemiBold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elasio-regular.fntdata"/><Relationship Id="rId14" Type="http://schemas.openxmlformats.org/officeDocument/2006/relationships/slide" Target="slides/slide10.xml"/><Relationship Id="rId17" Type="http://schemas.openxmlformats.org/officeDocument/2006/relationships/font" Target="fonts/Gelasio-italic.fntdata"/><Relationship Id="rId16" Type="http://schemas.openxmlformats.org/officeDocument/2006/relationships/font" Target="fonts/Gelasio-bold.fntdata"/><Relationship Id="rId5" Type="http://schemas.openxmlformats.org/officeDocument/2006/relationships/slide" Target="slides/slide1.xml"/><Relationship Id="rId19" Type="http://schemas.openxmlformats.org/officeDocument/2006/relationships/font" Target="fonts/GelasioSemiBold-regular.fntdata"/><Relationship Id="rId6" Type="http://schemas.openxmlformats.org/officeDocument/2006/relationships/slide" Target="slides/slide2.xml"/><Relationship Id="rId18" Type="http://schemas.openxmlformats.org/officeDocument/2006/relationships/font" Target="fonts/Gelasi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793790" y="1733193"/>
            <a:ext cx="7556421" cy="1956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6150"/>
              <a:buFont typeface="Gelasio SemiBold"/>
              <a:buNone/>
            </a:pPr>
            <a:r>
              <a:rPr b="0" i="0" lang="en-US" sz="61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Niveles de archivo y particiones</a:t>
            </a:r>
            <a:endParaRPr b="0" i="0" sz="615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793790" y="4029789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En el campo de la ingeniería en ciencias y sistemas, el manejo eficiente de archivos y particiones es fundamental. </a:t>
            </a:r>
            <a:r>
              <a:rPr lang="en-US" sz="175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</a:t>
            </a: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xploraremos los conceptos clave de los niveles de archivo y las particiones, brindando una visión integral que les permitirá comprender mejor la estructura y organización de la información digital.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6203871" y="724853"/>
            <a:ext cx="7709059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000"/>
              <a:buFont typeface="Gelasio SemiBold"/>
              <a:buNone/>
            </a:pPr>
            <a:r>
              <a:rPr b="0" i="0" lang="en-US" sz="40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Importancia de la estructura de archivos</a:t>
            </a:r>
            <a:endParaRPr b="0" i="0" sz="40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6203871" y="2313384"/>
            <a:ext cx="3752136" cy="2493169"/>
          </a:xfrm>
          <a:prstGeom prst="roundRect">
            <a:avLst>
              <a:gd fmla="val 1233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408777" y="2518291"/>
            <a:ext cx="2871192" cy="32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00"/>
              <a:buFont typeface="Gelasio SemiBold"/>
              <a:buNone/>
            </a:pPr>
            <a:r>
              <a:rPr b="0" i="0" lang="en-US" sz="20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Organización Eficiente</a:t>
            </a:r>
            <a:endParaRPr b="0" i="0" sz="200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6408777" y="2961561"/>
            <a:ext cx="3342322" cy="1640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Una estructura de archivos bien diseñada facilita la localización, acceso y administración de la información, mejorando la eficiencia en el trabajo diario.</a:t>
            </a:r>
            <a:endParaRPr b="0" i="0" sz="16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10160913" y="2313384"/>
            <a:ext cx="3752136" cy="2493169"/>
          </a:xfrm>
          <a:prstGeom prst="roundRect">
            <a:avLst>
              <a:gd fmla="val 1233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10365819" y="2518291"/>
            <a:ext cx="2725341" cy="32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00"/>
              <a:buFont typeface="Gelasio SemiBold"/>
              <a:buNone/>
            </a:pPr>
            <a:r>
              <a:rPr b="0" i="0" lang="en-US" sz="20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Seguridad y Respaldo</a:t>
            </a:r>
            <a:endParaRPr b="0" i="0" sz="2000" u="none" cap="none" strike="noStrike"/>
          </a:p>
        </p:txBody>
      </p:sp>
      <p:sp>
        <p:nvSpPr>
          <p:cNvPr id="71" name="Google Shape;71;p2"/>
          <p:cNvSpPr/>
          <p:nvPr/>
        </p:nvSpPr>
        <p:spPr>
          <a:xfrm>
            <a:off x="10365819" y="2961561"/>
            <a:ext cx="3342322" cy="1640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 organización de archivos en niveles y particiones permite implementar estrategias de seguridad y respaldo de datos más efectivas.</a:t>
            </a:r>
            <a:endParaRPr b="0" i="0" sz="160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6203871" y="5011460"/>
            <a:ext cx="3752136" cy="2493169"/>
          </a:xfrm>
          <a:prstGeom prst="roundRect">
            <a:avLst>
              <a:gd fmla="val 1233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408777" y="5216366"/>
            <a:ext cx="3290649" cy="32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00"/>
              <a:buFont typeface="Gelasio SemiBold"/>
              <a:buNone/>
            </a:pPr>
            <a:r>
              <a:rPr b="0" i="0" lang="en-US" sz="20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Optimización de Recursos</a:t>
            </a:r>
            <a:endParaRPr b="0" i="0" sz="200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6408777" y="5659636"/>
            <a:ext cx="3342322" cy="1640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Una estructura adecuada maximiza el uso de los recursos de almacenamiento, evitando desperdicios y fragmentación de datos.</a:t>
            </a:r>
            <a:endParaRPr b="0" i="0" sz="160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10160913" y="5011460"/>
            <a:ext cx="3752136" cy="2493169"/>
          </a:xfrm>
          <a:prstGeom prst="roundRect">
            <a:avLst>
              <a:gd fmla="val 1233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10365819" y="5216366"/>
            <a:ext cx="2562463" cy="32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000"/>
              <a:buFont typeface="Gelasio SemiBold"/>
              <a:buNone/>
            </a:pPr>
            <a:r>
              <a:rPr b="0" i="0" lang="en-US" sz="20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Facilidad de Uso</a:t>
            </a:r>
            <a:endParaRPr b="0" i="0" sz="200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10365819" y="5659636"/>
            <a:ext cx="3342322" cy="1312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600"/>
              <a:buFont typeface="Gelasio"/>
              <a:buNone/>
            </a:pPr>
            <a:r>
              <a:rPr b="0" i="0" lang="en-US" sz="16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Los usuarios finales se benefician de una estructura intuitiva y fácil de navegar, mejorando su productividad y experiencia.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793790" y="2177058"/>
            <a:ext cx="750165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0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Tipos de niveles de archivo</a:t>
            </a:r>
            <a:endParaRPr b="0" i="0" sz="44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Archivos de sistema</a:t>
            </a:r>
            <a:endParaRPr b="0" i="0" sz="220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Estos archivos son fundamentales para el funcionamiento del sistema operativo y las aplicaciones. Incluyen ejecutables, bibliotecas, controladores y configuraciones.</a:t>
            </a:r>
            <a:endParaRPr b="0" i="0" sz="175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5332928" y="34528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Archivos de usuario</a:t>
            </a:r>
            <a:endParaRPr b="0" i="0" sz="220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5332928" y="4033957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Son los archivos creados y utilizados por los usuarios finales, como documentos, hojas de cálculo, presentaciones y archivos multimedia.</a:t>
            </a:r>
            <a:endParaRPr b="0" i="0" sz="175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9872067" y="3452813"/>
            <a:ext cx="287714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Archivos temporales</a:t>
            </a:r>
            <a:endParaRPr b="0" i="0" sz="220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9872067" y="4033957"/>
            <a:ext cx="397811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Estos archivos se generan y utilizan de manera transitoria durante la ejecución de programas o procesos. Deben ser gestionados cuidadosamente para mantener la eficiencia del sistema.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6280190" y="146113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0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Archivos de sistema</a:t>
            </a:r>
            <a:endParaRPr b="0" i="0" sz="445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6280190" y="276522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455093" y="2850237"/>
            <a:ext cx="160496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50"/>
              <a:buFont typeface="Gelasio SemiBold"/>
              <a:buNone/>
            </a:pPr>
            <a:r>
              <a:rPr b="0" i="0" lang="en-US" sz="26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1</a:t>
            </a:r>
            <a:endParaRPr b="0" i="0" sz="265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7017306" y="27652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Ejecutables</a:t>
            </a:r>
            <a:endParaRPr b="0" i="0" sz="220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7017306" y="3255645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Archivos que contienen instrucciones para ejecutar programas y aplicaciones.</a:t>
            </a:r>
            <a:endParaRPr b="0" i="0" sz="175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10171867" y="276522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10323909" y="2850237"/>
            <a:ext cx="206216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50"/>
              <a:buFont typeface="Gelasio SemiBold"/>
              <a:buNone/>
            </a:pPr>
            <a:r>
              <a:rPr b="0" i="0" lang="en-US" sz="26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2</a:t>
            </a:r>
            <a:endParaRPr b="0" i="0" sz="265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10908983" y="27652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Controladores</a:t>
            </a:r>
            <a:endParaRPr b="0" i="0" sz="22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10908983" y="3255645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Permiten la comunicación entre el sistema operativo y los dispositivos hardware.</a:t>
            </a:r>
            <a:endParaRPr b="0" i="0" sz="175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6280190" y="482631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432828" y="4911328"/>
            <a:ext cx="205026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50"/>
              <a:buFont typeface="Gelasio SemiBold"/>
              <a:buNone/>
            </a:pPr>
            <a:r>
              <a:rPr b="0" i="0" lang="en-US" sz="26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3</a:t>
            </a:r>
            <a:endParaRPr b="0" i="0" sz="265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7017306" y="48263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Bibliotecas</a:t>
            </a:r>
            <a:endParaRPr b="0" i="0" sz="220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7017306" y="5316736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Archivos que contienen código y funciones reutilizables por múltiples aplicaciones.</a:t>
            </a:r>
            <a:endParaRPr b="0" i="0" sz="175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10171867" y="482631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0320933" y="4911328"/>
            <a:ext cx="21216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650"/>
              <a:buFont typeface="Gelasio SemiBold"/>
              <a:buNone/>
            </a:pPr>
            <a:r>
              <a:rPr b="0" i="0" lang="en-US" sz="26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4</a:t>
            </a:r>
            <a:endParaRPr b="0" i="0" sz="265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10908983" y="48263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Configuraciones</a:t>
            </a:r>
            <a:endParaRPr b="0" i="0" sz="220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10908983" y="5316736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Archivos que almacenan parámetros y preferencias del sistema operativo y las aplicaciones.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793790" y="132885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0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Archivos de usuario</a:t>
            </a:r>
            <a:endParaRPr b="0" i="0" sz="4450" u="none" cap="none" strike="noStrike"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491264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793790" y="53214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Documentos</a:t>
            </a:r>
            <a:endParaRPr b="0" i="0" sz="220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793790" y="5811917"/>
            <a:ext cx="412075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Archivos de texto, hojas de cálculo, presentaciones y otros tipos de documentos creados por los usuarios.</a:t>
            </a:r>
            <a:endParaRPr b="0" i="0" sz="1750" u="none" cap="none" strike="noStrike"/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491264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5254704" y="5321617"/>
            <a:ext cx="293072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Archivos Multimedia</a:t>
            </a:r>
            <a:endParaRPr b="0" i="0" sz="220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5254704" y="5812036"/>
            <a:ext cx="412087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Imágenes, audio y video, que los usuarios utilizan para expresar sus ideas y compartir contenido.</a:t>
            </a:r>
            <a:endParaRPr b="0" i="0" sz="1750" u="none" cap="none" strike="noStrike"/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491264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9715738" y="53214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Otros Archivos</a:t>
            </a:r>
            <a:endParaRPr b="0" i="0" sz="220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9715738" y="5811917"/>
            <a:ext cx="412075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Archivos comprimidos, bases de datos y otros tipos de archivos utilizados por los usuarios según sus necesidades.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69620" y="782479"/>
            <a:ext cx="6552724" cy="68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300"/>
              <a:buFont typeface="Gelasio SemiBold"/>
              <a:buNone/>
            </a:pPr>
            <a:r>
              <a:rPr b="0" i="0" lang="en-US" sz="43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Jerarquía de directorios</a:t>
            </a:r>
            <a:endParaRPr b="0" i="0" sz="430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1084183" y="1799392"/>
            <a:ext cx="30480" cy="5647730"/>
          </a:xfrm>
          <a:prstGeom prst="roundRect">
            <a:avLst>
              <a:gd fmla="val 108221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316295" y="2278737"/>
            <a:ext cx="769620" cy="30480"/>
          </a:xfrm>
          <a:prstGeom prst="roundRect">
            <a:avLst>
              <a:gd fmla="val 108221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852071" y="2046684"/>
            <a:ext cx="494705" cy="494705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021616" y="2129076"/>
            <a:ext cx="155615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550"/>
              <a:buFont typeface="Gelasio SemiBold"/>
              <a:buNone/>
            </a:pPr>
            <a:r>
              <a:rPr b="0" i="0" lang="en-US" sz="25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1</a:t>
            </a:r>
            <a:endParaRPr b="0" i="0" sz="255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2308860" y="2019181"/>
            <a:ext cx="2748796" cy="343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50"/>
              <a:buFont typeface="Gelasio SemiBold"/>
              <a:buNone/>
            </a:pPr>
            <a:r>
              <a:rPr b="0" i="0" lang="en-US" sz="21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Disco Raíz</a:t>
            </a:r>
            <a:endParaRPr b="0" i="0" sz="215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2308860" y="2494717"/>
            <a:ext cx="6065520" cy="1055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00"/>
              <a:buFont typeface="Gelasio"/>
              <a:buNone/>
            </a:pPr>
            <a:r>
              <a:rPr b="0" i="0" lang="en-US" sz="17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El punto de partida de la jerarquía de directorios, normalmente representado por la letra de unidad (por ejemplo, C:\ en Windows).</a:t>
            </a:r>
            <a:endParaRPr b="0" i="0" sz="170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1316295" y="4469130"/>
            <a:ext cx="769620" cy="30480"/>
          </a:xfrm>
          <a:prstGeom prst="roundRect">
            <a:avLst>
              <a:gd fmla="val 108221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52071" y="4237077"/>
            <a:ext cx="494705" cy="494705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999470" y="4319468"/>
            <a:ext cx="199787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550"/>
              <a:buFont typeface="Gelasio SemiBold"/>
              <a:buNone/>
            </a:pPr>
            <a:r>
              <a:rPr b="0" i="0" lang="en-US" sz="25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2</a:t>
            </a:r>
            <a:endParaRPr b="0" i="0" sz="2550" u="none" cap="none" strike="noStrike"/>
          </a:p>
        </p:txBody>
      </p:sp>
      <p:sp>
        <p:nvSpPr>
          <p:cNvPr id="144" name="Google Shape;144;p6"/>
          <p:cNvSpPr/>
          <p:nvPr/>
        </p:nvSpPr>
        <p:spPr>
          <a:xfrm>
            <a:off x="2308860" y="4209574"/>
            <a:ext cx="2748796" cy="343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50"/>
              <a:buFont typeface="Gelasio SemiBold"/>
              <a:buNone/>
            </a:pPr>
            <a:r>
              <a:rPr b="0" i="0" lang="en-US" sz="21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Directorios</a:t>
            </a:r>
            <a:endParaRPr b="0" i="0" sz="215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2308860" y="4685109"/>
            <a:ext cx="6065520" cy="703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00"/>
              <a:buFont typeface="Gelasio"/>
              <a:buNone/>
            </a:pPr>
            <a:r>
              <a:rPr b="0" i="0" lang="en-US" sz="17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También conocidos como carpetas, son estructuras que permiten organizar y agrupar archivos de manera lógica.</a:t>
            </a:r>
            <a:endParaRPr b="0" i="0" sz="17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1316295" y="6307693"/>
            <a:ext cx="769620" cy="30480"/>
          </a:xfrm>
          <a:prstGeom prst="roundRect">
            <a:avLst>
              <a:gd fmla="val 108221" name="adj"/>
            </a:avLst>
          </a:prstGeom>
          <a:solidFill>
            <a:srgbClr val="D4CE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852071" y="6075640"/>
            <a:ext cx="494705" cy="494705"/>
          </a:xfrm>
          <a:prstGeom prst="roundRect">
            <a:avLst>
              <a:gd fmla="val 6668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1000065" y="6158032"/>
            <a:ext cx="198715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550"/>
              <a:buFont typeface="Gelasio SemiBold"/>
              <a:buNone/>
            </a:pPr>
            <a:r>
              <a:rPr b="0" i="0" lang="en-US" sz="25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3</a:t>
            </a:r>
            <a:endParaRPr b="0" i="0" sz="255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2308860" y="6048137"/>
            <a:ext cx="2748796" cy="343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150"/>
              <a:buFont typeface="Gelasio SemiBold"/>
              <a:buNone/>
            </a:pPr>
            <a:r>
              <a:rPr b="0" i="0" lang="en-US" sz="21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Subdirectorios</a:t>
            </a:r>
            <a:endParaRPr b="0" i="0" sz="215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2308860" y="6523672"/>
            <a:ext cx="6065520" cy="703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00"/>
              <a:buFont typeface="Gelasio"/>
              <a:buNone/>
            </a:pPr>
            <a:r>
              <a:rPr b="0" i="0" lang="en-US" sz="17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Los directorios pueden contener subdirectorios, creando una jerarquía anidada para una organización más detallada.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38482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667702" y="3061335"/>
            <a:ext cx="5415082" cy="596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3750"/>
              <a:buFont typeface="Gelasio SemiBold"/>
              <a:buNone/>
            </a:pPr>
            <a:r>
              <a:rPr b="0" i="0" lang="en-US" sz="37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Definición de partición</a:t>
            </a:r>
            <a:endParaRPr b="0" i="0" sz="375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667702" y="3943588"/>
            <a:ext cx="6552128" cy="1709380"/>
          </a:xfrm>
          <a:prstGeom prst="roundRect">
            <a:avLst>
              <a:gd fmla="val 1674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58441" y="4134326"/>
            <a:ext cx="2589848" cy="29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850"/>
              <a:buFont typeface="Gelasio SemiBold"/>
              <a:buNone/>
            </a:pPr>
            <a:r>
              <a:rPr b="0" i="0" lang="en-US" sz="18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Concepto de Partición</a:t>
            </a:r>
            <a:endParaRPr b="0" i="0" sz="1850" u="none" cap="none" strike="noStrike"/>
          </a:p>
        </p:txBody>
      </p:sp>
      <p:sp>
        <p:nvSpPr>
          <p:cNvPr id="160" name="Google Shape;160;p7"/>
          <p:cNvSpPr/>
          <p:nvPr/>
        </p:nvSpPr>
        <p:spPr>
          <a:xfrm>
            <a:off x="858441" y="4546759"/>
            <a:ext cx="6170652" cy="915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Una partición es una división lógica de un dispositivo de almacenamiento, como un disco duro o una unidad de estado sólido, que permite separar y organizar la información de manera más eficiente.</a:t>
            </a:r>
            <a:endParaRPr b="0" i="0" sz="150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7410569" y="3943588"/>
            <a:ext cx="6552128" cy="1709380"/>
          </a:xfrm>
          <a:prstGeom prst="roundRect">
            <a:avLst>
              <a:gd fmla="val 1674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7601307" y="4134326"/>
            <a:ext cx="3139916" cy="29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850"/>
              <a:buFont typeface="Gelasio SemiBold"/>
              <a:buNone/>
            </a:pPr>
            <a:r>
              <a:rPr b="0" i="0" lang="en-US" sz="18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Ventajas de las Particiones</a:t>
            </a:r>
            <a:endParaRPr b="0" i="0" sz="185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7601307" y="4546759"/>
            <a:ext cx="6170652" cy="610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Las particiones ofrecen beneficios como mayor organización, seguridad, flexibilidad y optimización del espacio de almacenamiento.</a:t>
            </a:r>
            <a:endParaRPr b="0" i="0" sz="150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667702" y="5843707"/>
            <a:ext cx="6552128" cy="1709380"/>
          </a:xfrm>
          <a:prstGeom prst="roundRect">
            <a:avLst>
              <a:gd fmla="val 1674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858441" y="6034445"/>
            <a:ext cx="2637592" cy="29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850"/>
              <a:buFont typeface="Gelasio SemiBold"/>
              <a:buNone/>
            </a:pPr>
            <a:r>
              <a:rPr b="0" i="0" lang="en-US" sz="18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Gestión de Particiones</a:t>
            </a:r>
            <a:endParaRPr b="0" i="0" sz="1850" u="none" cap="none" strike="noStrike"/>
          </a:p>
        </p:txBody>
      </p:sp>
      <p:sp>
        <p:nvSpPr>
          <p:cNvPr id="166" name="Google Shape;166;p7"/>
          <p:cNvSpPr/>
          <p:nvPr/>
        </p:nvSpPr>
        <p:spPr>
          <a:xfrm>
            <a:off x="858441" y="6446877"/>
            <a:ext cx="6170652" cy="915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 creación, redimensionamiento y administración de particiones se realiza mediante herramientas específicas del sistema operativo o aplicaciones de terceros.</a:t>
            </a:r>
            <a:endParaRPr b="0" i="0" sz="1500" u="none" cap="none" strike="noStrike"/>
          </a:p>
        </p:txBody>
      </p:sp>
      <p:sp>
        <p:nvSpPr>
          <p:cNvPr id="167" name="Google Shape;167;p7"/>
          <p:cNvSpPr/>
          <p:nvPr/>
        </p:nvSpPr>
        <p:spPr>
          <a:xfrm>
            <a:off x="7410569" y="5843707"/>
            <a:ext cx="6552128" cy="1709380"/>
          </a:xfrm>
          <a:prstGeom prst="roundRect">
            <a:avLst>
              <a:gd fmla="val 1674" name="adj"/>
            </a:avLst>
          </a:prstGeom>
          <a:solidFill>
            <a:srgbClr val="EEE8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7601307" y="6034445"/>
            <a:ext cx="3672840" cy="298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850"/>
              <a:buFont typeface="Gelasio SemiBold"/>
              <a:buNone/>
            </a:pPr>
            <a:r>
              <a:rPr b="0" i="0" lang="en-US" sz="185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Diferentes Tipos de Particiones</a:t>
            </a:r>
            <a:endParaRPr b="0" i="0" sz="185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7601307" y="6446877"/>
            <a:ext cx="6170652" cy="610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Existen varios tipos de particiones, como primarias, extendidas y lógicas, cada una con características y usos específicos.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6280190" y="87713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0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Tipos de particiones</a:t>
            </a:r>
            <a:endParaRPr b="0" i="0" sz="4450" u="none" cap="none" strike="noStrike"/>
          </a:p>
        </p:txBody>
      </p:sp>
      <p:pic>
        <p:nvPicPr>
          <p:cNvPr descr="preencoded.png" id="177" name="Google Shape;1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192607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6280190" y="27198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Partición primaria</a:t>
            </a:r>
            <a:endParaRPr b="0" i="0" sz="2200" u="none" cap="none" strike="noStrike"/>
          </a:p>
        </p:txBody>
      </p:sp>
      <p:sp>
        <p:nvSpPr>
          <p:cNvPr id="179" name="Google Shape;179;p8"/>
          <p:cNvSpPr/>
          <p:nvPr/>
        </p:nvSpPr>
        <p:spPr>
          <a:xfrm>
            <a:off x="6280190" y="3210282"/>
            <a:ext cx="36080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Una partición primaria es la unidad básica de almacenamiento y puede contener un sistema operativo.</a:t>
            </a:r>
            <a:endParaRPr b="0" i="0" sz="1750" u="none" cap="none" strike="noStrike"/>
          </a:p>
        </p:txBody>
      </p:sp>
      <p:pic>
        <p:nvPicPr>
          <p:cNvPr descr="preencoded.png" id="180" name="Google Shape;1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28421" y="192607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10228421" y="27198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Partición extendida</a:t>
            </a:r>
            <a:endParaRPr b="0" i="0" sz="2200" u="none" cap="none" strike="noStrike"/>
          </a:p>
        </p:txBody>
      </p:sp>
      <p:sp>
        <p:nvSpPr>
          <p:cNvPr id="182" name="Google Shape;182;p8"/>
          <p:cNvSpPr/>
          <p:nvPr/>
        </p:nvSpPr>
        <p:spPr>
          <a:xfrm>
            <a:off x="10228421" y="3210282"/>
            <a:ext cx="360818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Una partición extendida permite crear particiones lógicas adicionales dentro de ella.</a:t>
            </a:r>
            <a:endParaRPr b="0" i="0" sz="1750" u="none" cap="none" strike="noStrike"/>
          </a:p>
        </p:txBody>
      </p:sp>
      <p:pic>
        <p:nvPicPr>
          <p:cNvPr descr="preencoded.png" id="183" name="Google Shape;18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497943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6280190" y="57732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Partición lógica</a:t>
            </a:r>
            <a:endParaRPr b="0" i="0" sz="2200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6280190" y="6263640"/>
            <a:ext cx="36080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Las particiones lógicas se crean dentro de una partición extendida y ofrecen mayor flexibilidad.</a:t>
            </a:r>
            <a:endParaRPr b="0" i="0" sz="1750" u="none" cap="none" strike="noStrike"/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8421" y="497943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10228421" y="5773222"/>
            <a:ext cx="283773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2200"/>
              <a:buFont typeface="Gelasio SemiBold"/>
              <a:buNone/>
            </a:pPr>
            <a:r>
              <a:rPr b="0" i="0" lang="en-US" sz="22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Partición de sistema</a:t>
            </a:r>
            <a:endParaRPr b="0" i="0" sz="220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10228421" y="6263640"/>
            <a:ext cx="360818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Una partición de sistema contiene los archivos necesarios para arrancar el sistema operativo.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683657" y="537448"/>
            <a:ext cx="6411278" cy="610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3800"/>
              <a:buFont typeface="Gelasio SemiBold"/>
              <a:buNone/>
            </a:pPr>
            <a:r>
              <a:rPr b="0" i="0" lang="en-US" sz="380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Ventajas de las particiones</a:t>
            </a:r>
            <a:endParaRPr b="0" i="0" sz="3800" u="none" cap="none" strike="noStrike"/>
          </a:p>
        </p:txBody>
      </p:sp>
      <p:pic>
        <p:nvPicPr>
          <p:cNvPr descr="preencoded.png" id="196" name="Google Shape;1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657" y="1440894"/>
            <a:ext cx="976670" cy="156281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1953339" y="1636157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900"/>
              <a:buFont typeface="Gelasio SemiBold"/>
              <a:buNone/>
            </a:pPr>
            <a:r>
              <a:rPr b="0" i="0" lang="en-US" sz="19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Organización</a:t>
            </a:r>
            <a:endParaRPr b="0" i="0" sz="1900" u="none" cap="none" strike="noStrike"/>
          </a:p>
        </p:txBody>
      </p:sp>
      <p:sp>
        <p:nvSpPr>
          <p:cNvPr id="198" name="Google Shape;198;p9"/>
          <p:cNvSpPr/>
          <p:nvPr/>
        </p:nvSpPr>
        <p:spPr>
          <a:xfrm>
            <a:off x="1953339" y="2058472"/>
            <a:ext cx="6507004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Las particiones permiten una organización más eficiente de los archivos y datos, facilitando su administración.</a:t>
            </a:r>
            <a:endParaRPr b="0" i="0" sz="1500" u="none" cap="none" strike="noStrike"/>
          </a:p>
        </p:txBody>
      </p:sp>
      <p:pic>
        <p:nvPicPr>
          <p:cNvPr descr="preencoded.png" id="199" name="Google Shape;19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657" y="3003709"/>
            <a:ext cx="976670" cy="156281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1953339" y="3198971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900"/>
              <a:buFont typeface="Gelasio SemiBold"/>
              <a:buNone/>
            </a:pPr>
            <a:r>
              <a:rPr b="0" i="0" lang="en-US" sz="19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Seguridad</a:t>
            </a:r>
            <a:endParaRPr b="0" i="0" sz="1900" u="none" cap="none" strike="noStrike"/>
          </a:p>
        </p:txBody>
      </p:sp>
      <p:sp>
        <p:nvSpPr>
          <p:cNvPr id="201" name="Google Shape;201;p9"/>
          <p:cNvSpPr/>
          <p:nvPr/>
        </p:nvSpPr>
        <p:spPr>
          <a:xfrm>
            <a:off x="1953339" y="3621286"/>
            <a:ext cx="6507004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Cada partición puede tener permisos y controles de acceso independientes, mejorando la seguridad de la información.</a:t>
            </a:r>
            <a:endParaRPr b="0" i="0" sz="1500" u="none" cap="none" strike="noStrike"/>
          </a:p>
        </p:txBody>
      </p:sp>
      <p:pic>
        <p:nvPicPr>
          <p:cNvPr descr="preencoded.png" id="202" name="Google Shape;20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3657" y="4566523"/>
            <a:ext cx="976670" cy="156281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1953339" y="4761786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900"/>
              <a:buFont typeface="Gelasio SemiBold"/>
              <a:buNone/>
            </a:pPr>
            <a:r>
              <a:rPr b="0" i="0" lang="en-US" sz="19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Rendimiento</a:t>
            </a:r>
            <a:endParaRPr b="0" i="0" sz="1900" u="none" cap="none" strike="noStrike"/>
          </a:p>
        </p:txBody>
      </p:sp>
      <p:sp>
        <p:nvSpPr>
          <p:cNvPr id="204" name="Google Shape;204;p9"/>
          <p:cNvSpPr/>
          <p:nvPr/>
        </p:nvSpPr>
        <p:spPr>
          <a:xfrm>
            <a:off x="1953339" y="5184100"/>
            <a:ext cx="6507004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 separación de los datos en particiones optimiza el rendimiento del sistema al reducir la fragmentación.</a:t>
            </a:r>
            <a:endParaRPr b="0" i="0" sz="1500" u="none" cap="none" strike="noStrike"/>
          </a:p>
        </p:txBody>
      </p:sp>
      <p:pic>
        <p:nvPicPr>
          <p:cNvPr descr="preencoded.png" id="205" name="Google Shape;20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3657" y="6129338"/>
            <a:ext cx="976670" cy="156281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1953339" y="6324600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900"/>
              <a:buFont typeface="Gelasio SemiBold"/>
              <a:buNone/>
            </a:pPr>
            <a:r>
              <a:rPr b="0" i="0" lang="en-US" sz="1900" u="none" cap="none" strike="noStrike">
                <a:solidFill>
                  <a:srgbClr val="74655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Flexibilidad</a:t>
            </a:r>
            <a:endParaRPr b="0" i="0" sz="1900" u="none" cap="none" strike="noStrike"/>
          </a:p>
        </p:txBody>
      </p:sp>
      <p:sp>
        <p:nvSpPr>
          <p:cNvPr id="207" name="Google Shape;207;p9"/>
          <p:cNvSpPr/>
          <p:nvPr/>
        </p:nvSpPr>
        <p:spPr>
          <a:xfrm>
            <a:off x="1953339" y="6746915"/>
            <a:ext cx="6507004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500"/>
              <a:buFont typeface="Gelasio"/>
              <a:buNone/>
            </a:pPr>
            <a:r>
              <a:rPr b="0" i="0" lang="en-US" sz="150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Las particiones permiten una mayor flexibilidad en la asignación y administración del espacio de almacenamiento.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3" name="Google Shape;2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6280190" y="830461"/>
            <a:ext cx="621744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84237"/>
              </a:buClr>
              <a:buSzPts val="4450"/>
              <a:buFont typeface="Gelasio SemiBold"/>
              <a:buNone/>
            </a:pPr>
            <a:r>
              <a:rPr b="0" i="0" lang="en-US" sz="4450" u="none" cap="none" strike="noStrike">
                <a:solidFill>
                  <a:srgbClr val="484237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Aplicaciones prácticas</a:t>
            </a:r>
            <a:endParaRPr b="0" i="0" sz="4450" u="none" cap="none" strike="noStrike"/>
          </a:p>
        </p:txBody>
      </p:sp>
      <p:sp>
        <p:nvSpPr>
          <p:cNvPr id="215" name="Google Shape;215;p10"/>
          <p:cNvSpPr/>
          <p:nvPr/>
        </p:nvSpPr>
        <p:spPr>
          <a:xfrm>
            <a:off x="6280190" y="1879402"/>
            <a:ext cx="7556421" cy="5519738"/>
          </a:xfrm>
          <a:prstGeom prst="roundRect">
            <a:avLst>
              <a:gd fmla="val 61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6287810" y="1887022"/>
            <a:ext cx="7541181" cy="1376124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514624" y="2030730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Organización de Archivos</a:t>
            </a:r>
            <a:endParaRPr b="0" i="0" sz="1750" u="none" cap="none" strike="noStrike"/>
          </a:p>
        </p:txBody>
      </p:sp>
      <p:sp>
        <p:nvSpPr>
          <p:cNvPr id="218" name="Google Shape;218;p10"/>
          <p:cNvSpPr/>
          <p:nvPr/>
        </p:nvSpPr>
        <p:spPr>
          <a:xfrm>
            <a:off x="10289024" y="2030730"/>
            <a:ext cx="331315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Separar archivos de sistema, usuarios y aplicaciones en particiones independientes.</a:t>
            </a:r>
            <a:endParaRPr b="0" i="0" sz="1750" u="none" cap="none" strike="noStrike"/>
          </a:p>
        </p:txBody>
      </p:sp>
      <p:sp>
        <p:nvSpPr>
          <p:cNvPr id="219" name="Google Shape;219;p10"/>
          <p:cNvSpPr/>
          <p:nvPr/>
        </p:nvSpPr>
        <p:spPr>
          <a:xfrm>
            <a:off x="6287810" y="3263146"/>
            <a:ext cx="7541181" cy="1376124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514624" y="3406854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Respaldo y Restauración</a:t>
            </a:r>
            <a:endParaRPr b="0" i="0" sz="1750" u="none" cap="none" strike="noStrike"/>
          </a:p>
        </p:txBody>
      </p:sp>
      <p:sp>
        <p:nvSpPr>
          <p:cNvPr id="221" name="Google Shape;221;p10"/>
          <p:cNvSpPr/>
          <p:nvPr/>
        </p:nvSpPr>
        <p:spPr>
          <a:xfrm>
            <a:off x="10289024" y="3406854"/>
            <a:ext cx="331315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Crear particiones dedicadas para realizar copias de seguridad y facilitar la restauración.</a:t>
            </a:r>
            <a:endParaRPr b="0" i="0" sz="1750" u="none" cap="none" strike="noStrike"/>
          </a:p>
        </p:txBody>
      </p:sp>
      <p:sp>
        <p:nvSpPr>
          <p:cNvPr id="222" name="Google Shape;222;p10"/>
          <p:cNvSpPr/>
          <p:nvPr/>
        </p:nvSpPr>
        <p:spPr>
          <a:xfrm>
            <a:off x="6287810" y="4639270"/>
            <a:ext cx="7541181" cy="1376124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514624" y="4782979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Dual Boot</a:t>
            </a:r>
            <a:endParaRPr b="0" i="0" sz="1750" u="none" cap="none" strike="noStrike"/>
          </a:p>
        </p:txBody>
      </p:sp>
      <p:sp>
        <p:nvSpPr>
          <p:cNvPr id="224" name="Google Shape;224;p10"/>
          <p:cNvSpPr/>
          <p:nvPr/>
        </p:nvSpPr>
        <p:spPr>
          <a:xfrm>
            <a:off x="10289024" y="4782979"/>
            <a:ext cx="331315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Configurar particiones para instalar y alternar entre múltiples sistemas operativos.</a:t>
            </a:r>
            <a:endParaRPr b="0" i="0" sz="175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6287810" y="6015395"/>
            <a:ext cx="7541181" cy="1376124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514624" y="6159103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Virtualización</a:t>
            </a:r>
            <a:endParaRPr b="0" i="0" sz="1750" u="none" cap="none" strike="noStrike"/>
          </a:p>
        </p:txBody>
      </p:sp>
      <p:sp>
        <p:nvSpPr>
          <p:cNvPr id="227" name="Google Shape;227;p10"/>
          <p:cNvSpPr/>
          <p:nvPr/>
        </p:nvSpPr>
        <p:spPr>
          <a:xfrm>
            <a:off x="10289024" y="6159103"/>
            <a:ext cx="331315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746558"/>
              </a:buClr>
              <a:buSzPts val="1750"/>
              <a:buFont typeface="Gelasio"/>
              <a:buNone/>
            </a:pPr>
            <a:r>
              <a:rPr b="0" i="0" lang="en-US" sz="1750" u="none" cap="none" strike="noStrike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rPr>
              <a:t>Utilizar particiones para alojar máquinas virtuales y contenedores de manera aislada.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2024-11-04T00:00:37Z</dcterms:created>
  <dc:creator>PptxGenJS</dc:creator>
</cp:coreProperties>
</file>