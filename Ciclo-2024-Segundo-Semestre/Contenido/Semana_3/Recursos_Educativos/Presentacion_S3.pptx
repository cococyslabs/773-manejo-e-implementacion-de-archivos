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10287000" cx="18288000"/>
  <p:notesSz cx="6858000" cy="9144000"/>
  <p:embeddedFontLst>
    <p:embeddedFont>
      <p:font typeface="Poppins"/>
      <p:regular r:id="rId36"/>
      <p:bold r:id="rId37"/>
      <p:italic r:id="rId38"/>
      <p:boldItalic r:id="rId39"/>
    </p:embeddedFont>
    <p:embeddedFont>
      <p:font typeface="Poppins Medium"/>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4" roundtripDataSignature="AMtx7mjssJGfqY+q7D89KLsdKkBb7Kbq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Medium-regular.fntdata"/><Relationship Id="rId20" Type="http://schemas.openxmlformats.org/officeDocument/2006/relationships/slide" Target="slides/slide15.xml"/><Relationship Id="rId42" Type="http://schemas.openxmlformats.org/officeDocument/2006/relationships/font" Target="fonts/PoppinsMedium-italic.fntdata"/><Relationship Id="rId41" Type="http://schemas.openxmlformats.org/officeDocument/2006/relationships/font" Target="fonts/PoppinsMedium-bold.fntdata"/><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font" Target="fonts/PoppinsMedium-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oppins-bold.fntdata"/><Relationship Id="rId14" Type="http://schemas.openxmlformats.org/officeDocument/2006/relationships/slide" Target="slides/slide9.xml"/><Relationship Id="rId36" Type="http://schemas.openxmlformats.org/officeDocument/2006/relationships/font" Target="fonts/Poppins-regular.fntdata"/><Relationship Id="rId17" Type="http://schemas.openxmlformats.org/officeDocument/2006/relationships/slide" Target="slides/slide12.xml"/><Relationship Id="rId39" Type="http://schemas.openxmlformats.org/officeDocument/2006/relationships/font" Target="fonts/Poppins-boldItalic.fntdata"/><Relationship Id="rId16" Type="http://schemas.openxmlformats.org/officeDocument/2006/relationships/slide" Target="slides/slide11.xml"/><Relationship Id="rId38" Type="http://schemas.openxmlformats.org/officeDocument/2006/relationships/font" Target="fonts/Poppins-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6" name="Google Shape;29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5" name="Google Shape;33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2c9b27100e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1" name="Google Shape;361;g32c9b27100e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1" name="Google Shape;39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3" name="Google Shape;403;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8" name="Google Shape;41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4" name="Google Shape;43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6" name="Google Shape;44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1" name="Google Shape;461;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1" name="Google Shape;47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4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4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4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4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4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7"/>
          <p:cNvSpPr/>
          <p:nvPr>
            <p:ph idx="2" type="pic"/>
          </p:nvPr>
        </p:nvSpPr>
        <p:spPr>
          <a:xfrm>
            <a:off x="1792288" y="612775"/>
            <a:ext cx="5486400" cy="4114800"/>
          </a:xfrm>
          <a:prstGeom prst="rect">
            <a:avLst/>
          </a:prstGeom>
          <a:noFill/>
          <a:ln>
            <a:noFill/>
          </a:ln>
        </p:spPr>
      </p:sp>
      <p:sp>
        <p:nvSpPr>
          <p:cNvPr id="64" name="Google Shape;64;p4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8.png"/><Relationship Id="rId8"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5.pn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20.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5.png"/><Relationship Id="rId8"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9.png"/><Relationship Id="rId7" Type="http://schemas.openxmlformats.org/officeDocument/2006/relationships/image" Target="../media/image26.png"/><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image" Target="../media/image28.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21.png"/><Relationship Id="rId8"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39.png"/><Relationship Id="rId8"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23.png"/><Relationship Id="rId8"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38.jp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5.png"/><Relationship Id="rId8"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8.png"/></Relationships>
</file>

<file path=ppt/slides/_rels/slide26.xml.rels><?xml version="1.0" encoding="UTF-8" standalone="yes"?><Relationships xmlns="http://schemas.openxmlformats.org/package/2006/relationships"><Relationship Id="rId11" Type="http://schemas.openxmlformats.org/officeDocument/2006/relationships/hyperlink" Target="https://www.bing.com/ck/a?!&amp;&amp;p=1f88f537ca03a68dJmltdHM9MTcwNjY1OTIwMCZpZ3VpZD0zODViYjVkMy0zMDY5LTYxY2QtMTI5Yy1hMWMwMzFkNzYwNzcmaW5zaWQ9NTYzNQ&amp;ptn=3&amp;ver=2&amp;hsh=3&amp;fclid=385bb5d3-3069-61cd-129c-a1c031d76077&amp;u=a1L3NlYXJjaD9xPU1lbW9yaWElMjBubyUyMHZvbMOhdGlsJTIwd2lraXBlZGlhJmZvcm09V0lLSVJF&amp;ntb=1" TargetMode="External"/><Relationship Id="rId10" Type="http://schemas.openxmlformats.org/officeDocument/2006/relationships/hyperlink" Target="https://www.bing.com/ck/a?!&amp;&amp;p=dd58507a487d5759JmltdHM9MTcwNjY1OTIwMCZpZ3VpZD0zODViYjVkMy0zMDY5LTYxY2QtMTI5Yy1hMWMwMzFkNzYwNzcmaW5zaWQ9NTYzNA&amp;ptn=3&amp;ver=2&amp;hsh=3&amp;fclid=385bb5d3-3069-61cd-129c-a1c031d76077&amp;u=a1L3NlYXJjaD9xPURpc3Bvc2l0aXZvJTIwZGUlMjBhbG1hY2VuYW1pZW50byUyMGRlJTIwZGF0b3MlMjB3aWtpcGVkaWEmZm9ybT1XSUtJUkU&amp;ntb=1" TargetMode="External"/><Relationship Id="rId13" Type="http://schemas.openxmlformats.org/officeDocument/2006/relationships/hyperlink" Target="https://www.bing.com/ck/a?!&amp;&amp;p=607f2e49e5628378JmltdHM9MTcwNjY1OTIwMCZpZ3VpZD0zODViYjVkMy0zMDY5LTYxY2QtMTI5Yy1hMWMwMzFkNzYwNzcmaW5zaWQ9NTYzNw&amp;ptn=3&amp;ver=2&amp;hsh=3&amp;fclid=385bb5d3-3069-61cd-129c-a1c031d76077&amp;u=a1L3NlYXJjaD9xPVBsYXRvJTIwKGRpc2NvJTIwZHVybyklMjB3aWtpcGVkaWEmZm9ybT1XSUtJUkU&amp;ntb=1" TargetMode="External"/><Relationship Id="rId12" Type="http://schemas.openxmlformats.org/officeDocument/2006/relationships/hyperlink" Target="https://www.bing.com/ck/a?!&amp;&amp;p=511f87e63e39871bJmltdHM9MTcwNjY1OTIwMCZpZ3VpZD0zODViYjVkMy0zMDY5LTYxY2QtMTI5Yy1hMWMwMzFkNzYwNzcmaW5zaWQ9NTYzNg&amp;ptn=3&amp;ver=2&amp;hsh=3&amp;fclid=385bb5d3-3069-61cd-129c-a1c031d76077&amp;u=a1L3NlYXJjaD9xPU1lbW9yaWElMjBmbGFzaCUyMHdpa2lwZWRpYSZmb3JtPVdJS0lSRQ&amp;ntb=1" TargetMode="External"/><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30.png"/><Relationship Id="rId15" Type="http://schemas.openxmlformats.org/officeDocument/2006/relationships/hyperlink" Target="https://www.bing.com/ck/a?!&amp;&amp;p=7f29b9a33cf0adb2JmltdHM9MTcwNjY1OTIwMCZpZ3VpZD0zODViYjVkMy0zMDY5LTYxY2QtMTI5Yy1hMWMwMzFkNzYwNzcmaW5zaWQ9NTYzOQ&amp;ptn=3&amp;ver=2&amp;hsh=3&amp;fclid=385bb5d3-3069-61cd-129c-a1c031d76077&amp;u=a1L3NlYXJjaD9xPVVuaWRhZCUyMGRlJTIwZGlzY28lMjBkdXJvJTIwd2lraXBlZGlhJmZvcm09V0lLSVJF&amp;ntb=1" TargetMode="External"/><Relationship Id="rId14" Type="http://schemas.openxmlformats.org/officeDocument/2006/relationships/hyperlink" Target="https://www.bing.com/ck/a?!&amp;&amp;p=66d6df4e40e62bb0JmltdHM9MTcwNjY1OTIwMCZpZ3VpZD0zODViYjVkMy0zMDY5LTYxY2QtMTI5Yy1hMWMwMzFkNzYwNzcmaW5zaWQ9NTYzOA&amp;ptn=3&amp;ver=2&amp;hsh=3&amp;fclid=385bb5d3-3069-61cd-129c-a1c031d76077&amp;u=a1L3NlYXJjaD9xPURpc2NvJTIwbWFnbsOpdGljbyUyMHdpa2lwZWRpYSZmb3JtPVdJS0lSRQ&amp;ntb=1" TargetMode="External"/><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5.png"/><Relationship Id="rId8"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32.png"/><Relationship Id="rId6"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8.png"/><Relationship Id="rId8" Type="http://schemas.openxmlformats.org/officeDocument/2006/relationships/image" Target="../media/image40.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0" l="0" r="0" t="-38884"/>
            </a:stretch>
          </a:blipFill>
          <a:ln>
            <a:noFill/>
          </a:ln>
        </p:spPr>
      </p:sp>
      <p:sp>
        <p:nvSpPr>
          <p:cNvPr id="85" name="Google Shape;85;p2"/>
          <p:cNvSpPr/>
          <p:nvPr/>
        </p:nvSpPr>
        <p:spPr>
          <a:xfrm>
            <a:off x="-160692" y="-149623"/>
            <a:ext cx="18609385" cy="10591576"/>
          </a:xfrm>
          <a:custGeom>
            <a:rect b="b" l="l" r="r" t="t"/>
            <a:pathLst>
              <a:path extrusionOk="0" h="1970170" w="3461586">
                <a:moveTo>
                  <a:pt x="0" y="0"/>
                </a:moveTo>
                <a:lnTo>
                  <a:pt x="3461586" y="0"/>
                </a:lnTo>
                <a:lnTo>
                  <a:pt x="3461586" y="1970170"/>
                </a:lnTo>
                <a:lnTo>
                  <a:pt x="0" y="1970170"/>
                </a:lnTo>
                <a:close/>
              </a:path>
            </a:pathLst>
          </a:custGeom>
          <a:solidFill>
            <a:srgbClr val="14056D">
              <a:alpha val="19215"/>
            </a:srgbClr>
          </a:solidFill>
          <a:ln>
            <a:noFill/>
          </a:ln>
        </p:spPr>
      </p:sp>
      <p:sp>
        <p:nvSpPr>
          <p:cNvPr id="86" name="Google Shape;86;p2"/>
          <p:cNvSpPr/>
          <p:nvPr/>
        </p:nvSpPr>
        <p:spPr>
          <a:xfrm rot="9451627">
            <a:off x="-1353129" y="-1492681"/>
            <a:ext cx="6707049" cy="5072968"/>
          </a:xfrm>
          <a:custGeom>
            <a:rect b="b" l="l" r="r" t="t"/>
            <a:pathLst>
              <a:path extrusionOk="0" h="5072968" w="6707049">
                <a:moveTo>
                  <a:pt x="0" y="0"/>
                </a:moveTo>
                <a:lnTo>
                  <a:pt x="6707049" y="0"/>
                </a:lnTo>
                <a:lnTo>
                  <a:pt x="6707049" y="5072968"/>
                </a:lnTo>
                <a:lnTo>
                  <a:pt x="0" y="5072968"/>
                </a:lnTo>
                <a:lnTo>
                  <a:pt x="0" y="0"/>
                </a:lnTo>
                <a:close/>
              </a:path>
            </a:pathLst>
          </a:custGeom>
          <a:blipFill rotWithShape="1">
            <a:blip r:embed="rId4">
              <a:alphaModFix/>
            </a:blip>
            <a:stretch>
              <a:fillRect b="0" l="0" r="0" t="0"/>
            </a:stretch>
          </a:blipFill>
          <a:ln>
            <a:noFill/>
          </a:ln>
        </p:spPr>
      </p:sp>
      <p:sp>
        <p:nvSpPr>
          <p:cNvPr id="87" name="Google Shape;87;p2"/>
          <p:cNvSpPr/>
          <p:nvPr/>
        </p:nvSpPr>
        <p:spPr>
          <a:xfrm>
            <a:off x="-2413596" y="-3078771"/>
            <a:ext cx="6634070" cy="6597885"/>
          </a:xfrm>
          <a:custGeom>
            <a:rect b="b" l="l" r="r" t="t"/>
            <a:pathLst>
              <a:path extrusionOk="0" h="6597885" w="6634070">
                <a:moveTo>
                  <a:pt x="0" y="0"/>
                </a:moveTo>
                <a:lnTo>
                  <a:pt x="6634070" y="0"/>
                </a:lnTo>
                <a:lnTo>
                  <a:pt x="6634070" y="6597884"/>
                </a:lnTo>
                <a:lnTo>
                  <a:pt x="0" y="6597884"/>
                </a:lnTo>
                <a:lnTo>
                  <a:pt x="0" y="0"/>
                </a:lnTo>
                <a:close/>
              </a:path>
            </a:pathLst>
          </a:custGeom>
          <a:blipFill rotWithShape="1">
            <a:blip r:embed="rId5">
              <a:alphaModFix/>
            </a:blip>
            <a:stretch>
              <a:fillRect b="0" l="0" r="0" t="0"/>
            </a:stretch>
          </a:blipFill>
          <a:ln>
            <a:noFill/>
          </a:ln>
        </p:spPr>
      </p:sp>
      <p:sp>
        <p:nvSpPr>
          <p:cNvPr id="88" name="Google Shape;88;p2"/>
          <p:cNvSpPr/>
          <p:nvPr/>
        </p:nvSpPr>
        <p:spPr>
          <a:xfrm rot="-2308677">
            <a:off x="9916645" y="214959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6">
              <a:alphaModFix amt="37000"/>
            </a:blip>
            <a:stretch>
              <a:fillRect b="0" l="0" r="0" t="0"/>
            </a:stretch>
          </a:blipFill>
          <a:ln>
            <a:noFill/>
          </a:ln>
        </p:spPr>
      </p:sp>
      <p:sp>
        <p:nvSpPr>
          <p:cNvPr id="89" name="Google Shape;89;p2"/>
          <p:cNvSpPr/>
          <p:nvPr/>
        </p:nvSpPr>
        <p:spPr>
          <a:xfrm>
            <a:off x="17994524" y="6707106"/>
            <a:ext cx="322049" cy="1215120"/>
          </a:xfrm>
          <a:custGeom>
            <a:rect b="b" l="l" r="r" t="t"/>
            <a:pathLst>
              <a:path extrusionOk="0" h="754960" w="200091">
                <a:moveTo>
                  <a:pt x="0" y="0"/>
                </a:moveTo>
                <a:lnTo>
                  <a:pt x="200091" y="0"/>
                </a:lnTo>
                <a:lnTo>
                  <a:pt x="200091" y="754960"/>
                </a:lnTo>
                <a:lnTo>
                  <a:pt x="0" y="754960"/>
                </a:lnTo>
                <a:close/>
              </a:path>
            </a:pathLst>
          </a:custGeom>
          <a:solidFill>
            <a:srgbClr val="5CE1E6"/>
          </a:solidFill>
          <a:ln>
            <a:noFill/>
          </a:ln>
        </p:spPr>
      </p:sp>
      <p:sp>
        <p:nvSpPr>
          <p:cNvPr id="90" name="Google Shape;90;p2"/>
          <p:cNvSpPr/>
          <p:nvPr/>
        </p:nvSpPr>
        <p:spPr>
          <a:xfrm>
            <a:off x="14844808" y="8570089"/>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7">
              <a:alphaModFix/>
            </a:blip>
            <a:stretch>
              <a:fillRect b="0" l="0" r="0" t="0"/>
            </a:stretch>
          </a:blipFill>
          <a:ln>
            <a:noFill/>
          </a:ln>
        </p:spPr>
      </p:sp>
      <p:sp>
        <p:nvSpPr>
          <p:cNvPr id="91" name="Google Shape;91;p2"/>
          <p:cNvSpPr/>
          <p:nvPr/>
        </p:nvSpPr>
        <p:spPr>
          <a:xfrm>
            <a:off x="15470233" y="372878"/>
            <a:ext cx="2524291" cy="2524291"/>
          </a:xfrm>
          <a:custGeom>
            <a:rect b="b" l="l" r="r" t="t"/>
            <a:pathLst>
              <a:path extrusionOk="0" h="2524291" w="2524291">
                <a:moveTo>
                  <a:pt x="0" y="0"/>
                </a:moveTo>
                <a:lnTo>
                  <a:pt x="2524291" y="0"/>
                </a:lnTo>
                <a:lnTo>
                  <a:pt x="2524291" y="2524291"/>
                </a:lnTo>
                <a:lnTo>
                  <a:pt x="0" y="2524291"/>
                </a:lnTo>
                <a:lnTo>
                  <a:pt x="0" y="0"/>
                </a:lnTo>
                <a:close/>
              </a:path>
            </a:pathLst>
          </a:custGeom>
          <a:blipFill rotWithShape="1">
            <a:blip r:embed="rId8">
              <a:alphaModFix/>
            </a:blip>
            <a:stretch>
              <a:fillRect b="0" l="0" r="0" t="0"/>
            </a:stretch>
          </a:blipFill>
          <a:ln>
            <a:noFill/>
          </a:ln>
        </p:spPr>
      </p:sp>
      <p:sp>
        <p:nvSpPr>
          <p:cNvPr id="92" name="Google Shape;92;p2"/>
          <p:cNvSpPr txBox="1"/>
          <p:nvPr/>
        </p:nvSpPr>
        <p:spPr>
          <a:xfrm>
            <a:off x="1028700" y="6905092"/>
            <a:ext cx="11127300" cy="497400"/>
          </a:xfrm>
          <a:prstGeom prst="rect">
            <a:avLst/>
          </a:prstGeom>
          <a:noFill/>
          <a:ln>
            <a:noFill/>
          </a:ln>
        </p:spPr>
        <p:txBody>
          <a:bodyPr anchorCtr="0" anchor="t" bIns="0" lIns="0" spcFirstLastPara="1" rIns="0" wrap="square" tIns="0">
            <a:spAutoFit/>
          </a:bodyPr>
          <a:lstStyle/>
          <a:p>
            <a:pPr indent="0" lvl="0" marL="0" marR="0" rtl="0" algn="l">
              <a:lnSpc>
                <a:spcPct val="120018"/>
              </a:lnSpc>
              <a:spcBef>
                <a:spcPts val="0"/>
              </a:spcBef>
              <a:spcAft>
                <a:spcPts val="0"/>
              </a:spcAft>
              <a:buClr>
                <a:srgbClr val="000000"/>
              </a:buClr>
              <a:buSzPts val="3232"/>
              <a:buFont typeface="Arial"/>
              <a:buNone/>
            </a:pPr>
            <a:r>
              <a:rPr b="0" i="0" lang="en-US" sz="3232" u="none" cap="none" strike="noStrike">
                <a:solidFill>
                  <a:srgbClr val="5CE1E6"/>
                </a:solidFill>
                <a:latin typeface="Poppins"/>
                <a:ea typeface="Poppins"/>
                <a:cs typeface="Poppins"/>
                <a:sym typeface="Poppins"/>
              </a:rPr>
              <a:t>AUX: </a:t>
            </a:r>
            <a:r>
              <a:rPr lang="en-US" sz="3232">
                <a:solidFill>
                  <a:srgbClr val="5CE1E6"/>
                </a:solidFill>
                <a:latin typeface="Poppins"/>
                <a:ea typeface="Poppins"/>
                <a:cs typeface="Poppins"/>
                <a:sym typeface="Poppins"/>
              </a:rPr>
              <a:t>Kevin Ernesto García Hernández</a:t>
            </a:r>
            <a:endParaRPr b="0" i="0" sz="1400" u="none" cap="none" strike="noStrike">
              <a:solidFill>
                <a:srgbClr val="000000"/>
              </a:solidFill>
              <a:latin typeface="Arial"/>
              <a:ea typeface="Arial"/>
              <a:cs typeface="Arial"/>
              <a:sym typeface="Arial"/>
            </a:endParaRPr>
          </a:p>
        </p:txBody>
      </p:sp>
      <p:sp>
        <p:nvSpPr>
          <p:cNvPr id="93" name="Google Shape;93;p2"/>
          <p:cNvSpPr txBox="1"/>
          <p:nvPr/>
        </p:nvSpPr>
        <p:spPr>
          <a:xfrm>
            <a:off x="1028700" y="4871504"/>
            <a:ext cx="16578900" cy="16932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Clr>
                <a:srgbClr val="000000"/>
              </a:buClr>
              <a:buSzPts val="5000"/>
              <a:buFont typeface="Arial"/>
              <a:buNone/>
            </a:pPr>
            <a:r>
              <a:rPr b="1" i="0" lang="en-US" sz="5000" u="none" cap="none" strike="noStrike">
                <a:solidFill>
                  <a:srgbClr val="FFFFFF"/>
                </a:solidFill>
                <a:latin typeface="Poppins"/>
                <a:ea typeface="Poppins"/>
                <a:cs typeface="Poppins"/>
                <a:sym typeface="Poppins"/>
              </a:rPr>
              <a:t>Bienvenido al Laboratorio </a:t>
            </a:r>
            <a:endParaRPr b="1" i="0" sz="5000" u="none" cap="none" strike="noStrike">
              <a:solidFill>
                <a:srgbClr val="FFFFFF"/>
              </a:solidFill>
              <a:latin typeface="Poppins"/>
              <a:ea typeface="Poppins"/>
              <a:cs typeface="Poppins"/>
              <a:sym typeface="Poppins"/>
            </a:endParaRPr>
          </a:p>
          <a:p>
            <a:pPr indent="0" lvl="0" marL="0" marR="0" rtl="0" algn="just">
              <a:lnSpc>
                <a:spcPct val="120000"/>
              </a:lnSpc>
              <a:spcBef>
                <a:spcPts val="0"/>
              </a:spcBef>
              <a:spcAft>
                <a:spcPts val="0"/>
              </a:spcAft>
              <a:buClr>
                <a:srgbClr val="000000"/>
              </a:buClr>
              <a:buSzPts val="5000"/>
              <a:buFont typeface="Arial"/>
              <a:buNone/>
            </a:pPr>
            <a:r>
              <a:rPr b="1" i="0" lang="en-US" sz="5000" u="none" cap="none" strike="noStrike">
                <a:solidFill>
                  <a:srgbClr val="FFFFFF"/>
                </a:solidFill>
                <a:latin typeface="Poppins"/>
                <a:ea typeface="Poppins"/>
                <a:cs typeface="Poppins"/>
                <a:sym typeface="Poppins"/>
              </a:rPr>
              <a:t>Semana 3</a:t>
            </a:r>
            <a:endParaRPr b="1" i="0" sz="5000" u="none" cap="none" strike="noStrike">
              <a:solidFill>
                <a:srgbClr val="FFFFFF"/>
              </a:solidFill>
              <a:latin typeface="Poppins"/>
              <a:ea typeface="Poppins"/>
              <a:cs typeface="Poppins"/>
              <a:sym typeface="Poppins"/>
            </a:endParaRPr>
          </a:p>
        </p:txBody>
      </p:sp>
      <p:sp>
        <p:nvSpPr>
          <p:cNvPr id="94" name="Google Shape;94;p2"/>
          <p:cNvSpPr txBox="1"/>
          <p:nvPr/>
        </p:nvSpPr>
        <p:spPr>
          <a:xfrm>
            <a:off x="1028700" y="7638517"/>
            <a:ext cx="11127300" cy="497400"/>
          </a:xfrm>
          <a:prstGeom prst="rect">
            <a:avLst/>
          </a:prstGeom>
          <a:noFill/>
          <a:ln>
            <a:noFill/>
          </a:ln>
        </p:spPr>
        <p:txBody>
          <a:bodyPr anchorCtr="0" anchor="t" bIns="0" lIns="0" spcFirstLastPara="1" rIns="0" wrap="square" tIns="0">
            <a:spAutoFit/>
          </a:bodyPr>
          <a:lstStyle/>
          <a:p>
            <a:pPr indent="0" lvl="0" marL="0" marR="0" rtl="0" algn="l">
              <a:lnSpc>
                <a:spcPct val="120018"/>
              </a:lnSpc>
              <a:spcBef>
                <a:spcPts val="0"/>
              </a:spcBef>
              <a:spcAft>
                <a:spcPts val="0"/>
              </a:spcAft>
              <a:buClr>
                <a:srgbClr val="000000"/>
              </a:buClr>
              <a:buSzPts val="3232"/>
              <a:buFont typeface="Arial"/>
              <a:buNone/>
            </a:pPr>
            <a:r>
              <a:rPr b="0" i="0" lang="en-US" sz="3232" u="none" cap="none" strike="noStrike">
                <a:solidFill>
                  <a:srgbClr val="5CE1E6"/>
                </a:solidFill>
                <a:latin typeface="Poppins"/>
                <a:ea typeface="Poppins"/>
                <a:cs typeface="Poppins"/>
                <a:sym typeface="Poppins"/>
              </a:rPr>
              <a:t>Prime</a:t>
            </a:r>
            <a:r>
              <a:rPr lang="en-US" sz="3232">
                <a:solidFill>
                  <a:srgbClr val="5CE1E6"/>
                </a:solidFill>
                <a:latin typeface="Poppins"/>
                <a:ea typeface="Poppins"/>
                <a:cs typeface="Poppins"/>
                <a:sym typeface="Poppins"/>
              </a:rPr>
              <a:t>r</a:t>
            </a:r>
            <a:r>
              <a:rPr b="0" i="0" lang="en-US" sz="3232" u="none" cap="none" strike="noStrike">
                <a:solidFill>
                  <a:srgbClr val="5CE1E6"/>
                </a:solidFill>
                <a:latin typeface="Poppins"/>
                <a:ea typeface="Poppins"/>
                <a:cs typeface="Poppins"/>
                <a:sym typeface="Poppins"/>
              </a:rPr>
              <a:t> Semestre 202</a:t>
            </a:r>
            <a:r>
              <a:rPr lang="en-US" sz="3232">
                <a:solidFill>
                  <a:srgbClr val="5CE1E6"/>
                </a:solidFill>
                <a:latin typeface="Poppins"/>
                <a:ea typeface="Poppins"/>
                <a:cs typeface="Poppins"/>
                <a:sym typeface="Poppins"/>
              </a:rPr>
              <a:t>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100" name="Google Shape;100;p3"/>
          <p:cNvSpPr/>
          <p:nvPr/>
        </p:nvSpPr>
        <p:spPr>
          <a:xfrm rot="9451627">
            <a:off x="-1152667" y="-1825468"/>
            <a:ext cx="5343238" cy="4041431"/>
          </a:xfrm>
          <a:custGeom>
            <a:rect b="b" l="l" r="r" t="t"/>
            <a:pathLst>
              <a:path extrusionOk="0" h="4041431" w="5343238">
                <a:moveTo>
                  <a:pt x="0" y="0"/>
                </a:moveTo>
                <a:lnTo>
                  <a:pt x="5343238" y="0"/>
                </a:lnTo>
                <a:lnTo>
                  <a:pt x="5343238" y="4041431"/>
                </a:lnTo>
                <a:lnTo>
                  <a:pt x="0" y="4041431"/>
                </a:lnTo>
                <a:lnTo>
                  <a:pt x="0" y="0"/>
                </a:lnTo>
                <a:close/>
              </a:path>
            </a:pathLst>
          </a:custGeom>
          <a:blipFill rotWithShape="1">
            <a:blip r:embed="rId3">
              <a:alphaModFix/>
            </a:blip>
            <a:stretch>
              <a:fillRect b="0" l="0" r="0" t="0"/>
            </a:stretch>
          </a:blipFill>
          <a:ln>
            <a:noFill/>
          </a:ln>
        </p:spPr>
      </p:sp>
      <p:sp>
        <p:nvSpPr>
          <p:cNvPr id="101" name="Google Shape;101;p3"/>
          <p:cNvSpPr/>
          <p:nvPr/>
        </p:nvSpPr>
        <p:spPr>
          <a:xfrm>
            <a:off x="-1421876" y="-3678699"/>
            <a:ext cx="5285099" cy="5256271"/>
          </a:xfrm>
          <a:custGeom>
            <a:rect b="b" l="l" r="r" t="t"/>
            <a:pathLst>
              <a:path extrusionOk="0" h="5256271" w="5285099">
                <a:moveTo>
                  <a:pt x="0" y="0"/>
                </a:moveTo>
                <a:lnTo>
                  <a:pt x="5285099" y="0"/>
                </a:lnTo>
                <a:lnTo>
                  <a:pt x="5285099" y="5256271"/>
                </a:lnTo>
                <a:lnTo>
                  <a:pt x="0" y="5256271"/>
                </a:lnTo>
                <a:lnTo>
                  <a:pt x="0" y="0"/>
                </a:lnTo>
                <a:close/>
              </a:path>
            </a:pathLst>
          </a:custGeom>
          <a:blipFill rotWithShape="1">
            <a:blip r:embed="rId4">
              <a:alphaModFix/>
            </a:blip>
            <a:stretch>
              <a:fillRect b="0" l="0" r="0" t="0"/>
            </a:stretch>
          </a:blipFill>
          <a:ln>
            <a:noFill/>
          </a:ln>
        </p:spPr>
      </p:sp>
      <p:sp>
        <p:nvSpPr>
          <p:cNvPr id="102" name="Google Shape;102;p3"/>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5">
              <a:alphaModFix amt="6999"/>
            </a:blip>
            <a:stretch>
              <a:fillRect b="0" l="0" r="0" t="0"/>
            </a:stretch>
          </a:blipFill>
          <a:ln>
            <a:noFill/>
          </a:ln>
        </p:spPr>
      </p:sp>
      <p:sp>
        <p:nvSpPr>
          <p:cNvPr id="103" name="Google Shape;103;p3"/>
          <p:cNvSpPr/>
          <p:nvPr/>
        </p:nvSpPr>
        <p:spPr>
          <a:xfrm>
            <a:off x="17981351" y="9071880"/>
            <a:ext cx="322049" cy="1215120"/>
          </a:xfrm>
          <a:custGeom>
            <a:rect b="b" l="l" r="r" t="t"/>
            <a:pathLst>
              <a:path extrusionOk="0" h="754960" w="200091">
                <a:moveTo>
                  <a:pt x="0" y="0"/>
                </a:moveTo>
                <a:lnTo>
                  <a:pt x="200091" y="0"/>
                </a:lnTo>
                <a:lnTo>
                  <a:pt x="200091" y="754960"/>
                </a:lnTo>
                <a:lnTo>
                  <a:pt x="0" y="754960"/>
                </a:lnTo>
                <a:close/>
              </a:path>
            </a:pathLst>
          </a:custGeom>
          <a:solidFill>
            <a:srgbClr val="1B4A9B"/>
          </a:solidFill>
          <a:ln>
            <a:noFill/>
          </a:ln>
        </p:spPr>
      </p:sp>
      <p:sp>
        <p:nvSpPr>
          <p:cNvPr id="104" name="Google Shape;104;p3"/>
          <p:cNvSpPr txBox="1"/>
          <p:nvPr/>
        </p:nvSpPr>
        <p:spPr>
          <a:xfrm>
            <a:off x="3908316" y="2655102"/>
            <a:ext cx="10471367" cy="8096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000"/>
              <a:buFont typeface="Arial"/>
              <a:buNone/>
            </a:pPr>
            <a:r>
              <a:rPr b="1" i="1" lang="en-US" sz="5000" u="none" cap="none" strike="noStrike">
                <a:solidFill>
                  <a:srgbClr val="1B4A9B"/>
                </a:solidFill>
                <a:latin typeface="Poppins"/>
                <a:ea typeface="Poppins"/>
                <a:cs typeface="Poppins"/>
                <a:sym typeface="Poppins"/>
              </a:rPr>
              <a:t>Agenda</a:t>
            </a:r>
            <a:endParaRPr b="0" i="0" sz="1400" u="none" cap="none" strike="noStrike">
              <a:solidFill>
                <a:srgbClr val="000000"/>
              </a:solidFill>
              <a:latin typeface="Arial"/>
              <a:ea typeface="Arial"/>
              <a:cs typeface="Arial"/>
              <a:sym typeface="Arial"/>
            </a:endParaRPr>
          </a:p>
        </p:txBody>
      </p:sp>
      <p:sp>
        <p:nvSpPr>
          <p:cNvPr id="105" name="Google Shape;105;p3"/>
          <p:cNvSpPr/>
          <p:nvPr/>
        </p:nvSpPr>
        <p:spPr>
          <a:xfrm>
            <a:off x="17046764" y="3182967"/>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106" name="Google Shape;106;p3"/>
          <p:cNvSpPr txBox="1"/>
          <p:nvPr/>
        </p:nvSpPr>
        <p:spPr>
          <a:xfrm>
            <a:off x="4328963" y="4196532"/>
            <a:ext cx="8306586" cy="5664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200"/>
              <a:buFont typeface="Arial"/>
              <a:buNone/>
            </a:pPr>
            <a:r>
              <a:rPr b="0" i="0" lang="en-US" sz="3200" u="none" cap="none" strike="noStrike">
                <a:solidFill>
                  <a:srgbClr val="737373"/>
                </a:solidFill>
                <a:latin typeface="Poppins"/>
                <a:ea typeface="Poppins"/>
                <a:cs typeface="Poppins"/>
                <a:sym typeface="Poppins"/>
              </a:rPr>
              <a:t>Temas y Actividades a realizar:</a:t>
            </a:r>
            <a:endParaRPr b="0" i="0" sz="1400" u="none" cap="none" strike="noStrike">
              <a:solidFill>
                <a:srgbClr val="000000"/>
              </a:solidFill>
              <a:latin typeface="Arial"/>
              <a:ea typeface="Arial"/>
              <a:cs typeface="Arial"/>
              <a:sym typeface="Arial"/>
            </a:endParaRPr>
          </a:p>
        </p:txBody>
      </p:sp>
      <p:sp>
        <p:nvSpPr>
          <p:cNvPr id="107" name="Google Shape;107;p3"/>
          <p:cNvSpPr txBox="1"/>
          <p:nvPr/>
        </p:nvSpPr>
        <p:spPr>
          <a:xfrm>
            <a:off x="3908316" y="5388114"/>
            <a:ext cx="7785600" cy="1546500"/>
          </a:xfrm>
          <a:prstGeom prst="rect">
            <a:avLst/>
          </a:prstGeom>
          <a:noFill/>
          <a:ln>
            <a:noFill/>
          </a:ln>
        </p:spPr>
        <p:txBody>
          <a:bodyPr anchorCtr="0" anchor="t" bIns="0" lIns="0" spcFirstLastPara="1" rIns="0" wrap="square" tIns="0">
            <a:spAutoFit/>
          </a:bodyPr>
          <a:lstStyle/>
          <a:p>
            <a:pPr indent="-345439" lvl="1" marL="690881" marR="0" rtl="0" algn="l">
              <a:lnSpc>
                <a:spcPct val="107000"/>
              </a:lnSpc>
              <a:spcBef>
                <a:spcPts val="0"/>
              </a:spcBef>
              <a:spcAft>
                <a:spcPts val="0"/>
              </a:spcAft>
              <a:buClr>
                <a:srgbClr val="737373"/>
              </a:buClr>
              <a:buSzPts val="3200"/>
              <a:buFont typeface="Arial"/>
              <a:buChar char="•"/>
            </a:pPr>
            <a:r>
              <a:rPr b="1" i="0" lang="en-US" sz="3200" u="none" cap="none" strike="noStrike">
                <a:solidFill>
                  <a:srgbClr val="737373"/>
                </a:solidFill>
                <a:latin typeface="Poppins"/>
                <a:ea typeface="Poppins"/>
                <a:cs typeface="Poppins"/>
                <a:sym typeface="Poppins"/>
              </a:rPr>
              <a:t>Anuncios</a:t>
            </a:r>
            <a:endParaRPr b="0" i="0" sz="1400" u="none" cap="none" strike="noStrike">
              <a:solidFill>
                <a:srgbClr val="000000"/>
              </a:solidFill>
              <a:latin typeface="Arial"/>
              <a:ea typeface="Arial"/>
              <a:cs typeface="Arial"/>
              <a:sym typeface="Arial"/>
            </a:endParaRPr>
          </a:p>
          <a:p>
            <a:pPr indent="-345439" lvl="1" marL="690881" marR="0" rtl="0" algn="l">
              <a:lnSpc>
                <a:spcPct val="107000"/>
              </a:lnSpc>
              <a:spcBef>
                <a:spcPts val="0"/>
              </a:spcBef>
              <a:spcAft>
                <a:spcPts val="0"/>
              </a:spcAft>
              <a:buClr>
                <a:srgbClr val="737373"/>
              </a:buClr>
              <a:buSzPts val="3200"/>
              <a:buFont typeface="Arial"/>
              <a:buChar char="•"/>
            </a:pPr>
            <a:r>
              <a:rPr b="1" i="0" lang="en-US" sz="3200" u="none" cap="none" strike="noStrike">
                <a:solidFill>
                  <a:srgbClr val="737373"/>
                </a:solidFill>
                <a:latin typeface="Poppins"/>
                <a:ea typeface="Poppins"/>
                <a:cs typeface="Poppins"/>
                <a:sym typeface="Poppins"/>
              </a:rPr>
              <a:t>Contenido</a:t>
            </a:r>
            <a:endParaRPr b="0" i="0" sz="1400" u="none" cap="none" strike="noStrike">
              <a:solidFill>
                <a:srgbClr val="000000"/>
              </a:solidFill>
              <a:latin typeface="Arial"/>
              <a:ea typeface="Arial"/>
              <a:cs typeface="Arial"/>
              <a:sym typeface="Arial"/>
            </a:endParaRPr>
          </a:p>
          <a:p>
            <a:pPr indent="-345439" lvl="1" marL="690881" marR="0" rtl="0" algn="l">
              <a:lnSpc>
                <a:spcPct val="107000"/>
              </a:lnSpc>
              <a:spcBef>
                <a:spcPts val="0"/>
              </a:spcBef>
              <a:spcAft>
                <a:spcPts val="0"/>
              </a:spcAft>
              <a:buClr>
                <a:srgbClr val="737373"/>
              </a:buClr>
              <a:buSzPts val="3200"/>
              <a:buFont typeface="Arial"/>
              <a:buChar char="•"/>
            </a:pPr>
            <a:r>
              <a:rPr b="1" i="0" lang="en-US" sz="3200" u="none" cap="none" strike="noStrike">
                <a:solidFill>
                  <a:srgbClr val="737373"/>
                </a:solidFill>
                <a:latin typeface="Poppins"/>
                <a:ea typeface="Poppins"/>
                <a:cs typeface="Poppins"/>
                <a:sym typeface="Poppins"/>
              </a:rPr>
              <a:t>¿Dudas?</a:t>
            </a:r>
            <a:endParaRPr b="0" i="0" sz="1400" u="none" cap="none" strike="noStrike">
              <a:solidFill>
                <a:srgbClr val="000000"/>
              </a:solidFill>
              <a:latin typeface="Arial"/>
              <a:ea typeface="Arial"/>
              <a:cs typeface="Arial"/>
              <a:sym typeface="Arial"/>
            </a:endParaRPr>
          </a:p>
        </p:txBody>
      </p:sp>
      <p:sp>
        <p:nvSpPr>
          <p:cNvPr id="108" name="Google Shape;108;p3"/>
          <p:cNvSpPr/>
          <p:nvPr/>
        </p:nvSpPr>
        <p:spPr>
          <a:xfrm>
            <a:off x="15172272" y="6448224"/>
            <a:ext cx="2087028" cy="3109894"/>
          </a:xfrm>
          <a:custGeom>
            <a:rect b="b" l="l" r="r" t="t"/>
            <a:pathLst>
              <a:path extrusionOk="0" h="3109894" w="2087028">
                <a:moveTo>
                  <a:pt x="0" y="0"/>
                </a:moveTo>
                <a:lnTo>
                  <a:pt x="2087028" y="0"/>
                </a:lnTo>
                <a:lnTo>
                  <a:pt x="2087028" y="3109894"/>
                </a:lnTo>
                <a:lnTo>
                  <a:pt x="0" y="3109894"/>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114" name="Google Shape;114;p4"/>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115" name="Google Shape;115;p4"/>
          <p:cNvGrpSpPr/>
          <p:nvPr/>
        </p:nvGrpSpPr>
        <p:grpSpPr>
          <a:xfrm rot="9869556">
            <a:off x="14431083" y="6569611"/>
            <a:ext cx="6482297" cy="6762426"/>
            <a:chOff x="0" y="0"/>
            <a:chExt cx="8643063" cy="9016568"/>
          </a:xfrm>
        </p:grpSpPr>
        <p:sp>
          <p:nvSpPr>
            <p:cNvPr id="116" name="Google Shape;116;p4"/>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117" name="Google Shape;117;p4"/>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118" name="Google Shape;118;p4"/>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grpSp>
        <p:nvGrpSpPr>
          <p:cNvPr id="119" name="Google Shape;119;p4"/>
          <p:cNvGrpSpPr/>
          <p:nvPr/>
        </p:nvGrpSpPr>
        <p:grpSpPr>
          <a:xfrm>
            <a:off x="540010" y="1789670"/>
            <a:ext cx="6707659" cy="6707659"/>
            <a:chOff x="0" y="0"/>
            <a:chExt cx="8943546" cy="8943546"/>
          </a:xfrm>
        </p:grpSpPr>
        <p:sp>
          <p:nvSpPr>
            <p:cNvPr id="120" name="Google Shape;120;p4"/>
            <p:cNvSpPr/>
            <p:nvPr/>
          </p:nvSpPr>
          <p:spPr>
            <a:xfrm>
              <a:off x="0" y="0"/>
              <a:ext cx="8943546" cy="8943546"/>
            </a:xfrm>
            <a:custGeom>
              <a:rect b="b" l="l" r="r" t="t"/>
              <a:pathLst>
                <a:path extrusionOk="0" h="8943546" w="8943546">
                  <a:moveTo>
                    <a:pt x="0" y="0"/>
                  </a:moveTo>
                  <a:lnTo>
                    <a:pt x="8943546" y="0"/>
                  </a:lnTo>
                  <a:lnTo>
                    <a:pt x="8943546" y="8943546"/>
                  </a:lnTo>
                  <a:lnTo>
                    <a:pt x="0" y="8943546"/>
                  </a:lnTo>
                  <a:lnTo>
                    <a:pt x="0" y="0"/>
                  </a:lnTo>
                  <a:close/>
                </a:path>
              </a:pathLst>
            </a:custGeom>
            <a:blipFill rotWithShape="1">
              <a:blip r:embed="rId7">
                <a:alphaModFix amt="12000"/>
              </a:blip>
              <a:stretch>
                <a:fillRect b="0" l="0" r="0" t="0"/>
              </a:stretch>
            </a:blipFill>
            <a:ln>
              <a:noFill/>
            </a:ln>
          </p:spPr>
        </p:sp>
        <p:sp>
          <p:nvSpPr>
            <p:cNvPr id="121" name="Google Shape;121;p4"/>
            <p:cNvSpPr/>
            <p:nvPr/>
          </p:nvSpPr>
          <p:spPr>
            <a:xfrm>
              <a:off x="476944" y="476944"/>
              <a:ext cx="7989659" cy="7989659"/>
            </a:xfrm>
            <a:custGeom>
              <a:rect b="b" l="l" r="r" t="t"/>
              <a:pathLst>
                <a:path extrusionOk="0" h="7989659" w="7989659">
                  <a:moveTo>
                    <a:pt x="0" y="0"/>
                  </a:moveTo>
                  <a:lnTo>
                    <a:pt x="7989658" y="0"/>
                  </a:lnTo>
                  <a:lnTo>
                    <a:pt x="7989658" y="7989658"/>
                  </a:lnTo>
                  <a:lnTo>
                    <a:pt x="0" y="7989658"/>
                  </a:lnTo>
                  <a:lnTo>
                    <a:pt x="0" y="0"/>
                  </a:lnTo>
                  <a:close/>
                </a:path>
              </a:pathLst>
            </a:custGeom>
            <a:blipFill rotWithShape="1">
              <a:blip r:embed="rId8">
                <a:alphaModFix/>
              </a:blip>
              <a:stretch>
                <a:fillRect b="0" l="0" r="0" t="0"/>
              </a:stretch>
            </a:blipFill>
            <a:ln>
              <a:noFill/>
            </a:ln>
          </p:spPr>
        </p:sp>
      </p:grpSp>
      <p:sp>
        <p:nvSpPr>
          <p:cNvPr id="122" name="Google Shape;122;p4"/>
          <p:cNvSpPr/>
          <p:nvPr/>
        </p:nvSpPr>
        <p:spPr>
          <a:xfrm>
            <a:off x="1003789" y="2310208"/>
            <a:ext cx="5648705" cy="5648705"/>
          </a:xfrm>
          <a:custGeom>
            <a:rect b="b" l="l" r="r" t="t"/>
            <a:pathLst>
              <a:path extrusionOk="0" h="5255260" w="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rotWithShape="1">
            <a:blip r:embed="rId9">
              <a:alphaModFix/>
            </a:blip>
            <a:stretch>
              <a:fillRect b="0" l="-42639" r="-42637"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4"/>
          <p:cNvSpPr txBox="1"/>
          <p:nvPr/>
        </p:nvSpPr>
        <p:spPr>
          <a:xfrm>
            <a:off x="8094925" y="5035563"/>
            <a:ext cx="3632688" cy="790575"/>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4999"/>
              <a:buFont typeface="Arial"/>
              <a:buNone/>
            </a:pPr>
            <a:r>
              <a:rPr b="1" i="1" lang="en-US" sz="4999" u="none" cap="none" strike="noStrike">
                <a:solidFill>
                  <a:srgbClr val="1B4A9B"/>
                </a:solidFill>
                <a:latin typeface="Poppins"/>
                <a:ea typeface="Poppins"/>
                <a:cs typeface="Poppins"/>
                <a:sym typeface="Poppins"/>
              </a:rPr>
              <a:t>Anuncios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129" name="Google Shape;129;p5"/>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130" name="Google Shape;130;p5"/>
          <p:cNvGrpSpPr/>
          <p:nvPr/>
        </p:nvGrpSpPr>
        <p:grpSpPr>
          <a:xfrm rot="9869556">
            <a:off x="14431083" y="6569611"/>
            <a:ext cx="6482297" cy="6762426"/>
            <a:chOff x="0" y="0"/>
            <a:chExt cx="8643063" cy="9016568"/>
          </a:xfrm>
        </p:grpSpPr>
        <p:sp>
          <p:nvSpPr>
            <p:cNvPr id="131" name="Google Shape;131;p5"/>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132" name="Google Shape;132;p5"/>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133" name="Google Shape;133;p5"/>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grpSp>
        <p:nvGrpSpPr>
          <p:cNvPr id="134" name="Google Shape;134;p5"/>
          <p:cNvGrpSpPr/>
          <p:nvPr/>
        </p:nvGrpSpPr>
        <p:grpSpPr>
          <a:xfrm>
            <a:off x="540010" y="1789670"/>
            <a:ext cx="6707659" cy="6707659"/>
            <a:chOff x="0" y="0"/>
            <a:chExt cx="8943546" cy="8943546"/>
          </a:xfrm>
        </p:grpSpPr>
        <p:sp>
          <p:nvSpPr>
            <p:cNvPr id="135" name="Google Shape;135;p5"/>
            <p:cNvSpPr/>
            <p:nvPr/>
          </p:nvSpPr>
          <p:spPr>
            <a:xfrm>
              <a:off x="0" y="0"/>
              <a:ext cx="8943546" cy="8943546"/>
            </a:xfrm>
            <a:custGeom>
              <a:rect b="b" l="l" r="r" t="t"/>
              <a:pathLst>
                <a:path extrusionOk="0" h="8943546" w="8943546">
                  <a:moveTo>
                    <a:pt x="0" y="0"/>
                  </a:moveTo>
                  <a:lnTo>
                    <a:pt x="8943546" y="0"/>
                  </a:lnTo>
                  <a:lnTo>
                    <a:pt x="8943546" y="8943546"/>
                  </a:lnTo>
                  <a:lnTo>
                    <a:pt x="0" y="8943546"/>
                  </a:lnTo>
                  <a:lnTo>
                    <a:pt x="0" y="0"/>
                  </a:lnTo>
                  <a:close/>
                </a:path>
              </a:pathLst>
            </a:custGeom>
            <a:blipFill rotWithShape="1">
              <a:blip r:embed="rId7">
                <a:alphaModFix amt="12000"/>
              </a:blip>
              <a:stretch>
                <a:fillRect b="0" l="0" r="0" t="0"/>
              </a:stretch>
            </a:blipFill>
            <a:ln>
              <a:noFill/>
            </a:ln>
          </p:spPr>
        </p:sp>
        <p:sp>
          <p:nvSpPr>
            <p:cNvPr id="136" name="Google Shape;136;p5"/>
            <p:cNvSpPr/>
            <p:nvPr/>
          </p:nvSpPr>
          <p:spPr>
            <a:xfrm>
              <a:off x="476944" y="476944"/>
              <a:ext cx="7989659" cy="7989659"/>
            </a:xfrm>
            <a:custGeom>
              <a:rect b="b" l="l" r="r" t="t"/>
              <a:pathLst>
                <a:path extrusionOk="0" h="7989659" w="7989659">
                  <a:moveTo>
                    <a:pt x="0" y="0"/>
                  </a:moveTo>
                  <a:lnTo>
                    <a:pt x="7989658" y="0"/>
                  </a:lnTo>
                  <a:lnTo>
                    <a:pt x="7989658" y="7989658"/>
                  </a:lnTo>
                  <a:lnTo>
                    <a:pt x="0" y="7989658"/>
                  </a:lnTo>
                  <a:lnTo>
                    <a:pt x="0" y="0"/>
                  </a:lnTo>
                  <a:close/>
                </a:path>
              </a:pathLst>
            </a:custGeom>
            <a:blipFill rotWithShape="1">
              <a:blip r:embed="rId8">
                <a:alphaModFix/>
              </a:blip>
              <a:stretch>
                <a:fillRect b="0" l="0" r="0" t="0"/>
              </a:stretch>
            </a:blipFill>
            <a:ln>
              <a:noFill/>
            </a:ln>
          </p:spPr>
        </p:sp>
      </p:grpSp>
      <p:sp>
        <p:nvSpPr>
          <p:cNvPr id="137" name="Google Shape;137;p5"/>
          <p:cNvSpPr/>
          <p:nvPr/>
        </p:nvSpPr>
        <p:spPr>
          <a:xfrm>
            <a:off x="1003789" y="2310208"/>
            <a:ext cx="5648705" cy="5648705"/>
          </a:xfrm>
          <a:custGeom>
            <a:rect b="b" l="l" r="r" t="t"/>
            <a:pathLst>
              <a:path extrusionOk="0" h="5255260" w="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rotWithShape="1">
            <a:blip r:embed="rId9">
              <a:alphaModFix/>
            </a:blip>
            <a:stretch>
              <a:fillRect b="0" l="-25182" r="-25179"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5"/>
          <p:cNvSpPr txBox="1"/>
          <p:nvPr/>
        </p:nvSpPr>
        <p:spPr>
          <a:xfrm>
            <a:off x="8731010" y="4354907"/>
            <a:ext cx="8528290" cy="1543050"/>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4999"/>
              <a:buFont typeface="Arial"/>
              <a:buNone/>
            </a:pPr>
            <a:r>
              <a:rPr b="1" i="1" lang="en-US" sz="4999" u="none" cap="none" strike="noStrike">
                <a:solidFill>
                  <a:srgbClr val="1B4A9B"/>
                </a:solidFill>
                <a:latin typeface="Poppins"/>
                <a:ea typeface="Poppins"/>
                <a:cs typeface="Poppins"/>
                <a:sym typeface="Poppins"/>
              </a:rPr>
              <a:t>Tipos de Almacenamiento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6"/>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144" name="Google Shape;144;p6"/>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145" name="Google Shape;145;p6"/>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sp>
        <p:nvSpPr>
          <p:cNvPr id="146" name="Google Shape;146;p6"/>
          <p:cNvSpPr/>
          <p:nvPr/>
        </p:nvSpPr>
        <p:spPr>
          <a:xfrm>
            <a:off x="8926759" y="646468"/>
            <a:ext cx="8998026" cy="8998026"/>
          </a:xfrm>
          <a:custGeom>
            <a:rect b="b" l="l" r="r" t="t"/>
            <a:pathLst>
              <a:path extrusionOk="0" h="8998026" w="8998026">
                <a:moveTo>
                  <a:pt x="0" y="0"/>
                </a:moveTo>
                <a:lnTo>
                  <a:pt x="8998027" y="0"/>
                </a:lnTo>
                <a:lnTo>
                  <a:pt x="8998027" y="8998027"/>
                </a:lnTo>
                <a:lnTo>
                  <a:pt x="0" y="8998027"/>
                </a:lnTo>
                <a:lnTo>
                  <a:pt x="0" y="0"/>
                </a:lnTo>
                <a:close/>
              </a:path>
            </a:pathLst>
          </a:custGeom>
          <a:blipFill rotWithShape="1">
            <a:blip r:embed="rId5">
              <a:alphaModFix amt="12000"/>
            </a:blip>
            <a:stretch>
              <a:fillRect b="0" l="0" r="0" t="0"/>
            </a:stretch>
          </a:blipFill>
          <a:ln>
            <a:noFill/>
          </a:ln>
        </p:spPr>
      </p:sp>
      <p:sp>
        <p:nvSpPr>
          <p:cNvPr id="147" name="Google Shape;147;p6"/>
          <p:cNvSpPr/>
          <p:nvPr/>
        </p:nvSpPr>
        <p:spPr>
          <a:xfrm>
            <a:off x="9467671" y="1185398"/>
            <a:ext cx="7916204" cy="7916204"/>
          </a:xfrm>
          <a:custGeom>
            <a:rect b="b" l="l" r="r" t="t"/>
            <a:pathLst>
              <a:path extrusionOk="0" h="7916204" w="7916204">
                <a:moveTo>
                  <a:pt x="0" y="0"/>
                </a:moveTo>
                <a:lnTo>
                  <a:pt x="7916203" y="0"/>
                </a:lnTo>
                <a:lnTo>
                  <a:pt x="7916203" y="7916204"/>
                </a:lnTo>
                <a:lnTo>
                  <a:pt x="0" y="7916204"/>
                </a:lnTo>
                <a:lnTo>
                  <a:pt x="0" y="0"/>
                </a:lnTo>
                <a:close/>
              </a:path>
            </a:pathLst>
          </a:custGeom>
          <a:blipFill rotWithShape="1">
            <a:blip r:embed="rId6">
              <a:alphaModFix/>
            </a:blip>
            <a:stretch>
              <a:fillRect b="0" l="0" r="0" t="0"/>
            </a:stretch>
          </a:blipFill>
          <a:ln>
            <a:noFill/>
          </a:ln>
        </p:spPr>
      </p:sp>
      <p:sp>
        <p:nvSpPr>
          <p:cNvPr id="148" name="Google Shape;148;p6"/>
          <p:cNvSpPr/>
          <p:nvPr/>
        </p:nvSpPr>
        <p:spPr>
          <a:xfrm>
            <a:off x="9641273" y="1355508"/>
            <a:ext cx="7550751" cy="7550751"/>
          </a:xfrm>
          <a:custGeom>
            <a:rect b="b" l="l" r="r" t="t"/>
            <a:pathLst>
              <a:path extrusionOk="0" h="5255260" w="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rotWithShape="1">
            <a:blip r:embed="rId7">
              <a:alphaModFix/>
            </a:blip>
            <a:stretch>
              <a:fillRect b="0" l="-4353" r="-36087"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9" name="Google Shape;149;p6"/>
          <p:cNvGrpSpPr/>
          <p:nvPr/>
        </p:nvGrpSpPr>
        <p:grpSpPr>
          <a:xfrm>
            <a:off x="-1722197" y="-3678699"/>
            <a:ext cx="6482297" cy="6762426"/>
            <a:chOff x="0" y="0"/>
            <a:chExt cx="8643063" cy="9016568"/>
          </a:xfrm>
        </p:grpSpPr>
        <p:sp>
          <p:nvSpPr>
            <p:cNvPr id="150" name="Google Shape;150;p6"/>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8">
                <a:alphaModFix/>
              </a:blip>
              <a:stretch>
                <a:fillRect b="0" l="0" r="0" t="0"/>
              </a:stretch>
            </a:blipFill>
            <a:ln>
              <a:noFill/>
            </a:ln>
          </p:spPr>
        </p:sp>
        <p:sp>
          <p:nvSpPr>
            <p:cNvPr id="151" name="Google Shape;151;p6"/>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9">
                <a:alphaModFix/>
              </a:blip>
              <a:stretch>
                <a:fillRect b="0" l="0" r="0" t="0"/>
              </a:stretch>
            </a:blipFill>
            <a:ln>
              <a:noFill/>
            </a:ln>
          </p:spPr>
        </p:sp>
      </p:grpSp>
      <p:sp>
        <p:nvSpPr>
          <p:cNvPr id="152" name="Google Shape;152;p6"/>
          <p:cNvSpPr txBox="1"/>
          <p:nvPr/>
        </p:nvSpPr>
        <p:spPr>
          <a:xfrm>
            <a:off x="1028700" y="3234034"/>
            <a:ext cx="6471258"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Historia</a:t>
            </a:r>
            <a:endParaRPr b="0" i="0" sz="1400" u="none" cap="none" strike="noStrike">
              <a:solidFill>
                <a:srgbClr val="000000"/>
              </a:solidFill>
              <a:latin typeface="Arial"/>
              <a:ea typeface="Arial"/>
              <a:cs typeface="Arial"/>
              <a:sym typeface="Arial"/>
            </a:endParaRPr>
          </a:p>
        </p:txBody>
      </p:sp>
      <p:sp>
        <p:nvSpPr>
          <p:cNvPr id="153" name="Google Shape;153;p6"/>
          <p:cNvSpPr txBox="1"/>
          <p:nvPr/>
        </p:nvSpPr>
        <p:spPr>
          <a:xfrm>
            <a:off x="1116036" y="4498410"/>
            <a:ext cx="6296585" cy="4826508"/>
          </a:xfrm>
          <a:prstGeom prst="rect">
            <a:avLst/>
          </a:prstGeom>
          <a:noFill/>
          <a:ln>
            <a:noFill/>
          </a:ln>
        </p:spPr>
        <p:txBody>
          <a:bodyPr anchorCtr="0" anchor="t" bIns="0" lIns="0" spcFirstLastPara="1" rIns="0" wrap="square" tIns="0">
            <a:spAutoFit/>
          </a:bodyPr>
          <a:lstStyle/>
          <a:p>
            <a:pPr indent="-291464" lvl="1" marL="582928" marR="0" rtl="0" algn="just">
              <a:lnSpc>
                <a:spcPct val="118006"/>
              </a:lnSpc>
              <a:spcBef>
                <a:spcPts val="0"/>
              </a:spcBef>
              <a:spcAft>
                <a:spcPts val="0"/>
              </a:spcAft>
              <a:buClr>
                <a:srgbClr val="737373"/>
              </a:buClr>
              <a:buSzPts val="2699"/>
              <a:buFont typeface="Arial"/>
              <a:buChar char="•"/>
            </a:pPr>
            <a:r>
              <a:rPr b="0" i="0" lang="en-US" sz="2699" u="none" cap="none" strike="noStrike">
                <a:solidFill>
                  <a:srgbClr val="737373"/>
                </a:solidFill>
                <a:latin typeface="Poppins"/>
                <a:ea typeface="Poppins"/>
                <a:cs typeface="Poppins"/>
                <a:sym typeface="Poppins"/>
              </a:rPr>
              <a:t>Las </a:t>
            </a:r>
            <a:r>
              <a:rPr b="1" i="0" lang="en-US" sz="2699" u="none" cap="none" strike="noStrike">
                <a:solidFill>
                  <a:srgbClr val="737373"/>
                </a:solidFill>
                <a:latin typeface="Poppins Medium"/>
                <a:ea typeface="Poppins Medium"/>
                <a:cs typeface="Poppins Medium"/>
                <a:sym typeface="Poppins Medium"/>
              </a:rPr>
              <a:t>tarjetas perforadas</a:t>
            </a:r>
            <a:r>
              <a:rPr b="0" i="0" lang="en-US" sz="2699" u="none" cap="none" strike="noStrike">
                <a:solidFill>
                  <a:srgbClr val="737373"/>
                </a:solidFill>
                <a:latin typeface="Poppins"/>
                <a:ea typeface="Poppins"/>
                <a:cs typeface="Poppins"/>
                <a:sym typeface="Poppins"/>
              </a:rPr>
              <a:t> fueron los primeros dispositivos de almacenamiento.</a:t>
            </a:r>
            <a:endParaRPr b="0" i="0" sz="1400" u="none" cap="none" strike="noStrike">
              <a:solidFill>
                <a:srgbClr val="000000"/>
              </a:solidFill>
              <a:latin typeface="Arial"/>
              <a:ea typeface="Arial"/>
              <a:cs typeface="Arial"/>
              <a:sym typeface="Arial"/>
            </a:endParaRPr>
          </a:p>
          <a:p>
            <a:pPr indent="0" lvl="0" marL="0" marR="0" rtl="0" algn="just">
              <a:lnSpc>
                <a:spcPct val="118006"/>
              </a:lnSpc>
              <a:spcBef>
                <a:spcPts val="0"/>
              </a:spcBef>
              <a:spcAft>
                <a:spcPts val="0"/>
              </a:spcAft>
              <a:buClr>
                <a:srgbClr val="000000"/>
              </a:buClr>
              <a:buSzPts val="2699"/>
              <a:buFont typeface="Arial"/>
              <a:buNone/>
            </a:pPr>
            <a:r>
              <a:t/>
            </a:r>
            <a:endParaRPr b="0" i="0" sz="2699" u="none" cap="none" strike="noStrike">
              <a:solidFill>
                <a:srgbClr val="737373"/>
              </a:solidFill>
              <a:latin typeface="Poppins"/>
              <a:ea typeface="Poppins"/>
              <a:cs typeface="Poppins"/>
              <a:sym typeface="Poppins"/>
            </a:endParaRPr>
          </a:p>
          <a:p>
            <a:pPr indent="-291464" lvl="1" marL="582928" marR="0" rtl="0" algn="just">
              <a:lnSpc>
                <a:spcPct val="118006"/>
              </a:lnSpc>
              <a:spcBef>
                <a:spcPts val="0"/>
              </a:spcBef>
              <a:spcAft>
                <a:spcPts val="0"/>
              </a:spcAft>
              <a:buClr>
                <a:srgbClr val="737373"/>
              </a:buClr>
              <a:buSzPts val="2699"/>
              <a:buFont typeface="Arial"/>
              <a:buChar char="•"/>
            </a:pPr>
            <a:r>
              <a:rPr b="0" i="0" lang="en-US" sz="2699" u="none" cap="none" strike="noStrike">
                <a:solidFill>
                  <a:srgbClr val="737373"/>
                </a:solidFill>
                <a:latin typeface="Poppins"/>
                <a:ea typeface="Poppins"/>
                <a:cs typeface="Poppins"/>
                <a:sym typeface="Poppins"/>
              </a:rPr>
              <a:t>Fritz Pfleumer, en ingeniero alemán, patentó la cinta magnética en 1928.</a:t>
            </a:r>
            <a:endParaRPr b="0" i="0" sz="1400" u="none" cap="none" strike="noStrike">
              <a:solidFill>
                <a:srgbClr val="000000"/>
              </a:solidFill>
              <a:latin typeface="Arial"/>
              <a:ea typeface="Arial"/>
              <a:cs typeface="Arial"/>
              <a:sym typeface="Arial"/>
            </a:endParaRPr>
          </a:p>
          <a:p>
            <a:pPr indent="0" lvl="0" marL="0" marR="0" rtl="0" algn="just">
              <a:lnSpc>
                <a:spcPct val="118006"/>
              </a:lnSpc>
              <a:spcBef>
                <a:spcPts val="0"/>
              </a:spcBef>
              <a:spcAft>
                <a:spcPts val="0"/>
              </a:spcAft>
              <a:buClr>
                <a:srgbClr val="000000"/>
              </a:buClr>
              <a:buSzPts val="2699"/>
              <a:buFont typeface="Arial"/>
              <a:buNone/>
            </a:pPr>
            <a:r>
              <a:t/>
            </a:r>
            <a:endParaRPr b="0" i="0" sz="2699" u="none" cap="none" strike="noStrike">
              <a:solidFill>
                <a:srgbClr val="737373"/>
              </a:solidFill>
              <a:latin typeface="Poppins"/>
              <a:ea typeface="Poppins"/>
              <a:cs typeface="Poppins"/>
              <a:sym typeface="Poppins"/>
            </a:endParaRPr>
          </a:p>
          <a:p>
            <a:pPr indent="-291464" lvl="1" marL="582928" marR="0" rtl="0" algn="just">
              <a:lnSpc>
                <a:spcPct val="118006"/>
              </a:lnSpc>
              <a:spcBef>
                <a:spcPts val="0"/>
              </a:spcBef>
              <a:spcAft>
                <a:spcPts val="0"/>
              </a:spcAft>
              <a:buClr>
                <a:srgbClr val="737373"/>
              </a:buClr>
              <a:buSzPts val="2699"/>
              <a:buFont typeface="Arial"/>
              <a:buChar char="•"/>
            </a:pPr>
            <a:r>
              <a:rPr b="0" i="0" lang="en-US" sz="2699" u="none" cap="none" strike="noStrike">
                <a:solidFill>
                  <a:srgbClr val="737373"/>
                </a:solidFill>
                <a:latin typeface="Poppins"/>
                <a:ea typeface="Poppins"/>
                <a:cs typeface="Poppins"/>
                <a:sym typeface="Poppins"/>
              </a:rPr>
              <a:t>El profesor Fredrick C. Williams junto con Tom Kilburn, desarrollaron el tubo de Williams</a:t>
            </a:r>
            <a:endParaRPr b="0" i="0" sz="1400" u="none" cap="none" strike="noStrike">
              <a:solidFill>
                <a:srgbClr val="000000"/>
              </a:solidFill>
              <a:latin typeface="Arial"/>
              <a:ea typeface="Arial"/>
              <a:cs typeface="Arial"/>
              <a:sym typeface="Arial"/>
            </a:endParaRPr>
          </a:p>
          <a:p>
            <a:pPr indent="0" lvl="0" marL="0" marR="0" rtl="0" algn="just">
              <a:lnSpc>
                <a:spcPct val="118006"/>
              </a:lnSpc>
              <a:spcBef>
                <a:spcPts val="0"/>
              </a:spcBef>
              <a:spcAft>
                <a:spcPts val="0"/>
              </a:spcAft>
              <a:buClr>
                <a:srgbClr val="000000"/>
              </a:buClr>
              <a:buSzPts val="2699"/>
              <a:buFont typeface="Arial"/>
              <a:buNone/>
            </a:pPr>
            <a:r>
              <a:t/>
            </a:r>
            <a:endParaRPr b="0" i="0" sz="2699" u="none" cap="none" strike="noStrike">
              <a:solidFill>
                <a:srgbClr val="737373"/>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7"/>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159" name="Google Shape;159;p7"/>
          <p:cNvSpPr/>
          <p:nvPr/>
        </p:nvSpPr>
        <p:spPr>
          <a:xfrm rot="-2308677">
            <a:off x="9237581" y="2396877"/>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160" name="Google Shape;160;p7"/>
          <p:cNvGrpSpPr/>
          <p:nvPr/>
        </p:nvGrpSpPr>
        <p:grpSpPr>
          <a:xfrm rot="9869556">
            <a:off x="14431083" y="6569611"/>
            <a:ext cx="6482297" cy="6762426"/>
            <a:chOff x="0" y="0"/>
            <a:chExt cx="8643063" cy="9016568"/>
          </a:xfrm>
        </p:grpSpPr>
        <p:sp>
          <p:nvSpPr>
            <p:cNvPr id="161" name="Google Shape;161;p7"/>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162" name="Google Shape;162;p7"/>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163" name="Google Shape;163;p7"/>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164" name="Google Shape;164;p7"/>
          <p:cNvSpPr txBox="1"/>
          <p:nvPr/>
        </p:nvSpPr>
        <p:spPr>
          <a:xfrm>
            <a:off x="2829315" y="3368493"/>
            <a:ext cx="12613570" cy="49720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Esta es una de las funcionalidades básica de cualquier computadora o dispositivo cuya funcionalidad sea la manipulación de información.</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El almacenamiento de información en todo este tipo de dispositivos se puede clasificar en 2 tipos los cuales son:</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a:p>
            <a:pPr indent="-323850" lvl="1" marL="647700" marR="0" rtl="0" algn="just">
              <a:lnSpc>
                <a:spcPct val="130000"/>
              </a:lnSpc>
              <a:spcBef>
                <a:spcPts val="0"/>
              </a:spcBef>
              <a:spcAft>
                <a:spcPts val="0"/>
              </a:spcAft>
              <a:buClr>
                <a:srgbClr val="737373"/>
              </a:buClr>
              <a:buSzPts val="3000"/>
              <a:buFont typeface="Arial"/>
              <a:buChar char="•"/>
            </a:pPr>
            <a:r>
              <a:rPr b="0" i="0" lang="en-US" sz="3000" u="none" cap="none" strike="noStrike">
                <a:solidFill>
                  <a:srgbClr val="737373"/>
                </a:solidFill>
                <a:latin typeface="Poppins"/>
                <a:ea typeface="Poppins"/>
                <a:cs typeface="Poppins"/>
                <a:sym typeface="Poppins"/>
              </a:rPr>
              <a:t>Almacenamiento Primario </a:t>
            </a:r>
            <a:endParaRPr b="0" i="0" sz="1400" u="none" cap="none" strike="noStrike">
              <a:solidFill>
                <a:srgbClr val="000000"/>
              </a:solidFill>
              <a:latin typeface="Arial"/>
              <a:ea typeface="Arial"/>
              <a:cs typeface="Arial"/>
              <a:sym typeface="Arial"/>
            </a:endParaRPr>
          </a:p>
          <a:p>
            <a:pPr indent="-323850" lvl="1" marL="647700" marR="0" rtl="0" algn="just">
              <a:lnSpc>
                <a:spcPct val="130000"/>
              </a:lnSpc>
              <a:spcBef>
                <a:spcPts val="0"/>
              </a:spcBef>
              <a:spcAft>
                <a:spcPts val="0"/>
              </a:spcAft>
              <a:buClr>
                <a:srgbClr val="737373"/>
              </a:buClr>
              <a:buSzPts val="3000"/>
              <a:buFont typeface="Arial"/>
              <a:buChar char="•"/>
            </a:pPr>
            <a:r>
              <a:rPr b="0" i="0" lang="en-US" sz="3000" u="none" cap="none" strike="noStrike">
                <a:solidFill>
                  <a:srgbClr val="737373"/>
                </a:solidFill>
                <a:latin typeface="Poppins"/>
                <a:ea typeface="Poppins"/>
                <a:cs typeface="Poppins"/>
                <a:sym typeface="Poppins"/>
              </a:rPr>
              <a:t>Almacenamiento Secundario </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p:txBody>
      </p:sp>
      <p:sp>
        <p:nvSpPr>
          <p:cNvPr id="165" name="Google Shape;165;p7"/>
          <p:cNvSpPr/>
          <p:nvPr/>
        </p:nvSpPr>
        <p:spPr>
          <a:xfrm>
            <a:off x="14916895" y="5883093"/>
            <a:ext cx="3143707" cy="4114800"/>
          </a:xfrm>
          <a:custGeom>
            <a:rect b="b" l="l" r="r" t="t"/>
            <a:pathLst>
              <a:path extrusionOk="0" h="4114800" w="3143707">
                <a:moveTo>
                  <a:pt x="0" y="0"/>
                </a:moveTo>
                <a:lnTo>
                  <a:pt x="3143707" y="0"/>
                </a:lnTo>
                <a:lnTo>
                  <a:pt x="3143707" y="4114800"/>
                </a:lnTo>
                <a:lnTo>
                  <a:pt x="0" y="4114800"/>
                </a:lnTo>
                <a:lnTo>
                  <a:pt x="0" y="0"/>
                </a:lnTo>
                <a:close/>
              </a:path>
            </a:pathLst>
          </a:custGeom>
          <a:blipFill rotWithShape="1">
            <a:blip r:embed="rId7">
              <a:alphaModFix/>
            </a:blip>
            <a:stretch>
              <a:fillRect b="0" l="0" r="0" t="0"/>
            </a:stretch>
          </a:blipFill>
          <a:ln>
            <a:noFill/>
          </a:ln>
        </p:spPr>
      </p:sp>
      <p:sp>
        <p:nvSpPr>
          <p:cNvPr id="166" name="Google Shape;166;p7"/>
          <p:cNvSpPr txBox="1"/>
          <p:nvPr/>
        </p:nvSpPr>
        <p:spPr>
          <a:xfrm>
            <a:off x="3686177" y="1673089"/>
            <a:ext cx="10915646"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Almacenamiento de Información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8"/>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172" name="Google Shape;172;p8"/>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173" name="Google Shape;173;p8"/>
          <p:cNvGrpSpPr/>
          <p:nvPr/>
        </p:nvGrpSpPr>
        <p:grpSpPr>
          <a:xfrm rot="9869556">
            <a:off x="14431083" y="6569611"/>
            <a:ext cx="6482297" cy="6762426"/>
            <a:chOff x="0" y="0"/>
            <a:chExt cx="8643063" cy="9016568"/>
          </a:xfrm>
        </p:grpSpPr>
        <p:sp>
          <p:nvSpPr>
            <p:cNvPr id="174" name="Google Shape;174;p8"/>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175" name="Google Shape;175;p8"/>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176" name="Google Shape;176;p8"/>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177" name="Google Shape;177;p8"/>
          <p:cNvSpPr txBox="1"/>
          <p:nvPr/>
        </p:nvSpPr>
        <p:spPr>
          <a:xfrm>
            <a:off x="3451366" y="1751927"/>
            <a:ext cx="10915646"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Almacenamiento Primario</a:t>
            </a:r>
            <a:endParaRPr b="0" i="0" sz="1400" u="none" cap="none" strike="noStrike">
              <a:solidFill>
                <a:srgbClr val="000000"/>
              </a:solidFill>
              <a:latin typeface="Arial"/>
              <a:ea typeface="Arial"/>
              <a:cs typeface="Arial"/>
              <a:sym typeface="Arial"/>
            </a:endParaRPr>
          </a:p>
        </p:txBody>
      </p:sp>
      <p:sp>
        <p:nvSpPr>
          <p:cNvPr id="178" name="Google Shape;178;p8"/>
          <p:cNvSpPr txBox="1"/>
          <p:nvPr/>
        </p:nvSpPr>
        <p:spPr>
          <a:xfrm>
            <a:off x="2394032" y="3311538"/>
            <a:ext cx="13030200" cy="58644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Tal y como su nombre lo indica este es </a:t>
            </a:r>
            <a:r>
              <a:rPr b="1" i="0" lang="en-US" sz="3000" u="none" cap="none" strike="noStrike">
                <a:solidFill>
                  <a:srgbClr val="737373"/>
                </a:solidFill>
                <a:latin typeface="Poppins"/>
                <a:ea typeface="Poppins"/>
                <a:cs typeface="Poppins"/>
                <a:sym typeface="Poppins"/>
              </a:rPr>
              <a:t>almacenamiento principal</a:t>
            </a:r>
            <a:r>
              <a:rPr b="0" i="0" lang="en-US" sz="3000" u="none" cap="none" strike="noStrike">
                <a:solidFill>
                  <a:srgbClr val="737373"/>
                </a:solidFill>
                <a:latin typeface="Poppins"/>
                <a:ea typeface="Poppins"/>
                <a:cs typeface="Poppins"/>
                <a:sym typeface="Poppins"/>
              </a:rPr>
              <a:t> que utiliza el sistema para llevar a cabo su funcionamiento.</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Este tipo de dispositivos se caracterizan que todos los datos almacenados son volátiles sin embargo la velocidad de escritura y lectura es muy alta. </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La </a:t>
            </a:r>
            <a:r>
              <a:rPr lang="en-US" sz="3000">
                <a:solidFill>
                  <a:srgbClr val="737373"/>
                </a:solidFill>
                <a:latin typeface="Poppins"/>
                <a:ea typeface="Poppins"/>
                <a:cs typeface="Poppins"/>
                <a:sym typeface="Poppins"/>
              </a:rPr>
              <a:t>volatilidad</a:t>
            </a:r>
            <a:r>
              <a:rPr b="0" i="0" lang="en-US" sz="3000" u="none" cap="none" strike="noStrike">
                <a:solidFill>
                  <a:srgbClr val="737373"/>
                </a:solidFill>
                <a:latin typeface="Poppins"/>
                <a:ea typeface="Poppins"/>
                <a:cs typeface="Poppins"/>
                <a:sym typeface="Poppins"/>
              </a:rPr>
              <a:t> nos indica que solo estará present</a:t>
            </a:r>
            <a:r>
              <a:rPr lang="en-US" sz="3000">
                <a:solidFill>
                  <a:srgbClr val="737373"/>
                </a:solidFill>
                <a:latin typeface="Poppins"/>
                <a:ea typeface="Poppins"/>
                <a:cs typeface="Poppins"/>
                <a:sym typeface="Poppins"/>
              </a:rPr>
              <a:t>e</a:t>
            </a:r>
            <a:r>
              <a:rPr b="0" i="0" lang="en-US" sz="3000" u="none" cap="none" strike="noStrike">
                <a:solidFill>
                  <a:srgbClr val="737373"/>
                </a:solidFill>
                <a:latin typeface="Poppins"/>
                <a:ea typeface="Poppins"/>
                <a:cs typeface="Poppins"/>
                <a:sym typeface="Poppins"/>
              </a:rPr>
              <a:t> mientras el dispositivo cuente con una fuente de electricidad que lo alimente</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9"/>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184" name="Google Shape;184;p9"/>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185" name="Google Shape;185;p9"/>
          <p:cNvGrpSpPr/>
          <p:nvPr/>
        </p:nvGrpSpPr>
        <p:grpSpPr>
          <a:xfrm rot="9869556">
            <a:off x="14431083" y="6569611"/>
            <a:ext cx="6482297" cy="6762426"/>
            <a:chOff x="0" y="0"/>
            <a:chExt cx="8643063" cy="9016568"/>
          </a:xfrm>
        </p:grpSpPr>
        <p:sp>
          <p:nvSpPr>
            <p:cNvPr id="186" name="Google Shape;186;p9"/>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187" name="Google Shape;187;p9"/>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188" name="Google Shape;188;p9"/>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189" name="Google Shape;189;p9"/>
          <p:cNvSpPr/>
          <p:nvPr/>
        </p:nvSpPr>
        <p:spPr>
          <a:xfrm>
            <a:off x="11777923" y="6374488"/>
            <a:ext cx="6101621" cy="3432162"/>
          </a:xfrm>
          <a:custGeom>
            <a:rect b="b" l="l" r="r" t="t"/>
            <a:pathLst>
              <a:path extrusionOk="0" h="3432162" w="6101621">
                <a:moveTo>
                  <a:pt x="0" y="0"/>
                </a:moveTo>
                <a:lnTo>
                  <a:pt x="6101621" y="0"/>
                </a:lnTo>
                <a:lnTo>
                  <a:pt x="6101621" y="3432161"/>
                </a:lnTo>
                <a:lnTo>
                  <a:pt x="0" y="3432161"/>
                </a:lnTo>
                <a:lnTo>
                  <a:pt x="0" y="0"/>
                </a:lnTo>
                <a:close/>
              </a:path>
            </a:pathLst>
          </a:custGeom>
          <a:blipFill rotWithShape="1">
            <a:blip r:embed="rId7">
              <a:alphaModFix/>
            </a:blip>
            <a:stretch>
              <a:fillRect b="0" l="0" r="0" t="0"/>
            </a:stretch>
          </a:blipFill>
          <a:ln>
            <a:noFill/>
          </a:ln>
        </p:spPr>
      </p:sp>
      <p:sp>
        <p:nvSpPr>
          <p:cNvPr id="190" name="Google Shape;190;p9"/>
          <p:cNvSpPr txBox="1"/>
          <p:nvPr/>
        </p:nvSpPr>
        <p:spPr>
          <a:xfrm>
            <a:off x="3443466" y="2816222"/>
            <a:ext cx="11385267" cy="44767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Su principal función es almacenar toda aquella información de importancia para el sistema, de esta manera reducir los accesos al almacenamiento secundario lo cual ralentizaría los procesos.</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Ejemplo:</a:t>
            </a:r>
            <a:endParaRPr b="0" i="0" sz="1400" u="none" cap="none" strike="noStrike">
              <a:solidFill>
                <a:srgbClr val="000000"/>
              </a:solidFill>
              <a:latin typeface="Arial"/>
              <a:ea typeface="Arial"/>
              <a:cs typeface="Arial"/>
              <a:sym typeface="Arial"/>
            </a:endParaRPr>
          </a:p>
          <a:p>
            <a:pPr indent="-323850" lvl="1" marL="647700" marR="0" rtl="0" algn="just">
              <a:lnSpc>
                <a:spcPct val="130000"/>
              </a:lnSpc>
              <a:spcBef>
                <a:spcPts val="0"/>
              </a:spcBef>
              <a:spcAft>
                <a:spcPts val="0"/>
              </a:spcAft>
              <a:buClr>
                <a:srgbClr val="737373"/>
              </a:buClr>
              <a:buSzPts val="3000"/>
              <a:buFont typeface="Arial"/>
              <a:buChar char="•"/>
            </a:pPr>
            <a:r>
              <a:rPr b="0" i="0" lang="en-US" sz="3000" u="none" cap="none" strike="noStrike">
                <a:solidFill>
                  <a:srgbClr val="737373"/>
                </a:solidFill>
                <a:latin typeface="Poppins"/>
                <a:ea typeface="Poppins"/>
                <a:cs typeface="Poppins"/>
                <a:sym typeface="Poppins"/>
              </a:rPr>
              <a:t>RAM</a:t>
            </a:r>
            <a:endParaRPr b="0" i="0" sz="1400" u="none" cap="none" strike="noStrike">
              <a:solidFill>
                <a:srgbClr val="000000"/>
              </a:solidFill>
              <a:latin typeface="Arial"/>
              <a:ea typeface="Arial"/>
              <a:cs typeface="Arial"/>
              <a:sym typeface="Arial"/>
            </a:endParaRPr>
          </a:p>
          <a:p>
            <a:pPr indent="-323850" lvl="1" marL="647700" marR="0" rtl="0" algn="just">
              <a:lnSpc>
                <a:spcPct val="130000"/>
              </a:lnSpc>
              <a:spcBef>
                <a:spcPts val="0"/>
              </a:spcBef>
              <a:spcAft>
                <a:spcPts val="0"/>
              </a:spcAft>
              <a:buClr>
                <a:srgbClr val="737373"/>
              </a:buClr>
              <a:buSzPts val="3000"/>
              <a:buFont typeface="Arial"/>
              <a:buChar char="•"/>
            </a:pPr>
            <a:r>
              <a:rPr b="0" i="0" lang="en-US" sz="3000" u="none" cap="none" strike="noStrike">
                <a:solidFill>
                  <a:srgbClr val="737373"/>
                </a:solidFill>
                <a:latin typeface="Poppins"/>
                <a:ea typeface="Poppins"/>
                <a:cs typeface="Poppins"/>
                <a:sym typeface="Poppins"/>
              </a:rPr>
              <a:t>ROM</a:t>
            </a:r>
            <a:endParaRPr b="0" i="0" sz="1400" u="none" cap="none" strike="noStrike">
              <a:solidFill>
                <a:srgbClr val="000000"/>
              </a:solidFill>
              <a:latin typeface="Arial"/>
              <a:ea typeface="Arial"/>
              <a:cs typeface="Arial"/>
              <a:sym typeface="Arial"/>
            </a:endParaRPr>
          </a:p>
          <a:p>
            <a:pPr indent="-323850" lvl="1" marL="647700" marR="0" rtl="0" algn="just">
              <a:lnSpc>
                <a:spcPct val="130000"/>
              </a:lnSpc>
              <a:spcBef>
                <a:spcPts val="0"/>
              </a:spcBef>
              <a:spcAft>
                <a:spcPts val="0"/>
              </a:spcAft>
              <a:buClr>
                <a:srgbClr val="737373"/>
              </a:buClr>
              <a:buSzPts val="3000"/>
              <a:buFont typeface="Arial"/>
              <a:buChar char="•"/>
            </a:pPr>
            <a:r>
              <a:rPr b="0" i="0" lang="en-US" sz="3000" u="none" cap="none" strike="noStrike">
                <a:solidFill>
                  <a:srgbClr val="737373"/>
                </a:solidFill>
                <a:latin typeface="Poppins"/>
                <a:ea typeface="Poppins"/>
                <a:cs typeface="Poppins"/>
                <a:sym typeface="Poppins"/>
              </a:rPr>
              <a:t>Memoria Cache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0"/>
          <p:cNvSpPr/>
          <p:nvPr/>
        </p:nvSpPr>
        <p:spPr>
          <a:xfrm>
            <a:off x="-91581" y="-184968"/>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196" name="Google Shape;196;p10"/>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197" name="Google Shape;197;p10"/>
          <p:cNvGrpSpPr/>
          <p:nvPr/>
        </p:nvGrpSpPr>
        <p:grpSpPr>
          <a:xfrm rot="9869556">
            <a:off x="14431083" y="6569611"/>
            <a:ext cx="6482297" cy="6762426"/>
            <a:chOff x="0" y="0"/>
            <a:chExt cx="8643063" cy="9016568"/>
          </a:xfrm>
        </p:grpSpPr>
        <p:sp>
          <p:nvSpPr>
            <p:cNvPr id="198" name="Google Shape;198;p10"/>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199" name="Google Shape;199;p10"/>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200" name="Google Shape;200;p10"/>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01" name="Google Shape;201;p10"/>
          <p:cNvSpPr txBox="1"/>
          <p:nvPr/>
        </p:nvSpPr>
        <p:spPr>
          <a:xfrm>
            <a:off x="3747388" y="3045939"/>
            <a:ext cx="10915646" cy="123825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Almacenamiento Primario </a:t>
            </a:r>
            <a:endParaRPr b="0" i="0" sz="1400" u="none" cap="none" strike="noStrike">
              <a:solidFill>
                <a:srgbClr val="000000"/>
              </a:solidFill>
              <a:latin typeface="Arial"/>
              <a:ea typeface="Arial"/>
              <a:cs typeface="Arial"/>
              <a:sym typeface="Arial"/>
            </a:endParaRPr>
          </a:p>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RAM</a:t>
            </a:r>
            <a:endParaRPr b="0" i="0" sz="1400" u="none" cap="none" strike="noStrike">
              <a:solidFill>
                <a:srgbClr val="000000"/>
              </a:solidFill>
              <a:latin typeface="Arial"/>
              <a:ea typeface="Arial"/>
              <a:cs typeface="Arial"/>
              <a:sym typeface="Arial"/>
            </a:endParaRPr>
          </a:p>
        </p:txBody>
      </p:sp>
      <p:sp>
        <p:nvSpPr>
          <p:cNvPr id="202" name="Google Shape;202;p10"/>
          <p:cNvSpPr txBox="1"/>
          <p:nvPr/>
        </p:nvSpPr>
        <p:spPr>
          <a:xfrm>
            <a:off x="2727545" y="5327545"/>
            <a:ext cx="12832910" cy="24955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Este dispositivo es donde se almacenan de forma temporal los datos de los programas que estás utilizando en este momento.</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La memoria RAM se puede encontrar en casi cualquier dispositivo, desde ordenadores de sobremesa hasta teléfonos móviles.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1"/>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208" name="Google Shape;208;p11"/>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209" name="Google Shape;209;p11"/>
          <p:cNvGrpSpPr/>
          <p:nvPr/>
        </p:nvGrpSpPr>
        <p:grpSpPr>
          <a:xfrm rot="9869556">
            <a:off x="14431083" y="6569611"/>
            <a:ext cx="6482297" cy="6762426"/>
            <a:chOff x="0" y="0"/>
            <a:chExt cx="8643063" cy="9016568"/>
          </a:xfrm>
        </p:grpSpPr>
        <p:sp>
          <p:nvSpPr>
            <p:cNvPr id="210" name="Google Shape;210;p11"/>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211" name="Google Shape;211;p11"/>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212" name="Google Shape;212;p11"/>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13" name="Google Shape;213;p11"/>
          <p:cNvSpPr txBox="1"/>
          <p:nvPr/>
        </p:nvSpPr>
        <p:spPr>
          <a:xfrm>
            <a:off x="3443466" y="2816222"/>
            <a:ext cx="11385267" cy="39814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Algunas de sus principales características que la diferencian del resto de tipos de almacenamiento. Por una parte tiene una </a:t>
            </a:r>
            <a:r>
              <a:rPr b="1" i="0" lang="en-US" sz="3000" u="none" cap="none" strike="noStrike">
                <a:solidFill>
                  <a:srgbClr val="737373"/>
                </a:solidFill>
                <a:latin typeface="Poppins"/>
                <a:ea typeface="Poppins"/>
                <a:cs typeface="Poppins"/>
                <a:sym typeface="Poppins"/>
              </a:rPr>
              <a:t>enorme velocidad</a:t>
            </a:r>
            <a:r>
              <a:rPr b="0" i="0" lang="en-US" sz="3000" u="none" cap="none" strike="noStrike">
                <a:solidFill>
                  <a:srgbClr val="737373"/>
                </a:solidFill>
                <a:latin typeface="Poppins"/>
                <a:ea typeface="Poppins"/>
                <a:cs typeface="Poppins"/>
                <a:sym typeface="Poppins"/>
              </a:rPr>
              <a:t>, y por otra los datos sólo se </a:t>
            </a:r>
            <a:r>
              <a:rPr b="1" i="0" lang="en-US" sz="3000" u="none" cap="none" strike="noStrike">
                <a:solidFill>
                  <a:srgbClr val="737373"/>
                </a:solidFill>
                <a:latin typeface="Poppins"/>
                <a:ea typeface="Poppins"/>
                <a:cs typeface="Poppins"/>
                <a:sym typeface="Poppins"/>
              </a:rPr>
              <a:t>almacenan de forma temporal</a:t>
            </a:r>
            <a:r>
              <a:rPr b="0" i="0" lang="en-US" sz="3000" u="none" cap="none" strike="noStrike">
                <a:solidFill>
                  <a:srgbClr val="737373"/>
                </a:solidFill>
                <a:latin typeface="Poppins"/>
                <a:ea typeface="Poppins"/>
                <a:cs typeface="Poppins"/>
                <a:sym typeface="Poppins"/>
              </a:rPr>
              <a:t>. </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Esto quiere decir que cada vez que reinicies o apagues tu ordenador, lo normal es que los datos que haya almacenados en la RAM se pierdan</a:t>
            </a:r>
            <a:endParaRPr b="0" i="0" sz="1400" u="none" cap="none" strike="noStrike">
              <a:solidFill>
                <a:srgbClr val="000000"/>
              </a:solidFill>
              <a:latin typeface="Arial"/>
              <a:ea typeface="Arial"/>
              <a:cs typeface="Arial"/>
              <a:sym typeface="Arial"/>
            </a:endParaRPr>
          </a:p>
        </p:txBody>
      </p:sp>
      <p:sp>
        <p:nvSpPr>
          <p:cNvPr id="214" name="Google Shape;214;p11"/>
          <p:cNvSpPr/>
          <p:nvPr/>
        </p:nvSpPr>
        <p:spPr>
          <a:xfrm>
            <a:off x="13388021" y="6950677"/>
            <a:ext cx="4618165" cy="2990262"/>
          </a:xfrm>
          <a:custGeom>
            <a:rect b="b" l="l" r="r" t="t"/>
            <a:pathLst>
              <a:path extrusionOk="0" h="2990262" w="4618165">
                <a:moveTo>
                  <a:pt x="0" y="0"/>
                </a:moveTo>
                <a:lnTo>
                  <a:pt x="4618164" y="0"/>
                </a:lnTo>
                <a:lnTo>
                  <a:pt x="4618164" y="2990261"/>
                </a:lnTo>
                <a:lnTo>
                  <a:pt x="0" y="2990261"/>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2"/>
          <p:cNvSpPr/>
          <p:nvPr/>
        </p:nvSpPr>
        <p:spPr>
          <a:xfrm>
            <a:off x="-72531" y="-184968"/>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220" name="Google Shape;220;p12"/>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221" name="Google Shape;221;p12"/>
          <p:cNvGrpSpPr/>
          <p:nvPr/>
        </p:nvGrpSpPr>
        <p:grpSpPr>
          <a:xfrm rot="9869556">
            <a:off x="14431083" y="6569611"/>
            <a:ext cx="6482297" cy="6762426"/>
            <a:chOff x="0" y="0"/>
            <a:chExt cx="8643063" cy="9016568"/>
          </a:xfrm>
        </p:grpSpPr>
        <p:sp>
          <p:nvSpPr>
            <p:cNvPr id="222" name="Google Shape;222;p12"/>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223" name="Google Shape;223;p12"/>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224" name="Google Shape;224;p12"/>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25" name="Google Shape;225;p12"/>
          <p:cNvSpPr txBox="1"/>
          <p:nvPr/>
        </p:nvSpPr>
        <p:spPr>
          <a:xfrm>
            <a:off x="3525164" y="3015976"/>
            <a:ext cx="10915646" cy="123825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Almacenamiento Primario </a:t>
            </a:r>
            <a:endParaRPr b="0" i="0" sz="1400" u="none" cap="none" strike="noStrike">
              <a:solidFill>
                <a:srgbClr val="000000"/>
              </a:solidFill>
              <a:latin typeface="Arial"/>
              <a:ea typeface="Arial"/>
              <a:cs typeface="Arial"/>
              <a:sym typeface="Arial"/>
            </a:endParaRPr>
          </a:p>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Memorias Caché</a:t>
            </a:r>
            <a:endParaRPr b="0" i="0" sz="1400" u="none" cap="none" strike="noStrike">
              <a:solidFill>
                <a:srgbClr val="000000"/>
              </a:solidFill>
              <a:latin typeface="Arial"/>
              <a:ea typeface="Arial"/>
              <a:cs typeface="Arial"/>
              <a:sym typeface="Arial"/>
            </a:endParaRPr>
          </a:p>
        </p:txBody>
      </p:sp>
      <p:sp>
        <p:nvSpPr>
          <p:cNvPr id="226" name="Google Shape;226;p12"/>
          <p:cNvSpPr txBox="1"/>
          <p:nvPr/>
        </p:nvSpPr>
        <p:spPr>
          <a:xfrm>
            <a:off x="2391061" y="5086350"/>
            <a:ext cx="13183853" cy="20002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Estos son pequeños dispositivos cuya función es almacenar temporalmente datos </a:t>
            </a:r>
            <a:r>
              <a:rPr b="1" i="0" lang="en-US" sz="3000" u="none" cap="none" strike="noStrike">
                <a:solidFill>
                  <a:srgbClr val="737373"/>
                </a:solidFill>
                <a:latin typeface="Poppins"/>
                <a:ea typeface="Poppins"/>
                <a:cs typeface="Poppins"/>
                <a:sym typeface="Poppins"/>
              </a:rPr>
              <a:t>recientemente procesados</a:t>
            </a:r>
            <a:r>
              <a:rPr b="0" i="0" lang="en-US" sz="3000" u="none" cap="none" strike="noStrike">
                <a:solidFill>
                  <a:srgbClr val="737373"/>
                </a:solidFill>
                <a:latin typeface="Poppins"/>
                <a:ea typeface="Poppins"/>
                <a:cs typeface="Poppins"/>
                <a:sym typeface="Poppins"/>
              </a:rPr>
              <a:t> en una memoria auxiliar. También son conocidos como memoria estática de acceso aleatorio SRAM son muy veloces, suelen ubicarse cerca del CPU.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3"/>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232" name="Google Shape;232;p13"/>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233" name="Google Shape;233;p13"/>
          <p:cNvGrpSpPr/>
          <p:nvPr/>
        </p:nvGrpSpPr>
        <p:grpSpPr>
          <a:xfrm rot="9869556">
            <a:off x="14431083" y="6569611"/>
            <a:ext cx="6482297" cy="6762426"/>
            <a:chOff x="0" y="0"/>
            <a:chExt cx="8643063" cy="9016568"/>
          </a:xfrm>
        </p:grpSpPr>
        <p:sp>
          <p:nvSpPr>
            <p:cNvPr id="234" name="Google Shape;234;p13"/>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235" name="Google Shape;235;p13"/>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236" name="Google Shape;236;p13"/>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37" name="Google Shape;237;p13"/>
          <p:cNvSpPr/>
          <p:nvPr/>
        </p:nvSpPr>
        <p:spPr>
          <a:xfrm>
            <a:off x="12867333" y="6596274"/>
            <a:ext cx="5031824" cy="3354550"/>
          </a:xfrm>
          <a:custGeom>
            <a:rect b="b" l="l" r="r" t="t"/>
            <a:pathLst>
              <a:path extrusionOk="0" h="3354550" w="5031824">
                <a:moveTo>
                  <a:pt x="0" y="0"/>
                </a:moveTo>
                <a:lnTo>
                  <a:pt x="5031824" y="0"/>
                </a:lnTo>
                <a:lnTo>
                  <a:pt x="5031824" y="3354550"/>
                </a:lnTo>
                <a:lnTo>
                  <a:pt x="0" y="3354550"/>
                </a:lnTo>
                <a:lnTo>
                  <a:pt x="0" y="0"/>
                </a:lnTo>
                <a:close/>
              </a:path>
            </a:pathLst>
          </a:custGeom>
          <a:blipFill rotWithShape="1">
            <a:blip r:embed="rId7">
              <a:alphaModFix/>
            </a:blip>
            <a:stretch>
              <a:fillRect b="0" l="0" r="0" t="0"/>
            </a:stretch>
          </a:blipFill>
          <a:ln>
            <a:noFill/>
          </a:ln>
        </p:spPr>
      </p:sp>
      <p:sp>
        <p:nvSpPr>
          <p:cNvPr id="238" name="Google Shape;238;p13"/>
          <p:cNvSpPr txBox="1"/>
          <p:nvPr/>
        </p:nvSpPr>
        <p:spPr>
          <a:xfrm>
            <a:off x="3443466" y="2816222"/>
            <a:ext cx="11385267" cy="34861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Pese a su poca capacidad de almacenamiento son de suma importancia para almacenar datos o instrucciones que la CPU va a necesitar en un futuro inmediato, de esta manera que se gana velocidad en la ejecución de procesos, evitando que la CPU tenga que esperar por mucho tiempo de esa manera se aumenta el rendimiento del equipo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4"/>
          <p:cNvSpPr/>
          <p:nvPr/>
        </p:nvSpPr>
        <p:spPr>
          <a:xfrm>
            <a:off x="0" y="-184968"/>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244" name="Google Shape;244;p14"/>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245" name="Google Shape;245;p14"/>
          <p:cNvGrpSpPr/>
          <p:nvPr/>
        </p:nvGrpSpPr>
        <p:grpSpPr>
          <a:xfrm rot="9869556">
            <a:off x="14431083" y="6569611"/>
            <a:ext cx="6482297" cy="6762426"/>
            <a:chOff x="0" y="0"/>
            <a:chExt cx="8643063" cy="9016568"/>
          </a:xfrm>
        </p:grpSpPr>
        <p:sp>
          <p:nvSpPr>
            <p:cNvPr id="246" name="Google Shape;246;p14"/>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247" name="Google Shape;247;p14"/>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248" name="Google Shape;248;p14"/>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49" name="Google Shape;249;p14"/>
          <p:cNvSpPr txBox="1"/>
          <p:nvPr/>
        </p:nvSpPr>
        <p:spPr>
          <a:xfrm>
            <a:off x="3686177" y="3456863"/>
            <a:ext cx="10915646"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Almacenamiento Primario </a:t>
            </a:r>
            <a:endParaRPr b="0" i="0" sz="1400" u="none" cap="none" strike="noStrike">
              <a:solidFill>
                <a:srgbClr val="000000"/>
              </a:solidFill>
              <a:latin typeface="Arial"/>
              <a:ea typeface="Arial"/>
              <a:cs typeface="Arial"/>
              <a:sym typeface="Arial"/>
            </a:endParaRPr>
          </a:p>
        </p:txBody>
      </p:sp>
      <p:sp>
        <p:nvSpPr>
          <p:cNvPr id="250" name="Google Shape;250;p14"/>
          <p:cNvSpPr txBox="1"/>
          <p:nvPr/>
        </p:nvSpPr>
        <p:spPr>
          <a:xfrm>
            <a:off x="1425541"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Ventajas</a:t>
            </a:r>
            <a:endParaRPr b="0" i="0" sz="1400" u="none" cap="none" strike="noStrike">
              <a:solidFill>
                <a:srgbClr val="000000"/>
              </a:solidFill>
              <a:latin typeface="Arial"/>
              <a:ea typeface="Arial"/>
              <a:cs typeface="Arial"/>
              <a:sym typeface="Arial"/>
            </a:endParaRPr>
          </a:p>
        </p:txBody>
      </p:sp>
      <p:sp>
        <p:nvSpPr>
          <p:cNvPr id="251" name="Google Shape;251;p14"/>
          <p:cNvSpPr txBox="1"/>
          <p:nvPr/>
        </p:nvSpPr>
        <p:spPr>
          <a:xfrm>
            <a:off x="9199940"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Desventajas</a:t>
            </a:r>
            <a:endParaRPr b="0" i="0" sz="1400" u="none" cap="none" strike="noStrike">
              <a:solidFill>
                <a:srgbClr val="000000"/>
              </a:solidFill>
              <a:latin typeface="Arial"/>
              <a:ea typeface="Arial"/>
              <a:cs typeface="Arial"/>
              <a:sym typeface="Arial"/>
            </a:endParaRPr>
          </a:p>
        </p:txBody>
      </p:sp>
      <p:sp>
        <p:nvSpPr>
          <p:cNvPr id="252" name="Google Shape;252;p14"/>
          <p:cNvSpPr txBox="1"/>
          <p:nvPr/>
        </p:nvSpPr>
        <p:spPr>
          <a:xfrm>
            <a:off x="1425541" y="6740460"/>
            <a:ext cx="11385267" cy="86233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Alta velocidad de escritura y lectura </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2600"/>
              <a:buFont typeface="Arial"/>
              <a:buNone/>
            </a:pPr>
            <a:r>
              <a:t/>
            </a:r>
            <a:endParaRPr b="0" i="0" sz="2600" u="none" cap="none" strike="noStrike">
              <a:solidFill>
                <a:srgbClr val="737373"/>
              </a:solidFill>
              <a:latin typeface="Poppins"/>
              <a:ea typeface="Poppins"/>
              <a:cs typeface="Poppins"/>
              <a:sym typeface="Poppins"/>
            </a:endParaRPr>
          </a:p>
        </p:txBody>
      </p:sp>
      <p:sp>
        <p:nvSpPr>
          <p:cNvPr id="253" name="Google Shape;253;p14"/>
          <p:cNvSpPr txBox="1"/>
          <p:nvPr/>
        </p:nvSpPr>
        <p:spPr>
          <a:xfrm>
            <a:off x="9649643" y="6882052"/>
            <a:ext cx="11385267" cy="86233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Poca capacidad de almacenamiento </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Información volátil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5"/>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grpSp>
        <p:nvGrpSpPr>
          <p:cNvPr id="259" name="Google Shape;259;p15"/>
          <p:cNvGrpSpPr/>
          <p:nvPr/>
        </p:nvGrpSpPr>
        <p:grpSpPr>
          <a:xfrm>
            <a:off x="-1722197" y="-3678699"/>
            <a:ext cx="6482297" cy="6762426"/>
            <a:chOff x="0" y="0"/>
            <a:chExt cx="8643063" cy="9016568"/>
          </a:xfrm>
        </p:grpSpPr>
        <p:sp>
          <p:nvSpPr>
            <p:cNvPr id="260" name="Google Shape;260;p15"/>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3">
                <a:alphaModFix/>
              </a:blip>
              <a:stretch>
                <a:fillRect b="0" l="0" r="0" t="0"/>
              </a:stretch>
            </a:blipFill>
            <a:ln>
              <a:noFill/>
            </a:ln>
          </p:spPr>
        </p:sp>
        <p:sp>
          <p:nvSpPr>
            <p:cNvPr id="261" name="Google Shape;261;p15"/>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4">
                <a:alphaModFix/>
              </a:blip>
              <a:stretch>
                <a:fillRect b="0" l="0" r="0" t="0"/>
              </a:stretch>
            </a:blipFill>
            <a:ln>
              <a:noFill/>
            </a:ln>
          </p:spPr>
        </p:sp>
      </p:grpSp>
      <p:sp>
        <p:nvSpPr>
          <p:cNvPr id="262" name="Google Shape;262;p15"/>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5">
              <a:alphaModFix amt="6999"/>
            </a:blip>
            <a:stretch>
              <a:fillRect b="0" l="0" r="0" t="0"/>
            </a:stretch>
          </a:blipFill>
          <a:ln>
            <a:noFill/>
          </a:ln>
        </p:spPr>
      </p:sp>
      <p:sp>
        <p:nvSpPr>
          <p:cNvPr id="263" name="Google Shape;263;p15"/>
          <p:cNvSpPr/>
          <p:nvPr/>
        </p:nvSpPr>
        <p:spPr>
          <a:xfrm>
            <a:off x="17981351" y="9071880"/>
            <a:ext cx="322049" cy="1215120"/>
          </a:xfrm>
          <a:custGeom>
            <a:rect b="b" l="l" r="r" t="t"/>
            <a:pathLst>
              <a:path extrusionOk="0" h="754960" w="200091">
                <a:moveTo>
                  <a:pt x="0" y="0"/>
                </a:moveTo>
                <a:lnTo>
                  <a:pt x="200091" y="0"/>
                </a:lnTo>
                <a:lnTo>
                  <a:pt x="200091" y="754960"/>
                </a:lnTo>
                <a:lnTo>
                  <a:pt x="0" y="754960"/>
                </a:lnTo>
                <a:close/>
              </a:path>
            </a:pathLst>
          </a:custGeom>
          <a:solidFill>
            <a:srgbClr val="1B4A9B"/>
          </a:solidFill>
          <a:ln>
            <a:noFill/>
          </a:ln>
        </p:spPr>
      </p:sp>
      <p:sp>
        <p:nvSpPr>
          <p:cNvPr id="264" name="Google Shape;264;p15"/>
          <p:cNvSpPr/>
          <p:nvPr/>
        </p:nvSpPr>
        <p:spPr>
          <a:xfrm>
            <a:off x="17046764" y="3182967"/>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65" name="Google Shape;265;p15"/>
          <p:cNvSpPr txBox="1"/>
          <p:nvPr/>
        </p:nvSpPr>
        <p:spPr>
          <a:xfrm>
            <a:off x="2994738" y="3327293"/>
            <a:ext cx="12282724" cy="8096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000"/>
              <a:buFont typeface="Arial"/>
              <a:buNone/>
            </a:pPr>
            <a:r>
              <a:rPr b="1" i="1" lang="en-US" sz="5000" u="none" cap="none" strike="noStrike">
                <a:solidFill>
                  <a:srgbClr val="1B4A9B"/>
                </a:solidFill>
                <a:latin typeface="Poppins"/>
                <a:ea typeface="Poppins"/>
                <a:cs typeface="Poppins"/>
                <a:sym typeface="Poppins"/>
              </a:rPr>
              <a:t>Almacenamiento Secundario</a:t>
            </a:r>
            <a:endParaRPr b="0" i="0" sz="1400" u="none" cap="none" strike="noStrike">
              <a:solidFill>
                <a:srgbClr val="000000"/>
              </a:solidFill>
              <a:latin typeface="Arial"/>
              <a:ea typeface="Arial"/>
              <a:cs typeface="Arial"/>
              <a:sym typeface="Arial"/>
            </a:endParaRPr>
          </a:p>
        </p:txBody>
      </p:sp>
      <p:sp>
        <p:nvSpPr>
          <p:cNvPr id="266" name="Google Shape;266;p15"/>
          <p:cNvSpPr txBox="1"/>
          <p:nvPr/>
        </p:nvSpPr>
        <p:spPr>
          <a:xfrm>
            <a:off x="1380628" y="4767537"/>
            <a:ext cx="15510944" cy="3043682"/>
          </a:xfrm>
          <a:prstGeom prst="rect">
            <a:avLst/>
          </a:prstGeom>
          <a:noFill/>
          <a:ln>
            <a:noFill/>
          </a:ln>
        </p:spPr>
        <p:txBody>
          <a:bodyPr anchorCtr="0" anchor="t" bIns="0" lIns="0" spcFirstLastPara="1" rIns="0" wrap="square" tIns="0">
            <a:spAutoFit/>
          </a:bodyPr>
          <a:lstStyle/>
          <a:p>
            <a:pPr indent="0" lvl="0" marL="0" marR="0" rtl="0" algn="just">
              <a:lnSpc>
                <a:spcPct val="107000"/>
              </a:lnSpc>
              <a:spcBef>
                <a:spcPts val="0"/>
              </a:spcBef>
              <a:spcAft>
                <a:spcPts val="0"/>
              </a:spcAft>
              <a:buClr>
                <a:srgbClr val="000000"/>
              </a:buClr>
              <a:buSzPts val="3200"/>
              <a:buFont typeface="Arial"/>
              <a:buNone/>
            </a:pPr>
            <a:r>
              <a:rPr b="0" i="0" lang="en-US" sz="3200" u="none" cap="none" strike="noStrike">
                <a:solidFill>
                  <a:srgbClr val="737373"/>
                </a:solidFill>
                <a:latin typeface="Poppins"/>
                <a:ea typeface="Poppins"/>
                <a:cs typeface="Poppins"/>
                <a:sym typeface="Poppins"/>
              </a:rPr>
              <a:t>Estos son dispositivos que cumplen la función de </a:t>
            </a:r>
            <a:r>
              <a:rPr b="1" i="0" lang="en-US" sz="3200" u="none" cap="none" strike="noStrike">
                <a:solidFill>
                  <a:srgbClr val="737373"/>
                </a:solidFill>
                <a:latin typeface="Poppins"/>
                <a:ea typeface="Poppins"/>
                <a:cs typeface="Poppins"/>
                <a:sym typeface="Poppins"/>
              </a:rPr>
              <a:t>almacenar información de manera persistente</a:t>
            </a:r>
            <a:r>
              <a:rPr b="0" i="0" lang="en-US" sz="3200" u="none" cap="none" strike="noStrike">
                <a:solidFill>
                  <a:srgbClr val="737373"/>
                </a:solidFill>
                <a:latin typeface="Poppins"/>
                <a:ea typeface="Poppins"/>
                <a:cs typeface="Poppins"/>
                <a:sym typeface="Poppins"/>
              </a:rPr>
              <a:t>, incluso cuando se retira la alimentación eléctrica a la computadora.</a:t>
            </a:r>
            <a:endParaRPr b="0" i="0" sz="1400" u="none" cap="none" strike="noStrike">
              <a:solidFill>
                <a:srgbClr val="000000"/>
              </a:solidFill>
              <a:latin typeface="Arial"/>
              <a:ea typeface="Arial"/>
              <a:cs typeface="Arial"/>
              <a:sym typeface="Arial"/>
            </a:endParaRPr>
          </a:p>
          <a:p>
            <a:pPr indent="0" lvl="0" marL="0" marR="0" rtl="0" algn="just">
              <a:lnSpc>
                <a:spcPct val="107000"/>
              </a:lnSpc>
              <a:spcBef>
                <a:spcPts val="0"/>
              </a:spcBef>
              <a:spcAft>
                <a:spcPts val="0"/>
              </a:spcAft>
              <a:buClr>
                <a:srgbClr val="000000"/>
              </a:buClr>
              <a:buSzPts val="3200"/>
              <a:buFont typeface="Arial"/>
              <a:buNone/>
            </a:pPr>
            <a:r>
              <a:t/>
            </a:r>
            <a:endParaRPr b="0" i="0" sz="3200" u="none" cap="none" strike="noStrike">
              <a:solidFill>
                <a:srgbClr val="737373"/>
              </a:solidFill>
              <a:latin typeface="Poppins"/>
              <a:ea typeface="Poppins"/>
              <a:cs typeface="Poppins"/>
              <a:sym typeface="Poppins"/>
            </a:endParaRPr>
          </a:p>
          <a:p>
            <a:pPr indent="0" lvl="0" marL="0" marR="0" rtl="0" algn="just">
              <a:lnSpc>
                <a:spcPct val="107000"/>
              </a:lnSpc>
              <a:spcBef>
                <a:spcPts val="0"/>
              </a:spcBef>
              <a:spcAft>
                <a:spcPts val="0"/>
              </a:spcAft>
              <a:buClr>
                <a:srgbClr val="000000"/>
              </a:buClr>
              <a:buSzPts val="3200"/>
              <a:buFont typeface="Arial"/>
              <a:buNone/>
            </a:pPr>
            <a:r>
              <a:rPr b="0" i="0" lang="en-US" sz="3200" u="none" cap="none" strike="noStrike">
                <a:solidFill>
                  <a:srgbClr val="737373"/>
                </a:solidFill>
                <a:latin typeface="Poppins"/>
                <a:ea typeface="Poppins"/>
                <a:cs typeface="Poppins"/>
                <a:sym typeface="Poppins"/>
              </a:rPr>
              <a:t>Se caracterizan por poseer una </a:t>
            </a:r>
            <a:r>
              <a:rPr b="1" i="0" lang="en-US" sz="3200" u="none" cap="none" strike="noStrike">
                <a:solidFill>
                  <a:srgbClr val="737373"/>
                </a:solidFill>
                <a:latin typeface="Poppins"/>
                <a:ea typeface="Poppins"/>
                <a:cs typeface="Poppins"/>
                <a:sym typeface="Poppins"/>
              </a:rPr>
              <a:t>mayor capacidad de almacenamiento</a:t>
            </a:r>
            <a:r>
              <a:rPr b="0" i="0" lang="en-US" sz="3200" u="none" cap="none" strike="noStrike">
                <a:solidFill>
                  <a:srgbClr val="737373"/>
                </a:solidFill>
                <a:latin typeface="Poppins"/>
                <a:ea typeface="Poppins"/>
                <a:cs typeface="Poppins"/>
                <a:sym typeface="Poppins"/>
              </a:rPr>
              <a:t> que los dispositivos de almacenamiento primario, sin embargo estos poseen una menor velocidad para manejar la información.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6"/>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grpSp>
        <p:nvGrpSpPr>
          <p:cNvPr id="272" name="Google Shape;272;p16"/>
          <p:cNvGrpSpPr/>
          <p:nvPr/>
        </p:nvGrpSpPr>
        <p:grpSpPr>
          <a:xfrm>
            <a:off x="-1722197" y="-3678699"/>
            <a:ext cx="6482297" cy="6762426"/>
            <a:chOff x="0" y="0"/>
            <a:chExt cx="8643063" cy="9016568"/>
          </a:xfrm>
        </p:grpSpPr>
        <p:sp>
          <p:nvSpPr>
            <p:cNvPr id="273" name="Google Shape;273;p16"/>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3">
                <a:alphaModFix/>
              </a:blip>
              <a:stretch>
                <a:fillRect b="0" l="0" r="0" t="0"/>
              </a:stretch>
            </a:blipFill>
            <a:ln>
              <a:noFill/>
            </a:ln>
          </p:spPr>
        </p:sp>
        <p:sp>
          <p:nvSpPr>
            <p:cNvPr id="274" name="Google Shape;274;p16"/>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4">
                <a:alphaModFix/>
              </a:blip>
              <a:stretch>
                <a:fillRect b="0" l="0" r="0" t="0"/>
              </a:stretch>
            </a:blipFill>
            <a:ln>
              <a:noFill/>
            </a:ln>
          </p:spPr>
        </p:sp>
      </p:grpSp>
      <p:sp>
        <p:nvSpPr>
          <p:cNvPr id="275" name="Google Shape;275;p16"/>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5">
              <a:alphaModFix amt="6999"/>
            </a:blip>
            <a:stretch>
              <a:fillRect b="0" l="0" r="0" t="0"/>
            </a:stretch>
          </a:blipFill>
          <a:ln>
            <a:noFill/>
          </a:ln>
        </p:spPr>
      </p:sp>
      <p:sp>
        <p:nvSpPr>
          <p:cNvPr id="276" name="Google Shape;276;p16"/>
          <p:cNvSpPr/>
          <p:nvPr/>
        </p:nvSpPr>
        <p:spPr>
          <a:xfrm>
            <a:off x="17981351" y="9071880"/>
            <a:ext cx="322049" cy="1215120"/>
          </a:xfrm>
          <a:custGeom>
            <a:rect b="b" l="l" r="r" t="t"/>
            <a:pathLst>
              <a:path extrusionOk="0" h="754960" w="200091">
                <a:moveTo>
                  <a:pt x="0" y="0"/>
                </a:moveTo>
                <a:lnTo>
                  <a:pt x="200091" y="0"/>
                </a:lnTo>
                <a:lnTo>
                  <a:pt x="200091" y="754960"/>
                </a:lnTo>
                <a:lnTo>
                  <a:pt x="0" y="754960"/>
                </a:lnTo>
                <a:close/>
              </a:path>
            </a:pathLst>
          </a:custGeom>
          <a:solidFill>
            <a:srgbClr val="1B4A9B"/>
          </a:solidFill>
          <a:ln>
            <a:noFill/>
          </a:ln>
        </p:spPr>
      </p:sp>
      <p:sp>
        <p:nvSpPr>
          <p:cNvPr id="277" name="Google Shape;277;p16"/>
          <p:cNvSpPr/>
          <p:nvPr/>
        </p:nvSpPr>
        <p:spPr>
          <a:xfrm>
            <a:off x="17046764" y="3182967"/>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78" name="Google Shape;278;p16"/>
          <p:cNvSpPr/>
          <p:nvPr/>
        </p:nvSpPr>
        <p:spPr>
          <a:xfrm>
            <a:off x="15308047" y="8003171"/>
            <a:ext cx="1823028" cy="1823028"/>
          </a:xfrm>
          <a:custGeom>
            <a:rect b="b" l="l" r="r" t="t"/>
            <a:pathLst>
              <a:path extrusionOk="0" h="1823028" w="1823028">
                <a:moveTo>
                  <a:pt x="0" y="0"/>
                </a:moveTo>
                <a:lnTo>
                  <a:pt x="1823028" y="0"/>
                </a:lnTo>
                <a:lnTo>
                  <a:pt x="1823028" y="1823027"/>
                </a:lnTo>
                <a:lnTo>
                  <a:pt x="0" y="1823027"/>
                </a:lnTo>
                <a:lnTo>
                  <a:pt x="0" y="0"/>
                </a:lnTo>
                <a:close/>
              </a:path>
            </a:pathLst>
          </a:custGeom>
          <a:blipFill rotWithShape="1">
            <a:blip r:embed="rId7">
              <a:alphaModFix/>
            </a:blip>
            <a:stretch>
              <a:fillRect b="0" l="0" r="0" t="0"/>
            </a:stretch>
          </a:blipFill>
          <a:ln>
            <a:noFill/>
          </a:ln>
        </p:spPr>
      </p:sp>
      <p:sp>
        <p:nvSpPr>
          <p:cNvPr id="279" name="Google Shape;279;p16"/>
          <p:cNvSpPr/>
          <p:nvPr/>
        </p:nvSpPr>
        <p:spPr>
          <a:xfrm>
            <a:off x="14268300" y="6657171"/>
            <a:ext cx="2079495" cy="1346000"/>
          </a:xfrm>
          <a:custGeom>
            <a:rect b="b" l="l" r="r" t="t"/>
            <a:pathLst>
              <a:path extrusionOk="0" h="1346000" w="2079495">
                <a:moveTo>
                  <a:pt x="0" y="0"/>
                </a:moveTo>
                <a:lnTo>
                  <a:pt x="2079495" y="0"/>
                </a:lnTo>
                <a:lnTo>
                  <a:pt x="2079495" y="1346000"/>
                </a:lnTo>
                <a:lnTo>
                  <a:pt x="0" y="1346000"/>
                </a:lnTo>
                <a:lnTo>
                  <a:pt x="0" y="0"/>
                </a:lnTo>
                <a:close/>
              </a:path>
            </a:pathLst>
          </a:custGeom>
          <a:blipFill rotWithShape="1">
            <a:blip r:embed="rId8">
              <a:alphaModFix/>
            </a:blip>
            <a:stretch>
              <a:fillRect b="0" l="0" r="0" t="0"/>
            </a:stretch>
          </a:blipFill>
          <a:ln>
            <a:noFill/>
          </a:ln>
        </p:spPr>
      </p:sp>
      <p:sp>
        <p:nvSpPr>
          <p:cNvPr id="280" name="Google Shape;280;p16"/>
          <p:cNvSpPr/>
          <p:nvPr/>
        </p:nvSpPr>
        <p:spPr>
          <a:xfrm>
            <a:off x="12722030" y="8253141"/>
            <a:ext cx="1254335" cy="818739"/>
          </a:xfrm>
          <a:custGeom>
            <a:rect b="b" l="l" r="r" t="t"/>
            <a:pathLst>
              <a:path extrusionOk="0" h="818739" w="1254335">
                <a:moveTo>
                  <a:pt x="0" y="0"/>
                </a:moveTo>
                <a:lnTo>
                  <a:pt x="1254335" y="0"/>
                </a:lnTo>
                <a:lnTo>
                  <a:pt x="1254335" y="818739"/>
                </a:lnTo>
                <a:lnTo>
                  <a:pt x="0" y="818739"/>
                </a:lnTo>
                <a:lnTo>
                  <a:pt x="0" y="0"/>
                </a:lnTo>
                <a:close/>
              </a:path>
            </a:pathLst>
          </a:custGeom>
          <a:blipFill rotWithShape="1">
            <a:blip r:embed="rId9">
              <a:alphaModFix/>
            </a:blip>
            <a:stretch>
              <a:fillRect b="0" l="0" r="0" t="0"/>
            </a:stretch>
          </a:blipFill>
          <a:ln>
            <a:noFill/>
          </a:ln>
        </p:spPr>
      </p:sp>
      <p:sp>
        <p:nvSpPr>
          <p:cNvPr id="281" name="Google Shape;281;p16"/>
          <p:cNvSpPr txBox="1"/>
          <p:nvPr/>
        </p:nvSpPr>
        <p:spPr>
          <a:xfrm>
            <a:off x="1518952" y="4075990"/>
            <a:ext cx="15510900" cy="3654900"/>
          </a:xfrm>
          <a:prstGeom prst="rect">
            <a:avLst/>
          </a:prstGeom>
          <a:noFill/>
          <a:ln>
            <a:noFill/>
          </a:ln>
        </p:spPr>
        <p:txBody>
          <a:bodyPr anchorCtr="0" anchor="t" bIns="0" lIns="0" spcFirstLastPara="1" rIns="0" wrap="square" tIns="0">
            <a:spAutoFit/>
          </a:bodyPr>
          <a:lstStyle/>
          <a:p>
            <a:pPr indent="0" lvl="0" marL="0" marR="0" rtl="0" algn="just">
              <a:lnSpc>
                <a:spcPct val="107000"/>
              </a:lnSpc>
              <a:spcBef>
                <a:spcPts val="0"/>
              </a:spcBef>
              <a:spcAft>
                <a:spcPts val="0"/>
              </a:spcAft>
              <a:buClr>
                <a:srgbClr val="000000"/>
              </a:buClr>
              <a:buSzPts val="3200"/>
              <a:buFont typeface="Arial"/>
              <a:buNone/>
            </a:pPr>
            <a:r>
              <a:rPr b="0" i="0" lang="en-US" sz="3200" u="none" cap="none" strike="noStrike">
                <a:solidFill>
                  <a:srgbClr val="737373"/>
                </a:solidFill>
                <a:latin typeface="Poppins"/>
                <a:ea typeface="Poppins"/>
                <a:cs typeface="Poppins"/>
                <a:sym typeface="Poppins"/>
              </a:rPr>
              <a:t>Entre este tipo de dispositivos podemos encontrar los siguientes dispositivos: </a:t>
            </a:r>
            <a:endParaRPr b="0" i="0" sz="1400" u="none" cap="none" strike="noStrike">
              <a:solidFill>
                <a:srgbClr val="000000"/>
              </a:solidFill>
              <a:latin typeface="Arial"/>
              <a:ea typeface="Arial"/>
              <a:cs typeface="Arial"/>
              <a:sym typeface="Arial"/>
            </a:endParaRPr>
          </a:p>
          <a:p>
            <a:pPr indent="0" lvl="0" marL="0" marR="0" rtl="0" algn="just">
              <a:lnSpc>
                <a:spcPct val="107000"/>
              </a:lnSpc>
              <a:spcBef>
                <a:spcPts val="0"/>
              </a:spcBef>
              <a:spcAft>
                <a:spcPts val="0"/>
              </a:spcAft>
              <a:buClr>
                <a:srgbClr val="000000"/>
              </a:buClr>
              <a:buSzPts val="3200"/>
              <a:buFont typeface="Arial"/>
              <a:buNone/>
            </a:pPr>
            <a:r>
              <a:t/>
            </a:r>
            <a:endParaRPr b="0" i="0" sz="3200" u="none" cap="none" strike="noStrike">
              <a:solidFill>
                <a:srgbClr val="737373"/>
              </a:solidFill>
              <a:latin typeface="Poppins"/>
              <a:ea typeface="Poppins"/>
              <a:cs typeface="Poppins"/>
              <a:sym typeface="Poppins"/>
            </a:endParaRPr>
          </a:p>
          <a:p>
            <a:pPr indent="-345439" lvl="1" marL="690881" marR="0" rtl="0" algn="just">
              <a:lnSpc>
                <a:spcPct val="107000"/>
              </a:lnSpc>
              <a:spcBef>
                <a:spcPts val="0"/>
              </a:spcBef>
              <a:spcAft>
                <a:spcPts val="0"/>
              </a:spcAft>
              <a:buClr>
                <a:srgbClr val="737373"/>
              </a:buClr>
              <a:buSzPts val="3200"/>
              <a:buFont typeface="Arial"/>
              <a:buChar char="•"/>
            </a:pPr>
            <a:r>
              <a:rPr b="0" i="0" lang="en-US" sz="3200" u="none" cap="none" strike="noStrike">
                <a:solidFill>
                  <a:srgbClr val="737373"/>
                </a:solidFill>
                <a:latin typeface="Poppins"/>
                <a:ea typeface="Poppins"/>
                <a:cs typeface="Poppins"/>
                <a:sym typeface="Poppins"/>
              </a:rPr>
              <a:t>Cinta Magnética </a:t>
            </a:r>
            <a:endParaRPr b="0" i="0" sz="1400" u="none" cap="none" strike="noStrike">
              <a:solidFill>
                <a:srgbClr val="000000"/>
              </a:solidFill>
              <a:latin typeface="Arial"/>
              <a:ea typeface="Arial"/>
              <a:cs typeface="Arial"/>
              <a:sym typeface="Arial"/>
            </a:endParaRPr>
          </a:p>
          <a:p>
            <a:pPr indent="-345439" lvl="1" marL="690881" marR="0" rtl="0" algn="just">
              <a:lnSpc>
                <a:spcPct val="107000"/>
              </a:lnSpc>
              <a:spcBef>
                <a:spcPts val="0"/>
              </a:spcBef>
              <a:spcAft>
                <a:spcPts val="0"/>
              </a:spcAft>
              <a:buClr>
                <a:srgbClr val="737373"/>
              </a:buClr>
              <a:buSzPts val="3200"/>
              <a:buFont typeface="Arial"/>
              <a:buChar char="•"/>
            </a:pPr>
            <a:r>
              <a:rPr b="0" i="0" lang="en-US" sz="3200" u="none" cap="none" strike="noStrike">
                <a:solidFill>
                  <a:srgbClr val="737373"/>
                </a:solidFill>
                <a:latin typeface="Poppins"/>
                <a:ea typeface="Poppins"/>
                <a:cs typeface="Poppins"/>
                <a:sym typeface="Poppins"/>
              </a:rPr>
              <a:t>Almacenamiento óptico </a:t>
            </a:r>
            <a:endParaRPr b="0" i="0" sz="1400" u="none" cap="none" strike="noStrike">
              <a:solidFill>
                <a:srgbClr val="000000"/>
              </a:solidFill>
              <a:latin typeface="Arial"/>
              <a:ea typeface="Arial"/>
              <a:cs typeface="Arial"/>
              <a:sym typeface="Arial"/>
            </a:endParaRPr>
          </a:p>
          <a:p>
            <a:pPr indent="-345439" lvl="1" marL="690881" marR="0" rtl="0" algn="just">
              <a:lnSpc>
                <a:spcPct val="107000"/>
              </a:lnSpc>
              <a:spcBef>
                <a:spcPts val="0"/>
              </a:spcBef>
              <a:spcAft>
                <a:spcPts val="0"/>
              </a:spcAft>
              <a:buClr>
                <a:srgbClr val="737373"/>
              </a:buClr>
              <a:buSzPts val="3200"/>
              <a:buFont typeface="Arial"/>
              <a:buChar char="•"/>
            </a:pPr>
            <a:r>
              <a:rPr b="0" i="0" lang="en-US" sz="3200" u="none" cap="none" strike="noStrike">
                <a:solidFill>
                  <a:srgbClr val="737373"/>
                </a:solidFill>
                <a:latin typeface="Poppins"/>
                <a:ea typeface="Poppins"/>
                <a:cs typeface="Poppins"/>
                <a:sym typeface="Poppins"/>
              </a:rPr>
              <a:t>Unidad de disco duro </a:t>
            </a:r>
            <a:endParaRPr b="0" i="0" sz="1400" u="none" cap="none" strike="noStrike">
              <a:solidFill>
                <a:srgbClr val="000000"/>
              </a:solidFill>
              <a:latin typeface="Arial"/>
              <a:ea typeface="Arial"/>
              <a:cs typeface="Arial"/>
              <a:sym typeface="Arial"/>
            </a:endParaRPr>
          </a:p>
          <a:p>
            <a:pPr indent="-345439" lvl="1" marL="690881" marR="0" rtl="0" algn="just">
              <a:lnSpc>
                <a:spcPct val="107000"/>
              </a:lnSpc>
              <a:spcBef>
                <a:spcPts val="0"/>
              </a:spcBef>
              <a:spcAft>
                <a:spcPts val="0"/>
              </a:spcAft>
              <a:buClr>
                <a:srgbClr val="737373"/>
              </a:buClr>
              <a:buSzPts val="3200"/>
              <a:buFont typeface="Arial"/>
              <a:buChar char="•"/>
            </a:pPr>
            <a:r>
              <a:rPr b="0" i="0" lang="en-US" sz="3200" u="none" cap="none" strike="noStrike">
                <a:solidFill>
                  <a:srgbClr val="737373"/>
                </a:solidFill>
                <a:latin typeface="Poppins"/>
                <a:ea typeface="Poppins"/>
                <a:cs typeface="Poppins"/>
                <a:sym typeface="Poppins"/>
              </a:rPr>
              <a:t>Unidad de estado </a:t>
            </a:r>
            <a:r>
              <a:rPr lang="en-US" sz="3200">
                <a:solidFill>
                  <a:srgbClr val="737373"/>
                </a:solidFill>
                <a:latin typeface="Poppins"/>
                <a:ea typeface="Poppins"/>
                <a:cs typeface="Poppins"/>
                <a:sym typeface="Poppins"/>
              </a:rPr>
              <a:t>sólido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7"/>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287" name="Google Shape;287;p17"/>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288" name="Google Shape;288;p17"/>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289" name="Google Shape;289;p17"/>
          <p:cNvGrpSpPr/>
          <p:nvPr/>
        </p:nvGrpSpPr>
        <p:grpSpPr>
          <a:xfrm>
            <a:off x="-1722197" y="-3678699"/>
            <a:ext cx="6482297" cy="6762426"/>
            <a:chOff x="0" y="0"/>
            <a:chExt cx="8643063" cy="9016568"/>
          </a:xfrm>
        </p:grpSpPr>
        <p:sp>
          <p:nvSpPr>
            <p:cNvPr id="290" name="Google Shape;290;p17"/>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291" name="Google Shape;291;p17"/>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292" name="Google Shape;292;p17"/>
          <p:cNvSpPr txBox="1"/>
          <p:nvPr/>
        </p:nvSpPr>
        <p:spPr>
          <a:xfrm>
            <a:off x="1905021" y="5324569"/>
            <a:ext cx="14477958" cy="2408428"/>
          </a:xfrm>
          <a:prstGeom prst="rect">
            <a:avLst/>
          </a:prstGeom>
          <a:noFill/>
          <a:ln>
            <a:noFill/>
          </a:ln>
        </p:spPr>
        <p:txBody>
          <a:bodyPr anchorCtr="0" anchor="t" bIns="0" lIns="0" spcFirstLastPara="1" rIns="0" wrap="square" tIns="0">
            <a:spAutoFit/>
          </a:bodyPr>
          <a:lstStyle/>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Este es un tipo de almacenamiento en el cual la información es grabada en </a:t>
            </a:r>
            <a:r>
              <a:rPr b="1" i="0" lang="en-US" sz="3199" u="none" cap="none" strike="noStrike">
                <a:solidFill>
                  <a:srgbClr val="737373"/>
                </a:solidFill>
                <a:latin typeface="Poppins"/>
                <a:ea typeface="Poppins"/>
                <a:cs typeface="Poppins"/>
                <a:sym typeface="Poppins"/>
              </a:rPr>
              <a:t>pistas magnéticas</a:t>
            </a:r>
            <a:r>
              <a:rPr b="0" i="0" lang="en-US" sz="3199" u="none" cap="none" strike="noStrike">
                <a:solidFill>
                  <a:srgbClr val="737373"/>
                </a:solidFill>
                <a:latin typeface="Poppins"/>
                <a:ea typeface="Poppins"/>
                <a:cs typeface="Poppins"/>
                <a:sym typeface="Poppins"/>
              </a:rPr>
              <a:t> ubicadas a lo largo de la cinta magnética, su capacidad de almacenamiento puede variar dependiendo de los materiales que conforman la cinta, como también por su longitud.</a:t>
            </a:r>
            <a:endParaRPr b="0" i="0" sz="1400" u="none" cap="none" strike="noStrike">
              <a:solidFill>
                <a:srgbClr val="000000"/>
              </a:solidFill>
              <a:latin typeface="Arial"/>
              <a:ea typeface="Arial"/>
              <a:cs typeface="Arial"/>
              <a:sym typeface="Arial"/>
            </a:endParaRPr>
          </a:p>
        </p:txBody>
      </p:sp>
      <p:sp>
        <p:nvSpPr>
          <p:cNvPr id="293" name="Google Shape;293;p17"/>
          <p:cNvSpPr txBox="1"/>
          <p:nvPr/>
        </p:nvSpPr>
        <p:spPr>
          <a:xfrm>
            <a:off x="5864503" y="3650631"/>
            <a:ext cx="6558994" cy="714375"/>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4499"/>
              <a:buFont typeface="Arial"/>
              <a:buNone/>
            </a:pPr>
            <a:r>
              <a:rPr b="1" i="1" lang="en-US" sz="4499" u="none" cap="none" strike="noStrike">
                <a:solidFill>
                  <a:srgbClr val="1B4A9B"/>
                </a:solidFill>
                <a:latin typeface="Poppins"/>
                <a:ea typeface="Poppins"/>
                <a:cs typeface="Poppins"/>
                <a:sym typeface="Poppins"/>
              </a:rPr>
              <a:t>Cintas Magnéticas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8"/>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299" name="Google Shape;299;p18"/>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300" name="Google Shape;300;p18"/>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301" name="Google Shape;301;p18"/>
          <p:cNvGrpSpPr/>
          <p:nvPr/>
        </p:nvGrpSpPr>
        <p:grpSpPr>
          <a:xfrm>
            <a:off x="-1722197" y="-3678699"/>
            <a:ext cx="6482297" cy="6762426"/>
            <a:chOff x="0" y="0"/>
            <a:chExt cx="8643063" cy="9016568"/>
          </a:xfrm>
        </p:grpSpPr>
        <p:sp>
          <p:nvSpPr>
            <p:cNvPr id="302" name="Google Shape;302;p18"/>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303" name="Google Shape;303;p18"/>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304" name="Google Shape;304;p18"/>
          <p:cNvSpPr/>
          <p:nvPr/>
        </p:nvSpPr>
        <p:spPr>
          <a:xfrm>
            <a:off x="12326931" y="6356918"/>
            <a:ext cx="5543384" cy="3427797"/>
          </a:xfrm>
          <a:custGeom>
            <a:rect b="b" l="l" r="r" t="t"/>
            <a:pathLst>
              <a:path extrusionOk="0" h="3427797" w="5543384">
                <a:moveTo>
                  <a:pt x="0" y="0"/>
                </a:moveTo>
                <a:lnTo>
                  <a:pt x="5543385" y="0"/>
                </a:lnTo>
                <a:lnTo>
                  <a:pt x="5543385" y="3427797"/>
                </a:lnTo>
                <a:lnTo>
                  <a:pt x="0" y="3427797"/>
                </a:lnTo>
                <a:lnTo>
                  <a:pt x="0" y="0"/>
                </a:lnTo>
                <a:close/>
              </a:path>
            </a:pathLst>
          </a:custGeom>
          <a:blipFill rotWithShape="1">
            <a:blip r:embed="rId7">
              <a:alphaModFix/>
            </a:blip>
            <a:stretch>
              <a:fillRect b="-23747" l="0" r="0" t="-31604"/>
            </a:stretch>
          </a:blipFill>
          <a:ln>
            <a:noFill/>
          </a:ln>
        </p:spPr>
      </p:sp>
      <p:sp>
        <p:nvSpPr>
          <p:cNvPr id="305" name="Google Shape;305;p18"/>
          <p:cNvSpPr txBox="1"/>
          <p:nvPr/>
        </p:nvSpPr>
        <p:spPr>
          <a:xfrm>
            <a:off x="1028700" y="3656855"/>
            <a:ext cx="10222800" cy="5721900"/>
          </a:xfrm>
          <a:prstGeom prst="rect">
            <a:avLst/>
          </a:prstGeom>
          <a:noFill/>
          <a:ln>
            <a:noFill/>
          </a:ln>
        </p:spPr>
        <p:txBody>
          <a:bodyPr anchorCtr="0" anchor="t" bIns="0" lIns="0" spcFirstLastPara="1" rIns="0" wrap="square" tIns="0">
            <a:spAutoFit/>
          </a:bodyPr>
          <a:lstStyle/>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Este es </a:t>
            </a:r>
            <a:r>
              <a:rPr b="1" i="0" lang="en-US" sz="3199" u="none" cap="none" strike="noStrike">
                <a:solidFill>
                  <a:srgbClr val="737373"/>
                </a:solidFill>
                <a:latin typeface="Poppins"/>
                <a:ea typeface="Poppins"/>
                <a:cs typeface="Poppins"/>
                <a:sym typeface="Poppins"/>
              </a:rPr>
              <a:t>uno de los primeros dispositivos de almacenamiento</a:t>
            </a:r>
            <a:r>
              <a:rPr b="0" i="0" lang="en-US" sz="3199" u="none" cap="none" strike="noStrike">
                <a:solidFill>
                  <a:srgbClr val="737373"/>
                </a:solidFill>
                <a:latin typeface="Poppins"/>
                <a:ea typeface="Poppins"/>
                <a:cs typeface="Poppins"/>
                <a:sym typeface="Poppins"/>
              </a:rPr>
              <a:t> su creación se remonta al año 1878, en sus principios fue empleada en los telégrafos. </a:t>
            </a:r>
            <a:endParaRPr b="0" i="0" sz="1400" u="none" cap="none" strike="noStrike">
              <a:solidFill>
                <a:srgbClr val="000000"/>
              </a:solidFill>
              <a:latin typeface="Arial"/>
              <a:ea typeface="Arial"/>
              <a:cs typeface="Arial"/>
              <a:sym typeface="Arial"/>
            </a:endParaRPr>
          </a:p>
          <a:p>
            <a:pPr indent="0" lvl="0" marL="0" marR="0" rtl="0" algn="just">
              <a:lnSpc>
                <a:spcPct val="118005"/>
              </a:lnSpc>
              <a:spcBef>
                <a:spcPts val="0"/>
              </a:spcBef>
              <a:spcAft>
                <a:spcPts val="0"/>
              </a:spcAft>
              <a:buClr>
                <a:srgbClr val="000000"/>
              </a:buClr>
              <a:buSzPts val="3199"/>
              <a:buFont typeface="Arial"/>
              <a:buNone/>
            </a:pPr>
            <a:r>
              <a:t/>
            </a:r>
            <a:endParaRPr b="0" i="0" sz="3199" u="none" cap="none" strike="noStrike">
              <a:solidFill>
                <a:srgbClr val="737373"/>
              </a:solidFill>
              <a:latin typeface="Poppins"/>
              <a:ea typeface="Poppins"/>
              <a:cs typeface="Poppins"/>
              <a:sym typeface="Poppins"/>
            </a:endParaRPr>
          </a:p>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En la actualidad </a:t>
            </a:r>
            <a:r>
              <a:rPr lang="en-US" sz="3199">
                <a:solidFill>
                  <a:srgbClr val="737373"/>
                </a:solidFill>
                <a:latin typeface="Poppins"/>
                <a:ea typeface="Poppins"/>
                <a:cs typeface="Poppins"/>
                <a:sym typeface="Poppins"/>
              </a:rPr>
              <a:t>aún</a:t>
            </a:r>
            <a:r>
              <a:rPr b="0" i="0" lang="en-US" sz="3199" u="none" cap="none" strike="noStrike">
                <a:solidFill>
                  <a:srgbClr val="737373"/>
                </a:solidFill>
                <a:latin typeface="Poppins"/>
                <a:ea typeface="Poppins"/>
                <a:cs typeface="Poppins"/>
                <a:sym typeface="Poppins"/>
              </a:rPr>
              <a:t> es utilizada en ciertas </a:t>
            </a:r>
            <a:r>
              <a:rPr lang="en-US" sz="3199">
                <a:solidFill>
                  <a:srgbClr val="737373"/>
                </a:solidFill>
                <a:latin typeface="Poppins"/>
                <a:ea typeface="Poppins"/>
                <a:cs typeface="Poppins"/>
                <a:sym typeface="Poppins"/>
              </a:rPr>
              <a:t>áreas</a:t>
            </a:r>
            <a:r>
              <a:rPr b="0" i="0" lang="en-US" sz="3199" u="none" cap="none" strike="noStrike">
                <a:solidFill>
                  <a:srgbClr val="737373"/>
                </a:solidFill>
                <a:latin typeface="Poppins"/>
                <a:ea typeface="Poppins"/>
                <a:cs typeface="Poppins"/>
                <a:sym typeface="Poppins"/>
              </a:rPr>
              <a:t> que requieran un </a:t>
            </a:r>
            <a:r>
              <a:rPr b="1" i="0" lang="en-US" sz="3199" u="none" cap="none" strike="noStrike">
                <a:solidFill>
                  <a:srgbClr val="737373"/>
                </a:solidFill>
                <a:latin typeface="Poppins"/>
                <a:ea typeface="Poppins"/>
                <a:cs typeface="Poppins"/>
                <a:sym typeface="Poppins"/>
              </a:rPr>
              <a:t>almacenamiento masivo</a:t>
            </a:r>
            <a:r>
              <a:rPr b="0" i="0" lang="en-US" sz="3199" u="none" cap="none" strike="noStrike">
                <a:solidFill>
                  <a:srgbClr val="737373"/>
                </a:solidFill>
                <a:latin typeface="Poppins"/>
                <a:ea typeface="Poppins"/>
                <a:cs typeface="Poppins"/>
                <a:sym typeface="Poppins"/>
              </a:rPr>
              <a:t> y no sea necesario un acceso veloz a los datos. Su principal uso es el de respaldar información de otras unidades de almacenamiento secundario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9"/>
          <p:cNvSpPr/>
          <p:nvPr/>
        </p:nvSpPr>
        <p:spPr>
          <a:xfrm>
            <a:off x="0" y="-184968"/>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311" name="Google Shape;311;p19"/>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312" name="Google Shape;312;p19"/>
          <p:cNvGrpSpPr/>
          <p:nvPr/>
        </p:nvGrpSpPr>
        <p:grpSpPr>
          <a:xfrm rot="9869556">
            <a:off x="14431083" y="6569611"/>
            <a:ext cx="6482297" cy="6762426"/>
            <a:chOff x="0" y="0"/>
            <a:chExt cx="8643063" cy="9016568"/>
          </a:xfrm>
        </p:grpSpPr>
        <p:sp>
          <p:nvSpPr>
            <p:cNvPr id="313" name="Google Shape;313;p19"/>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314" name="Google Shape;314;p19"/>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315" name="Google Shape;315;p19"/>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316" name="Google Shape;316;p19"/>
          <p:cNvSpPr txBox="1"/>
          <p:nvPr/>
        </p:nvSpPr>
        <p:spPr>
          <a:xfrm>
            <a:off x="3686177" y="3456863"/>
            <a:ext cx="10915646"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Cintas Magnéticas</a:t>
            </a:r>
            <a:endParaRPr b="0" i="0" sz="1400" u="none" cap="none" strike="noStrike">
              <a:solidFill>
                <a:srgbClr val="000000"/>
              </a:solidFill>
              <a:latin typeface="Arial"/>
              <a:ea typeface="Arial"/>
              <a:cs typeface="Arial"/>
              <a:sym typeface="Arial"/>
            </a:endParaRPr>
          </a:p>
        </p:txBody>
      </p:sp>
      <p:sp>
        <p:nvSpPr>
          <p:cNvPr id="317" name="Google Shape;317;p19"/>
          <p:cNvSpPr txBox="1"/>
          <p:nvPr/>
        </p:nvSpPr>
        <p:spPr>
          <a:xfrm>
            <a:off x="1425541"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Ventajas</a:t>
            </a:r>
            <a:endParaRPr b="0" i="0" sz="1400" u="none" cap="none" strike="noStrike">
              <a:solidFill>
                <a:srgbClr val="000000"/>
              </a:solidFill>
              <a:latin typeface="Arial"/>
              <a:ea typeface="Arial"/>
              <a:cs typeface="Arial"/>
              <a:sym typeface="Arial"/>
            </a:endParaRPr>
          </a:p>
        </p:txBody>
      </p:sp>
      <p:sp>
        <p:nvSpPr>
          <p:cNvPr id="318" name="Google Shape;318;p19"/>
          <p:cNvSpPr txBox="1"/>
          <p:nvPr/>
        </p:nvSpPr>
        <p:spPr>
          <a:xfrm>
            <a:off x="9199940"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Desventajas</a:t>
            </a:r>
            <a:endParaRPr b="0" i="0" sz="1400" u="none" cap="none" strike="noStrike">
              <a:solidFill>
                <a:srgbClr val="000000"/>
              </a:solidFill>
              <a:latin typeface="Arial"/>
              <a:ea typeface="Arial"/>
              <a:cs typeface="Arial"/>
              <a:sym typeface="Arial"/>
            </a:endParaRPr>
          </a:p>
        </p:txBody>
      </p:sp>
      <p:sp>
        <p:nvSpPr>
          <p:cNvPr id="319" name="Google Shape;319;p19"/>
          <p:cNvSpPr txBox="1"/>
          <p:nvPr/>
        </p:nvSpPr>
        <p:spPr>
          <a:xfrm>
            <a:off x="1425541" y="6740460"/>
            <a:ext cx="11385267" cy="1290955"/>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Capacidad de Almacenamiento</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Fácil manipulación de su información </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Bajo Costo</a:t>
            </a:r>
            <a:endParaRPr b="0" i="0" sz="1400" u="none" cap="none" strike="noStrike">
              <a:solidFill>
                <a:srgbClr val="000000"/>
              </a:solidFill>
              <a:latin typeface="Arial"/>
              <a:ea typeface="Arial"/>
              <a:cs typeface="Arial"/>
              <a:sym typeface="Arial"/>
            </a:endParaRPr>
          </a:p>
        </p:txBody>
      </p:sp>
      <p:sp>
        <p:nvSpPr>
          <p:cNvPr id="320" name="Google Shape;320;p19"/>
          <p:cNvSpPr txBox="1"/>
          <p:nvPr/>
        </p:nvSpPr>
        <p:spPr>
          <a:xfrm>
            <a:off x="9649643" y="6882052"/>
            <a:ext cx="11385300" cy="248130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lang="en-US" sz="2600">
                <a:solidFill>
                  <a:srgbClr val="737373"/>
                </a:solidFill>
                <a:latin typeface="Poppins"/>
                <a:ea typeface="Poppins"/>
                <a:cs typeface="Poppins"/>
                <a:sym typeface="Poppins"/>
              </a:rPr>
              <a:t>Pérdida</a:t>
            </a:r>
            <a:r>
              <a:rPr b="0" i="0" lang="en-US" sz="2600" u="none" cap="none" strike="noStrike">
                <a:solidFill>
                  <a:srgbClr val="737373"/>
                </a:solidFill>
                <a:latin typeface="Poppins"/>
                <a:ea typeface="Poppins"/>
                <a:cs typeface="Poppins"/>
                <a:sym typeface="Poppins"/>
              </a:rPr>
              <a:t> de calidad con cada copia</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Se estira con el uso, deteriorando </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2600"/>
              <a:buFont typeface="Arial"/>
              <a:buNone/>
            </a:pPr>
            <a:r>
              <a:rPr b="0" i="0" lang="en-US" sz="2600" u="none" cap="none" strike="noStrike">
                <a:solidFill>
                  <a:srgbClr val="737373"/>
                </a:solidFill>
                <a:latin typeface="Poppins"/>
                <a:ea typeface="Poppins"/>
                <a:cs typeface="Poppins"/>
                <a:sym typeface="Poppins"/>
              </a:rPr>
              <a:t>    la información </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Necesidad de un mecanismo complejo </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2600"/>
              <a:buFont typeface="Arial"/>
              <a:buNone/>
            </a:pPr>
            <a:r>
              <a:rPr b="0" i="0" lang="en-US" sz="2600" u="none" cap="none" strike="noStrike">
                <a:solidFill>
                  <a:srgbClr val="737373"/>
                </a:solidFill>
                <a:latin typeface="Poppins"/>
                <a:ea typeface="Poppins"/>
                <a:cs typeface="Poppins"/>
                <a:sym typeface="Poppins"/>
              </a:rPr>
              <a:t>   para la lectura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0"/>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326" name="Google Shape;326;p20"/>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327" name="Google Shape;327;p20"/>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328" name="Google Shape;328;p20"/>
          <p:cNvGrpSpPr/>
          <p:nvPr/>
        </p:nvGrpSpPr>
        <p:grpSpPr>
          <a:xfrm>
            <a:off x="-1722197" y="-3678699"/>
            <a:ext cx="6482297" cy="6762426"/>
            <a:chOff x="0" y="0"/>
            <a:chExt cx="8643063" cy="9016568"/>
          </a:xfrm>
        </p:grpSpPr>
        <p:sp>
          <p:nvSpPr>
            <p:cNvPr id="329" name="Google Shape;329;p20"/>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330" name="Google Shape;330;p20"/>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331" name="Google Shape;331;p20"/>
          <p:cNvSpPr txBox="1"/>
          <p:nvPr/>
        </p:nvSpPr>
        <p:spPr>
          <a:xfrm>
            <a:off x="1905021" y="5324569"/>
            <a:ext cx="14478000" cy="2235600"/>
          </a:xfrm>
          <a:prstGeom prst="rect">
            <a:avLst/>
          </a:prstGeom>
          <a:noFill/>
          <a:ln>
            <a:noFill/>
          </a:ln>
        </p:spPr>
        <p:txBody>
          <a:bodyPr anchorCtr="0" anchor="t" bIns="0" lIns="0" spcFirstLastPara="1" rIns="0" wrap="square" tIns="0">
            <a:spAutoFit/>
          </a:bodyPr>
          <a:lstStyle/>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Este es un tipo de almacenamiento cuenta con la particularidad de ser bastante compactos ya que la información es grabada sobre la superficie, su capacidad puede variar dependiendo del dispositivo o el tipo de escritura. </a:t>
            </a:r>
            <a:endParaRPr b="0" i="0" sz="1400" u="none" cap="none" strike="noStrike">
              <a:solidFill>
                <a:srgbClr val="000000"/>
              </a:solidFill>
              <a:latin typeface="Arial"/>
              <a:ea typeface="Arial"/>
              <a:cs typeface="Arial"/>
              <a:sym typeface="Arial"/>
            </a:endParaRPr>
          </a:p>
        </p:txBody>
      </p:sp>
      <p:sp>
        <p:nvSpPr>
          <p:cNvPr id="332" name="Google Shape;332;p20"/>
          <p:cNvSpPr txBox="1"/>
          <p:nvPr/>
        </p:nvSpPr>
        <p:spPr>
          <a:xfrm>
            <a:off x="5864503" y="3650631"/>
            <a:ext cx="7853099" cy="714375"/>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4499"/>
              <a:buFont typeface="Arial"/>
              <a:buNone/>
            </a:pPr>
            <a:r>
              <a:rPr b="1" i="1" lang="en-US" sz="4499" u="none" cap="none" strike="noStrike">
                <a:solidFill>
                  <a:srgbClr val="1B4A9B"/>
                </a:solidFill>
                <a:latin typeface="Poppins"/>
                <a:ea typeface="Poppins"/>
                <a:cs typeface="Poppins"/>
                <a:sym typeface="Poppins"/>
              </a:rPr>
              <a:t>Almacenamiento óptico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1"/>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338" name="Google Shape;338;p21"/>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339" name="Google Shape;339;p21"/>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340" name="Google Shape;340;p21"/>
          <p:cNvGrpSpPr/>
          <p:nvPr/>
        </p:nvGrpSpPr>
        <p:grpSpPr>
          <a:xfrm>
            <a:off x="-1722197" y="-3678699"/>
            <a:ext cx="6482297" cy="6762426"/>
            <a:chOff x="0" y="0"/>
            <a:chExt cx="8643063" cy="9016568"/>
          </a:xfrm>
        </p:grpSpPr>
        <p:sp>
          <p:nvSpPr>
            <p:cNvPr id="341" name="Google Shape;341;p21"/>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342" name="Google Shape;342;p21"/>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343" name="Google Shape;343;p21"/>
          <p:cNvSpPr/>
          <p:nvPr/>
        </p:nvSpPr>
        <p:spPr>
          <a:xfrm>
            <a:off x="14916895" y="6771166"/>
            <a:ext cx="3086862" cy="3013549"/>
          </a:xfrm>
          <a:custGeom>
            <a:rect b="b" l="l" r="r" t="t"/>
            <a:pathLst>
              <a:path extrusionOk="0" h="3013549" w="3086862">
                <a:moveTo>
                  <a:pt x="0" y="0"/>
                </a:moveTo>
                <a:lnTo>
                  <a:pt x="3086862" y="0"/>
                </a:lnTo>
                <a:lnTo>
                  <a:pt x="3086862" y="3013549"/>
                </a:lnTo>
                <a:lnTo>
                  <a:pt x="0" y="3013549"/>
                </a:lnTo>
                <a:lnTo>
                  <a:pt x="0" y="0"/>
                </a:lnTo>
                <a:close/>
              </a:path>
            </a:pathLst>
          </a:custGeom>
          <a:blipFill rotWithShape="1">
            <a:blip r:embed="rId7">
              <a:alphaModFix/>
            </a:blip>
            <a:stretch>
              <a:fillRect b="0" l="0" r="0" t="0"/>
            </a:stretch>
          </a:blipFill>
          <a:ln>
            <a:noFill/>
          </a:ln>
        </p:spPr>
      </p:sp>
      <p:sp>
        <p:nvSpPr>
          <p:cNvPr id="344" name="Google Shape;344;p21"/>
          <p:cNvSpPr txBox="1"/>
          <p:nvPr/>
        </p:nvSpPr>
        <p:spPr>
          <a:xfrm>
            <a:off x="1028700" y="3656855"/>
            <a:ext cx="10222767" cy="3360928"/>
          </a:xfrm>
          <a:prstGeom prst="rect">
            <a:avLst/>
          </a:prstGeom>
          <a:noFill/>
          <a:ln>
            <a:noFill/>
          </a:ln>
        </p:spPr>
        <p:txBody>
          <a:bodyPr anchorCtr="0" anchor="t" bIns="0" lIns="0" spcFirstLastPara="1" rIns="0" wrap="square" tIns="0">
            <a:spAutoFit/>
          </a:bodyPr>
          <a:lstStyle/>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Entre los dispositivos de almacenamiento de este tipo podemos encontrar: </a:t>
            </a:r>
            <a:endParaRPr b="0" i="0" sz="1400" u="none" cap="none" strike="noStrike">
              <a:solidFill>
                <a:srgbClr val="000000"/>
              </a:solidFill>
              <a:latin typeface="Arial"/>
              <a:ea typeface="Arial"/>
              <a:cs typeface="Arial"/>
              <a:sym typeface="Arial"/>
            </a:endParaRPr>
          </a:p>
          <a:p>
            <a:pPr indent="0" lvl="0" marL="0" marR="0" rtl="0" algn="just">
              <a:lnSpc>
                <a:spcPct val="118005"/>
              </a:lnSpc>
              <a:spcBef>
                <a:spcPts val="0"/>
              </a:spcBef>
              <a:spcAft>
                <a:spcPts val="0"/>
              </a:spcAft>
              <a:buClr>
                <a:srgbClr val="000000"/>
              </a:buClr>
              <a:buSzPts val="3199"/>
              <a:buFont typeface="Arial"/>
              <a:buNone/>
            </a:pPr>
            <a:r>
              <a:t/>
            </a:r>
            <a:endParaRPr b="0" i="0" sz="3199" u="none" cap="none" strike="noStrike">
              <a:solidFill>
                <a:srgbClr val="737373"/>
              </a:solidFill>
              <a:latin typeface="Poppins"/>
              <a:ea typeface="Poppins"/>
              <a:cs typeface="Poppins"/>
              <a:sym typeface="Poppins"/>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CD (700MB)</a:t>
            </a:r>
            <a:endParaRPr b="0" i="0" sz="1400" u="none" cap="none" strike="noStrike">
              <a:solidFill>
                <a:srgbClr val="000000"/>
              </a:solidFill>
              <a:latin typeface="Arial"/>
              <a:ea typeface="Arial"/>
              <a:cs typeface="Arial"/>
              <a:sym typeface="Arial"/>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MINI DVD (1.5GB)</a:t>
            </a:r>
            <a:endParaRPr b="0" i="0" sz="1400" u="none" cap="none" strike="noStrike">
              <a:solidFill>
                <a:srgbClr val="000000"/>
              </a:solidFill>
              <a:latin typeface="Arial"/>
              <a:ea typeface="Arial"/>
              <a:cs typeface="Arial"/>
              <a:sym typeface="Arial"/>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DVD (4.7GB)</a:t>
            </a:r>
            <a:endParaRPr b="0" i="0" sz="1400" u="none" cap="none" strike="noStrike">
              <a:solidFill>
                <a:srgbClr val="000000"/>
              </a:solidFill>
              <a:latin typeface="Arial"/>
              <a:ea typeface="Arial"/>
              <a:cs typeface="Arial"/>
              <a:sym typeface="Arial"/>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HD DVD (30GB)</a:t>
            </a:r>
            <a:endParaRPr b="0" i="0" sz="1400" u="none" cap="none" strike="noStrike">
              <a:solidFill>
                <a:srgbClr val="000000"/>
              </a:solidFill>
              <a:latin typeface="Arial"/>
              <a:ea typeface="Arial"/>
              <a:cs typeface="Arial"/>
              <a:sym typeface="Arial"/>
            </a:endParaRPr>
          </a:p>
        </p:txBody>
      </p:sp>
      <p:sp>
        <p:nvSpPr>
          <p:cNvPr id="345" name="Google Shape;345;p21"/>
          <p:cNvSpPr/>
          <p:nvPr/>
        </p:nvSpPr>
        <p:spPr>
          <a:xfrm>
            <a:off x="11583938" y="6811816"/>
            <a:ext cx="3000486" cy="2913200"/>
          </a:xfrm>
          <a:custGeom>
            <a:rect b="b" l="l" r="r" t="t"/>
            <a:pathLst>
              <a:path extrusionOk="0" h="2913200" w="3000486">
                <a:moveTo>
                  <a:pt x="0" y="0"/>
                </a:moveTo>
                <a:lnTo>
                  <a:pt x="3000486" y="0"/>
                </a:lnTo>
                <a:lnTo>
                  <a:pt x="3000486" y="2913200"/>
                </a:lnTo>
                <a:lnTo>
                  <a:pt x="0" y="2913200"/>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2"/>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351" name="Google Shape;351;p22"/>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352" name="Google Shape;352;p22"/>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353" name="Google Shape;353;p22"/>
          <p:cNvGrpSpPr/>
          <p:nvPr/>
        </p:nvGrpSpPr>
        <p:grpSpPr>
          <a:xfrm>
            <a:off x="-1722197" y="-3678699"/>
            <a:ext cx="6482297" cy="6762426"/>
            <a:chOff x="0" y="0"/>
            <a:chExt cx="8643063" cy="9016568"/>
          </a:xfrm>
        </p:grpSpPr>
        <p:sp>
          <p:nvSpPr>
            <p:cNvPr id="354" name="Google Shape;354;p22"/>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355" name="Google Shape;355;p22"/>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356" name="Google Shape;356;p22"/>
          <p:cNvSpPr/>
          <p:nvPr/>
        </p:nvSpPr>
        <p:spPr>
          <a:xfrm>
            <a:off x="1028700" y="4135710"/>
            <a:ext cx="6994387" cy="4683496"/>
          </a:xfrm>
          <a:custGeom>
            <a:rect b="b" l="l" r="r" t="t"/>
            <a:pathLst>
              <a:path extrusionOk="0" h="4683496" w="6994387">
                <a:moveTo>
                  <a:pt x="0" y="0"/>
                </a:moveTo>
                <a:lnTo>
                  <a:pt x="6994387" y="0"/>
                </a:lnTo>
                <a:lnTo>
                  <a:pt x="6994387" y="4683496"/>
                </a:lnTo>
                <a:lnTo>
                  <a:pt x="0" y="4683496"/>
                </a:lnTo>
                <a:lnTo>
                  <a:pt x="0" y="0"/>
                </a:lnTo>
                <a:close/>
              </a:path>
            </a:pathLst>
          </a:custGeom>
          <a:blipFill rotWithShape="1">
            <a:blip r:embed="rId7">
              <a:alphaModFix/>
            </a:blip>
            <a:stretch>
              <a:fillRect b="0" l="0" r="0" t="0"/>
            </a:stretch>
          </a:blipFill>
          <a:ln>
            <a:noFill/>
          </a:ln>
        </p:spPr>
      </p:sp>
      <p:sp>
        <p:nvSpPr>
          <p:cNvPr id="357" name="Google Shape;357;p22"/>
          <p:cNvSpPr/>
          <p:nvPr/>
        </p:nvSpPr>
        <p:spPr>
          <a:xfrm>
            <a:off x="10388230" y="4135710"/>
            <a:ext cx="6871070" cy="4961532"/>
          </a:xfrm>
          <a:custGeom>
            <a:rect b="b" l="l" r="r" t="t"/>
            <a:pathLst>
              <a:path extrusionOk="0" h="4961532" w="6871070">
                <a:moveTo>
                  <a:pt x="0" y="0"/>
                </a:moveTo>
                <a:lnTo>
                  <a:pt x="6871070" y="0"/>
                </a:lnTo>
                <a:lnTo>
                  <a:pt x="6871070" y="4961533"/>
                </a:lnTo>
                <a:lnTo>
                  <a:pt x="0" y="4961533"/>
                </a:lnTo>
                <a:lnTo>
                  <a:pt x="0" y="0"/>
                </a:lnTo>
                <a:close/>
              </a:path>
            </a:pathLst>
          </a:custGeom>
          <a:blipFill rotWithShape="1">
            <a:blip r:embed="rId8">
              <a:alphaModFix/>
            </a:blip>
            <a:stretch>
              <a:fillRect b="0" l="0" r="0" t="0"/>
            </a:stretch>
          </a:blipFill>
          <a:ln>
            <a:noFill/>
          </a:ln>
        </p:spPr>
      </p:sp>
      <p:sp>
        <p:nvSpPr>
          <p:cNvPr id="358" name="Google Shape;358;p22"/>
          <p:cNvSpPr txBox="1"/>
          <p:nvPr/>
        </p:nvSpPr>
        <p:spPr>
          <a:xfrm>
            <a:off x="3241296" y="1316502"/>
            <a:ext cx="11789609" cy="1390650"/>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4499"/>
              <a:buFont typeface="Arial"/>
              <a:buNone/>
            </a:pPr>
            <a:r>
              <a:rPr b="1" i="1" lang="en-US" sz="4499" u="none" cap="none" strike="noStrike">
                <a:solidFill>
                  <a:srgbClr val="1B4A9B"/>
                </a:solidFill>
                <a:latin typeface="Poppins"/>
                <a:ea typeface="Poppins"/>
                <a:cs typeface="Poppins"/>
                <a:sym typeface="Poppins"/>
              </a:rPr>
              <a:t>Principales aplicaciones de las unidades de almacenamiento óptico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2c9b27100e_1_0"/>
          <p:cNvSpPr/>
          <p:nvPr/>
        </p:nvSpPr>
        <p:spPr>
          <a:xfrm>
            <a:off x="-160692" y="-90502"/>
            <a:ext cx="18596770" cy="10473763"/>
          </a:xfrm>
          <a:custGeom>
            <a:rect b="b" l="l" r="r" t="t"/>
            <a:pathLst>
              <a:path extrusionOk="0" h="1913890" w="3398222">
                <a:moveTo>
                  <a:pt x="0" y="0"/>
                </a:moveTo>
                <a:lnTo>
                  <a:pt x="3398222" y="0"/>
                </a:lnTo>
                <a:lnTo>
                  <a:pt x="3398222" y="1913890"/>
                </a:lnTo>
                <a:lnTo>
                  <a:pt x="0" y="1913890"/>
                </a:lnTo>
                <a:close/>
              </a:path>
            </a:pathLst>
          </a:custGeom>
          <a:solidFill>
            <a:srgbClr val="D9D9D9">
              <a:alpha val="47840"/>
            </a:srgbClr>
          </a:solidFill>
          <a:ln>
            <a:noFill/>
          </a:ln>
        </p:spPr>
      </p:sp>
      <p:sp>
        <p:nvSpPr>
          <p:cNvPr id="364" name="Google Shape;364;g32c9b27100e_1_0"/>
          <p:cNvSpPr/>
          <p:nvPr/>
        </p:nvSpPr>
        <p:spPr>
          <a:xfrm rot="-2310192">
            <a:off x="9697895" y="2163575"/>
            <a:ext cx="12649011" cy="9567252"/>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7000"/>
            </a:blip>
            <a:stretch>
              <a:fillRect b="0" l="0" r="0" t="0"/>
            </a:stretch>
          </a:blipFill>
          <a:ln>
            <a:noFill/>
          </a:ln>
        </p:spPr>
      </p:sp>
      <p:sp>
        <p:nvSpPr>
          <p:cNvPr id="365" name="Google Shape;365;g32c9b27100e_1_0"/>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366" name="Google Shape;366;g32c9b27100e_1_0"/>
          <p:cNvGrpSpPr/>
          <p:nvPr/>
        </p:nvGrpSpPr>
        <p:grpSpPr>
          <a:xfrm>
            <a:off x="-1728242" y="-3678699"/>
            <a:ext cx="6488343" cy="6763782"/>
            <a:chOff x="-8061" y="0"/>
            <a:chExt cx="8651124" cy="9018376"/>
          </a:xfrm>
        </p:grpSpPr>
        <p:sp>
          <p:nvSpPr>
            <p:cNvPr id="367" name="Google Shape;367;g32c9b27100e_1_0"/>
            <p:cNvSpPr/>
            <p:nvPr/>
          </p:nvSpPr>
          <p:spPr>
            <a:xfrm rot="9452055">
              <a:off x="751904" y="2466747"/>
              <a:ext cx="7131194" cy="5393776"/>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368" name="Google Shape;368;g32c9b27100e_1_0"/>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369" name="Google Shape;369;g32c9b27100e_1_0"/>
          <p:cNvSpPr txBox="1"/>
          <p:nvPr/>
        </p:nvSpPr>
        <p:spPr>
          <a:xfrm>
            <a:off x="1425541" y="3121198"/>
            <a:ext cx="4313400" cy="6156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Ventajas</a:t>
            </a:r>
            <a:endParaRPr b="0" i="0" sz="1400" u="none" cap="none" strike="noStrike">
              <a:solidFill>
                <a:srgbClr val="000000"/>
              </a:solidFill>
              <a:latin typeface="Arial"/>
              <a:ea typeface="Arial"/>
              <a:cs typeface="Arial"/>
              <a:sym typeface="Arial"/>
            </a:endParaRPr>
          </a:p>
        </p:txBody>
      </p:sp>
      <p:sp>
        <p:nvSpPr>
          <p:cNvPr id="370" name="Google Shape;370;g32c9b27100e_1_0"/>
          <p:cNvSpPr txBox="1"/>
          <p:nvPr/>
        </p:nvSpPr>
        <p:spPr>
          <a:xfrm>
            <a:off x="9545990" y="3189648"/>
            <a:ext cx="4313400" cy="6156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Desventajas</a:t>
            </a:r>
            <a:endParaRPr b="0" i="0" sz="1400" u="none" cap="none" strike="noStrike">
              <a:solidFill>
                <a:srgbClr val="000000"/>
              </a:solidFill>
              <a:latin typeface="Arial"/>
              <a:ea typeface="Arial"/>
              <a:cs typeface="Arial"/>
              <a:sym typeface="Arial"/>
            </a:endParaRPr>
          </a:p>
        </p:txBody>
      </p:sp>
      <p:sp>
        <p:nvSpPr>
          <p:cNvPr id="371" name="Google Shape;371;g32c9b27100e_1_0"/>
          <p:cNvSpPr txBox="1"/>
          <p:nvPr/>
        </p:nvSpPr>
        <p:spPr>
          <a:xfrm>
            <a:off x="849375" y="4423200"/>
            <a:ext cx="7678200" cy="508260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lang="en-US" sz="2600">
                <a:solidFill>
                  <a:srgbClr val="737373"/>
                </a:solidFill>
                <a:latin typeface="Poppins"/>
                <a:ea typeface="Poppins"/>
                <a:cs typeface="Poppins"/>
                <a:sym typeface="Poppins"/>
              </a:rPr>
              <a:t>Almacenamiento a largo plazo</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lang="en-US" sz="2600">
                <a:solidFill>
                  <a:srgbClr val="737373"/>
                </a:solidFill>
                <a:latin typeface="Poppins"/>
                <a:ea typeface="Poppins"/>
                <a:cs typeface="Poppins"/>
                <a:sym typeface="Poppins"/>
              </a:rPr>
              <a:t>inmutabilidad (una vez grabados, en discos de solo lectura, no pueden ser modificados o eliminados).</a:t>
            </a:r>
            <a:endParaRPr sz="2600">
              <a:solidFill>
                <a:srgbClr val="737373"/>
              </a:solidFill>
              <a:latin typeface="Poppins"/>
              <a:ea typeface="Poppins"/>
              <a:cs typeface="Poppins"/>
              <a:sym typeface="Poppins"/>
            </a:endParaRPr>
          </a:p>
          <a:p>
            <a:pPr indent="-280671" lvl="1" marL="561342" marR="0" rtl="0" algn="just">
              <a:lnSpc>
                <a:spcPct val="130000"/>
              </a:lnSpc>
              <a:spcBef>
                <a:spcPts val="0"/>
              </a:spcBef>
              <a:spcAft>
                <a:spcPts val="0"/>
              </a:spcAft>
              <a:buClr>
                <a:srgbClr val="737373"/>
              </a:buClr>
              <a:buSzPts val="2600"/>
              <a:buFont typeface="Arial"/>
              <a:buChar char="•"/>
            </a:pPr>
            <a:r>
              <a:rPr lang="en-US" sz="2600">
                <a:solidFill>
                  <a:srgbClr val="737373"/>
                </a:solidFill>
                <a:latin typeface="Poppins"/>
                <a:ea typeface="Poppins"/>
                <a:cs typeface="Poppins"/>
                <a:sym typeface="Poppins"/>
              </a:rPr>
              <a:t>No son afectados por campos </a:t>
            </a:r>
            <a:r>
              <a:rPr lang="en-US" sz="2600">
                <a:solidFill>
                  <a:srgbClr val="737373"/>
                </a:solidFill>
                <a:latin typeface="Poppins"/>
                <a:ea typeface="Poppins"/>
                <a:cs typeface="Poppins"/>
                <a:sym typeface="Poppins"/>
              </a:rPr>
              <a:t>magnéticos</a:t>
            </a:r>
            <a:r>
              <a:rPr lang="en-US" sz="2600">
                <a:solidFill>
                  <a:srgbClr val="737373"/>
                </a:solidFill>
                <a:latin typeface="Poppins"/>
                <a:ea typeface="Poppins"/>
                <a:cs typeface="Poppins"/>
                <a:sym typeface="Poppins"/>
              </a:rPr>
              <a:t>, a diferencia de discos duros y algunas memorias flash.</a:t>
            </a:r>
            <a:endParaRPr sz="2600">
              <a:solidFill>
                <a:srgbClr val="737373"/>
              </a:solidFill>
              <a:latin typeface="Poppins"/>
              <a:ea typeface="Poppins"/>
              <a:cs typeface="Poppins"/>
              <a:sym typeface="Poppins"/>
            </a:endParaRPr>
          </a:p>
          <a:p>
            <a:pPr indent="-280671" lvl="1" marL="561342" marR="0" rtl="0" algn="just">
              <a:lnSpc>
                <a:spcPct val="130000"/>
              </a:lnSpc>
              <a:spcBef>
                <a:spcPts val="0"/>
              </a:spcBef>
              <a:spcAft>
                <a:spcPts val="0"/>
              </a:spcAft>
              <a:buClr>
                <a:srgbClr val="737373"/>
              </a:buClr>
              <a:buSzPts val="2600"/>
              <a:buFont typeface="Arial"/>
              <a:buChar char="•"/>
            </a:pPr>
            <a:r>
              <a:rPr lang="en-US" sz="2600">
                <a:solidFill>
                  <a:srgbClr val="737373"/>
                </a:solidFill>
                <a:latin typeface="Poppins"/>
                <a:ea typeface="Poppins"/>
                <a:cs typeface="Poppins"/>
                <a:sym typeface="Poppins"/>
              </a:rPr>
              <a:t>Bajo costo por unidad</a:t>
            </a:r>
            <a:endParaRPr sz="2600">
              <a:solidFill>
                <a:srgbClr val="737373"/>
              </a:solidFill>
              <a:latin typeface="Poppins"/>
              <a:ea typeface="Poppins"/>
              <a:cs typeface="Poppins"/>
              <a:sym typeface="Poppins"/>
            </a:endParaRPr>
          </a:p>
          <a:p>
            <a:pPr indent="-280671" lvl="1" marL="561342" marR="0" rtl="0" algn="just">
              <a:lnSpc>
                <a:spcPct val="130000"/>
              </a:lnSpc>
              <a:spcBef>
                <a:spcPts val="0"/>
              </a:spcBef>
              <a:spcAft>
                <a:spcPts val="0"/>
              </a:spcAft>
              <a:buClr>
                <a:srgbClr val="737373"/>
              </a:buClr>
              <a:buSzPts val="2600"/>
              <a:buFont typeface="Arial"/>
              <a:buChar char="•"/>
            </a:pPr>
            <a:r>
              <a:rPr lang="en-US" sz="2600">
                <a:solidFill>
                  <a:srgbClr val="737373"/>
                </a:solidFill>
                <a:latin typeface="Poppins"/>
                <a:ea typeface="Poppins"/>
                <a:cs typeface="Poppins"/>
                <a:sym typeface="Poppins"/>
              </a:rPr>
              <a:t>Compatibilidad con </a:t>
            </a:r>
            <a:r>
              <a:rPr lang="en-US" sz="2600">
                <a:solidFill>
                  <a:srgbClr val="737373"/>
                </a:solidFill>
                <a:latin typeface="Poppins"/>
                <a:ea typeface="Poppins"/>
                <a:cs typeface="Poppins"/>
                <a:sym typeface="Poppins"/>
              </a:rPr>
              <a:t>múltiples</a:t>
            </a:r>
            <a:r>
              <a:rPr lang="en-US" sz="2600">
                <a:solidFill>
                  <a:srgbClr val="737373"/>
                </a:solidFill>
                <a:latin typeface="Poppins"/>
                <a:ea typeface="Poppins"/>
                <a:cs typeface="Poppins"/>
                <a:sym typeface="Poppins"/>
              </a:rPr>
              <a:t> dispositivos que </a:t>
            </a:r>
            <a:r>
              <a:rPr lang="en-US" sz="2600">
                <a:solidFill>
                  <a:srgbClr val="737373"/>
                </a:solidFill>
                <a:latin typeface="Poppins"/>
                <a:ea typeface="Poppins"/>
                <a:cs typeface="Poppins"/>
                <a:sym typeface="Poppins"/>
              </a:rPr>
              <a:t>incluyen</a:t>
            </a:r>
            <a:r>
              <a:rPr lang="en-US" sz="2600">
                <a:solidFill>
                  <a:srgbClr val="737373"/>
                </a:solidFill>
                <a:latin typeface="Poppins"/>
                <a:ea typeface="Poppins"/>
                <a:cs typeface="Poppins"/>
                <a:sym typeface="Poppins"/>
              </a:rPr>
              <a:t> lectores </a:t>
            </a:r>
            <a:r>
              <a:rPr lang="en-US" sz="2600">
                <a:solidFill>
                  <a:srgbClr val="737373"/>
                </a:solidFill>
                <a:latin typeface="Poppins"/>
                <a:ea typeface="Poppins"/>
                <a:cs typeface="Poppins"/>
                <a:sym typeface="Poppins"/>
              </a:rPr>
              <a:t>ópticos</a:t>
            </a:r>
            <a:r>
              <a:rPr lang="en-US" sz="2600">
                <a:solidFill>
                  <a:srgbClr val="737373"/>
                </a:solidFill>
                <a:latin typeface="Poppins"/>
                <a:ea typeface="Poppins"/>
                <a:cs typeface="Poppins"/>
                <a:sym typeface="Poppins"/>
              </a:rPr>
              <a:t>.</a:t>
            </a:r>
            <a:r>
              <a:rPr b="0" i="0" lang="en-US" sz="2600" u="none" cap="none" strike="noStrike">
                <a:solidFill>
                  <a:srgbClr val="737373"/>
                </a:solidFill>
                <a:latin typeface="Poppins"/>
                <a:ea typeface="Poppins"/>
                <a:cs typeface="Poppins"/>
                <a:sym typeface="Poppins"/>
              </a:rPr>
              <a:t> </a:t>
            </a:r>
            <a:endParaRPr b="0" i="0" sz="1400" u="none" cap="none" strike="noStrike">
              <a:solidFill>
                <a:srgbClr val="000000"/>
              </a:solidFill>
              <a:latin typeface="Arial"/>
              <a:ea typeface="Arial"/>
              <a:cs typeface="Arial"/>
              <a:sym typeface="Arial"/>
            </a:endParaRPr>
          </a:p>
        </p:txBody>
      </p:sp>
      <p:sp>
        <p:nvSpPr>
          <p:cNvPr id="372" name="Google Shape;372;g32c9b27100e_1_0"/>
          <p:cNvSpPr txBox="1"/>
          <p:nvPr/>
        </p:nvSpPr>
        <p:spPr>
          <a:xfrm>
            <a:off x="9287873" y="4423200"/>
            <a:ext cx="7526700" cy="456240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lang="en-US" sz="2600">
                <a:solidFill>
                  <a:srgbClr val="737373"/>
                </a:solidFill>
                <a:latin typeface="Poppins"/>
                <a:ea typeface="Poppins"/>
                <a:cs typeface="Poppins"/>
                <a:sym typeface="Poppins"/>
              </a:rPr>
              <a:t>Capacidad limitada en comparación con los HDD y SSD</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lang="en-US" sz="2600">
                <a:solidFill>
                  <a:srgbClr val="737373"/>
                </a:solidFill>
                <a:latin typeface="Poppins"/>
                <a:ea typeface="Poppins"/>
                <a:cs typeface="Poppins"/>
                <a:sym typeface="Poppins"/>
              </a:rPr>
              <a:t>Velocidad de escritura/lectura es considerablemente </a:t>
            </a:r>
            <a:r>
              <a:rPr lang="en-US" sz="2600">
                <a:solidFill>
                  <a:srgbClr val="737373"/>
                </a:solidFill>
                <a:latin typeface="Poppins"/>
                <a:ea typeface="Poppins"/>
                <a:cs typeface="Poppins"/>
                <a:sym typeface="Poppins"/>
              </a:rPr>
              <a:t>más</a:t>
            </a:r>
            <a:r>
              <a:rPr lang="en-US" sz="2600">
                <a:solidFill>
                  <a:srgbClr val="737373"/>
                </a:solidFill>
                <a:latin typeface="Poppins"/>
                <a:ea typeface="Poppins"/>
                <a:cs typeface="Poppins"/>
                <a:sym typeface="Poppins"/>
              </a:rPr>
              <a:t> baja</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lang="en-US" sz="2600">
                <a:solidFill>
                  <a:srgbClr val="737373"/>
                </a:solidFill>
                <a:latin typeface="Poppins"/>
                <a:ea typeface="Poppins"/>
                <a:cs typeface="Poppins"/>
                <a:sym typeface="Poppins"/>
              </a:rPr>
              <a:t>Son propensos a rayarse y </a:t>
            </a:r>
            <a:r>
              <a:rPr lang="en-US" sz="2600">
                <a:solidFill>
                  <a:srgbClr val="737373"/>
                </a:solidFill>
                <a:latin typeface="Poppins"/>
                <a:ea typeface="Poppins"/>
                <a:cs typeface="Poppins"/>
                <a:sym typeface="Poppins"/>
              </a:rPr>
              <a:t>deteriorarse</a:t>
            </a:r>
            <a:r>
              <a:rPr lang="en-US" sz="2600">
                <a:solidFill>
                  <a:srgbClr val="737373"/>
                </a:solidFill>
                <a:latin typeface="Poppins"/>
                <a:ea typeface="Poppins"/>
                <a:cs typeface="Poppins"/>
                <a:sym typeface="Poppins"/>
              </a:rPr>
              <a:t> con el tiempo</a:t>
            </a:r>
            <a:endParaRPr sz="2600">
              <a:solidFill>
                <a:srgbClr val="737373"/>
              </a:solidFill>
              <a:latin typeface="Poppins"/>
              <a:ea typeface="Poppins"/>
              <a:cs typeface="Poppins"/>
              <a:sym typeface="Poppins"/>
            </a:endParaRPr>
          </a:p>
          <a:p>
            <a:pPr indent="-280671" lvl="1" marL="561342" marR="0" rtl="0" algn="just">
              <a:lnSpc>
                <a:spcPct val="130000"/>
              </a:lnSpc>
              <a:spcBef>
                <a:spcPts val="0"/>
              </a:spcBef>
              <a:spcAft>
                <a:spcPts val="0"/>
              </a:spcAft>
              <a:buClr>
                <a:srgbClr val="737373"/>
              </a:buClr>
              <a:buSzPts val="2600"/>
              <a:buFont typeface="Poppins"/>
              <a:buChar char="•"/>
            </a:pPr>
            <a:r>
              <a:rPr lang="en-US" sz="2600">
                <a:solidFill>
                  <a:srgbClr val="737373"/>
                </a:solidFill>
                <a:latin typeface="Poppins"/>
                <a:ea typeface="Poppins"/>
                <a:cs typeface="Poppins"/>
                <a:sym typeface="Poppins"/>
              </a:rPr>
              <a:t>Poca portabilidad comparados con memorias usb</a:t>
            </a:r>
            <a:endParaRPr sz="2600">
              <a:solidFill>
                <a:srgbClr val="737373"/>
              </a:solidFill>
              <a:latin typeface="Poppins"/>
              <a:ea typeface="Poppins"/>
              <a:cs typeface="Poppins"/>
              <a:sym typeface="Poppins"/>
            </a:endParaRPr>
          </a:p>
          <a:p>
            <a:pPr indent="-280671" lvl="1" marL="561342" marR="0" rtl="0" algn="just">
              <a:lnSpc>
                <a:spcPct val="130000"/>
              </a:lnSpc>
              <a:spcBef>
                <a:spcPts val="0"/>
              </a:spcBef>
              <a:spcAft>
                <a:spcPts val="0"/>
              </a:spcAft>
              <a:buClr>
                <a:srgbClr val="737373"/>
              </a:buClr>
              <a:buSzPts val="2600"/>
              <a:buFont typeface="Poppins"/>
              <a:buChar char="•"/>
            </a:pPr>
            <a:r>
              <a:rPr lang="en-US" sz="2600">
                <a:solidFill>
                  <a:srgbClr val="737373"/>
                </a:solidFill>
                <a:latin typeface="Poppins"/>
                <a:ea typeface="Poppins"/>
                <a:cs typeface="Poppins"/>
                <a:sym typeface="Poppins"/>
              </a:rPr>
              <a:t>Obsolescencia.</a:t>
            </a:r>
            <a:endParaRPr sz="2600">
              <a:solidFill>
                <a:srgbClr val="737373"/>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3"/>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378" name="Google Shape;378;p23"/>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379" name="Google Shape;379;p23"/>
          <p:cNvGrpSpPr/>
          <p:nvPr/>
        </p:nvGrpSpPr>
        <p:grpSpPr>
          <a:xfrm rot="9869657">
            <a:off x="15094882" y="6832190"/>
            <a:ext cx="6482272" cy="7020689"/>
            <a:chOff x="0" y="-344387"/>
            <a:chExt cx="8643063" cy="9360955"/>
          </a:xfrm>
        </p:grpSpPr>
        <p:sp>
          <p:nvSpPr>
            <p:cNvPr id="380" name="Google Shape;380;p23"/>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381" name="Google Shape;381;p23"/>
            <p:cNvSpPr/>
            <p:nvPr/>
          </p:nvSpPr>
          <p:spPr>
            <a:xfrm>
              <a:off x="22055" y="-344387"/>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382" name="Google Shape;382;p23"/>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383" name="Google Shape;383;p23"/>
          <p:cNvSpPr txBox="1"/>
          <p:nvPr/>
        </p:nvSpPr>
        <p:spPr>
          <a:xfrm>
            <a:off x="10369964" y="910554"/>
            <a:ext cx="6858000" cy="6156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DISCO DURO (HDD)</a:t>
            </a:r>
            <a:endParaRPr b="0" i="0" sz="1400" u="none" cap="none" strike="noStrike">
              <a:solidFill>
                <a:srgbClr val="000000"/>
              </a:solidFill>
              <a:latin typeface="Arial"/>
              <a:ea typeface="Arial"/>
              <a:cs typeface="Arial"/>
              <a:sym typeface="Arial"/>
            </a:endParaRPr>
          </a:p>
        </p:txBody>
      </p:sp>
      <p:grpSp>
        <p:nvGrpSpPr>
          <p:cNvPr id="384" name="Google Shape;384;p23"/>
          <p:cNvGrpSpPr/>
          <p:nvPr/>
        </p:nvGrpSpPr>
        <p:grpSpPr>
          <a:xfrm>
            <a:off x="211000" y="-48746"/>
            <a:ext cx="10384491" cy="10384491"/>
            <a:chOff x="0" y="0"/>
            <a:chExt cx="13845988" cy="13845988"/>
          </a:xfrm>
        </p:grpSpPr>
        <p:sp>
          <p:nvSpPr>
            <p:cNvPr id="385" name="Google Shape;385;p23"/>
            <p:cNvSpPr/>
            <p:nvPr/>
          </p:nvSpPr>
          <p:spPr>
            <a:xfrm>
              <a:off x="0" y="0"/>
              <a:ext cx="13845988" cy="13845988"/>
            </a:xfrm>
            <a:custGeom>
              <a:rect b="b" l="l" r="r" t="t"/>
              <a:pathLst>
                <a:path extrusionOk="0" h="13845988" w="13845988">
                  <a:moveTo>
                    <a:pt x="0" y="0"/>
                  </a:moveTo>
                  <a:lnTo>
                    <a:pt x="13845988" y="0"/>
                  </a:lnTo>
                  <a:lnTo>
                    <a:pt x="13845988" y="13845988"/>
                  </a:lnTo>
                  <a:lnTo>
                    <a:pt x="0" y="13845988"/>
                  </a:lnTo>
                  <a:lnTo>
                    <a:pt x="0" y="0"/>
                  </a:lnTo>
                  <a:close/>
                </a:path>
              </a:pathLst>
            </a:custGeom>
            <a:blipFill rotWithShape="1">
              <a:blip r:embed="rId7">
                <a:alphaModFix amt="12000"/>
              </a:blip>
              <a:stretch>
                <a:fillRect b="0" l="0" r="0" t="0"/>
              </a:stretch>
            </a:blipFill>
            <a:ln>
              <a:noFill/>
            </a:ln>
          </p:spPr>
        </p:sp>
        <p:sp>
          <p:nvSpPr>
            <p:cNvPr id="386" name="Google Shape;386;p23"/>
            <p:cNvSpPr/>
            <p:nvPr/>
          </p:nvSpPr>
          <p:spPr>
            <a:xfrm>
              <a:off x="738382" y="738382"/>
              <a:ext cx="12369224" cy="12369224"/>
            </a:xfrm>
            <a:custGeom>
              <a:rect b="b" l="l" r="r" t="t"/>
              <a:pathLst>
                <a:path extrusionOk="0" h="12369224" w="12369224">
                  <a:moveTo>
                    <a:pt x="0" y="0"/>
                  </a:moveTo>
                  <a:lnTo>
                    <a:pt x="12369224" y="0"/>
                  </a:lnTo>
                  <a:lnTo>
                    <a:pt x="12369224" y="12369224"/>
                  </a:lnTo>
                  <a:lnTo>
                    <a:pt x="0" y="12369224"/>
                  </a:lnTo>
                  <a:lnTo>
                    <a:pt x="0" y="0"/>
                  </a:lnTo>
                  <a:close/>
                </a:path>
              </a:pathLst>
            </a:custGeom>
            <a:blipFill rotWithShape="1">
              <a:blip r:embed="rId8">
                <a:alphaModFix/>
              </a:blip>
              <a:stretch>
                <a:fillRect b="0" l="0" r="0" t="0"/>
              </a:stretch>
            </a:blipFill>
            <a:ln>
              <a:noFill/>
            </a:ln>
          </p:spPr>
        </p:sp>
      </p:grpSp>
      <p:sp>
        <p:nvSpPr>
          <p:cNvPr id="387" name="Google Shape;387;p23"/>
          <p:cNvSpPr/>
          <p:nvPr/>
        </p:nvSpPr>
        <p:spPr>
          <a:xfrm>
            <a:off x="998078" y="733941"/>
            <a:ext cx="8789098" cy="8789098"/>
          </a:xfrm>
          <a:custGeom>
            <a:rect b="b" l="l" r="r" t="t"/>
            <a:pathLst>
              <a:path extrusionOk="0" h="5255260" w="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rotWithShape="1">
            <a:blip r:embed="rId9">
              <a:alphaModFix/>
            </a:blip>
            <a:stretch>
              <a:fillRect b="0" l="-24899" r="-24899"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23"/>
          <p:cNvSpPr txBox="1"/>
          <p:nvPr/>
        </p:nvSpPr>
        <p:spPr>
          <a:xfrm>
            <a:off x="10946990" y="1801416"/>
            <a:ext cx="6709500" cy="76653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Este tipo de dispositivo deben su nombre a su estructura compuesto uno o varios platos o discos rígidos unidos por un mismo eje que gira a gran velocidad dentro de una caja metálica sellada, en tanto, sobre cada plato y en cada una de sus caras, se encuentra situado un cabezal de lectura/escritura que flota sobre una delgada lámina de aire generada por la rotación de los discos.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4"/>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394" name="Google Shape;394;p24"/>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395" name="Google Shape;395;p24"/>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396" name="Google Shape;396;p24"/>
          <p:cNvGrpSpPr/>
          <p:nvPr/>
        </p:nvGrpSpPr>
        <p:grpSpPr>
          <a:xfrm>
            <a:off x="-1675026" y="-3788799"/>
            <a:ext cx="6482302" cy="6998351"/>
            <a:chOff x="-5" y="-314567"/>
            <a:chExt cx="8643069" cy="9331134"/>
          </a:xfrm>
        </p:grpSpPr>
        <p:sp>
          <p:nvSpPr>
            <p:cNvPr id="397" name="Google Shape;397;p24"/>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398" name="Google Shape;398;p24"/>
            <p:cNvSpPr/>
            <p:nvPr/>
          </p:nvSpPr>
          <p:spPr>
            <a:xfrm>
              <a:off x="-5" y="-314567"/>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399" name="Google Shape;399;p24"/>
          <p:cNvSpPr txBox="1"/>
          <p:nvPr/>
        </p:nvSpPr>
        <p:spPr>
          <a:xfrm>
            <a:off x="1233175" y="1786100"/>
            <a:ext cx="10222800" cy="8627100"/>
          </a:xfrm>
          <a:prstGeom prst="rect">
            <a:avLst/>
          </a:prstGeom>
          <a:noFill/>
          <a:ln>
            <a:noFill/>
          </a:ln>
        </p:spPr>
        <p:txBody>
          <a:bodyPr anchorCtr="0" anchor="t" bIns="0" lIns="0" spcFirstLastPara="1" rIns="0" wrap="square" tIns="0">
            <a:spAutoFit/>
          </a:bodyPr>
          <a:lstStyle/>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Para su funcionamiento tanto en lectura y escritura consiste en el movimiento del cabezal a lo largo del disco en busca del sector deseado, realizando acciones tales como: </a:t>
            </a:r>
            <a:endParaRPr b="0" i="0" sz="1400" u="none" cap="none" strike="noStrike">
              <a:solidFill>
                <a:srgbClr val="000000"/>
              </a:solidFill>
              <a:latin typeface="Arial"/>
              <a:ea typeface="Arial"/>
              <a:cs typeface="Arial"/>
              <a:sym typeface="Arial"/>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Tiempo medio de acceso (el tiempo medio que tarda la aguja en situarse en la pista y el sector deseado) </a:t>
            </a:r>
            <a:endParaRPr b="0" i="0" sz="1400" u="none" cap="none" strike="noStrike">
              <a:solidFill>
                <a:srgbClr val="000000"/>
              </a:solidFill>
              <a:latin typeface="Arial"/>
              <a:ea typeface="Arial"/>
              <a:cs typeface="Arial"/>
              <a:sym typeface="Arial"/>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Tiempo de lectura/escritura (el tiempo medio que tarda el disco en leer o escribir una nueva información) </a:t>
            </a:r>
            <a:endParaRPr b="0" i="0" sz="1400" u="none" cap="none" strike="noStrike">
              <a:solidFill>
                <a:srgbClr val="000000"/>
              </a:solidFill>
              <a:latin typeface="Arial"/>
              <a:ea typeface="Arial"/>
              <a:cs typeface="Arial"/>
              <a:sym typeface="Arial"/>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Velocidad de rotación (revoluciones por minuto de los platos) </a:t>
            </a:r>
            <a:endParaRPr b="0" i="0" sz="1400" u="none" cap="none" strike="noStrike">
              <a:solidFill>
                <a:srgbClr val="000000"/>
              </a:solidFill>
              <a:latin typeface="Arial"/>
              <a:ea typeface="Arial"/>
              <a:cs typeface="Arial"/>
              <a:sym typeface="Arial"/>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Tasa de transferencia (velocidad con la cual traslada la información a la computadora)</a:t>
            </a:r>
            <a:endParaRPr b="0" i="0" sz="1400" u="none" cap="none" strike="noStrike">
              <a:solidFill>
                <a:srgbClr val="000000"/>
              </a:solidFill>
              <a:latin typeface="Arial"/>
              <a:ea typeface="Arial"/>
              <a:cs typeface="Arial"/>
              <a:sym typeface="Arial"/>
            </a:endParaRPr>
          </a:p>
          <a:p>
            <a:pPr indent="0" lvl="0" marL="0" marR="0" rtl="0" algn="just">
              <a:lnSpc>
                <a:spcPct val="118005"/>
              </a:lnSpc>
              <a:spcBef>
                <a:spcPts val="0"/>
              </a:spcBef>
              <a:spcAft>
                <a:spcPts val="0"/>
              </a:spcAft>
              <a:buClr>
                <a:srgbClr val="000000"/>
              </a:buClr>
              <a:buSzPts val="3199"/>
              <a:buFont typeface="Arial"/>
              <a:buNone/>
            </a:pPr>
            <a:r>
              <a:t/>
            </a:r>
            <a:endParaRPr b="0" i="0" sz="3199" u="none" cap="none" strike="noStrike">
              <a:solidFill>
                <a:srgbClr val="737373"/>
              </a:solidFill>
              <a:latin typeface="Poppins"/>
              <a:ea typeface="Poppins"/>
              <a:cs typeface="Poppins"/>
              <a:sym typeface="Poppins"/>
            </a:endParaRPr>
          </a:p>
        </p:txBody>
      </p:sp>
      <p:sp>
        <p:nvSpPr>
          <p:cNvPr id="400" name="Google Shape;400;p24"/>
          <p:cNvSpPr/>
          <p:nvPr/>
        </p:nvSpPr>
        <p:spPr>
          <a:xfrm>
            <a:off x="13548445" y="4042252"/>
            <a:ext cx="2880360" cy="4114800"/>
          </a:xfrm>
          <a:custGeom>
            <a:rect b="b" l="l" r="r" t="t"/>
            <a:pathLst>
              <a:path extrusionOk="0" h="4114800" w="2880360">
                <a:moveTo>
                  <a:pt x="0" y="0"/>
                </a:moveTo>
                <a:lnTo>
                  <a:pt x="2880360" y="0"/>
                </a:lnTo>
                <a:lnTo>
                  <a:pt x="2880360" y="4114800"/>
                </a:lnTo>
                <a:lnTo>
                  <a:pt x="0" y="411480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5"/>
          <p:cNvSpPr/>
          <p:nvPr/>
        </p:nvSpPr>
        <p:spPr>
          <a:xfrm>
            <a:off x="0" y="-184968"/>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406" name="Google Shape;406;p25"/>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407" name="Google Shape;407;p25"/>
          <p:cNvGrpSpPr/>
          <p:nvPr/>
        </p:nvGrpSpPr>
        <p:grpSpPr>
          <a:xfrm rot="9869556">
            <a:off x="14431083" y="6569611"/>
            <a:ext cx="6482297" cy="6762426"/>
            <a:chOff x="0" y="0"/>
            <a:chExt cx="8643063" cy="9016568"/>
          </a:xfrm>
        </p:grpSpPr>
        <p:sp>
          <p:nvSpPr>
            <p:cNvPr id="408" name="Google Shape;408;p25"/>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409" name="Google Shape;409;p25"/>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410" name="Google Shape;410;p25"/>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411" name="Google Shape;411;p25"/>
          <p:cNvSpPr txBox="1"/>
          <p:nvPr/>
        </p:nvSpPr>
        <p:spPr>
          <a:xfrm>
            <a:off x="3686177" y="3456863"/>
            <a:ext cx="10915646"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Disco duro (HDD)</a:t>
            </a:r>
            <a:endParaRPr b="0" i="0" sz="1400" u="none" cap="none" strike="noStrike">
              <a:solidFill>
                <a:srgbClr val="000000"/>
              </a:solidFill>
              <a:latin typeface="Arial"/>
              <a:ea typeface="Arial"/>
              <a:cs typeface="Arial"/>
              <a:sym typeface="Arial"/>
            </a:endParaRPr>
          </a:p>
        </p:txBody>
      </p:sp>
      <p:sp>
        <p:nvSpPr>
          <p:cNvPr id="412" name="Google Shape;412;p25"/>
          <p:cNvSpPr txBox="1"/>
          <p:nvPr/>
        </p:nvSpPr>
        <p:spPr>
          <a:xfrm>
            <a:off x="1425541"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Ventajas</a:t>
            </a:r>
            <a:endParaRPr b="0" i="0" sz="1400" u="none" cap="none" strike="noStrike">
              <a:solidFill>
                <a:srgbClr val="000000"/>
              </a:solidFill>
              <a:latin typeface="Arial"/>
              <a:ea typeface="Arial"/>
              <a:cs typeface="Arial"/>
              <a:sym typeface="Arial"/>
            </a:endParaRPr>
          </a:p>
        </p:txBody>
      </p:sp>
      <p:sp>
        <p:nvSpPr>
          <p:cNvPr id="413" name="Google Shape;413;p25"/>
          <p:cNvSpPr txBox="1"/>
          <p:nvPr/>
        </p:nvSpPr>
        <p:spPr>
          <a:xfrm>
            <a:off x="9199940"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Desventajas</a:t>
            </a:r>
            <a:endParaRPr b="0" i="0" sz="1400" u="none" cap="none" strike="noStrike">
              <a:solidFill>
                <a:srgbClr val="000000"/>
              </a:solidFill>
              <a:latin typeface="Arial"/>
              <a:ea typeface="Arial"/>
              <a:cs typeface="Arial"/>
              <a:sym typeface="Arial"/>
            </a:endParaRPr>
          </a:p>
        </p:txBody>
      </p:sp>
      <p:sp>
        <p:nvSpPr>
          <p:cNvPr id="414" name="Google Shape;414;p25"/>
          <p:cNvSpPr txBox="1"/>
          <p:nvPr/>
        </p:nvSpPr>
        <p:spPr>
          <a:xfrm>
            <a:off x="1425541" y="6740460"/>
            <a:ext cx="11385267" cy="1290955"/>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Alta capacidad de almacenamiento</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Costo accesible</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Promedio de vida largo</a:t>
            </a:r>
            <a:endParaRPr b="0" i="0" sz="1400" u="none" cap="none" strike="noStrike">
              <a:solidFill>
                <a:srgbClr val="000000"/>
              </a:solidFill>
              <a:latin typeface="Arial"/>
              <a:ea typeface="Arial"/>
              <a:cs typeface="Arial"/>
              <a:sym typeface="Arial"/>
            </a:endParaRPr>
          </a:p>
        </p:txBody>
      </p:sp>
      <p:sp>
        <p:nvSpPr>
          <p:cNvPr id="415" name="Google Shape;415;p25"/>
          <p:cNvSpPr txBox="1"/>
          <p:nvPr/>
        </p:nvSpPr>
        <p:spPr>
          <a:xfrm>
            <a:off x="9649643" y="6882052"/>
            <a:ext cx="11385267" cy="171958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Ruidosos por su mecanismo mecánico</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Tiende a dañarse ante movimientos o golpes </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Alto consumo energético</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Lento procesamiento de datos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6"/>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421" name="Google Shape;421;p26"/>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422" name="Google Shape;422;p26"/>
          <p:cNvGrpSpPr/>
          <p:nvPr/>
        </p:nvGrpSpPr>
        <p:grpSpPr>
          <a:xfrm rot="9869657">
            <a:off x="14762811" y="7190944"/>
            <a:ext cx="6794274" cy="6932277"/>
            <a:chOff x="-416005" y="-226504"/>
            <a:chExt cx="9059068" cy="9243072"/>
          </a:xfrm>
        </p:grpSpPr>
        <p:sp>
          <p:nvSpPr>
            <p:cNvPr id="423" name="Google Shape;423;p26"/>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424" name="Google Shape;424;p26"/>
            <p:cNvSpPr/>
            <p:nvPr/>
          </p:nvSpPr>
          <p:spPr>
            <a:xfrm>
              <a:off x="-416005" y="-226504"/>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425" name="Google Shape;425;p26"/>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grpSp>
        <p:nvGrpSpPr>
          <p:cNvPr id="426" name="Google Shape;426;p26"/>
          <p:cNvGrpSpPr/>
          <p:nvPr/>
        </p:nvGrpSpPr>
        <p:grpSpPr>
          <a:xfrm>
            <a:off x="211000" y="-48746"/>
            <a:ext cx="10384491" cy="10384491"/>
            <a:chOff x="0" y="0"/>
            <a:chExt cx="13845988" cy="13845988"/>
          </a:xfrm>
        </p:grpSpPr>
        <p:sp>
          <p:nvSpPr>
            <p:cNvPr id="427" name="Google Shape;427;p26"/>
            <p:cNvSpPr/>
            <p:nvPr/>
          </p:nvSpPr>
          <p:spPr>
            <a:xfrm>
              <a:off x="0" y="0"/>
              <a:ext cx="13845988" cy="13845988"/>
            </a:xfrm>
            <a:custGeom>
              <a:rect b="b" l="l" r="r" t="t"/>
              <a:pathLst>
                <a:path extrusionOk="0" h="13845988" w="13845988">
                  <a:moveTo>
                    <a:pt x="0" y="0"/>
                  </a:moveTo>
                  <a:lnTo>
                    <a:pt x="13845988" y="0"/>
                  </a:lnTo>
                  <a:lnTo>
                    <a:pt x="13845988" y="13845988"/>
                  </a:lnTo>
                  <a:lnTo>
                    <a:pt x="0" y="13845988"/>
                  </a:lnTo>
                  <a:lnTo>
                    <a:pt x="0" y="0"/>
                  </a:lnTo>
                  <a:close/>
                </a:path>
              </a:pathLst>
            </a:custGeom>
            <a:blipFill rotWithShape="1">
              <a:blip r:embed="rId7">
                <a:alphaModFix amt="12000"/>
              </a:blip>
              <a:stretch>
                <a:fillRect b="0" l="0" r="0" t="0"/>
              </a:stretch>
            </a:blipFill>
            <a:ln>
              <a:noFill/>
            </a:ln>
          </p:spPr>
        </p:sp>
        <p:sp>
          <p:nvSpPr>
            <p:cNvPr id="428" name="Google Shape;428;p26"/>
            <p:cNvSpPr/>
            <p:nvPr/>
          </p:nvSpPr>
          <p:spPr>
            <a:xfrm>
              <a:off x="738382" y="738382"/>
              <a:ext cx="12369224" cy="12369224"/>
            </a:xfrm>
            <a:custGeom>
              <a:rect b="b" l="l" r="r" t="t"/>
              <a:pathLst>
                <a:path extrusionOk="0" h="12369224" w="12369224">
                  <a:moveTo>
                    <a:pt x="0" y="0"/>
                  </a:moveTo>
                  <a:lnTo>
                    <a:pt x="12369224" y="0"/>
                  </a:lnTo>
                  <a:lnTo>
                    <a:pt x="12369224" y="12369224"/>
                  </a:lnTo>
                  <a:lnTo>
                    <a:pt x="0" y="12369224"/>
                  </a:lnTo>
                  <a:lnTo>
                    <a:pt x="0" y="0"/>
                  </a:lnTo>
                  <a:close/>
                </a:path>
              </a:pathLst>
            </a:custGeom>
            <a:blipFill rotWithShape="1">
              <a:blip r:embed="rId8">
                <a:alphaModFix/>
              </a:blip>
              <a:stretch>
                <a:fillRect b="0" l="0" r="0" t="0"/>
              </a:stretch>
            </a:blipFill>
            <a:ln>
              <a:noFill/>
            </a:ln>
          </p:spPr>
        </p:sp>
      </p:grpSp>
      <p:sp>
        <p:nvSpPr>
          <p:cNvPr id="429" name="Google Shape;429;p26"/>
          <p:cNvSpPr/>
          <p:nvPr/>
        </p:nvSpPr>
        <p:spPr>
          <a:xfrm>
            <a:off x="998078" y="733941"/>
            <a:ext cx="8789098" cy="8789098"/>
          </a:xfrm>
          <a:custGeom>
            <a:rect b="b" l="l" r="r" t="t"/>
            <a:pathLst>
              <a:path extrusionOk="0" h="5255260" w="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rotWithShape="1">
            <a:blip r:embed="rId9">
              <a:alphaModFix/>
            </a:blip>
            <a:stretch>
              <a:fillRect b="0" l="0" r="-39856"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26"/>
          <p:cNvSpPr txBox="1"/>
          <p:nvPr/>
        </p:nvSpPr>
        <p:spPr>
          <a:xfrm>
            <a:off x="11850749" y="890049"/>
            <a:ext cx="5067600" cy="13542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UNIDAD DE ESTADO </a:t>
            </a:r>
            <a:r>
              <a:rPr b="1" i="1" lang="en-US" sz="3999">
                <a:solidFill>
                  <a:srgbClr val="1B4A9B"/>
                </a:solidFill>
                <a:latin typeface="Poppins"/>
                <a:ea typeface="Poppins"/>
                <a:cs typeface="Poppins"/>
                <a:sym typeface="Poppins"/>
              </a:rPr>
              <a:t>SÓLIDO</a:t>
            </a:r>
            <a:r>
              <a:rPr b="1" i="1" lang="en-US" sz="3999" u="none" cap="none" strike="noStrike">
                <a:solidFill>
                  <a:srgbClr val="1B4A9B"/>
                </a:solidFill>
                <a:latin typeface="Poppins"/>
                <a:ea typeface="Poppins"/>
                <a:cs typeface="Poppins"/>
                <a:sym typeface="Poppins"/>
              </a:rPr>
              <a:t> (SDD)</a:t>
            </a:r>
            <a:endParaRPr b="0" i="0" sz="1400" u="none" cap="none" strike="noStrike">
              <a:solidFill>
                <a:srgbClr val="000000"/>
              </a:solidFill>
              <a:latin typeface="Arial"/>
              <a:ea typeface="Arial"/>
              <a:cs typeface="Arial"/>
              <a:sym typeface="Arial"/>
            </a:endParaRPr>
          </a:p>
        </p:txBody>
      </p:sp>
      <p:sp>
        <p:nvSpPr>
          <p:cNvPr id="431" name="Google Shape;431;p26"/>
          <p:cNvSpPr txBox="1"/>
          <p:nvPr/>
        </p:nvSpPr>
        <p:spPr>
          <a:xfrm>
            <a:off x="11096874" y="2463060"/>
            <a:ext cx="6575358" cy="59626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La </a:t>
            </a:r>
            <a:r>
              <a:rPr b="1" i="0" lang="en-US" sz="3000" u="none" cap="none" strike="noStrike">
                <a:solidFill>
                  <a:srgbClr val="737373"/>
                </a:solidFill>
                <a:latin typeface="Poppins"/>
                <a:ea typeface="Poppins"/>
                <a:cs typeface="Poppins"/>
                <a:sym typeface="Poppins"/>
              </a:rPr>
              <a:t>unidad de estado sólido</a:t>
            </a:r>
            <a:r>
              <a:rPr b="0" i="0" lang="en-US" sz="3000" u="none" cap="none" strike="noStrike">
                <a:solidFill>
                  <a:srgbClr val="737373"/>
                </a:solidFill>
                <a:latin typeface="Poppins"/>
                <a:ea typeface="Poppins"/>
                <a:cs typeface="Poppins"/>
                <a:sym typeface="Poppins"/>
              </a:rPr>
              <a:t>, la o el SSD (acrónimo inglés de Solid State Drive), también llamado a veces incorrectamente </a:t>
            </a:r>
            <a:r>
              <a:rPr b="1" i="0" lang="en-US" sz="3000" u="none" cap="none" strike="noStrike">
                <a:solidFill>
                  <a:srgbClr val="737373"/>
                </a:solidFill>
                <a:latin typeface="Poppins"/>
                <a:ea typeface="Poppins"/>
                <a:cs typeface="Poppins"/>
                <a:sym typeface="Poppins"/>
              </a:rPr>
              <a:t>disco de estado sólido</a:t>
            </a:r>
            <a:r>
              <a:rPr b="0" i="0" lang="en-US" sz="3000" u="none" cap="none" strike="noStrike">
                <a:solidFill>
                  <a:srgbClr val="737373"/>
                </a:solidFill>
                <a:latin typeface="Poppins"/>
                <a:ea typeface="Poppins"/>
                <a:cs typeface="Poppins"/>
                <a:sym typeface="Poppins"/>
              </a:rPr>
              <a:t> pues carece de disco, es un tipo de </a:t>
            </a:r>
            <a:r>
              <a:rPr b="0" i="0" lang="en-US" sz="3000" u="sng" cap="none" strike="noStrike">
                <a:solidFill>
                  <a:srgbClr val="737373"/>
                </a:solidFill>
                <a:latin typeface="Poppins"/>
                <a:ea typeface="Poppins"/>
                <a:cs typeface="Poppins"/>
                <a:sym typeface="Poppins"/>
                <a:hlinkClick r:id="rId10">
                  <a:extLst>
                    <a:ext uri="{A12FA001-AC4F-418D-AE19-62706E023703}">
                      <ahyp:hlinkClr val="tx"/>
                    </a:ext>
                  </a:extLst>
                </a:hlinkClick>
              </a:rPr>
              <a:t>dispositivo de almacenamiento de datos</a:t>
            </a:r>
            <a:r>
              <a:rPr b="0" i="0" lang="en-US" sz="3000" u="none" cap="none" strike="noStrike">
                <a:solidFill>
                  <a:srgbClr val="737373"/>
                </a:solidFill>
                <a:latin typeface="Poppins"/>
                <a:ea typeface="Poppins"/>
                <a:cs typeface="Poppins"/>
                <a:sym typeface="Poppins"/>
              </a:rPr>
              <a:t> que utiliza </a:t>
            </a:r>
            <a:r>
              <a:rPr b="1" i="0" lang="en-US" sz="3000" u="sng" cap="none" strike="noStrike">
                <a:solidFill>
                  <a:srgbClr val="737373"/>
                </a:solidFill>
                <a:latin typeface="Poppins"/>
                <a:ea typeface="Poppins"/>
                <a:cs typeface="Poppins"/>
                <a:sym typeface="Poppins"/>
                <a:hlinkClick r:id="rId11">
                  <a:extLst>
                    <a:ext uri="{A12FA001-AC4F-418D-AE19-62706E023703}">
                      <ahyp:hlinkClr val="tx"/>
                    </a:ext>
                  </a:extLst>
                </a:hlinkClick>
              </a:rPr>
              <a:t>memoria no volátil</a:t>
            </a:r>
            <a:r>
              <a:rPr b="0" i="0" lang="en-US" sz="3000" u="none" cap="none" strike="noStrike">
                <a:solidFill>
                  <a:srgbClr val="737373"/>
                </a:solidFill>
                <a:latin typeface="Poppins"/>
                <a:ea typeface="Poppins"/>
                <a:cs typeface="Poppins"/>
                <a:sym typeface="Poppins"/>
              </a:rPr>
              <a:t>, como la </a:t>
            </a:r>
            <a:r>
              <a:rPr b="0" i="0" lang="en-US" sz="3000" u="sng" cap="none" strike="noStrike">
                <a:solidFill>
                  <a:srgbClr val="737373"/>
                </a:solidFill>
                <a:latin typeface="Poppins"/>
                <a:ea typeface="Poppins"/>
                <a:cs typeface="Poppins"/>
                <a:sym typeface="Poppins"/>
                <a:hlinkClick r:id="rId12">
                  <a:extLst>
                    <a:ext uri="{A12FA001-AC4F-418D-AE19-62706E023703}">
                      <ahyp:hlinkClr val="tx"/>
                    </a:ext>
                  </a:extLst>
                </a:hlinkClick>
              </a:rPr>
              <a:t>memoria flash</a:t>
            </a:r>
            <a:r>
              <a:rPr b="0" i="0" lang="en-US" sz="3000" u="none" cap="none" strike="noStrike">
                <a:solidFill>
                  <a:srgbClr val="737373"/>
                </a:solidFill>
                <a:latin typeface="Poppins"/>
                <a:ea typeface="Poppins"/>
                <a:cs typeface="Poppins"/>
                <a:sym typeface="Poppins"/>
              </a:rPr>
              <a:t>, para almacenar datos, en lugar de los </a:t>
            </a:r>
            <a:r>
              <a:rPr b="0" i="0" lang="en-US" sz="3000" u="sng" cap="none" strike="noStrike">
                <a:solidFill>
                  <a:srgbClr val="737373"/>
                </a:solidFill>
                <a:latin typeface="Poppins"/>
                <a:ea typeface="Poppins"/>
                <a:cs typeface="Poppins"/>
                <a:sym typeface="Poppins"/>
                <a:hlinkClick r:id="rId13">
                  <a:extLst>
                    <a:ext uri="{A12FA001-AC4F-418D-AE19-62706E023703}">
                      <ahyp:hlinkClr val="tx"/>
                    </a:ext>
                  </a:extLst>
                </a:hlinkClick>
              </a:rPr>
              <a:t>platos o discos</a:t>
            </a:r>
            <a:r>
              <a:rPr b="0" i="0" lang="en-US" sz="3000" u="none" cap="none" strike="noStrike">
                <a:solidFill>
                  <a:srgbClr val="737373"/>
                </a:solidFill>
                <a:latin typeface="Poppins"/>
                <a:ea typeface="Poppins"/>
                <a:cs typeface="Poppins"/>
                <a:sym typeface="Poppins"/>
              </a:rPr>
              <a:t> </a:t>
            </a:r>
            <a:r>
              <a:rPr b="0" i="0" lang="en-US" sz="3000" u="sng" cap="none" strike="noStrike">
                <a:solidFill>
                  <a:srgbClr val="737373"/>
                </a:solidFill>
                <a:latin typeface="Poppins"/>
                <a:ea typeface="Poppins"/>
                <a:cs typeface="Poppins"/>
                <a:sym typeface="Poppins"/>
                <a:hlinkClick r:id="rId14">
                  <a:extLst>
                    <a:ext uri="{A12FA001-AC4F-418D-AE19-62706E023703}">
                      <ahyp:hlinkClr val="tx"/>
                    </a:ext>
                  </a:extLst>
                </a:hlinkClick>
              </a:rPr>
              <a:t>magnéticos</a:t>
            </a:r>
            <a:r>
              <a:rPr b="0" i="0" lang="en-US" sz="3000" u="none" cap="none" strike="noStrike">
                <a:solidFill>
                  <a:srgbClr val="737373"/>
                </a:solidFill>
                <a:latin typeface="Poppins"/>
                <a:ea typeface="Poppins"/>
                <a:cs typeface="Poppins"/>
                <a:sym typeface="Poppins"/>
              </a:rPr>
              <a:t> de las </a:t>
            </a:r>
            <a:r>
              <a:rPr b="0" i="0" lang="en-US" sz="3000" u="sng" cap="none" strike="noStrike">
                <a:solidFill>
                  <a:srgbClr val="737373"/>
                </a:solidFill>
                <a:latin typeface="Poppins"/>
                <a:ea typeface="Poppins"/>
                <a:cs typeface="Poppins"/>
                <a:sym typeface="Poppins"/>
                <a:hlinkClick r:id="rId15">
                  <a:extLst>
                    <a:ext uri="{A12FA001-AC4F-418D-AE19-62706E023703}">
                      <ahyp:hlinkClr val="tx"/>
                    </a:ext>
                  </a:extLst>
                </a:hlinkClick>
              </a:rPr>
              <a:t>unidades de discos duros</a:t>
            </a:r>
            <a:r>
              <a:rPr b="0" i="0" lang="en-US" sz="3000" u="none" cap="none" strike="noStrike">
                <a:solidFill>
                  <a:srgbClr val="737373"/>
                </a:solidFill>
                <a:latin typeface="Poppins"/>
                <a:ea typeface="Poppins"/>
                <a:cs typeface="Poppins"/>
                <a:sym typeface="Poppins"/>
              </a:rPr>
              <a:t> (HDD)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27"/>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437" name="Google Shape;437;p27"/>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438" name="Google Shape;438;p27"/>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439" name="Google Shape;439;p27"/>
          <p:cNvGrpSpPr/>
          <p:nvPr/>
        </p:nvGrpSpPr>
        <p:grpSpPr>
          <a:xfrm>
            <a:off x="-1722197" y="-3678699"/>
            <a:ext cx="6482297" cy="6762426"/>
            <a:chOff x="0" y="0"/>
            <a:chExt cx="8643063" cy="9016568"/>
          </a:xfrm>
        </p:grpSpPr>
        <p:sp>
          <p:nvSpPr>
            <p:cNvPr id="440" name="Google Shape;440;p27"/>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441" name="Google Shape;441;p27"/>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442" name="Google Shape;442;p27"/>
          <p:cNvSpPr txBox="1"/>
          <p:nvPr/>
        </p:nvSpPr>
        <p:spPr>
          <a:xfrm>
            <a:off x="1028700" y="3255788"/>
            <a:ext cx="10222767" cy="4789678"/>
          </a:xfrm>
          <a:prstGeom prst="rect">
            <a:avLst/>
          </a:prstGeom>
          <a:noFill/>
          <a:ln>
            <a:noFill/>
          </a:ln>
        </p:spPr>
        <p:txBody>
          <a:bodyPr anchorCtr="0" anchor="t" bIns="0" lIns="0" spcFirstLastPara="1" rIns="0" wrap="square" tIns="0">
            <a:spAutoFit/>
          </a:bodyPr>
          <a:lstStyle/>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En su estructura este tipo de dispositivos almacena los datos como un dispositivo flash, reemplazando los mecanismos utilizados por un disco duro tradicional. </a:t>
            </a:r>
            <a:endParaRPr b="0" i="0" sz="1400" u="none" cap="none" strike="noStrike">
              <a:solidFill>
                <a:srgbClr val="000000"/>
              </a:solidFill>
              <a:latin typeface="Arial"/>
              <a:ea typeface="Arial"/>
              <a:cs typeface="Arial"/>
              <a:sym typeface="Arial"/>
            </a:endParaRPr>
          </a:p>
          <a:p>
            <a:pPr indent="0" lvl="0" marL="0" marR="0" rtl="0" algn="just">
              <a:lnSpc>
                <a:spcPct val="118005"/>
              </a:lnSpc>
              <a:spcBef>
                <a:spcPts val="0"/>
              </a:spcBef>
              <a:spcAft>
                <a:spcPts val="0"/>
              </a:spcAft>
              <a:buClr>
                <a:srgbClr val="000000"/>
              </a:buClr>
              <a:buSzPts val="3199"/>
              <a:buFont typeface="Arial"/>
              <a:buNone/>
            </a:pPr>
            <a:r>
              <a:t/>
            </a:r>
            <a:endParaRPr b="0" i="0" sz="3199" u="none" cap="none" strike="noStrike">
              <a:solidFill>
                <a:srgbClr val="737373"/>
              </a:solidFill>
              <a:latin typeface="Poppins"/>
              <a:ea typeface="Poppins"/>
              <a:cs typeface="Poppins"/>
              <a:sym typeface="Poppins"/>
            </a:endParaRPr>
          </a:p>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Su mejor característica es su alta capacidad para la manipulación de la información, lo cual beneficia gratamente a los equipos consiguiendo menores tiempos en el encendido, tiempos de espera, copia de información, etc</a:t>
            </a:r>
            <a:endParaRPr b="0" i="0" sz="1400" u="none" cap="none" strike="noStrike">
              <a:solidFill>
                <a:srgbClr val="000000"/>
              </a:solidFill>
              <a:latin typeface="Arial"/>
              <a:ea typeface="Arial"/>
              <a:cs typeface="Arial"/>
              <a:sym typeface="Arial"/>
            </a:endParaRPr>
          </a:p>
        </p:txBody>
      </p:sp>
      <p:sp>
        <p:nvSpPr>
          <p:cNvPr id="443" name="Google Shape;443;p27"/>
          <p:cNvSpPr/>
          <p:nvPr/>
        </p:nvSpPr>
        <p:spPr>
          <a:xfrm>
            <a:off x="13079519" y="6641963"/>
            <a:ext cx="4773080" cy="3089484"/>
          </a:xfrm>
          <a:custGeom>
            <a:rect b="b" l="l" r="r" t="t"/>
            <a:pathLst>
              <a:path extrusionOk="0" h="3089484" w="4773080">
                <a:moveTo>
                  <a:pt x="0" y="0"/>
                </a:moveTo>
                <a:lnTo>
                  <a:pt x="4773080" y="0"/>
                </a:lnTo>
                <a:lnTo>
                  <a:pt x="4773080" y="3089485"/>
                </a:lnTo>
                <a:lnTo>
                  <a:pt x="0" y="3089485"/>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8"/>
          <p:cNvSpPr/>
          <p:nvPr/>
        </p:nvSpPr>
        <p:spPr>
          <a:xfrm>
            <a:off x="0" y="-184968"/>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843"/>
            </a:srgbClr>
          </a:solidFill>
          <a:ln>
            <a:noFill/>
          </a:ln>
        </p:spPr>
      </p:sp>
      <p:sp>
        <p:nvSpPr>
          <p:cNvPr id="449" name="Google Shape;449;p28"/>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450" name="Google Shape;450;p28"/>
          <p:cNvGrpSpPr/>
          <p:nvPr/>
        </p:nvGrpSpPr>
        <p:grpSpPr>
          <a:xfrm rot="9869556">
            <a:off x="14431083" y="6569611"/>
            <a:ext cx="6482297" cy="6762426"/>
            <a:chOff x="0" y="0"/>
            <a:chExt cx="8643063" cy="9016568"/>
          </a:xfrm>
        </p:grpSpPr>
        <p:sp>
          <p:nvSpPr>
            <p:cNvPr id="451" name="Google Shape;451;p28"/>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452" name="Google Shape;452;p28"/>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453" name="Google Shape;453;p28"/>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454" name="Google Shape;454;p28"/>
          <p:cNvSpPr txBox="1"/>
          <p:nvPr/>
        </p:nvSpPr>
        <p:spPr>
          <a:xfrm>
            <a:off x="3686177" y="3456863"/>
            <a:ext cx="10915646"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Unidades de estado solido (SSD)</a:t>
            </a:r>
            <a:endParaRPr b="0" i="0" sz="1400" u="none" cap="none" strike="noStrike">
              <a:solidFill>
                <a:srgbClr val="000000"/>
              </a:solidFill>
              <a:latin typeface="Arial"/>
              <a:ea typeface="Arial"/>
              <a:cs typeface="Arial"/>
              <a:sym typeface="Arial"/>
            </a:endParaRPr>
          </a:p>
        </p:txBody>
      </p:sp>
      <p:sp>
        <p:nvSpPr>
          <p:cNvPr id="455" name="Google Shape;455;p28"/>
          <p:cNvSpPr txBox="1"/>
          <p:nvPr/>
        </p:nvSpPr>
        <p:spPr>
          <a:xfrm>
            <a:off x="1425541"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Ventajas</a:t>
            </a:r>
            <a:endParaRPr b="0" i="0" sz="1400" u="none" cap="none" strike="noStrike">
              <a:solidFill>
                <a:srgbClr val="000000"/>
              </a:solidFill>
              <a:latin typeface="Arial"/>
              <a:ea typeface="Arial"/>
              <a:cs typeface="Arial"/>
              <a:sym typeface="Arial"/>
            </a:endParaRPr>
          </a:p>
        </p:txBody>
      </p:sp>
      <p:sp>
        <p:nvSpPr>
          <p:cNvPr id="456" name="Google Shape;456;p28"/>
          <p:cNvSpPr txBox="1"/>
          <p:nvPr/>
        </p:nvSpPr>
        <p:spPr>
          <a:xfrm>
            <a:off x="9199940"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Desventajas</a:t>
            </a:r>
            <a:endParaRPr b="0" i="0" sz="1400" u="none" cap="none" strike="noStrike">
              <a:solidFill>
                <a:srgbClr val="000000"/>
              </a:solidFill>
              <a:latin typeface="Arial"/>
              <a:ea typeface="Arial"/>
              <a:cs typeface="Arial"/>
              <a:sym typeface="Arial"/>
            </a:endParaRPr>
          </a:p>
        </p:txBody>
      </p:sp>
      <p:sp>
        <p:nvSpPr>
          <p:cNvPr id="457" name="Google Shape;457;p28"/>
          <p:cNvSpPr txBox="1"/>
          <p:nvPr/>
        </p:nvSpPr>
        <p:spPr>
          <a:xfrm>
            <a:off x="1425541" y="6740460"/>
            <a:ext cx="11385267" cy="171958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Alta capacidad de lectura y escritura</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Bajo consumo de energía</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Compactos</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Duraderos </a:t>
            </a:r>
            <a:endParaRPr b="0" i="0" sz="1400" u="none" cap="none" strike="noStrike">
              <a:solidFill>
                <a:srgbClr val="000000"/>
              </a:solidFill>
              <a:latin typeface="Arial"/>
              <a:ea typeface="Arial"/>
              <a:cs typeface="Arial"/>
              <a:sym typeface="Arial"/>
            </a:endParaRPr>
          </a:p>
        </p:txBody>
      </p:sp>
      <p:sp>
        <p:nvSpPr>
          <p:cNvPr id="458" name="Google Shape;458;p28"/>
          <p:cNvSpPr txBox="1"/>
          <p:nvPr/>
        </p:nvSpPr>
        <p:spPr>
          <a:xfrm>
            <a:off x="9649643" y="6882052"/>
            <a:ext cx="11385267" cy="171958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Alto costo</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Menos ciclos de escritura y borrado</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Difícil recuperación de datos</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2600"/>
              <a:buFont typeface="Arial"/>
              <a:buNone/>
            </a:pPr>
            <a:r>
              <a:t/>
            </a:r>
            <a:endParaRPr b="0" i="0" sz="2600" u="none" cap="none" strike="noStrike">
              <a:solidFill>
                <a:srgbClr val="737373"/>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0" l="0" r="0" t="-38884"/>
            </a:stretch>
          </a:blipFill>
          <a:ln>
            <a:noFill/>
          </a:ln>
        </p:spPr>
      </p:sp>
      <p:sp>
        <p:nvSpPr>
          <p:cNvPr id="464" name="Google Shape;464;p36"/>
          <p:cNvSpPr/>
          <p:nvPr/>
        </p:nvSpPr>
        <p:spPr>
          <a:xfrm>
            <a:off x="-160692" y="-149623"/>
            <a:ext cx="18609385" cy="10591576"/>
          </a:xfrm>
          <a:custGeom>
            <a:rect b="b" l="l" r="r" t="t"/>
            <a:pathLst>
              <a:path extrusionOk="0" h="1970170" w="3461586">
                <a:moveTo>
                  <a:pt x="0" y="0"/>
                </a:moveTo>
                <a:lnTo>
                  <a:pt x="3461586" y="0"/>
                </a:lnTo>
                <a:lnTo>
                  <a:pt x="3461586" y="1970170"/>
                </a:lnTo>
                <a:lnTo>
                  <a:pt x="0" y="1970170"/>
                </a:lnTo>
                <a:close/>
              </a:path>
            </a:pathLst>
          </a:custGeom>
          <a:solidFill>
            <a:srgbClr val="14056D">
              <a:alpha val="19215"/>
            </a:srgbClr>
          </a:solidFill>
          <a:ln>
            <a:noFill/>
          </a:ln>
        </p:spPr>
      </p:sp>
      <p:sp>
        <p:nvSpPr>
          <p:cNvPr id="465" name="Google Shape;465;p36"/>
          <p:cNvSpPr/>
          <p:nvPr/>
        </p:nvSpPr>
        <p:spPr>
          <a:xfrm rot="-2308677">
            <a:off x="9580469" y="2205032"/>
            <a:ext cx="12650197" cy="9568149"/>
          </a:xfrm>
          <a:custGeom>
            <a:rect b="b" l="l" r="r" t="t"/>
            <a:pathLst>
              <a:path extrusionOk="0" h="9568149" w="12650197">
                <a:moveTo>
                  <a:pt x="0" y="0"/>
                </a:moveTo>
                <a:lnTo>
                  <a:pt x="12650196" y="0"/>
                </a:lnTo>
                <a:lnTo>
                  <a:pt x="12650196" y="9568148"/>
                </a:lnTo>
                <a:lnTo>
                  <a:pt x="0" y="9568148"/>
                </a:lnTo>
                <a:lnTo>
                  <a:pt x="0" y="0"/>
                </a:lnTo>
                <a:close/>
              </a:path>
            </a:pathLst>
          </a:custGeom>
          <a:blipFill rotWithShape="1">
            <a:blip r:embed="rId4">
              <a:alphaModFix amt="37000"/>
            </a:blip>
            <a:stretch>
              <a:fillRect b="0" l="0" r="0" t="0"/>
            </a:stretch>
          </a:blipFill>
          <a:ln>
            <a:noFill/>
          </a:ln>
        </p:spPr>
      </p:sp>
      <p:sp>
        <p:nvSpPr>
          <p:cNvPr id="466" name="Google Shape;466;p36"/>
          <p:cNvSpPr/>
          <p:nvPr/>
        </p:nvSpPr>
        <p:spPr>
          <a:xfrm>
            <a:off x="14287363" y="6331370"/>
            <a:ext cx="4000637" cy="3955630"/>
          </a:xfrm>
          <a:custGeom>
            <a:rect b="b" l="l" r="r" t="t"/>
            <a:pathLst>
              <a:path extrusionOk="0" h="3955630" w="4000637">
                <a:moveTo>
                  <a:pt x="0" y="0"/>
                </a:moveTo>
                <a:lnTo>
                  <a:pt x="4000637" y="0"/>
                </a:lnTo>
                <a:lnTo>
                  <a:pt x="4000637" y="3955630"/>
                </a:lnTo>
                <a:lnTo>
                  <a:pt x="0" y="3955630"/>
                </a:lnTo>
                <a:lnTo>
                  <a:pt x="0" y="0"/>
                </a:lnTo>
                <a:close/>
              </a:path>
            </a:pathLst>
          </a:custGeom>
          <a:blipFill rotWithShape="1">
            <a:blip r:embed="rId5">
              <a:alphaModFix/>
            </a:blip>
            <a:stretch>
              <a:fillRect b="0" l="0" r="0" t="0"/>
            </a:stretch>
          </a:blipFill>
          <a:ln>
            <a:noFill/>
          </a:ln>
        </p:spPr>
      </p:sp>
      <p:sp>
        <p:nvSpPr>
          <p:cNvPr id="467" name="Google Shape;467;p36"/>
          <p:cNvSpPr/>
          <p:nvPr/>
        </p:nvSpPr>
        <p:spPr>
          <a:xfrm>
            <a:off x="7006789" y="3404001"/>
            <a:ext cx="2769808" cy="3165495"/>
          </a:xfrm>
          <a:custGeom>
            <a:rect b="b" l="l" r="r" t="t"/>
            <a:pathLst>
              <a:path extrusionOk="0" h="3165495" w="2769808">
                <a:moveTo>
                  <a:pt x="0" y="0"/>
                </a:moveTo>
                <a:lnTo>
                  <a:pt x="2769808" y="0"/>
                </a:lnTo>
                <a:lnTo>
                  <a:pt x="2769808" y="3165494"/>
                </a:lnTo>
                <a:lnTo>
                  <a:pt x="0" y="3165494"/>
                </a:lnTo>
                <a:lnTo>
                  <a:pt x="0" y="0"/>
                </a:lnTo>
                <a:close/>
              </a:path>
            </a:pathLst>
          </a:custGeom>
          <a:blipFill rotWithShape="1">
            <a:blip r:embed="rId6">
              <a:alphaModFix/>
            </a:blip>
            <a:stretch>
              <a:fillRect b="0" l="0" r="0" t="0"/>
            </a:stretch>
          </a:blipFill>
          <a:ln>
            <a:noFill/>
          </a:ln>
        </p:spPr>
      </p:sp>
      <p:sp>
        <p:nvSpPr>
          <p:cNvPr id="468" name="Google Shape;468;p36"/>
          <p:cNvSpPr txBox="1"/>
          <p:nvPr/>
        </p:nvSpPr>
        <p:spPr>
          <a:xfrm>
            <a:off x="1009650" y="4445728"/>
            <a:ext cx="6178114" cy="1034415"/>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Clr>
                <a:srgbClr val="000000"/>
              </a:buClr>
              <a:buSzPts val="6500"/>
              <a:buFont typeface="Arial"/>
              <a:buNone/>
            </a:pPr>
            <a:r>
              <a:rPr b="1" i="1" lang="en-US" sz="6500" u="none" cap="none" strike="noStrike">
                <a:solidFill>
                  <a:srgbClr val="FFFFFF"/>
                </a:solidFill>
                <a:latin typeface="Poppins"/>
                <a:ea typeface="Poppins"/>
                <a:cs typeface="Poppins"/>
                <a:sym typeface="Poppins"/>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0" l="0" r="0" t="-38884"/>
            </a:stretch>
          </a:blipFill>
          <a:ln>
            <a:noFill/>
          </a:ln>
        </p:spPr>
      </p:sp>
      <p:sp>
        <p:nvSpPr>
          <p:cNvPr id="474" name="Google Shape;474;p37"/>
          <p:cNvSpPr/>
          <p:nvPr/>
        </p:nvSpPr>
        <p:spPr>
          <a:xfrm>
            <a:off x="-160692" y="-149623"/>
            <a:ext cx="18609385" cy="10591576"/>
          </a:xfrm>
          <a:custGeom>
            <a:rect b="b" l="l" r="r" t="t"/>
            <a:pathLst>
              <a:path extrusionOk="0" h="1970170" w="3461586">
                <a:moveTo>
                  <a:pt x="0" y="0"/>
                </a:moveTo>
                <a:lnTo>
                  <a:pt x="3461586" y="0"/>
                </a:lnTo>
                <a:lnTo>
                  <a:pt x="3461586" y="1970170"/>
                </a:lnTo>
                <a:lnTo>
                  <a:pt x="0" y="1970170"/>
                </a:lnTo>
                <a:close/>
              </a:path>
            </a:pathLst>
          </a:custGeom>
          <a:solidFill>
            <a:srgbClr val="14056D">
              <a:alpha val="19215"/>
            </a:srgbClr>
          </a:solidFill>
          <a:ln>
            <a:noFill/>
          </a:ln>
        </p:spPr>
      </p:sp>
      <p:sp>
        <p:nvSpPr>
          <p:cNvPr id="475" name="Google Shape;475;p37"/>
          <p:cNvSpPr/>
          <p:nvPr/>
        </p:nvSpPr>
        <p:spPr>
          <a:xfrm rot="9451627">
            <a:off x="-1353129" y="-1492681"/>
            <a:ext cx="6707049" cy="5072968"/>
          </a:xfrm>
          <a:custGeom>
            <a:rect b="b" l="l" r="r" t="t"/>
            <a:pathLst>
              <a:path extrusionOk="0" h="5072968" w="6707049">
                <a:moveTo>
                  <a:pt x="0" y="0"/>
                </a:moveTo>
                <a:lnTo>
                  <a:pt x="6707049" y="0"/>
                </a:lnTo>
                <a:lnTo>
                  <a:pt x="6707049" y="5072968"/>
                </a:lnTo>
                <a:lnTo>
                  <a:pt x="0" y="5072968"/>
                </a:lnTo>
                <a:lnTo>
                  <a:pt x="0" y="0"/>
                </a:lnTo>
                <a:close/>
              </a:path>
            </a:pathLst>
          </a:custGeom>
          <a:blipFill rotWithShape="1">
            <a:blip r:embed="rId4">
              <a:alphaModFix/>
            </a:blip>
            <a:stretch>
              <a:fillRect b="0" l="0" r="0" t="0"/>
            </a:stretch>
          </a:blipFill>
          <a:ln>
            <a:noFill/>
          </a:ln>
        </p:spPr>
      </p:sp>
      <p:sp>
        <p:nvSpPr>
          <p:cNvPr id="476" name="Google Shape;476;p37"/>
          <p:cNvSpPr/>
          <p:nvPr/>
        </p:nvSpPr>
        <p:spPr>
          <a:xfrm>
            <a:off x="-2413596" y="-3078771"/>
            <a:ext cx="6634070" cy="6597885"/>
          </a:xfrm>
          <a:custGeom>
            <a:rect b="b" l="l" r="r" t="t"/>
            <a:pathLst>
              <a:path extrusionOk="0" h="6597885" w="6634070">
                <a:moveTo>
                  <a:pt x="0" y="0"/>
                </a:moveTo>
                <a:lnTo>
                  <a:pt x="6634070" y="0"/>
                </a:lnTo>
                <a:lnTo>
                  <a:pt x="6634070" y="6597884"/>
                </a:lnTo>
                <a:lnTo>
                  <a:pt x="0" y="6597884"/>
                </a:lnTo>
                <a:lnTo>
                  <a:pt x="0" y="0"/>
                </a:lnTo>
                <a:close/>
              </a:path>
            </a:pathLst>
          </a:custGeom>
          <a:blipFill rotWithShape="1">
            <a:blip r:embed="rId5">
              <a:alphaModFix/>
            </a:blip>
            <a:stretch>
              <a:fillRect b="0" l="0" r="0" t="0"/>
            </a:stretch>
          </a:blipFill>
          <a:ln>
            <a:noFill/>
          </a:ln>
        </p:spPr>
      </p:sp>
      <p:sp>
        <p:nvSpPr>
          <p:cNvPr id="477" name="Google Shape;477;p37"/>
          <p:cNvSpPr/>
          <p:nvPr/>
        </p:nvSpPr>
        <p:spPr>
          <a:xfrm rot="-2308677">
            <a:off x="9580469" y="2205032"/>
            <a:ext cx="12650197" cy="9568149"/>
          </a:xfrm>
          <a:custGeom>
            <a:rect b="b" l="l" r="r" t="t"/>
            <a:pathLst>
              <a:path extrusionOk="0" h="9568149" w="12650197">
                <a:moveTo>
                  <a:pt x="0" y="0"/>
                </a:moveTo>
                <a:lnTo>
                  <a:pt x="12650196" y="0"/>
                </a:lnTo>
                <a:lnTo>
                  <a:pt x="12650196" y="9568148"/>
                </a:lnTo>
                <a:lnTo>
                  <a:pt x="0" y="9568148"/>
                </a:lnTo>
                <a:lnTo>
                  <a:pt x="0" y="0"/>
                </a:lnTo>
                <a:close/>
              </a:path>
            </a:pathLst>
          </a:custGeom>
          <a:blipFill rotWithShape="1">
            <a:blip r:embed="rId6">
              <a:alphaModFix amt="37000"/>
            </a:blip>
            <a:stretch>
              <a:fillRect b="0" l="0" r="0" t="0"/>
            </a:stretch>
          </a:blipFill>
          <a:ln>
            <a:noFill/>
          </a:ln>
        </p:spPr>
      </p:sp>
      <p:sp>
        <p:nvSpPr>
          <p:cNvPr id="478" name="Google Shape;478;p37"/>
          <p:cNvSpPr/>
          <p:nvPr/>
        </p:nvSpPr>
        <p:spPr>
          <a:xfrm>
            <a:off x="14844808" y="8570089"/>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7">
              <a:alphaModFix/>
            </a:blip>
            <a:stretch>
              <a:fillRect b="0" l="0" r="0" t="0"/>
            </a:stretch>
          </a:blipFill>
          <a:ln>
            <a:noFill/>
          </a:ln>
        </p:spPr>
      </p:sp>
      <p:pic>
        <p:nvPicPr>
          <p:cNvPr id="479" name="Google Shape;479;p37"/>
          <p:cNvPicPr preferRelativeResize="0"/>
          <p:nvPr/>
        </p:nvPicPr>
        <p:blipFill rotWithShape="1">
          <a:blip r:embed="rId8">
            <a:alphaModFix/>
          </a:blip>
          <a:srcRect b="0" l="0" r="0" t="0"/>
          <a:stretch/>
        </p:blipFill>
        <p:spPr>
          <a:xfrm>
            <a:off x="2314425" y="4106060"/>
            <a:ext cx="14726714" cy="8394227"/>
          </a:xfrm>
          <a:prstGeom prst="rect">
            <a:avLst/>
          </a:prstGeom>
          <a:noFill/>
          <a:ln>
            <a:noFill/>
          </a:ln>
        </p:spPr>
      </p:pic>
      <p:sp>
        <p:nvSpPr>
          <p:cNvPr id="480" name="Google Shape;480;p37"/>
          <p:cNvSpPr txBox="1"/>
          <p:nvPr/>
        </p:nvSpPr>
        <p:spPr>
          <a:xfrm>
            <a:off x="5897722" y="3610760"/>
            <a:ext cx="6492556" cy="933450"/>
          </a:xfrm>
          <a:prstGeom prst="rect">
            <a:avLst/>
          </a:prstGeom>
          <a:noFill/>
          <a:ln>
            <a:noFill/>
          </a:ln>
        </p:spPr>
        <p:txBody>
          <a:bodyPr anchorCtr="0" anchor="t" bIns="0" lIns="0" spcFirstLastPara="1" rIns="0" wrap="square" tIns="0">
            <a:spAutoFit/>
          </a:bodyPr>
          <a:lstStyle/>
          <a:p>
            <a:pPr indent="0" lvl="0" marL="0" marR="0" rtl="0" algn="ctr">
              <a:lnSpc>
                <a:spcPct val="119989"/>
              </a:lnSpc>
              <a:spcBef>
                <a:spcPts val="0"/>
              </a:spcBef>
              <a:spcAft>
                <a:spcPts val="0"/>
              </a:spcAft>
              <a:buClr>
                <a:srgbClr val="000000"/>
              </a:buClr>
              <a:buSzPts val="5808"/>
              <a:buFont typeface="Arial"/>
              <a:buNone/>
            </a:pPr>
            <a:r>
              <a:rPr b="1" i="0" lang="en-US" sz="5808" u="none" cap="none" strike="noStrike">
                <a:solidFill>
                  <a:srgbClr val="FFFFFF"/>
                </a:solidFill>
                <a:latin typeface="Poppins"/>
                <a:ea typeface="Poppins"/>
                <a:cs typeface="Poppins"/>
                <a:sym typeface="Poppins"/>
              </a:rPr>
              <a:t>¡GRACIAS POR</a:t>
            </a:r>
            <a:endParaRPr b="0" i="0" sz="1400" u="none" cap="none" strike="noStrike">
              <a:solidFill>
                <a:srgbClr val="000000"/>
              </a:solidFill>
              <a:latin typeface="Arial"/>
              <a:ea typeface="Arial"/>
              <a:cs typeface="Arial"/>
              <a:sym typeface="Arial"/>
            </a:endParaRPr>
          </a:p>
        </p:txBody>
      </p:sp>
      <p:sp>
        <p:nvSpPr>
          <p:cNvPr id="481" name="Google Shape;481;p37"/>
          <p:cNvSpPr txBox="1"/>
          <p:nvPr/>
        </p:nvSpPr>
        <p:spPr>
          <a:xfrm>
            <a:off x="5744238" y="4635485"/>
            <a:ext cx="6799524" cy="1035685"/>
          </a:xfrm>
          <a:prstGeom prst="rect">
            <a:avLst/>
          </a:prstGeom>
          <a:noFill/>
          <a:ln>
            <a:noFill/>
          </a:ln>
        </p:spPr>
        <p:txBody>
          <a:bodyPr anchorCtr="0" anchor="t" bIns="0" lIns="0" spcFirstLastPara="1" rIns="0" wrap="square" tIns="0">
            <a:spAutoFit/>
          </a:bodyPr>
          <a:lstStyle/>
          <a:p>
            <a:pPr indent="0" lvl="0" marL="0" marR="0" rtl="0" algn="ctr">
              <a:lnSpc>
                <a:spcPct val="117999"/>
              </a:lnSpc>
              <a:spcBef>
                <a:spcPts val="0"/>
              </a:spcBef>
              <a:spcAft>
                <a:spcPts val="0"/>
              </a:spcAft>
              <a:buClr>
                <a:srgbClr val="000000"/>
              </a:buClr>
              <a:buSzPts val="6500"/>
              <a:buFont typeface="Arial"/>
              <a:buNone/>
            </a:pPr>
            <a:r>
              <a:rPr b="0" i="1" lang="en-US" sz="6500" u="none" cap="none" strike="noStrike">
                <a:solidFill>
                  <a:srgbClr val="5CE1E6"/>
                </a:solidFill>
                <a:latin typeface="Poppins"/>
                <a:ea typeface="Poppins"/>
                <a:cs typeface="Poppins"/>
                <a:sym typeface="Poppins"/>
              </a:rPr>
              <a:t>SU ATENCIÓN!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