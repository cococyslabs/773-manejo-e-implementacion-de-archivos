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8229600" cx="14630400"/>
  <p:notesSz cx="8229600" cy="14630400"/>
  <p:embeddedFontLst>
    <p:embeddedFont>
      <p:font typeface="Noto Sans TC"/>
      <p:regular r:id="rId15"/>
      <p:bold r:id="rId16"/>
    </p:embeddedFont>
    <p:embeddedFont>
      <p:font typeface="Sora Medium"/>
      <p:regular r:id="rId17"/>
      <p:bold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9" roundtripDataSignature="AMtx7mjSF8nKLC3tkZ2H2or0FxLPSWO7z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NotoSansTC-regular.fntdata"/><Relationship Id="rId14" Type="http://schemas.openxmlformats.org/officeDocument/2006/relationships/slide" Target="slides/slide10.xml"/><Relationship Id="rId17" Type="http://schemas.openxmlformats.org/officeDocument/2006/relationships/font" Target="fonts/SoraMedium-regular.fntdata"/><Relationship Id="rId16" Type="http://schemas.openxmlformats.org/officeDocument/2006/relationships/font" Target="fonts/NotoSansTC-bold.fntdata"/><Relationship Id="rId5" Type="http://schemas.openxmlformats.org/officeDocument/2006/relationships/slide" Target="slides/slide1.xml"/><Relationship Id="rId19" Type="http://customschemas.google.com/relationships/presentationmetadata" Target="metadata"/><Relationship Id="rId6" Type="http://schemas.openxmlformats.org/officeDocument/2006/relationships/slide" Target="slides/slide2.xml"/><Relationship Id="rId18" Type="http://schemas.openxmlformats.org/officeDocument/2006/relationships/font" Target="fonts/SoraMedium-bold.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 name="Google Shape;5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 name="Google Shape;6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 name="Google Shape;6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 name="Google Shape;8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 name="Google Shape;8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 name="Google Shape;21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hyperlink" Target="https://gamma.app/?utm_source=made-with-gamma" TargetMode="External"/><Relationship Id="rId4"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hyperlink" Target="https://gamma.app/?utm_source=made-with-gamma" TargetMode="Externa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hyperlink" Target="https://gamma.app/?utm_source=made-with-gamma" TargetMode="External"/><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hyperlink" Target="https://gamma.app/?utm_source=made-with-gamma" TargetMode="Externa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hyperlink" Target="https://gamma.app/?utm_source=made-with-gamma" TargetMode="External"/><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hyperlink" Target="https://gamma.app/?utm_source=made-with-gamma" TargetMode="External"/><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hyperlink" Target="https://gamma.app/?utm_source=made-with-gamma" TargetMode="External"/><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hyperlink" Target="https://gamma.app/?utm_source=made-with-gamma" TargetMode="External"/><Relationship Id="rId4"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hyperlink" Target="https://gamma.app/?utm_source=made-with-gamma" TargetMode="External"/><Relationship Id="rId4"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hyperlink" Target="https://gamma.app/?utm_source=made-with-gamma" TargetMode="External"/><Relationship Id="rId4"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0" name="Shape 10"/>
        <p:cNvGrpSpPr/>
        <p:nvPr/>
      </p:nvGrpSpPr>
      <p:grpSpPr>
        <a:xfrm>
          <a:off x="0" y="0"/>
          <a:ext cx="0" cy="0"/>
          <a:chOff x="0" y="0"/>
          <a:chExt cx="0" cy="0"/>
        </a:xfrm>
      </p:grpSpPr>
      <p:pic>
        <p:nvPicPr>
          <p:cNvPr descr="preencoded.png" id="11" name="Google Shape;11;p12"/>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12" name="Google Shape;12;p12"/>
          <p:cNvSpPr/>
          <p:nvPr/>
        </p:nvSpPr>
        <p:spPr>
          <a:xfrm>
            <a:off x="0" y="0"/>
            <a:ext cx="14630400" cy="8229600"/>
          </a:xfrm>
          <a:prstGeom prst="rect">
            <a:avLst/>
          </a:prstGeom>
          <a:solidFill>
            <a:srgbClr val="0707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 name="Google Shape;13;p12">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4" name="Shape 14"/>
        <p:cNvGrpSpPr/>
        <p:nvPr/>
      </p:nvGrpSpPr>
      <p:grpSpPr>
        <a:xfrm>
          <a:off x="0" y="0"/>
          <a:ext cx="0" cy="0"/>
          <a:chOff x="0" y="0"/>
          <a:chExt cx="0" cy="0"/>
        </a:xfrm>
      </p:grpSpPr>
      <p:pic>
        <p:nvPicPr>
          <p:cNvPr descr="preencoded.png" id="15" name="Google Shape;15;p13"/>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16" name="Google Shape;16;p13"/>
          <p:cNvSpPr/>
          <p:nvPr/>
        </p:nvSpPr>
        <p:spPr>
          <a:xfrm>
            <a:off x="0" y="0"/>
            <a:ext cx="14630400" cy="8229600"/>
          </a:xfrm>
          <a:prstGeom prst="rect">
            <a:avLst/>
          </a:prstGeom>
          <a:solidFill>
            <a:srgbClr val="0707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 name="Google Shape;17;p13">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8" name="Shape 18"/>
        <p:cNvGrpSpPr/>
        <p:nvPr/>
      </p:nvGrpSpPr>
      <p:grpSpPr>
        <a:xfrm>
          <a:off x="0" y="0"/>
          <a:ext cx="0" cy="0"/>
          <a:chOff x="0" y="0"/>
          <a:chExt cx="0" cy="0"/>
        </a:xfrm>
      </p:grpSpPr>
      <p:pic>
        <p:nvPicPr>
          <p:cNvPr descr="preencoded.png" id="19" name="Google Shape;19;p14"/>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0" name="Google Shape;20;p14"/>
          <p:cNvSpPr/>
          <p:nvPr/>
        </p:nvSpPr>
        <p:spPr>
          <a:xfrm>
            <a:off x="0" y="0"/>
            <a:ext cx="14630400" cy="8229600"/>
          </a:xfrm>
          <a:prstGeom prst="rect">
            <a:avLst/>
          </a:prstGeom>
          <a:solidFill>
            <a:srgbClr val="0707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 name="Google Shape;21;p14">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22" name="Shape 22"/>
        <p:cNvGrpSpPr/>
        <p:nvPr/>
      </p:nvGrpSpPr>
      <p:grpSpPr>
        <a:xfrm>
          <a:off x="0" y="0"/>
          <a:ext cx="0" cy="0"/>
          <a:chOff x="0" y="0"/>
          <a:chExt cx="0" cy="0"/>
        </a:xfrm>
      </p:grpSpPr>
      <p:pic>
        <p:nvPicPr>
          <p:cNvPr descr="preencoded.png" id="23" name="Google Shape;23;p15"/>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4" name="Google Shape;24;p15"/>
          <p:cNvSpPr/>
          <p:nvPr/>
        </p:nvSpPr>
        <p:spPr>
          <a:xfrm>
            <a:off x="0" y="0"/>
            <a:ext cx="14630400" cy="8229600"/>
          </a:xfrm>
          <a:prstGeom prst="rect">
            <a:avLst/>
          </a:prstGeom>
          <a:solidFill>
            <a:srgbClr val="0707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 name="Google Shape;25;p15">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26" name="Shape 26"/>
        <p:cNvGrpSpPr/>
        <p:nvPr/>
      </p:nvGrpSpPr>
      <p:grpSpPr>
        <a:xfrm>
          <a:off x="0" y="0"/>
          <a:ext cx="0" cy="0"/>
          <a:chOff x="0" y="0"/>
          <a:chExt cx="0" cy="0"/>
        </a:xfrm>
      </p:grpSpPr>
      <p:pic>
        <p:nvPicPr>
          <p:cNvPr descr="preencoded.png" id="27" name="Google Shape;27;p16"/>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8" name="Google Shape;28;p16"/>
          <p:cNvSpPr/>
          <p:nvPr/>
        </p:nvSpPr>
        <p:spPr>
          <a:xfrm>
            <a:off x="0" y="0"/>
            <a:ext cx="14630400" cy="8229600"/>
          </a:xfrm>
          <a:prstGeom prst="rect">
            <a:avLst/>
          </a:prstGeom>
          <a:solidFill>
            <a:srgbClr val="0707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 name="Google Shape;29;p16">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30" name="Shape 30"/>
        <p:cNvGrpSpPr/>
        <p:nvPr/>
      </p:nvGrpSpPr>
      <p:grpSpPr>
        <a:xfrm>
          <a:off x="0" y="0"/>
          <a:ext cx="0" cy="0"/>
          <a:chOff x="0" y="0"/>
          <a:chExt cx="0" cy="0"/>
        </a:xfrm>
      </p:grpSpPr>
      <p:pic>
        <p:nvPicPr>
          <p:cNvPr descr="preencoded.png" id="31" name="Google Shape;31;p17"/>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32" name="Google Shape;32;p17"/>
          <p:cNvSpPr/>
          <p:nvPr/>
        </p:nvSpPr>
        <p:spPr>
          <a:xfrm>
            <a:off x="0" y="0"/>
            <a:ext cx="14630400" cy="8229600"/>
          </a:xfrm>
          <a:prstGeom prst="rect">
            <a:avLst/>
          </a:prstGeom>
          <a:solidFill>
            <a:srgbClr val="0707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 name="Google Shape;33;p17">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34" name="Shape 34"/>
        <p:cNvGrpSpPr/>
        <p:nvPr/>
      </p:nvGrpSpPr>
      <p:grpSpPr>
        <a:xfrm>
          <a:off x="0" y="0"/>
          <a:ext cx="0" cy="0"/>
          <a:chOff x="0" y="0"/>
          <a:chExt cx="0" cy="0"/>
        </a:xfrm>
      </p:grpSpPr>
      <p:pic>
        <p:nvPicPr>
          <p:cNvPr descr="preencoded.png" id="35" name="Google Shape;35;p18"/>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36" name="Google Shape;36;p18"/>
          <p:cNvSpPr/>
          <p:nvPr/>
        </p:nvSpPr>
        <p:spPr>
          <a:xfrm>
            <a:off x="0" y="0"/>
            <a:ext cx="14630400" cy="8229600"/>
          </a:xfrm>
          <a:prstGeom prst="rect">
            <a:avLst/>
          </a:prstGeom>
          <a:solidFill>
            <a:srgbClr val="0707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 name="Google Shape;37;p18">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38" name="Shape 38"/>
        <p:cNvGrpSpPr/>
        <p:nvPr/>
      </p:nvGrpSpPr>
      <p:grpSpPr>
        <a:xfrm>
          <a:off x="0" y="0"/>
          <a:ext cx="0" cy="0"/>
          <a:chOff x="0" y="0"/>
          <a:chExt cx="0" cy="0"/>
        </a:xfrm>
      </p:grpSpPr>
      <p:pic>
        <p:nvPicPr>
          <p:cNvPr descr="preencoded.png" id="39" name="Google Shape;39;p19"/>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40" name="Google Shape;40;p19"/>
          <p:cNvSpPr/>
          <p:nvPr/>
        </p:nvSpPr>
        <p:spPr>
          <a:xfrm>
            <a:off x="0" y="0"/>
            <a:ext cx="14630400" cy="8229600"/>
          </a:xfrm>
          <a:prstGeom prst="rect">
            <a:avLst/>
          </a:prstGeom>
          <a:solidFill>
            <a:srgbClr val="0707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1" name="Google Shape;41;p19">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42" name="Shape 42"/>
        <p:cNvGrpSpPr/>
        <p:nvPr/>
      </p:nvGrpSpPr>
      <p:grpSpPr>
        <a:xfrm>
          <a:off x="0" y="0"/>
          <a:ext cx="0" cy="0"/>
          <a:chOff x="0" y="0"/>
          <a:chExt cx="0" cy="0"/>
        </a:xfrm>
      </p:grpSpPr>
      <p:pic>
        <p:nvPicPr>
          <p:cNvPr descr="preencoded.png" id="43" name="Google Shape;43;p20"/>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44" name="Google Shape;44;p20"/>
          <p:cNvSpPr/>
          <p:nvPr/>
        </p:nvSpPr>
        <p:spPr>
          <a:xfrm>
            <a:off x="0" y="0"/>
            <a:ext cx="14630400" cy="8229600"/>
          </a:xfrm>
          <a:prstGeom prst="rect">
            <a:avLst/>
          </a:prstGeom>
          <a:solidFill>
            <a:srgbClr val="0707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5" name="Google Shape;45;p20">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spTree>
      <p:nvGrpSpPr>
        <p:cNvPr id="46" name="Shape 46"/>
        <p:cNvGrpSpPr/>
        <p:nvPr/>
      </p:nvGrpSpPr>
      <p:grpSpPr>
        <a:xfrm>
          <a:off x="0" y="0"/>
          <a:ext cx="0" cy="0"/>
          <a:chOff x="0" y="0"/>
          <a:chExt cx="0" cy="0"/>
        </a:xfrm>
      </p:grpSpPr>
      <p:pic>
        <p:nvPicPr>
          <p:cNvPr descr="preencoded.png" id="47" name="Google Shape;47;p21"/>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48" name="Google Shape;48;p21"/>
          <p:cNvSpPr/>
          <p:nvPr/>
        </p:nvSpPr>
        <p:spPr>
          <a:xfrm>
            <a:off x="0" y="0"/>
            <a:ext cx="14630400" cy="8229600"/>
          </a:xfrm>
          <a:prstGeom prst="rect">
            <a:avLst/>
          </a:prstGeom>
          <a:solidFill>
            <a:srgbClr val="0707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9" name="Google Shape;49;p21">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0" name="Shape 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3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27.png"/><Relationship Id="rId4" Type="http://schemas.openxmlformats.org/officeDocument/2006/relationships/image" Target="../media/image24.png"/><Relationship Id="rId5" Type="http://schemas.openxmlformats.org/officeDocument/2006/relationships/image" Target="../media/image22.png"/><Relationship Id="rId6" Type="http://schemas.openxmlformats.org/officeDocument/2006/relationships/image" Target="../media/image2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33.png"/><Relationship Id="rId4" Type="http://schemas.openxmlformats.org/officeDocument/2006/relationships/image" Target="../media/image23.png"/><Relationship Id="rId5" Type="http://schemas.openxmlformats.org/officeDocument/2006/relationships/image" Target="../media/image28.png"/><Relationship Id="rId6"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2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pic>
        <p:nvPicPr>
          <p:cNvPr descr="preencoded.png" id="56" name="Google Shape;56;p1"/>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57" name="Google Shape;57;p1"/>
          <p:cNvSpPr/>
          <p:nvPr/>
        </p:nvSpPr>
        <p:spPr>
          <a:xfrm>
            <a:off x="673418" y="1110853"/>
            <a:ext cx="7797165" cy="3319463"/>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97B8FF"/>
              </a:buClr>
              <a:buSzPts val="5200"/>
              <a:buFont typeface="Sora Medium"/>
              <a:buNone/>
            </a:pPr>
            <a:r>
              <a:rPr b="0" i="0" lang="en-US" sz="5200" u="none" cap="none" strike="noStrike">
                <a:solidFill>
                  <a:srgbClr val="97B8FF"/>
                </a:solidFill>
                <a:latin typeface="Sora Medium"/>
                <a:ea typeface="Sora Medium"/>
                <a:cs typeface="Sora Medium"/>
                <a:sym typeface="Sora Medium"/>
              </a:rPr>
              <a:t>Gestión de paquetes y distribuciones, y Linux en entornos empresariales y cloud</a:t>
            </a:r>
            <a:endParaRPr b="0" i="0" sz="5200" u="none" cap="none" strike="noStrike"/>
          </a:p>
        </p:txBody>
      </p:sp>
      <p:sp>
        <p:nvSpPr>
          <p:cNvPr id="58" name="Google Shape;58;p1"/>
          <p:cNvSpPr/>
          <p:nvPr/>
        </p:nvSpPr>
        <p:spPr>
          <a:xfrm>
            <a:off x="673418" y="4718923"/>
            <a:ext cx="7797165" cy="1846659"/>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E0D6DE"/>
              </a:buClr>
              <a:buSzPts val="1500"/>
              <a:buFont typeface="Noto Sans TC"/>
              <a:buNone/>
            </a:pPr>
            <a:r>
              <a:rPr b="0" i="0" lang="en-US" sz="1500" u="none" cap="none" strike="noStrike">
                <a:solidFill>
                  <a:srgbClr val="E0D6DE"/>
                </a:solidFill>
                <a:latin typeface="Noto Sans TC"/>
                <a:ea typeface="Noto Sans TC"/>
                <a:cs typeface="Noto Sans TC"/>
                <a:sym typeface="Noto Sans TC"/>
              </a:rPr>
              <a:t>En esta presentación, exploraremos el mundo de la gestión de paquetes de software y las principales distribuciones de Linux, así como las ventajas de implementar Linux en entornos empresariales y en la nube. Entenderemos cómo el software libre y de código abierto como Linux ha transformado la industria de la tecnología, ofreciendo soluciones escalables, seguras y flexibles para satisfacer las necesidades crecientes de las organizaciones de hoy en día.</a:t>
            </a:r>
            <a:endParaRPr b="0" i="0" sz="1500" u="none" cap="none" strike="noStrike"/>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pic>
        <p:nvPicPr>
          <p:cNvPr descr="preencoded.png" id="64" name="Google Shape;64;p2"/>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65" name="Google Shape;65;p2"/>
          <p:cNvSpPr/>
          <p:nvPr/>
        </p:nvSpPr>
        <p:spPr>
          <a:xfrm>
            <a:off x="6166723" y="774144"/>
            <a:ext cx="7783354" cy="1214914"/>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97B8FF"/>
              </a:buClr>
              <a:buSzPts val="3800"/>
              <a:buFont typeface="Sora Medium"/>
              <a:buNone/>
            </a:pPr>
            <a:r>
              <a:rPr b="0" i="0" lang="en-US" sz="3800" u="none" cap="none" strike="noStrike">
                <a:solidFill>
                  <a:srgbClr val="97B8FF"/>
                </a:solidFill>
                <a:latin typeface="Sora Medium"/>
                <a:ea typeface="Sora Medium"/>
                <a:cs typeface="Sora Medium"/>
                <a:sym typeface="Sora Medium"/>
              </a:rPr>
              <a:t>Introducción a la presentación y objetivos</a:t>
            </a:r>
            <a:endParaRPr b="0" i="0" sz="3800" u="none" cap="none" strike="noStrike"/>
          </a:p>
        </p:txBody>
      </p:sp>
      <p:sp>
        <p:nvSpPr>
          <p:cNvPr id="66" name="Google Shape;66;p2"/>
          <p:cNvSpPr/>
          <p:nvPr/>
        </p:nvSpPr>
        <p:spPr>
          <a:xfrm>
            <a:off x="6166723" y="2499122"/>
            <a:ext cx="437317" cy="437317"/>
          </a:xfrm>
          <a:prstGeom prst="roundRect">
            <a:avLst>
              <a:gd fmla="val 6667" name="adj"/>
            </a:avLst>
          </a:prstGeom>
          <a:solidFill>
            <a:srgbClr val="2626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
          <p:cNvSpPr/>
          <p:nvPr/>
        </p:nvSpPr>
        <p:spPr>
          <a:xfrm>
            <a:off x="6323648" y="2571988"/>
            <a:ext cx="123349" cy="29158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0D6DE"/>
              </a:buClr>
              <a:buSzPts val="2250"/>
              <a:buFont typeface="Sora Medium"/>
              <a:buNone/>
            </a:pPr>
            <a:r>
              <a:rPr b="0" i="0" lang="en-US" sz="2250" u="none" cap="none" strike="noStrike">
                <a:solidFill>
                  <a:srgbClr val="E0D6DE"/>
                </a:solidFill>
                <a:latin typeface="Sora Medium"/>
                <a:ea typeface="Sora Medium"/>
                <a:cs typeface="Sora Medium"/>
                <a:sym typeface="Sora Medium"/>
              </a:rPr>
              <a:t>1</a:t>
            </a:r>
            <a:endParaRPr b="0" i="0" sz="2250" u="none" cap="none" strike="noStrike"/>
          </a:p>
        </p:txBody>
      </p:sp>
      <p:sp>
        <p:nvSpPr>
          <p:cNvPr id="68" name="Google Shape;68;p2"/>
          <p:cNvSpPr/>
          <p:nvPr/>
        </p:nvSpPr>
        <p:spPr>
          <a:xfrm>
            <a:off x="6798350" y="2499122"/>
            <a:ext cx="3162895" cy="1214914"/>
          </a:xfrm>
          <a:prstGeom prst="rect">
            <a:avLst/>
          </a:prstGeom>
          <a:noFill/>
          <a:ln>
            <a:noFill/>
          </a:ln>
        </p:spPr>
        <p:txBody>
          <a:bodyPr anchorCtr="0" anchor="t" bIns="0" lIns="0" spcFirstLastPara="1" rIns="0" wrap="square" tIns="0">
            <a:noAutofit/>
          </a:bodyPr>
          <a:lstStyle/>
          <a:p>
            <a:pPr indent="0" lvl="0" marL="0" marR="0" rtl="0" algn="l">
              <a:lnSpc>
                <a:spcPct val="123684"/>
              </a:lnSpc>
              <a:spcBef>
                <a:spcPts val="0"/>
              </a:spcBef>
              <a:spcAft>
                <a:spcPts val="0"/>
              </a:spcAft>
              <a:buClr>
                <a:srgbClr val="E0D6DE"/>
              </a:buClr>
              <a:buSzPts val="1900"/>
              <a:buFont typeface="Sora Medium"/>
              <a:buNone/>
            </a:pPr>
            <a:r>
              <a:rPr b="0" i="0" lang="en-US" sz="1900" u="none" cap="none" strike="noStrike">
                <a:solidFill>
                  <a:srgbClr val="E0D6DE"/>
                </a:solidFill>
                <a:latin typeface="Sora Medium"/>
                <a:ea typeface="Sora Medium"/>
                <a:cs typeface="Sora Medium"/>
                <a:sym typeface="Sora Medium"/>
              </a:rPr>
              <a:t>Comprender el concepto de paquetes de software y su gestión en sistemas Linux</a:t>
            </a:r>
            <a:endParaRPr b="0" i="0" sz="1900" u="none" cap="none" strike="noStrike"/>
          </a:p>
        </p:txBody>
      </p:sp>
      <p:sp>
        <p:nvSpPr>
          <p:cNvPr id="69" name="Google Shape;69;p2"/>
          <p:cNvSpPr/>
          <p:nvPr/>
        </p:nvSpPr>
        <p:spPr>
          <a:xfrm>
            <a:off x="6798350" y="3830598"/>
            <a:ext cx="3162895" cy="1554956"/>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E0D6DE"/>
              </a:buClr>
              <a:buSzPts val="1500"/>
              <a:buFont typeface="Noto Sans TC"/>
              <a:buNone/>
            </a:pPr>
            <a:r>
              <a:rPr b="0" i="0" lang="en-US" sz="1500" u="none" cap="none" strike="noStrike">
                <a:solidFill>
                  <a:srgbClr val="E0D6DE"/>
                </a:solidFill>
                <a:latin typeface="Noto Sans TC"/>
                <a:ea typeface="Noto Sans TC"/>
                <a:cs typeface="Noto Sans TC"/>
                <a:sym typeface="Noto Sans TC"/>
              </a:rPr>
              <a:t>Exploraremos qué son los paquetes de software, cómo se distribuyen y cómo se gestionan en los sistemas operativos basados en Linux.</a:t>
            </a:r>
            <a:endParaRPr b="0" i="0" sz="1500" u="none" cap="none" strike="noStrike"/>
          </a:p>
        </p:txBody>
      </p:sp>
      <p:sp>
        <p:nvSpPr>
          <p:cNvPr id="70" name="Google Shape;70;p2"/>
          <p:cNvSpPr/>
          <p:nvPr/>
        </p:nvSpPr>
        <p:spPr>
          <a:xfrm>
            <a:off x="10155555" y="2499122"/>
            <a:ext cx="437317" cy="437317"/>
          </a:xfrm>
          <a:prstGeom prst="roundRect">
            <a:avLst>
              <a:gd fmla="val 6667" name="adj"/>
            </a:avLst>
          </a:prstGeom>
          <a:solidFill>
            <a:srgbClr val="2626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2"/>
          <p:cNvSpPr/>
          <p:nvPr/>
        </p:nvSpPr>
        <p:spPr>
          <a:xfrm>
            <a:off x="10283309" y="2571988"/>
            <a:ext cx="181689" cy="29158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0D6DE"/>
              </a:buClr>
              <a:buSzPts val="2250"/>
              <a:buFont typeface="Sora Medium"/>
              <a:buNone/>
            </a:pPr>
            <a:r>
              <a:rPr b="0" i="0" lang="en-US" sz="2250" u="none" cap="none" strike="noStrike">
                <a:solidFill>
                  <a:srgbClr val="E0D6DE"/>
                </a:solidFill>
                <a:latin typeface="Sora Medium"/>
                <a:ea typeface="Sora Medium"/>
                <a:cs typeface="Sora Medium"/>
                <a:sym typeface="Sora Medium"/>
              </a:rPr>
              <a:t>2</a:t>
            </a:r>
            <a:endParaRPr b="0" i="0" sz="2250" u="none" cap="none" strike="noStrike"/>
          </a:p>
        </p:txBody>
      </p:sp>
      <p:sp>
        <p:nvSpPr>
          <p:cNvPr id="72" name="Google Shape;72;p2"/>
          <p:cNvSpPr/>
          <p:nvPr/>
        </p:nvSpPr>
        <p:spPr>
          <a:xfrm>
            <a:off x="10787182" y="2499122"/>
            <a:ext cx="3162895" cy="607457"/>
          </a:xfrm>
          <a:prstGeom prst="rect">
            <a:avLst/>
          </a:prstGeom>
          <a:noFill/>
          <a:ln>
            <a:noFill/>
          </a:ln>
        </p:spPr>
        <p:txBody>
          <a:bodyPr anchorCtr="0" anchor="t" bIns="0" lIns="0" spcFirstLastPara="1" rIns="0" wrap="square" tIns="0">
            <a:noAutofit/>
          </a:bodyPr>
          <a:lstStyle/>
          <a:p>
            <a:pPr indent="0" lvl="0" marL="0" marR="0" rtl="0" algn="l">
              <a:lnSpc>
                <a:spcPct val="123684"/>
              </a:lnSpc>
              <a:spcBef>
                <a:spcPts val="0"/>
              </a:spcBef>
              <a:spcAft>
                <a:spcPts val="0"/>
              </a:spcAft>
              <a:buClr>
                <a:srgbClr val="E0D6DE"/>
              </a:buClr>
              <a:buSzPts val="1900"/>
              <a:buFont typeface="Sora Medium"/>
              <a:buNone/>
            </a:pPr>
            <a:r>
              <a:rPr b="0" i="0" lang="en-US" sz="1900" u="none" cap="none" strike="noStrike">
                <a:solidFill>
                  <a:srgbClr val="E0D6DE"/>
                </a:solidFill>
                <a:latin typeface="Sora Medium"/>
                <a:ea typeface="Sora Medium"/>
                <a:cs typeface="Sora Medium"/>
                <a:sym typeface="Sora Medium"/>
              </a:rPr>
              <a:t>Conocer las principales distribuciones de Linux</a:t>
            </a:r>
            <a:endParaRPr b="0" i="0" sz="1900" u="none" cap="none" strike="noStrike"/>
          </a:p>
        </p:txBody>
      </p:sp>
      <p:sp>
        <p:nvSpPr>
          <p:cNvPr id="73" name="Google Shape;73;p2"/>
          <p:cNvSpPr/>
          <p:nvPr/>
        </p:nvSpPr>
        <p:spPr>
          <a:xfrm>
            <a:off x="10787182" y="3223141"/>
            <a:ext cx="3162895" cy="1554956"/>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E0D6DE"/>
              </a:buClr>
              <a:buSzPts val="1500"/>
              <a:buFont typeface="Noto Sans TC"/>
              <a:buNone/>
            </a:pPr>
            <a:r>
              <a:rPr b="0" i="0" lang="en-US" sz="1500" u="none" cap="none" strike="noStrike">
                <a:solidFill>
                  <a:srgbClr val="E0D6DE"/>
                </a:solidFill>
                <a:latin typeface="Noto Sans TC"/>
                <a:ea typeface="Noto Sans TC"/>
                <a:cs typeface="Noto Sans TC"/>
                <a:sym typeface="Noto Sans TC"/>
              </a:rPr>
              <a:t>Revisaremos las distribuciones de Linux más populares y sus características específicas, destacando sus fortalezas y casos de uso.</a:t>
            </a:r>
            <a:endParaRPr b="0" i="0" sz="1500" u="none" cap="none" strike="noStrike"/>
          </a:p>
        </p:txBody>
      </p:sp>
      <p:sp>
        <p:nvSpPr>
          <p:cNvPr id="74" name="Google Shape;74;p2"/>
          <p:cNvSpPr/>
          <p:nvPr/>
        </p:nvSpPr>
        <p:spPr>
          <a:xfrm>
            <a:off x="6166723" y="5798463"/>
            <a:ext cx="437317" cy="437317"/>
          </a:xfrm>
          <a:prstGeom prst="roundRect">
            <a:avLst>
              <a:gd fmla="val 6667" name="adj"/>
            </a:avLst>
          </a:prstGeom>
          <a:solidFill>
            <a:srgbClr val="2626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2"/>
          <p:cNvSpPr/>
          <p:nvPr/>
        </p:nvSpPr>
        <p:spPr>
          <a:xfrm>
            <a:off x="6294953" y="5871329"/>
            <a:ext cx="180737" cy="29158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0D6DE"/>
              </a:buClr>
              <a:buSzPts val="2250"/>
              <a:buFont typeface="Sora Medium"/>
              <a:buNone/>
            </a:pPr>
            <a:r>
              <a:rPr b="0" i="0" lang="en-US" sz="2250" u="none" cap="none" strike="noStrike">
                <a:solidFill>
                  <a:srgbClr val="E0D6DE"/>
                </a:solidFill>
                <a:latin typeface="Sora Medium"/>
                <a:ea typeface="Sora Medium"/>
                <a:cs typeface="Sora Medium"/>
                <a:sym typeface="Sora Medium"/>
              </a:rPr>
              <a:t>3</a:t>
            </a:r>
            <a:endParaRPr b="0" i="0" sz="2250" u="none" cap="none" strike="noStrike"/>
          </a:p>
        </p:txBody>
      </p:sp>
      <p:sp>
        <p:nvSpPr>
          <p:cNvPr id="76" name="Google Shape;76;p2"/>
          <p:cNvSpPr/>
          <p:nvPr/>
        </p:nvSpPr>
        <p:spPr>
          <a:xfrm>
            <a:off x="6798350" y="5798463"/>
            <a:ext cx="7151727" cy="607457"/>
          </a:xfrm>
          <a:prstGeom prst="rect">
            <a:avLst/>
          </a:prstGeom>
          <a:noFill/>
          <a:ln>
            <a:noFill/>
          </a:ln>
        </p:spPr>
        <p:txBody>
          <a:bodyPr anchorCtr="0" anchor="t" bIns="0" lIns="0" spcFirstLastPara="1" rIns="0" wrap="square" tIns="0">
            <a:noAutofit/>
          </a:bodyPr>
          <a:lstStyle/>
          <a:p>
            <a:pPr indent="0" lvl="0" marL="0" marR="0" rtl="0" algn="l">
              <a:lnSpc>
                <a:spcPct val="123684"/>
              </a:lnSpc>
              <a:spcBef>
                <a:spcPts val="0"/>
              </a:spcBef>
              <a:spcAft>
                <a:spcPts val="0"/>
              </a:spcAft>
              <a:buClr>
                <a:srgbClr val="E0D6DE"/>
              </a:buClr>
              <a:buSzPts val="1900"/>
              <a:buFont typeface="Sora Medium"/>
              <a:buNone/>
            </a:pPr>
            <a:r>
              <a:rPr b="0" i="0" lang="en-US" sz="1900" u="none" cap="none" strike="noStrike">
                <a:solidFill>
                  <a:srgbClr val="E0D6DE"/>
                </a:solidFill>
                <a:latin typeface="Sora Medium"/>
                <a:ea typeface="Sora Medium"/>
                <a:cs typeface="Sora Medium"/>
                <a:sym typeface="Sora Medium"/>
              </a:rPr>
              <a:t>Comprender los beneficios de Linux en entornos empresariales y cloud</a:t>
            </a:r>
            <a:endParaRPr b="0" i="0" sz="1900" u="none" cap="none" strike="noStrike"/>
          </a:p>
        </p:txBody>
      </p:sp>
      <p:sp>
        <p:nvSpPr>
          <p:cNvPr id="77" name="Google Shape;77;p2"/>
          <p:cNvSpPr/>
          <p:nvPr/>
        </p:nvSpPr>
        <p:spPr>
          <a:xfrm>
            <a:off x="6798350" y="6522482"/>
            <a:ext cx="7151727" cy="932974"/>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E0D6DE"/>
              </a:buClr>
              <a:buSzPts val="1500"/>
              <a:buFont typeface="Noto Sans TC"/>
              <a:buNone/>
            </a:pPr>
            <a:r>
              <a:rPr b="0" i="0" lang="en-US" sz="1500" u="none" cap="none" strike="noStrike">
                <a:solidFill>
                  <a:srgbClr val="E0D6DE"/>
                </a:solidFill>
                <a:latin typeface="Noto Sans TC"/>
                <a:ea typeface="Noto Sans TC"/>
                <a:cs typeface="Noto Sans TC"/>
                <a:sym typeface="Noto Sans TC"/>
              </a:rPr>
              <a:t>Analizaremos las ventajas de utilizar Linux en servidores, servicios en la nube y herramientas de administración, enfocándonos en aspectos de seguridad, escalabilidad y eficiencia.</a:t>
            </a:r>
            <a:endParaRPr b="0" i="0" sz="1500" u="none" cap="none" strike="noStrike"/>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pic>
        <p:nvPicPr>
          <p:cNvPr descr="preencoded.png" id="83" name="Google Shape;83;p3"/>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84" name="Google Shape;84;p3"/>
          <p:cNvSpPr/>
          <p:nvPr/>
        </p:nvSpPr>
        <p:spPr>
          <a:xfrm>
            <a:off x="691515" y="690324"/>
            <a:ext cx="7760970" cy="1234916"/>
          </a:xfrm>
          <a:prstGeom prst="rect">
            <a:avLst/>
          </a:prstGeom>
          <a:noFill/>
          <a:ln>
            <a:noFill/>
          </a:ln>
        </p:spPr>
        <p:txBody>
          <a:bodyPr anchorCtr="0" anchor="t" bIns="0" lIns="0" spcFirstLastPara="1" rIns="0" wrap="square" tIns="0">
            <a:noAutofit/>
          </a:bodyPr>
          <a:lstStyle/>
          <a:p>
            <a:pPr indent="0" lvl="0" marL="0" marR="0" rtl="0" algn="l">
              <a:lnSpc>
                <a:spcPct val="125974"/>
              </a:lnSpc>
              <a:spcBef>
                <a:spcPts val="0"/>
              </a:spcBef>
              <a:spcAft>
                <a:spcPts val="0"/>
              </a:spcAft>
              <a:buClr>
                <a:srgbClr val="97B8FF"/>
              </a:buClr>
              <a:buSzPts val="3850"/>
              <a:buFont typeface="Sora Medium"/>
              <a:buNone/>
            </a:pPr>
            <a:r>
              <a:rPr b="0" i="0" lang="en-US" sz="3850" u="none" cap="none" strike="noStrike">
                <a:solidFill>
                  <a:srgbClr val="97B8FF"/>
                </a:solidFill>
                <a:latin typeface="Sora Medium"/>
                <a:ea typeface="Sora Medium"/>
                <a:cs typeface="Sora Medium"/>
                <a:sym typeface="Sora Medium"/>
              </a:rPr>
              <a:t>¿Qué es un paquete de software?</a:t>
            </a:r>
            <a:endParaRPr b="0" i="0" sz="3850" u="none" cap="none" strike="noStrike"/>
          </a:p>
        </p:txBody>
      </p:sp>
      <p:sp>
        <p:nvSpPr>
          <p:cNvPr id="85" name="Google Shape;85;p3"/>
          <p:cNvSpPr/>
          <p:nvPr/>
        </p:nvSpPr>
        <p:spPr>
          <a:xfrm>
            <a:off x="691515" y="2221587"/>
            <a:ext cx="3781782" cy="3350062"/>
          </a:xfrm>
          <a:prstGeom prst="roundRect">
            <a:avLst>
              <a:gd fmla="val 885" name="adj"/>
            </a:avLst>
          </a:prstGeom>
          <a:solidFill>
            <a:srgbClr val="2626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3"/>
          <p:cNvSpPr/>
          <p:nvPr/>
        </p:nvSpPr>
        <p:spPr>
          <a:xfrm>
            <a:off x="889040" y="2419112"/>
            <a:ext cx="2469713" cy="308610"/>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E0D6DE"/>
              </a:buClr>
              <a:buSzPts val="1900"/>
              <a:buFont typeface="Sora Medium"/>
              <a:buNone/>
            </a:pPr>
            <a:r>
              <a:rPr b="0" i="0" lang="en-US" sz="1900" u="none" cap="none" strike="noStrike">
                <a:solidFill>
                  <a:srgbClr val="E0D6DE"/>
                </a:solidFill>
                <a:latin typeface="Sora Medium"/>
                <a:ea typeface="Sora Medium"/>
                <a:cs typeface="Sora Medium"/>
                <a:sym typeface="Sora Medium"/>
              </a:rPr>
              <a:t>Definición</a:t>
            </a:r>
            <a:endParaRPr b="0" i="0" sz="1900" u="none" cap="none" strike="noStrike"/>
          </a:p>
        </p:txBody>
      </p:sp>
      <p:sp>
        <p:nvSpPr>
          <p:cNvPr id="87" name="Google Shape;87;p3"/>
          <p:cNvSpPr/>
          <p:nvPr/>
        </p:nvSpPr>
        <p:spPr>
          <a:xfrm>
            <a:off x="889040" y="2846189"/>
            <a:ext cx="3386733" cy="2527935"/>
          </a:xfrm>
          <a:prstGeom prst="rect">
            <a:avLst/>
          </a:prstGeom>
          <a:noFill/>
          <a:ln>
            <a:noFill/>
          </a:ln>
        </p:spPr>
        <p:txBody>
          <a:bodyPr anchorCtr="0" anchor="t" bIns="0" lIns="0" spcFirstLastPara="1" rIns="0" wrap="square" tIns="0">
            <a:noAutofit/>
          </a:bodyPr>
          <a:lstStyle/>
          <a:p>
            <a:pPr indent="0" lvl="0" marL="0" marR="0" rtl="0" algn="l">
              <a:lnSpc>
                <a:spcPct val="158064"/>
              </a:lnSpc>
              <a:spcBef>
                <a:spcPts val="0"/>
              </a:spcBef>
              <a:spcAft>
                <a:spcPts val="0"/>
              </a:spcAft>
              <a:buClr>
                <a:srgbClr val="E0D6DE"/>
              </a:buClr>
              <a:buSzPts val="1550"/>
              <a:buFont typeface="Noto Sans TC"/>
              <a:buNone/>
            </a:pPr>
            <a:r>
              <a:rPr b="0" i="0" lang="en-US" sz="1550" u="none" cap="none" strike="noStrike">
                <a:solidFill>
                  <a:srgbClr val="E0D6DE"/>
                </a:solidFill>
                <a:latin typeface="Noto Sans TC"/>
                <a:ea typeface="Noto Sans TC"/>
                <a:cs typeface="Noto Sans TC"/>
                <a:sym typeface="Noto Sans TC"/>
              </a:rPr>
              <a:t>Un paquete de software es una unidad de distribución y actualización de un programa informático, que incluye el código fuente, los archivos ejecutables, la documentación y cualquier otra información necesaria para su instalación y funcionamiento.</a:t>
            </a:r>
            <a:endParaRPr b="0" i="0" sz="1550" u="none" cap="none" strike="noStrike"/>
          </a:p>
        </p:txBody>
      </p:sp>
      <p:sp>
        <p:nvSpPr>
          <p:cNvPr id="88" name="Google Shape;88;p3"/>
          <p:cNvSpPr/>
          <p:nvPr/>
        </p:nvSpPr>
        <p:spPr>
          <a:xfrm>
            <a:off x="4670822" y="2221587"/>
            <a:ext cx="3781782" cy="3350062"/>
          </a:xfrm>
          <a:prstGeom prst="roundRect">
            <a:avLst>
              <a:gd fmla="val 885" name="adj"/>
            </a:avLst>
          </a:prstGeom>
          <a:solidFill>
            <a:srgbClr val="2626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3"/>
          <p:cNvSpPr/>
          <p:nvPr/>
        </p:nvSpPr>
        <p:spPr>
          <a:xfrm>
            <a:off x="4868347" y="2419112"/>
            <a:ext cx="2469713" cy="308610"/>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E0D6DE"/>
              </a:buClr>
              <a:buSzPts val="1900"/>
              <a:buFont typeface="Sora Medium"/>
              <a:buNone/>
            </a:pPr>
            <a:r>
              <a:rPr b="0" i="0" lang="en-US" sz="1900" u="none" cap="none" strike="noStrike">
                <a:solidFill>
                  <a:srgbClr val="E0D6DE"/>
                </a:solidFill>
                <a:latin typeface="Sora Medium"/>
                <a:ea typeface="Sora Medium"/>
                <a:cs typeface="Sora Medium"/>
                <a:sym typeface="Sora Medium"/>
              </a:rPr>
              <a:t>Características</a:t>
            </a:r>
            <a:endParaRPr b="0" i="0" sz="1900" u="none" cap="none" strike="noStrike"/>
          </a:p>
        </p:txBody>
      </p:sp>
      <p:sp>
        <p:nvSpPr>
          <p:cNvPr id="90" name="Google Shape;90;p3"/>
          <p:cNvSpPr/>
          <p:nvPr/>
        </p:nvSpPr>
        <p:spPr>
          <a:xfrm>
            <a:off x="4868347" y="2846189"/>
            <a:ext cx="3386733" cy="2527935"/>
          </a:xfrm>
          <a:prstGeom prst="rect">
            <a:avLst/>
          </a:prstGeom>
          <a:noFill/>
          <a:ln>
            <a:noFill/>
          </a:ln>
        </p:spPr>
        <p:txBody>
          <a:bodyPr anchorCtr="0" anchor="t" bIns="0" lIns="0" spcFirstLastPara="1" rIns="0" wrap="square" tIns="0">
            <a:noAutofit/>
          </a:bodyPr>
          <a:lstStyle/>
          <a:p>
            <a:pPr indent="0" lvl="0" marL="0" marR="0" rtl="0" algn="l">
              <a:lnSpc>
                <a:spcPct val="158064"/>
              </a:lnSpc>
              <a:spcBef>
                <a:spcPts val="0"/>
              </a:spcBef>
              <a:spcAft>
                <a:spcPts val="0"/>
              </a:spcAft>
              <a:buClr>
                <a:srgbClr val="E0D6DE"/>
              </a:buClr>
              <a:buSzPts val="1550"/>
              <a:buFont typeface="Noto Sans TC"/>
              <a:buNone/>
            </a:pPr>
            <a:r>
              <a:rPr b="0" i="0" lang="en-US" sz="1550" u="none" cap="none" strike="noStrike">
                <a:solidFill>
                  <a:srgbClr val="E0D6DE"/>
                </a:solidFill>
                <a:latin typeface="Noto Sans TC"/>
                <a:ea typeface="Noto Sans TC"/>
                <a:cs typeface="Noto Sans TC"/>
                <a:sym typeface="Noto Sans TC"/>
              </a:rPr>
              <a:t>Los paquetes de software generalmente se distribuyen en formatos específicos, como .deb o .rpm, y se gestionan a través de herramientas de administración de paquetes, como APT o YUM, que facilitan su instalación, actualización y eliminación en los sistemas.</a:t>
            </a:r>
            <a:endParaRPr b="0" i="0" sz="1550" u="none" cap="none" strike="noStrike"/>
          </a:p>
        </p:txBody>
      </p:sp>
      <p:sp>
        <p:nvSpPr>
          <p:cNvPr id="91" name="Google Shape;91;p3"/>
          <p:cNvSpPr/>
          <p:nvPr/>
        </p:nvSpPr>
        <p:spPr>
          <a:xfrm>
            <a:off x="691515" y="5769173"/>
            <a:ext cx="7760970" cy="1770102"/>
          </a:xfrm>
          <a:prstGeom prst="roundRect">
            <a:avLst>
              <a:gd fmla="val 1674" name="adj"/>
            </a:avLst>
          </a:prstGeom>
          <a:solidFill>
            <a:srgbClr val="2626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3"/>
          <p:cNvSpPr/>
          <p:nvPr/>
        </p:nvSpPr>
        <p:spPr>
          <a:xfrm>
            <a:off x="889040" y="5966698"/>
            <a:ext cx="2469713" cy="308610"/>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E0D6DE"/>
              </a:buClr>
              <a:buSzPts val="1900"/>
              <a:buFont typeface="Sora Medium"/>
              <a:buNone/>
            </a:pPr>
            <a:r>
              <a:rPr b="0" i="0" lang="en-US" sz="1900" u="none" cap="none" strike="noStrike">
                <a:solidFill>
                  <a:srgbClr val="E0D6DE"/>
                </a:solidFill>
                <a:latin typeface="Sora Medium"/>
                <a:ea typeface="Sora Medium"/>
                <a:cs typeface="Sora Medium"/>
                <a:sym typeface="Sora Medium"/>
              </a:rPr>
              <a:t>Importancia</a:t>
            </a:r>
            <a:endParaRPr b="0" i="0" sz="1900" u="none" cap="none" strike="noStrike"/>
          </a:p>
        </p:txBody>
      </p:sp>
      <p:sp>
        <p:nvSpPr>
          <p:cNvPr id="93" name="Google Shape;93;p3"/>
          <p:cNvSpPr/>
          <p:nvPr/>
        </p:nvSpPr>
        <p:spPr>
          <a:xfrm>
            <a:off x="889040" y="6393775"/>
            <a:ext cx="7365921" cy="947976"/>
          </a:xfrm>
          <a:prstGeom prst="rect">
            <a:avLst/>
          </a:prstGeom>
          <a:noFill/>
          <a:ln>
            <a:noFill/>
          </a:ln>
        </p:spPr>
        <p:txBody>
          <a:bodyPr anchorCtr="0" anchor="t" bIns="0" lIns="0" spcFirstLastPara="1" rIns="0" wrap="square" tIns="0">
            <a:noAutofit/>
          </a:bodyPr>
          <a:lstStyle/>
          <a:p>
            <a:pPr indent="0" lvl="0" marL="0" marR="0" rtl="0" algn="l">
              <a:lnSpc>
                <a:spcPct val="158064"/>
              </a:lnSpc>
              <a:spcBef>
                <a:spcPts val="0"/>
              </a:spcBef>
              <a:spcAft>
                <a:spcPts val="0"/>
              </a:spcAft>
              <a:buClr>
                <a:srgbClr val="E0D6DE"/>
              </a:buClr>
              <a:buSzPts val="1550"/>
              <a:buFont typeface="Noto Sans TC"/>
              <a:buNone/>
            </a:pPr>
            <a:r>
              <a:rPr b="0" i="0" lang="en-US" sz="1550" u="none" cap="none" strike="noStrike">
                <a:solidFill>
                  <a:srgbClr val="E0D6DE"/>
                </a:solidFill>
                <a:latin typeface="Noto Sans TC"/>
                <a:ea typeface="Noto Sans TC"/>
                <a:cs typeface="Noto Sans TC"/>
                <a:sym typeface="Noto Sans TC"/>
              </a:rPr>
              <a:t>La gestión eficiente de paquetes de software es fundamental para mantener los sistemas actualizados, asegurar la compatibilidad entre aplicaciones y garantizar la integridad y la seguridad del software instalado.</a:t>
            </a:r>
            <a:endParaRPr b="0" i="0" sz="1550" u="none" cap="none" strike="noStrike"/>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4"/>
          <p:cNvSpPr/>
          <p:nvPr/>
        </p:nvSpPr>
        <p:spPr>
          <a:xfrm>
            <a:off x="793790" y="738188"/>
            <a:ext cx="13042821" cy="1417558"/>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97B8FF"/>
              </a:buClr>
              <a:buSzPts val="4450"/>
              <a:buFont typeface="Sora Medium"/>
              <a:buNone/>
            </a:pPr>
            <a:r>
              <a:rPr b="0" i="0" lang="en-US" sz="4450" u="none" cap="none" strike="noStrike">
                <a:solidFill>
                  <a:srgbClr val="97B8FF"/>
                </a:solidFill>
                <a:latin typeface="Sora Medium"/>
                <a:ea typeface="Sora Medium"/>
                <a:cs typeface="Sora Medium"/>
                <a:sym typeface="Sora Medium"/>
              </a:rPr>
              <a:t>Gestión de paquetes en sistemas operativos Linux</a:t>
            </a:r>
            <a:endParaRPr b="0" i="0" sz="4450" u="none" cap="none" strike="noStrike"/>
          </a:p>
        </p:txBody>
      </p:sp>
      <p:sp>
        <p:nvSpPr>
          <p:cNvPr id="100" name="Google Shape;100;p4"/>
          <p:cNvSpPr/>
          <p:nvPr/>
        </p:nvSpPr>
        <p:spPr>
          <a:xfrm>
            <a:off x="793790" y="2722721"/>
            <a:ext cx="3978116"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97B8FF"/>
              </a:buClr>
              <a:buSzPts val="2200"/>
              <a:buFont typeface="Sora Medium"/>
              <a:buNone/>
            </a:pPr>
            <a:r>
              <a:rPr b="0" i="0" lang="en-US" sz="2200" u="none" cap="none" strike="noStrike">
                <a:solidFill>
                  <a:srgbClr val="97B8FF"/>
                </a:solidFill>
                <a:latin typeface="Sora Medium"/>
                <a:ea typeface="Sora Medium"/>
                <a:cs typeface="Sora Medium"/>
                <a:sym typeface="Sora Medium"/>
              </a:rPr>
              <a:t>Herramientas de gestión de paquetes</a:t>
            </a:r>
            <a:endParaRPr b="0" i="0" sz="2200" u="none" cap="none" strike="noStrike"/>
          </a:p>
        </p:txBody>
      </p:sp>
      <p:sp>
        <p:nvSpPr>
          <p:cNvPr id="101" name="Google Shape;101;p4"/>
          <p:cNvSpPr/>
          <p:nvPr/>
        </p:nvSpPr>
        <p:spPr>
          <a:xfrm>
            <a:off x="793790" y="3658195"/>
            <a:ext cx="3978116" cy="362902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Noto Sans TC"/>
              <a:buNone/>
            </a:pPr>
            <a:r>
              <a:rPr b="0" i="0" lang="en-US" sz="1750" u="none" cap="none" strike="noStrike">
                <a:solidFill>
                  <a:srgbClr val="E0D6DE"/>
                </a:solidFill>
                <a:latin typeface="Noto Sans TC"/>
                <a:ea typeface="Noto Sans TC"/>
                <a:cs typeface="Noto Sans TC"/>
                <a:sym typeface="Noto Sans TC"/>
              </a:rPr>
              <a:t>Linux cuenta con diversas herramientas de gestión de paquetes, como APT (Advanced Packaging Tool) en distribuciones basadas en Debian, y YUM (Yellowdog Updater, Modified) en distribuciones basadas en Red Hat. Estas herramientas facilitan la instalación, actualización y eliminación de paquetes de software de manera sencilla y eficiente.</a:t>
            </a:r>
            <a:endParaRPr b="0" i="0" sz="1750" u="none" cap="none" strike="noStrike"/>
          </a:p>
        </p:txBody>
      </p:sp>
      <p:sp>
        <p:nvSpPr>
          <p:cNvPr id="102" name="Google Shape;102;p4"/>
          <p:cNvSpPr/>
          <p:nvPr/>
        </p:nvSpPr>
        <p:spPr>
          <a:xfrm>
            <a:off x="5332928" y="2722721"/>
            <a:ext cx="3839766"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97B8FF"/>
              </a:buClr>
              <a:buSzPts val="2200"/>
              <a:buFont typeface="Sora Medium"/>
              <a:buNone/>
            </a:pPr>
            <a:r>
              <a:rPr b="0" i="0" lang="en-US" sz="2200" u="none" cap="none" strike="noStrike">
                <a:solidFill>
                  <a:srgbClr val="97B8FF"/>
                </a:solidFill>
                <a:latin typeface="Sora Medium"/>
                <a:ea typeface="Sora Medium"/>
                <a:cs typeface="Sora Medium"/>
                <a:sym typeface="Sora Medium"/>
              </a:rPr>
              <a:t>Dependencias y conflictos</a:t>
            </a:r>
            <a:endParaRPr b="0" i="0" sz="2200" u="none" cap="none" strike="noStrike"/>
          </a:p>
        </p:txBody>
      </p:sp>
      <p:sp>
        <p:nvSpPr>
          <p:cNvPr id="103" name="Google Shape;103;p4"/>
          <p:cNvSpPr/>
          <p:nvPr/>
        </p:nvSpPr>
        <p:spPr>
          <a:xfrm>
            <a:off x="5332928" y="3303865"/>
            <a:ext cx="3978116" cy="362902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Noto Sans TC"/>
              <a:buNone/>
            </a:pPr>
            <a:r>
              <a:rPr b="0" i="0" lang="en-US" sz="1750" u="none" cap="none" strike="noStrike">
                <a:solidFill>
                  <a:srgbClr val="E0D6DE"/>
                </a:solidFill>
                <a:latin typeface="Noto Sans TC"/>
                <a:ea typeface="Noto Sans TC"/>
                <a:cs typeface="Noto Sans TC"/>
                <a:sym typeface="Noto Sans TC"/>
              </a:rPr>
              <a:t>Los paquetes de software a menudo tienen dependencias con otros paquetes, lo que significa que para que un programa funcione correctamente, deben estar instaladas ciertas librerías y módulos adicionales. Las herramientas de gestión de paquetes se encargan de resolver estas dependencias automáticamente.</a:t>
            </a:r>
            <a:endParaRPr b="0" i="0" sz="1750" u="none" cap="none" strike="noStrike"/>
          </a:p>
        </p:txBody>
      </p:sp>
      <p:sp>
        <p:nvSpPr>
          <p:cNvPr id="104" name="Google Shape;104;p4"/>
          <p:cNvSpPr/>
          <p:nvPr/>
        </p:nvSpPr>
        <p:spPr>
          <a:xfrm>
            <a:off x="9872067" y="2722721"/>
            <a:ext cx="3647361"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97B8FF"/>
              </a:buClr>
              <a:buSzPts val="2200"/>
              <a:buFont typeface="Sora Medium"/>
              <a:buNone/>
            </a:pPr>
            <a:r>
              <a:rPr b="0" i="0" lang="en-US" sz="2200" u="none" cap="none" strike="noStrike">
                <a:solidFill>
                  <a:srgbClr val="97B8FF"/>
                </a:solidFill>
                <a:latin typeface="Sora Medium"/>
                <a:ea typeface="Sora Medium"/>
                <a:cs typeface="Sora Medium"/>
                <a:sym typeface="Sora Medium"/>
              </a:rPr>
              <a:t>Repositorios de software</a:t>
            </a:r>
            <a:endParaRPr b="0" i="0" sz="2200" u="none" cap="none" strike="noStrike"/>
          </a:p>
        </p:txBody>
      </p:sp>
      <p:sp>
        <p:nvSpPr>
          <p:cNvPr id="105" name="Google Shape;105;p4"/>
          <p:cNvSpPr/>
          <p:nvPr/>
        </p:nvSpPr>
        <p:spPr>
          <a:xfrm>
            <a:off x="9872067" y="3303865"/>
            <a:ext cx="3978116" cy="362902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Noto Sans TC"/>
              <a:buNone/>
            </a:pPr>
            <a:r>
              <a:rPr b="0" i="0" lang="en-US" sz="1750" u="none" cap="none" strike="noStrike">
                <a:solidFill>
                  <a:srgbClr val="E0D6DE"/>
                </a:solidFill>
                <a:latin typeface="Noto Sans TC"/>
                <a:ea typeface="Noto Sans TC"/>
                <a:cs typeface="Noto Sans TC"/>
                <a:sym typeface="Noto Sans TC"/>
              </a:rPr>
              <a:t>Los paquetes de software se almacenan en repositorios, que son servidores que contienen grandes colecciones de paquetes. Las distribuciones de Linux vienen con repositorios predefinidos, pero también se pueden agregar repositorios personalizados para acceder a un mayor número de aplicaciones.</a:t>
            </a:r>
            <a:endParaRPr b="0" i="0" sz="1750" u="none" cap="none" strike="noStrike"/>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pic>
        <p:nvPicPr>
          <p:cNvPr descr="preencoded.png" id="111" name="Google Shape;111;p5"/>
          <p:cNvPicPr preferRelativeResize="0"/>
          <p:nvPr/>
        </p:nvPicPr>
        <p:blipFill rotWithShape="1">
          <a:blip r:embed="rId3">
            <a:alphaModFix/>
          </a:blip>
          <a:srcRect b="0" l="0" r="0" t="0"/>
          <a:stretch/>
        </p:blipFill>
        <p:spPr>
          <a:xfrm>
            <a:off x="0" y="0"/>
            <a:ext cx="5486400" cy="8232577"/>
          </a:xfrm>
          <a:prstGeom prst="rect">
            <a:avLst/>
          </a:prstGeom>
          <a:noFill/>
          <a:ln>
            <a:noFill/>
          </a:ln>
        </p:spPr>
      </p:pic>
      <p:sp>
        <p:nvSpPr>
          <p:cNvPr id="112" name="Google Shape;112;p5"/>
          <p:cNvSpPr/>
          <p:nvPr/>
        </p:nvSpPr>
        <p:spPr>
          <a:xfrm>
            <a:off x="6145292" y="517684"/>
            <a:ext cx="7826216" cy="1176576"/>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97B8FF"/>
              </a:buClr>
              <a:buSzPts val="3700"/>
              <a:buFont typeface="Sora Medium"/>
              <a:buNone/>
            </a:pPr>
            <a:r>
              <a:rPr b="0" i="0" lang="en-US" sz="3700" u="none" cap="none" strike="noStrike">
                <a:solidFill>
                  <a:srgbClr val="97B8FF"/>
                </a:solidFill>
                <a:latin typeface="Sora Medium"/>
                <a:ea typeface="Sora Medium"/>
                <a:cs typeface="Sora Medium"/>
                <a:sym typeface="Sora Medium"/>
              </a:rPr>
              <a:t>Principales distribuciones de Linux</a:t>
            </a:r>
            <a:endParaRPr b="0" i="0" sz="3700" u="none" cap="none" strike="noStrike"/>
          </a:p>
        </p:txBody>
      </p:sp>
      <p:sp>
        <p:nvSpPr>
          <p:cNvPr id="113" name="Google Shape;113;p5"/>
          <p:cNvSpPr/>
          <p:nvPr/>
        </p:nvSpPr>
        <p:spPr>
          <a:xfrm>
            <a:off x="6416278" y="1976676"/>
            <a:ext cx="22860" cy="5738217"/>
          </a:xfrm>
          <a:prstGeom prst="roundRect">
            <a:avLst>
              <a:gd fmla="val 123545" name="adj"/>
            </a:avLst>
          </a:prstGeom>
          <a:solidFill>
            <a:srgbClr val="3F3F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5"/>
          <p:cNvSpPr/>
          <p:nvPr/>
        </p:nvSpPr>
        <p:spPr>
          <a:xfrm>
            <a:off x="6616660" y="2388870"/>
            <a:ext cx="658892" cy="22860"/>
          </a:xfrm>
          <a:prstGeom prst="roundRect">
            <a:avLst>
              <a:gd fmla="val 123545" name="adj"/>
            </a:avLst>
          </a:prstGeom>
          <a:solidFill>
            <a:srgbClr val="3F3F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5"/>
          <p:cNvSpPr/>
          <p:nvPr/>
        </p:nvSpPr>
        <p:spPr>
          <a:xfrm>
            <a:off x="6215896" y="2188488"/>
            <a:ext cx="423624" cy="423624"/>
          </a:xfrm>
          <a:prstGeom prst="roundRect">
            <a:avLst>
              <a:gd fmla="val 6667" name="adj"/>
            </a:avLst>
          </a:prstGeom>
          <a:solidFill>
            <a:srgbClr val="2626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5"/>
          <p:cNvSpPr/>
          <p:nvPr/>
        </p:nvSpPr>
        <p:spPr>
          <a:xfrm>
            <a:off x="6367939" y="2259092"/>
            <a:ext cx="119420" cy="28241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0D6DE"/>
              </a:buClr>
              <a:buSzPts val="2200"/>
              <a:buFont typeface="Sora Medium"/>
              <a:buNone/>
            </a:pPr>
            <a:r>
              <a:rPr b="0" i="0" lang="en-US" sz="2200" u="none" cap="none" strike="noStrike">
                <a:solidFill>
                  <a:srgbClr val="E0D6DE"/>
                </a:solidFill>
                <a:latin typeface="Sora Medium"/>
                <a:ea typeface="Sora Medium"/>
                <a:cs typeface="Sora Medium"/>
                <a:sym typeface="Sora Medium"/>
              </a:rPr>
              <a:t>1</a:t>
            </a:r>
            <a:endParaRPr b="0" i="0" sz="2200" u="none" cap="none" strike="noStrike"/>
          </a:p>
        </p:txBody>
      </p:sp>
      <p:sp>
        <p:nvSpPr>
          <p:cNvPr id="117" name="Google Shape;117;p5"/>
          <p:cNvSpPr/>
          <p:nvPr/>
        </p:nvSpPr>
        <p:spPr>
          <a:xfrm>
            <a:off x="7463195" y="2164913"/>
            <a:ext cx="2353508" cy="294203"/>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E0D6DE"/>
              </a:buClr>
              <a:buSzPts val="1850"/>
              <a:buFont typeface="Sora Medium"/>
              <a:buNone/>
            </a:pPr>
            <a:r>
              <a:rPr b="0" i="0" lang="en-US" sz="1850" u="none" cap="none" strike="noStrike">
                <a:solidFill>
                  <a:srgbClr val="E0D6DE"/>
                </a:solidFill>
                <a:latin typeface="Sora Medium"/>
                <a:ea typeface="Sora Medium"/>
                <a:cs typeface="Sora Medium"/>
                <a:sym typeface="Sora Medium"/>
              </a:rPr>
              <a:t>Ubuntu</a:t>
            </a:r>
            <a:endParaRPr b="0" i="0" sz="1850" u="none" cap="none" strike="noStrike"/>
          </a:p>
        </p:txBody>
      </p:sp>
      <p:sp>
        <p:nvSpPr>
          <p:cNvPr id="118" name="Google Shape;118;p5"/>
          <p:cNvSpPr/>
          <p:nvPr/>
        </p:nvSpPr>
        <p:spPr>
          <a:xfrm>
            <a:off x="7463195" y="2571988"/>
            <a:ext cx="6508313" cy="1204436"/>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E0D6DE"/>
              </a:buClr>
              <a:buSzPts val="1450"/>
              <a:buFont typeface="Noto Sans TC"/>
              <a:buNone/>
            </a:pPr>
            <a:r>
              <a:rPr b="0" i="0" lang="en-US" sz="1450" u="none" cap="none" strike="noStrike">
                <a:solidFill>
                  <a:srgbClr val="E0D6DE"/>
                </a:solidFill>
                <a:latin typeface="Noto Sans TC"/>
                <a:ea typeface="Noto Sans TC"/>
                <a:cs typeface="Noto Sans TC"/>
                <a:sym typeface="Noto Sans TC"/>
              </a:rPr>
              <a:t>Ubuntu es una de las distribuciones de Linux más populares y ampliamente utilizadas, especialmente en entornos de escritorio. Se caracteriza por su facilidad de uso, gran comunidad de desarrolladores y amplia gama de aplicaciones.</a:t>
            </a:r>
            <a:endParaRPr b="0" i="0" sz="1450" u="none" cap="none" strike="noStrike"/>
          </a:p>
        </p:txBody>
      </p:sp>
      <p:sp>
        <p:nvSpPr>
          <p:cNvPr id="119" name="Google Shape;119;p5"/>
          <p:cNvSpPr/>
          <p:nvPr/>
        </p:nvSpPr>
        <p:spPr>
          <a:xfrm>
            <a:off x="6616660" y="4565094"/>
            <a:ext cx="658892" cy="22860"/>
          </a:xfrm>
          <a:prstGeom prst="roundRect">
            <a:avLst>
              <a:gd fmla="val 123545" name="adj"/>
            </a:avLst>
          </a:prstGeom>
          <a:solidFill>
            <a:srgbClr val="3F3F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5"/>
          <p:cNvSpPr/>
          <p:nvPr/>
        </p:nvSpPr>
        <p:spPr>
          <a:xfrm>
            <a:off x="6215896" y="4364712"/>
            <a:ext cx="423624" cy="423624"/>
          </a:xfrm>
          <a:prstGeom prst="roundRect">
            <a:avLst>
              <a:gd fmla="val 6667" name="adj"/>
            </a:avLst>
          </a:prstGeom>
          <a:solidFill>
            <a:srgbClr val="2626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5"/>
          <p:cNvSpPr/>
          <p:nvPr/>
        </p:nvSpPr>
        <p:spPr>
          <a:xfrm>
            <a:off x="6339721" y="4435316"/>
            <a:ext cx="175974" cy="28241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0D6DE"/>
              </a:buClr>
              <a:buSzPts val="2200"/>
              <a:buFont typeface="Sora Medium"/>
              <a:buNone/>
            </a:pPr>
            <a:r>
              <a:rPr b="0" i="0" lang="en-US" sz="2200" u="none" cap="none" strike="noStrike">
                <a:solidFill>
                  <a:srgbClr val="E0D6DE"/>
                </a:solidFill>
                <a:latin typeface="Sora Medium"/>
                <a:ea typeface="Sora Medium"/>
                <a:cs typeface="Sora Medium"/>
                <a:sym typeface="Sora Medium"/>
              </a:rPr>
              <a:t>2</a:t>
            </a:r>
            <a:endParaRPr b="0" i="0" sz="2200" u="none" cap="none" strike="noStrike"/>
          </a:p>
        </p:txBody>
      </p:sp>
      <p:sp>
        <p:nvSpPr>
          <p:cNvPr id="122" name="Google Shape;122;p5"/>
          <p:cNvSpPr/>
          <p:nvPr/>
        </p:nvSpPr>
        <p:spPr>
          <a:xfrm>
            <a:off x="7463195" y="4341138"/>
            <a:ext cx="2353508" cy="294203"/>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E0D6DE"/>
              </a:buClr>
              <a:buSzPts val="1850"/>
              <a:buFont typeface="Sora Medium"/>
              <a:buNone/>
            </a:pPr>
            <a:r>
              <a:rPr b="0" i="0" lang="en-US" sz="1850" u="none" cap="none" strike="noStrike">
                <a:solidFill>
                  <a:srgbClr val="E0D6DE"/>
                </a:solidFill>
                <a:latin typeface="Sora Medium"/>
                <a:ea typeface="Sora Medium"/>
                <a:cs typeface="Sora Medium"/>
                <a:sym typeface="Sora Medium"/>
              </a:rPr>
              <a:t>Fedora</a:t>
            </a:r>
            <a:endParaRPr b="0" i="0" sz="1850" u="none" cap="none" strike="noStrike"/>
          </a:p>
        </p:txBody>
      </p:sp>
      <p:sp>
        <p:nvSpPr>
          <p:cNvPr id="123" name="Google Shape;123;p5"/>
          <p:cNvSpPr/>
          <p:nvPr/>
        </p:nvSpPr>
        <p:spPr>
          <a:xfrm>
            <a:off x="7463195" y="4748213"/>
            <a:ext cx="6508313" cy="903327"/>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E0D6DE"/>
              </a:buClr>
              <a:buSzPts val="1450"/>
              <a:buFont typeface="Noto Sans TC"/>
              <a:buNone/>
            </a:pPr>
            <a:r>
              <a:rPr b="0" i="0" lang="en-US" sz="1450" u="none" cap="none" strike="noStrike">
                <a:solidFill>
                  <a:srgbClr val="E0D6DE"/>
                </a:solidFill>
                <a:latin typeface="Noto Sans TC"/>
                <a:ea typeface="Noto Sans TC"/>
                <a:cs typeface="Noto Sans TC"/>
                <a:sym typeface="Noto Sans TC"/>
              </a:rPr>
              <a:t>Fedora es una distribución patrocinada por Red Hat, orientada a la innovación y la vanguardia tecnológica. Es una opción popular para desarrolladores y entusiastas del software libre.</a:t>
            </a:r>
            <a:endParaRPr b="0" i="0" sz="1450" u="none" cap="none" strike="noStrike"/>
          </a:p>
        </p:txBody>
      </p:sp>
      <p:sp>
        <p:nvSpPr>
          <p:cNvPr id="124" name="Google Shape;124;p5"/>
          <p:cNvSpPr/>
          <p:nvPr/>
        </p:nvSpPr>
        <p:spPr>
          <a:xfrm>
            <a:off x="6616660" y="6440210"/>
            <a:ext cx="658892" cy="22860"/>
          </a:xfrm>
          <a:prstGeom prst="roundRect">
            <a:avLst>
              <a:gd fmla="val 123545" name="adj"/>
            </a:avLst>
          </a:prstGeom>
          <a:solidFill>
            <a:srgbClr val="3F3F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5"/>
          <p:cNvSpPr/>
          <p:nvPr/>
        </p:nvSpPr>
        <p:spPr>
          <a:xfrm>
            <a:off x="6215896" y="6239827"/>
            <a:ext cx="423624" cy="423624"/>
          </a:xfrm>
          <a:prstGeom prst="roundRect">
            <a:avLst>
              <a:gd fmla="val 6667" name="adj"/>
            </a:avLst>
          </a:prstGeom>
          <a:solidFill>
            <a:srgbClr val="2626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5"/>
          <p:cNvSpPr/>
          <p:nvPr/>
        </p:nvSpPr>
        <p:spPr>
          <a:xfrm>
            <a:off x="6340078" y="6310432"/>
            <a:ext cx="175141" cy="28241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0D6DE"/>
              </a:buClr>
              <a:buSzPts val="2200"/>
              <a:buFont typeface="Sora Medium"/>
              <a:buNone/>
            </a:pPr>
            <a:r>
              <a:rPr b="0" i="0" lang="en-US" sz="2200" u="none" cap="none" strike="noStrike">
                <a:solidFill>
                  <a:srgbClr val="E0D6DE"/>
                </a:solidFill>
                <a:latin typeface="Sora Medium"/>
                <a:ea typeface="Sora Medium"/>
                <a:cs typeface="Sora Medium"/>
                <a:sym typeface="Sora Medium"/>
              </a:rPr>
              <a:t>3</a:t>
            </a:r>
            <a:endParaRPr b="0" i="0" sz="2200" u="none" cap="none" strike="noStrike"/>
          </a:p>
        </p:txBody>
      </p:sp>
      <p:sp>
        <p:nvSpPr>
          <p:cNvPr id="127" name="Google Shape;127;p5"/>
          <p:cNvSpPr/>
          <p:nvPr/>
        </p:nvSpPr>
        <p:spPr>
          <a:xfrm>
            <a:off x="7463195" y="6216253"/>
            <a:ext cx="2353508" cy="294203"/>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E0D6DE"/>
              </a:buClr>
              <a:buSzPts val="1850"/>
              <a:buFont typeface="Sora Medium"/>
              <a:buNone/>
            </a:pPr>
            <a:r>
              <a:rPr b="0" i="0" lang="en-US" sz="1850" u="none" cap="none" strike="noStrike">
                <a:solidFill>
                  <a:srgbClr val="E0D6DE"/>
                </a:solidFill>
                <a:latin typeface="Sora Medium"/>
                <a:ea typeface="Sora Medium"/>
                <a:cs typeface="Sora Medium"/>
                <a:sym typeface="Sora Medium"/>
              </a:rPr>
              <a:t>CentOS</a:t>
            </a:r>
            <a:endParaRPr b="0" i="0" sz="1850" u="none" cap="none" strike="noStrike"/>
          </a:p>
        </p:txBody>
      </p:sp>
      <p:sp>
        <p:nvSpPr>
          <p:cNvPr id="128" name="Google Shape;128;p5"/>
          <p:cNvSpPr/>
          <p:nvPr/>
        </p:nvSpPr>
        <p:spPr>
          <a:xfrm>
            <a:off x="7463195" y="6623328"/>
            <a:ext cx="6508313" cy="903327"/>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E0D6DE"/>
              </a:buClr>
              <a:buSzPts val="1450"/>
              <a:buFont typeface="Noto Sans TC"/>
              <a:buNone/>
            </a:pPr>
            <a:r>
              <a:rPr b="0" i="0" lang="en-US" sz="1450" u="none" cap="none" strike="noStrike">
                <a:solidFill>
                  <a:srgbClr val="E0D6DE"/>
                </a:solidFill>
                <a:latin typeface="Noto Sans TC"/>
                <a:ea typeface="Noto Sans TC"/>
                <a:cs typeface="Noto Sans TC"/>
                <a:sym typeface="Noto Sans TC"/>
              </a:rPr>
              <a:t>CentOS es una distribución binaria compatible con Red Hat Enterprise Linux (RHEL), lo que la convierte en una opción viable y gratuita para servidores y entornos empresariales.</a:t>
            </a:r>
            <a:endParaRPr b="0" i="0" sz="1450" u="none" cap="none" strike="noStrike"/>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6"/>
          <p:cNvSpPr/>
          <p:nvPr/>
        </p:nvSpPr>
        <p:spPr>
          <a:xfrm>
            <a:off x="793790" y="1258372"/>
            <a:ext cx="12832913"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97B8FF"/>
              </a:buClr>
              <a:buSzPts val="4450"/>
              <a:buFont typeface="Sora Medium"/>
              <a:buNone/>
            </a:pPr>
            <a:r>
              <a:rPr b="0" i="0" lang="en-US" sz="4450" u="none" cap="none" strike="noStrike">
                <a:solidFill>
                  <a:srgbClr val="97B8FF"/>
                </a:solidFill>
                <a:latin typeface="Sora Medium"/>
                <a:ea typeface="Sora Medium"/>
                <a:cs typeface="Sora Medium"/>
                <a:sym typeface="Sora Medium"/>
              </a:rPr>
              <a:t>Ventajas de Linux en entornos empresariales</a:t>
            </a:r>
            <a:endParaRPr b="0" i="0" sz="4450" u="none" cap="none" strike="noStrike"/>
          </a:p>
        </p:txBody>
      </p:sp>
      <p:pic>
        <p:nvPicPr>
          <p:cNvPr descr="preencoded.png" id="135" name="Google Shape;135;p6"/>
          <p:cNvPicPr preferRelativeResize="0"/>
          <p:nvPr/>
        </p:nvPicPr>
        <p:blipFill rotWithShape="1">
          <a:blip r:embed="rId3">
            <a:alphaModFix/>
          </a:blip>
          <a:srcRect b="0" l="0" r="0" t="0"/>
          <a:stretch/>
        </p:blipFill>
        <p:spPr>
          <a:xfrm>
            <a:off x="793790" y="2420779"/>
            <a:ext cx="566976" cy="566976"/>
          </a:xfrm>
          <a:prstGeom prst="rect">
            <a:avLst/>
          </a:prstGeom>
          <a:noFill/>
          <a:ln>
            <a:noFill/>
          </a:ln>
        </p:spPr>
      </p:pic>
      <p:sp>
        <p:nvSpPr>
          <p:cNvPr id="136" name="Google Shape;136;p6"/>
          <p:cNvSpPr/>
          <p:nvPr/>
        </p:nvSpPr>
        <p:spPr>
          <a:xfrm>
            <a:off x="793790" y="3214568"/>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D6DE"/>
              </a:buClr>
              <a:buSzPts val="2200"/>
              <a:buFont typeface="Sora Medium"/>
              <a:buNone/>
            </a:pPr>
            <a:r>
              <a:rPr b="0" i="0" lang="en-US" sz="2200" u="none" cap="none" strike="noStrike">
                <a:solidFill>
                  <a:srgbClr val="E0D6DE"/>
                </a:solidFill>
                <a:latin typeface="Sora Medium"/>
                <a:ea typeface="Sora Medium"/>
                <a:cs typeface="Sora Medium"/>
                <a:sym typeface="Sora Medium"/>
              </a:rPr>
              <a:t>Seguridad</a:t>
            </a:r>
            <a:endParaRPr b="0" i="0" sz="2200" u="none" cap="none" strike="noStrike"/>
          </a:p>
        </p:txBody>
      </p:sp>
      <p:sp>
        <p:nvSpPr>
          <p:cNvPr id="137" name="Google Shape;137;p6"/>
          <p:cNvSpPr/>
          <p:nvPr/>
        </p:nvSpPr>
        <p:spPr>
          <a:xfrm>
            <a:off x="793790" y="3704987"/>
            <a:ext cx="3005495" cy="326612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Noto Sans TC"/>
              <a:buNone/>
            </a:pPr>
            <a:r>
              <a:rPr b="0" i="0" lang="en-US" sz="1750" u="none" cap="none" strike="noStrike">
                <a:solidFill>
                  <a:srgbClr val="E0D6DE"/>
                </a:solidFill>
                <a:latin typeface="Noto Sans TC"/>
                <a:ea typeface="Noto Sans TC"/>
                <a:cs typeface="Noto Sans TC"/>
                <a:sym typeface="Noto Sans TC"/>
              </a:rPr>
              <a:t>Linux ofrece una mayor seguridad inherente, con un modelo de permisos y accesos más robusto, y un enfoque de desarrollo de software más riguroso, lo que lo convierte en una opción atractiva para entornos empresariales.</a:t>
            </a:r>
            <a:endParaRPr b="0" i="0" sz="1750" u="none" cap="none" strike="noStrike"/>
          </a:p>
        </p:txBody>
      </p:sp>
      <p:pic>
        <p:nvPicPr>
          <p:cNvPr descr="preencoded.png" id="138" name="Google Shape;138;p6"/>
          <p:cNvPicPr preferRelativeResize="0"/>
          <p:nvPr/>
        </p:nvPicPr>
        <p:blipFill rotWithShape="1">
          <a:blip r:embed="rId4">
            <a:alphaModFix/>
          </a:blip>
          <a:srcRect b="0" l="0" r="0" t="0"/>
          <a:stretch/>
        </p:blipFill>
        <p:spPr>
          <a:xfrm>
            <a:off x="4139446" y="2420779"/>
            <a:ext cx="566976" cy="566976"/>
          </a:xfrm>
          <a:prstGeom prst="rect">
            <a:avLst/>
          </a:prstGeom>
          <a:noFill/>
          <a:ln>
            <a:noFill/>
          </a:ln>
        </p:spPr>
      </p:pic>
      <p:sp>
        <p:nvSpPr>
          <p:cNvPr id="139" name="Google Shape;139;p6"/>
          <p:cNvSpPr/>
          <p:nvPr/>
        </p:nvSpPr>
        <p:spPr>
          <a:xfrm>
            <a:off x="4139446" y="3214568"/>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D6DE"/>
              </a:buClr>
              <a:buSzPts val="2200"/>
              <a:buFont typeface="Sora Medium"/>
              <a:buNone/>
            </a:pPr>
            <a:r>
              <a:rPr b="0" i="0" lang="en-US" sz="2200" u="none" cap="none" strike="noStrike">
                <a:solidFill>
                  <a:srgbClr val="E0D6DE"/>
                </a:solidFill>
                <a:latin typeface="Sora Medium"/>
                <a:ea typeface="Sora Medium"/>
                <a:cs typeface="Sora Medium"/>
                <a:sym typeface="Sora Medium"/>
              </a:rPr>
              <a:t>Escalabilidad</a:t>
            </a:r>
            <a:endParaRPr b="0" i="0" sz="2200" u="none" cap="none" strike="noStrike"/>
          </a:p>
        </p:txBody>
      </p:sp>
      <p:sp>
        <p:nvSpPr>
          <p:cNvPr id="140" name="Google Shape;140;p6"/>
          <p:cNvSpPr/>
          <p:nvPr/>
        </p:nvSpPr>
        <p:spPr>
          <a:xfrm>
            <a:off x="4139446" y="3704987"/>
            <a:ext cx="3005614" cy="290322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Noto Sans TC"/>
              <a:buNone/>
            </a:pPr>
            <a:r>
              <a:rPr b="0" i="0" lang="en-US" sz="1750" u="none" cap="none" strike="noStrike">
                <a:solidFill>
                  <a:srgbClr val="E0D6DE"/>
                </a:solidFill>
                <a:latin typeface="Noto Sans TC"/>
                <a:ea typeface="Noto Sans TC"/>
                <a:cs typeface="Noto Sans TC"/>
                <a:sym typeface="Noto Sans TC"/>
              </a:rPr>
              <a:t>Linux es altamente escalable, pudiendo adaptarse a una amplia gama de hardware y cargas de trabajo, desde servidores de alto rendimiento hasta dispositivos embebidos y sistemas IoT.</a:t>
            </a:r>
            <a:endParaRPr b="0" i="0" sz="1750" u="none" cap="none" strike="noStrike"/>
          </a:p>
        </p:txBody>
      </p:sp>
      <p:pic>
        <p:nvPicPr>
          <p:cNvPr descr="preencoded.png" id="141" name="Google Shape;141;p6"/>
          <p:cNvPicPr preferRelativeResize="0"/>
          <p:nvPr/>
        </p:nvPicPr>
        <p:blipFill rotWithShape="1">
          <a:blip r:embed="rId5">
            <a:alphaModFix/>
          </a:blip>
          <a:srcRect b="0" l="0" r="0" t="0"/>
          <a:stretch/>
        </p:blipFill>
        <p:spPr>
          <a:xfrm>
            <a:off x="7485221" y="2420779"/>
            <a:ext cx="566976" cy="566976"/>
          </a:xfrm>
          <a:prstGeom prst="rect">
            <a:avLst/>
          </a:prstGeom>
          <a:noFill/>
          <a:ln>
            <a:noFill/>
          </a:ln>
        </p:spPr>
      </p:pic>
      <p:sp>
        <p:nvSpPr>
          <p:cNvPr id="142" name="Google Shape;142;p6"/>
          <p:cNvSpPr/>
          <p:nvPr/>
        </p:nvSpPr>
        <p:spPr>
          <a:xfrm>
            <a:off x="7485221" y="3214568"/>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D6DE"/>
              </a:buClr>
              <a:buSzPts val="2200"/>
              <a:buFont typeface="Sora Medium"/>
              <a:buNone/>
            </a:pPr>
            <a:r>
              <a:rPr b="0" i="0" lang="en-US" sz="2200" u="none" cap="none" strike="noStrike">
                <a:solidFill>
                  <a:srgbClr val="E0D6DE"/>
                </a:solidFill>
                <a:latin typeface="Sora Medium"/>
                <a:ea typeface="Sora Medium"/>
                <a:cs typeface="Sora Medium"/>
                <a:sym typeface="Sora Medium"/>
              </a:rPr>
              <a:t>Rentabilidad</a:t>
            </a:r>
            <a:endParaRPr b="0" i="0" sz="2200" u="none" cap="none" strike="noStrike"/>
          </a:p>
        </p:txBody>
      </p:sp>
      <p:sp>
        <p:nvSpPr>
          <p:cNvPr id="143" name="Google Shape;143;p6"/>
          <p:cNvSpPr/>
          <p:nvPr/>
        </p:nvSpPr>
        <p:spPr>
          <a:xfrm>
            <a:off x="7485221" y="3704987"/>
            <a:ext cx="3005614" cy="254031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Noto Sans TC"/>
              <a:buNone/>
            </a:pPr>
            <a:r>
              <a:rPr b="0" i="0" lang="en-US" sz="1750" u="none" cap="none" strike="noStrike">
                <a:solidFill>
                  <a:srgbClr val="E0D6DE"/>
                </a:solidFill>
                <a:latin typeface="Noto Sans TC"/>
                <a:ea typeface="Noto Sans TC"/>
                <a:cs typeface="Noto Sans TC"/>
                <a:sym typeface="Noto Sans TC"/>
              </a:rPr>
              <a:t>Al ser un sistema operativo de código abierto, Linux ofrece una solución de bajo costo para las empresas, evitando los altos costos de licencias de software propietario.</a:t>
            </a:r>
            <a:endParaRPr b="0" i="0" sz="1750" u="none" cap="none" strike="noStrike"/>
          </a:p>
        </p:txBody>
      </p:sp>
      <p:pic>
        <p:nvPicPr>
          <p:cNvPr descr="preencoded.png" id="144" name="Google Shape;144;p6"/>
          <p:cNvPicPr preferRelativeResize="0"/>
          <p:nvPr/>
        </p:nvPicPr>
        <p:blipFill rotWithShape="1">
          <a:blip r:embed="rId6">
            <a:alphaModFix/>
          </a:blip>
          <a:srcRect b="0" l="0" r="0" t="0"/>
          <a:stretch/>
        </p:blipFill>
        <p:spPr>
          <a:xfrm>
            <a:off x="10830997" y="2420779"/>
            <a:ext cx="566976" cy="566976"/>
          </a:xfrm>
          <a:prstGeom prst="rect">
            <a:avLst/>
          </a:prstGeom>
          <a:noFill/>
          <a:ln>
            <a:noFill/>
          </a:ln>
        </p:spPr>
      </p:pic>
      <p:sp>
        <p:nvSpPr>
          <p:cNvPr id="145" name="Google Shape;145;p6"/>
          <p:cNvSpPr/>
          <p:nvPr/>
        </p:nvSpPr>
        <p:spPr>
          <a:xfrm>
            <a:off x="10830997" y="3214568"/>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D6DE"/>
              </a:buClr>
              <a:buSzPts val="2200"/>
              <a:buFont typeface="Sora Medium"/>
              <a:buNone/>
            </a:pPr>
            <a:r>
              <a:rPr b="0" i="0" lang="en-US" sz="2200" u="none" cap="none" strike="noStrike">
                <a:solidFill>
                  <a:srgbClr val="E0D6DE"/>
                </a:solidFill>
                <a:latin typeface="Sora Medium"/>
                <a:ea typeface="Sora Medium"/>
                <a:cs typeface="Sora Medium"/>
                <a:sym typeface="Sora Medium"/>
              </a:rPr>
              <a:t>Flexibilidad</a:t>
            </a:r>
            <a:endParaRPr b="0" i="0" sz="2200" u="none" cap="none" strike="noStrike"/>
          </a:p>
        </p:txBody>
      </p:sp>
      <p:sp>
        <p:nvSpPr>
          <p:cNvPr id="146" name="Google Shape;146;p6"/>
          <p:cNvSpPr/>
          <p:nvPr/>
        </p:nvSpPr>
        <p:spPr>
          <a:xfrm>
            <a:off x="10830997" y="3704987"/>
            <a:ext cx="3005614" cy="290322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Noto Sans TC"/>
              <a:buNone/>
            </a:pPr>
            <a:r>
              <a:rPr b="0" i="0" lang="en-US" sz="1750" u="none" cap="none" strike="noStrike">
                <a:solidFill>
                  <a:srgbClr val="E0D6DE"/>
                </a:solidFill>
                <a:latin typeface="Noto Sans TC"/>
                <a:ea typeface="Noto Sans TC"/>
                <a:cs typeface="Noto Sans TC"/>
                <a:sym typeface="Noto Sans TC"/>
              </a:rPr>
              <a:t>Linux permite una mayor personalización y adaptación a las necesidades específicas de cada organización, lo que lo convierte en una opción atractiva para entornos empresariales.</a:t>
            </a:r>
            <a:endParaRPr b="0" i="0" sz="1750" u="none" cap="none" strike="noStrike"/>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pic>
        <p:nvPicPr>
          <p:cNvPr descr="preencoded.png" id="152" name="Google Shape;152;p7"/>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153" name="Google Shape;153;p7"/>
          <p:cNvSpPr/>
          <p:nvPr/>
        </p:nvSpPr>
        <p:spPr>
          <a:xfrm>
            <a:off x="6125528" y="806529"/>
            <a:ext cx="7865745" cy="1141333"/>
          </a:xfrm>
          <a:prstGeom prst="rect">
            <a:avLst/>
          </a:prstGeom>
          <a:noFill/>
          <a:ln>
            <a:noFill/>
          </a:ln>
        </p:spPr>
        <p:txBody>
          <a:bodyPr anchorCtr="0" anchor="t" bIns="0" lIns="0" spcFirstLastPara="1" rIns="0" wrap="square" tIns="0">
            <a:noAutofit/>
          </a:bodyPr>
          <a:lstStyle/>
          <a:p>
            <a:pPr indent="0" lvl="0" marL="0" marR="0" rtl="0" algn="l">
              <a:lnSpc>
                <a:spcPct val="125352"/>
              </a:lnSpc>
              <a:spcBef>
                <a:spcPts val="0"/>
              </a:spcBef>
              <a:spcAft>
                <a:spcPts val="0"/>
              </a:spcAft>
              <a:buClr>
                <a:srgbClr val="97B8FF"/>
              </a:buClr>
              <a:buSzPts val="3550"/>
              <a:buFont typeface="Sora Medium"/>
              <a:buNone/>
            </a:pPr>
            <a:r>
              <a:rPr b="0" i="0" lang="en-US" sz="3550" u="none" cap="none" strike="noStrike">
                <a:solidFill>
                  <a:srgbClr val="97B8FF"/>
                </a:solidFill>
                <a:latin typeface="Sora Medium"/>
                <a:ea typeface="Sora Medium"/>
                <a:cs typeface="Sora Medium"/>
                <a:sym typeface="Sora Medium"/>
              </a:rPr>
              <a:t>Implementación de Linux en servidores y servicios en la nube</a:t>
            </a:r>
            <a:endParaRPr b="0" i="0" sz="3550" u="none" cap="none" strike="noStrike"/>
          </a:p>
        </p:txBody>
      </p:sp>
      <p:pic>
        <p:nvPicPr>
          <p:cNvPr descr="preencoded.png" id="154" name="Google Shape;154;p7"/>
          <p:cNvPicPr preferRelativeResize="0"/>
          <p:nvPr/>
        </p:nvPicPr>
        <p:blipFill rotWithShape="1">
          <a:blip r:embed="rId4">
            <a:alphaModFix/>
          </a:blip>
          <a:srcRect b="0" l="0" r="0" t="0"/>
          <a:stretch/>
        </p:blipFill>
        <p:spPr>
          <a:xfrm>
            <a:off x="6125528" y="2221706"/>
            <a:ext cx="913090" cy="1636395"/>
          </a:xfrm>
          <a:prstGeom prst="rect">
            <a:avLst/>
          </a:prstGeom>
          <a:noFill/>
          <a:ln>
            <a:noFill/>
          </a:ln>
        </p:spPr>
      </p:pic>
      <p:sp>
        <p:nvSpPr>
          <p:cNvPr id="155" name="Google Shape;155;p7"/>
          <p:cNvSpPr/>
          <p:nvPr/>
        </p:nvSpPr>
        <p:spPr>
          <a:xfrm>
            <a:off x="7312462" y="2404229"/>
            <a:ext cx="2282785" cy="285274"/>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E0D6DE"/>
              </a:buClr>
              <a:buSzPts val="1750"/>
              <a:buFont typeface="Sora Medium"/>
              <a:buNone/>
            </a:pPr>
            <a:r>
              <a:rPr b="0" i="0" lang="en-US" sz="1750" u="none" cap="none" strike="noStrike">
                <a:solidFill>
                  <a:srgbClr val="E0D6DE"/>
                </a:solidFill>
                <a:latin typeface="Sora Medium"/>
                <a:ea typeface="Sora Medium"/>
                <a:cs typeface="Sora Medium"/>
                <a:sym typeface="Sora Medium"/>
              </a:rPr>
              <a:t>Servidores</a:t>
            </a:r>
            <a:endParaRPr b="0" i="0" sz="1750" u="none" cap="none" strike="noStrike"/>
          </a:p>
        </p:txBody>
      </p:sp>
      <p:sp>
        <p:nvSpPr>
          <p:cNvPr id="156" name="Google Shape;156;p7"/>
          <p:cNvSpPr/>
          <p:nvPr/>
        </p:nvSpPr>
        <p:spPr>
          <a:xfrm>
            <a:off x="7312462" y="2799040"/>
            <a:ext cx="6678811" cy="876538"/>
          </a:xfrm>
          <a:prstGeom prst="rect">
            <a:avLst/>
          </a:prstGeom>
          <a:noFill/>
          <a:ln>
            <a:noFill/>
          </a:ln>
        </p:spPr>
        <p:txBody>
          <a:bodyPr anchorCtr="0" anchor="t" bIns="0" lIns="0" spcFirstLastPara="1" rIns="0" wrap="square" tIns="0">
            <a:noAutofit/>
          </a:bodyPr>
          <a:lstStyle/>
          <a:p>
            <a:pPr indent="0" lvl="0" marL="0" marR="0" rtl="0" algn="l">
              <a:lnSpc>
                <a:spcPct val="164285"/>
              </a:lnSpc>
              <a:spcBef>
                <a:spcPts val="0"/>
              </a:spcBef>
              <a:spcAft>
                <a:spcPts val="0"/>
              </a:spcAft>
              <a:buClr>
                <a:srgbClr val="E0D6DE"/>
              </a:buClr>
              <a:buSzPts val="1400"/>
              <a:buFont typeface="Noto Sans TC"/>
              <a:buNone/>
            </a:pPr>
            <a:r>
              <a:rPr b="0" i="0" lang="en-US" sz="1400" u="none" cap="none" strike="noStrike">
                <a:solidFill>
                  <a:srgbClr val="E0D6DE"/>
                </a:solidFill>
                <a:latin typeface="Noto Sans TC"/>
                <a:ea typeface="Noto Sans TC"/>
                <a:cs typeface="Noto Sans TC"/>
                <a:sym typeface="Noto Sans TC"/>
              </a:rPr>
              <a:t>Linux es ampliamente utilizado en la implementación de servidores web, de aplicaciones, de bases de datos y de infraestructura, gracias a su estabilidad, seguridad y capacidad de escalado.</a:t>
            </a:r>
            <a:endParaRPr b="0" i="0" sz="1400" u="none" cap="none" strike="noStrike"/>
          </a:p>
        </p:txBody>
      </p:sp>
      <p:pic>
        <p:nvPicPr>
          <p:cNvPr descr="preencoded.png" id="157" name="Google Shape;157;p7"/>
          <p:cNvPicPr preferRelativeResize="0"/>
          <p:nvPr/>
        </p:nvPicPr>
        <p:blipFill rotWithShape="1">
          <a:blip r:embed="rId5">
            <a:alphaModFix/>
          </a:blip>
          <a:srcRect b="0" l="0" r="0" t="0"/>
          <a:stretch/>
        </p:blipFill>
        <p:spPr>
          <a:xfrm>
            <a:off x="6125528" y="3858101"/>
            <a:ext cx="913090" cy="1928574"/>
          </a:xfrm>
          <a:prstGeom prst="rect">
            <a:avLst/>
          </a:prstGeom>
          <a:noFill/>
          <a:ln>
            <a:noFill/>
          </a:ln>
        </p:spPr>
      </p:pic>
      <p:sp>
        <p:nvSpPr>
          <p:cNvPr id="158" name="Google Shape;158;p7"/>
          <p:cNvSpPr/>
          <p:nvPr/>
        </p:nvSpPr>
        <p:spPr>
          <a:xfrm>
            <a:off x="7312462" y="4040624"/>
            <a:ext cx="2316837" cy="285274"/>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E0D6DE"/>
              </a:buClr>
              <a:buSzPts val="1750"/>
              <a:buFont typeface="Sora Medium"/>
              <a:buNone/>
            </a:pPr>
            <a:r>
              <a:rPr b="0" i="0" lang="en-US" sz="1750" u="none" cap="none" strike="noStrike">
                <a:solidFill>
                  <a:srgbClr val="E0D6DE"/>
                </a:solidFill>
                <a:latin typeface="Sora Medium"/>
                <a:ea typeface="Sora Medium"/>
                <a:cs typeface="Sora Medium"/>
                <a:sym typeface="Sora Medium"/>
              </a:rPr>
              <a:t>Servicios en la nube</a:t>
            </a:r>
            <a:endParaRPr b="0" i="0" sz="1750" u="none" cap="none" strike="noStrike"/>
          </a:p>
        </p:txBody>
      </p:sp>
      <p:sp>
        <p:nvSpPr>
          <p:cNvPr id="159" name="Google Shape;159;p7"/>
          <p:cNvSpPr/>
          <p:nvPr/>
        </p:nvSpPr>
        <p:spPr>
          <a:xfrm>
            <a:off x="7312462" y="4435435"/>
            <a:ext cx="6678811" cy="1168718"/>
          </a:xfrm>
          <a:prstGeom prst="rect">
            <a:avLst/>
          </a:prstGeom>
          <a:noFill/>
          <a:ln>
            <a:noFill/>
          </a:ln>
        </p:spPr>
        <p:txBody>
          <a:bodyPr anchorCtr="0" anchor="t" bIns="0" lIns="0" spcFirstLastPara="1" rIns="0" wrap="square" tIns="0">
            <a:noAutofit/>
          </a:bodyPr>
          <a:lstStyle/>
          <a:p>
            <a:pPr indent="0" lvl="0" marL="0" marR="0" rtl="0" algn="l">
              <a:lnSpc>
                <a:spcPct val="164285"/>
              </a:lnSpc>
              <a:spcBef>
                <a:spcPts val="0"/>
              </a:spcBef>
              <a:spcAft>
                <a:spcPts val="0"/>
              </a:spcAft>
              <a:buClr>
                <a:srgbClr val="E0D6DE"/>
              </a:buClr>
              <a:buSzPts val="1400"/>
              <a:buFont typeface="Noto Sans TC"/>
              <a:buNone/>
            </a:pPr>
            <a:r>
              <a:rPr b="0" i="0" lang="en-US" sz="1400" u="none" cap="none" strike="noStrike">
                <a:solidFill>
                  <a:srgbClr val="E0D6DE"/>
                </a:solidFill>
                <a:latin typeface="Noto Sans TC"/>
                <a:ea typeface="Noto Sans TC"/>
                <a:cs typeface="Noto Sans TC"/>
                <a:sym typeface="Noto Sans TC"/>
              </a:rPr>
              <a:t>Los principales proveedores de servicios en la nube, como AWS, Azure y Google Cloud, ofrecen plataformas y servicios basados en Linux, aprovechando sus fortalezas en cuanto a rendimiento, seguridad y capacidad de personalización.</a:t>
            </a:r>
            <a:endParaRPr b="0" i="0" sz="1400" u="none" cap="none" strike="noStrike"/>
          </a:p>
        </p:txBody>
      </p:sp>
      <p:pic>
        <p:nvPicPr>
          <p:cNvPr descr="preencoded.png" id="160" name="Google Shape;160;p7"/>
          <p:cNvPicPr preferRelativeResize="0"/>
          <p:nvPr/>
        </p:nvPicPr>
        <p:blipFill rotWithShape="1">
          <a:blip r:embed="rId6">
            <a:alphaModFix/>
          </a:blip>
          <a:srcRect b="0" l="0" r="0" t="0"/>
          <a:stretch/>
        </p:blipFill>
        <p:spPr>
          <a:xfrm>
            <a:off x="6125528" y="5786676"/>
            <a:ext cx="913090" cy="1636395"/>
          </a:xfrm>
          <a:prstGeom prst="rect">
            <a:avLst/>
          </a:prstGeom>
          <a:noFill/>
          <a:ln>
            <a:noFill/>
          </a:ln>
        </p:spPr>
      </p:pic>
      <p:sp>
        <p:nvSpPr>
          <p:cNvPr id="161" name="Google Shape;161;p7"/>
          <p:cNvSpPr/>
          <p:nvPr/>
        </p:nvSpPr>
        <p:spPr>
          <a:xfrm>
            <a:off x="7312462" y="5969198"/>
            <a:ext cx="3389709" cy="285274"/>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E0D6DE"/>
              </a:buClr>
              <a:buSzPts val="1750"/>
              <a:buFont typeface="Sora Medium"/>
              <a:buNone/>
            </a:pPr>
            <a:r>
              <a:rPr b="0" i="0" lang="en-US" sz="1750" u="none" cap="none" strike="noStrike">
                <a:solidFill>
                  <a:srgbClr val="E0D6DE"/>
                </a:solidFill>
                <a:latin typeface="Sora Medium"/>
                <a:ea typeface="Sora Medium"/>
                <a:cs typeface="Sora Medium"/>
                <a:sym typeface="Sora Medium"/>
              </a:rPr>
              <a:t>Infraestructura como Código</a:t>
            </a:r>
            <a:endParaRPr b="0" i="0" sz="1750" u="none" cap="none" strike="noStrike"/>
          </a:p>
        </p:txBody>
      </p:sp>
      <p:sp>
        <p:nvSpPr>
          <p:cNvPr id="162" name="Google Shape;162;p7"/>
          <p:cNvSpPr/>
          <p:nvPr/>
        </p:nvSpPr>
        <p:spPr>
          <a:xfrm>
            <a:off x="7312462" y="6364010"/>
            <a:ext cx="6678811" cy="876538"/>
          </a:xfrm>
          <a:prstGeom prst="rect">
            <a:avLst/>
          </a:prstGeom>
          <a:noFill/>
          <a:ln>
            <a:noFill/>
          </a:ln>
        </p:spPr>
        <p:txBody>
          <a:bodyPr anchorCtr="0" anchor="t" bIns="0" lIns="0" spcFirstLastPara="1" rIns="0" wrap="square" tIns="0">
            <a:noAutofit/>
          </a:bodyPr>
          <a:lstStyle/>
          <a:p>
            <a:pPr indent="0" lvl="0" marL="0" marR="0" rtl="0" algn="l">
              <a:lnSpc>
                <a:spcPct val="164285"/>
              </a:lnSpc>
              <a:spcBef>
                <a:spcPts val="0"/>
              </a:spcBef>
              <a:spcAft>
                <a:spcPts val="0"/>
              </a:spcAft>
              <a:buClr>
                <a:srgbClr val="E0D6DE"/>
              </a:buClr>
              <a:buSzPts val="1400"/>
              <a:buFont typeface="Noto Sans TC"/>
              <a:buNone/>
            </a:pPr>
            <a:r>
              <a:rPr b="0" i="0" lang="en-US" sz="1400" u="none" cap="none" strike="noStrike">
                <a:solidFill>
                  <a:srgbClr val="E0D6DE"/>
                </a:solidFill>
                <a:latin typeface="Noto Sans TC"/>
                <a:ea typeface="Noto Sans TC"/>
                <a:cs typeface="Noto Sans TC"/>
                <a:sym typeface="Noto Sans TC"/>
              </a:rPr>
              <a:t>Linux es la base para el desarrollo de herramientas de Infraestructura como Código (IaC), como Ansible, Terraform y Kubernetes, que permiten desplegar y gestionar entornos de producción de manera automatizada y reproducible.</a:t>
            </a:r>
            <a:endParaRPr b="0" i="0" sz="1400" u="none" cap="none" strike="noStrike"/>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pic>
        <p:nvPicPr>
          <p:cNvPr descr="preencoded.png" id="168" name="Google Shape;168;p8"/>
          <p:cNvPicPr preferRelativeResize="0"/>
          <p:nvPr/>
        </p:nvPicPr>
        <p:blipFill rotWithShape="1">
          <a:blip r:embed="rId3">
            <a:alphaModFix/>
          </a:blip>
          <a:srcRect b="0" l="0" r="0" t="0"/>
          <a:stretch/>
        </p:blipFill>
        <p:spPr>
          <a:xfrm>
            <a:off x="0" y="0"/>
            <a:ext cx="14630400" cy="2320885"/>
          </a:xfrm>
          <a:prstGeom prst="rect">
            <a:avLst/>
          </a:prstGeom>
          <a:noFill/>
          <a:ln>
            <a:noFill/>
          </a:ln>
        </p:spPr>
      </p:pic>
      <p:sp>
        <p:nvSpPr>
          <p:cNvPr id="169" name="Google Shape;169;p8"/>
          <p:cNvSpPr/>
          <p:nvPr/>
        </p:nvSpPr>
        <p:spPr>
          <a:xfrm>
            <a:off x="649843" y="2832378"/>
            <a:ext cx="12807077" cy="580192"/>
          </a:xfrm>
          <a:prstGeom prst="rect">
            <a:avLst/>
          </a:prstGeom>
          <a:noFill/>
          <a:ln>
            <a:noFill/>
          </a:ln>
        </p:spPr>
        <p:txBody>
          <a:bodyPr anchorCtr="0" anchor="t" bIns="0" lIns="0" spcFirstLastPara="1" rIns="0" wrap="square" tIns="0">
            <a:noAutofit/>
          </a:bodyPr>
          <a:lstStyle/>
          <a:p>
            <a:pPr indent="0" lvl="0" marL="0" marR="0" rtl="0" algn="l">
              <a:lnSpc>
                <a:spcPct val="124657"/>
              </a:lnSpc>
              <a:spcBef>
                <a:spcPts val="0"/>
              </a:spcBef>
              <a:spcAft>
                <a:spcPts val="0"/>
              </a:spcAft>
              <a:buClr>
                <a:srgbClr val="97B8FF"/>
              </a:buClr>
              <a:buSzPts val="3650"/>
              <a:buFont typeface="Sora Medium"/>
              <a:buNone/>
            </a:pPr>
            <a:r>
              <a:rPr b="0" i="0" lang="en-US" sz="3650" u="none" cap="none" strike="noStrike">
                <a:solidFill>
                  <a:srgbClr val="97B8FF"/>
                </a:solidFill>
                <a:latin typeface="Sora Medium"/>
                <a:ea typeface="Sora Medium"/>
                <a:cs typeface="Sora Medium"/>
                <a:sym typeface="Sora Medium"/>
              </a:rPr>
              <a:t>Herramientas de administración y despliegue de Linux</a:t>
            </a:r>
            <a:endParaRPr b="0" i="0" sz="3650" u="none" cap="none" strike="noStrike"/>
          </a:p>
        </p:txBody>
      </p:sp>
      <p:sp>
        <p:nvSpPr>
          <p:cNvPr id="170" name="Google Shape;170;p8"/>
          <p:cNvSpPr/>
          <p:nvPr/>
        </p:nvSpPr>
        <p:spPr>
          <a:xfrm>
            <a:off x="649843" y="3691057"/>
            <a:ext cx="13330714" cy="3224213"/>
          </a:xfrm>
          <a:prstGeom prst="roundRect">
            <a:avLst>
              <a:gd fmla="val 864" name="adj"/>
            </a:avLst>
          </a:prstGeom>
          <a:noFill/>
          <a:ln cap="flat" cmpd="sng" w="9525">
            <a:solidFill>
              <a:srgbClr val="FFFFFF">
                <a:alpha val="2392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8"/>
          <p:cNvSpPr/>
          <p:nvPr/>
        </p:nvSpPr>
        <p:spPr>
          <a:xfrm>
            <a:off x="657463" y="3698677"/>
            <a:ext cx="13315474" cy="534829"/>
          </a:xfrm>
          <a:prstGeom prst="rect">
            <a:avLst/>
          </a:prstGeom>
          <a:solidFill>
            <a:srgbClr val="FFFFFF">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8"/>
          <p:cNvSpPr/>
          <p:nvPr/>
        </p:nvSpPr>
        <p:spPr>
          <a:xfrm>
            <a:off x="843082" y="3817620"/>
            <a:ext cx="6282690" cy="296942"/>
          </a:xfrm>
          <a:prstGeom prst="rect">
            <a:avLst/>
          </a:prstGeom>
          <a:noFill/>
          <a:ln>
            <a:noFill/>
          </a:ln>
        </p:spPr>
        <p:txBody>
          <a:bodyPr anchorCtr="0" anchor="t" bIns="0" lIns="0" spcFirstLastPara="1" rIns="0" wrap="square" tIns="0">
            <a:noAutofit/>
          </a:bodyPr>
          <a:lstStyle/>
          <a:p>
            <a:pPr indent="0" lvl="0" marL="0" marR="0" rtl="0" algn="l">
              <a:lnSpc>
                <a:spcPct val="158620"/>
              </a:lnSpc>
              <a:spcBef>
                <a:spcPts val="0"/>
              </a:spcBef>
              <a:spcAft>
                <a:spcPts val="0"/>
              </a:spcAft>
              <a:buClr>
                <a:srgbClr val="E0D6DE"/>
              </a:buClr>
              <a:buSzPts val="1450"/>
              <a:buFont typeface="Noto Sans TC"/>
              <a:buNone/>
            </a:pPr>
            <a:r>
              <a:rPr b="0" i="0" lang="en-US" sz="1450" u="none" cap="none" strike="noStrike">
                <a:solidFill>
                  <a:srgbClr val="E0D6DE"/>
                </a:solidFill>
                <a:latin typeface="Noto Sans TC"/>
                <a:ea typeface="Noto Sans TC"/>
                <a:cs typeface="Noto Sans TC"/>
                <a:sym typeface="Noto Sans TC"/>
              </a:rPr>
              <a:t>Herramienta</a:t>
            </a:r>
            <a:endParaRPr b="0" i="0" sz="1450" u="none" cap="none" strike="noStrike"/>
          </a:p>
        </p:txBody>
      </p:sp>
      <p:sp>
        <p:nvSpPr>
          <p:cNvPr id="173" name="Google Shape;173;p8"/>
          <p:cNvSpPr/>
          <p:nvPr/>
        </p:nvSpPr>
        <p:spPr>
          <a:xfrm>
            <a:off x="7504628" y="3817620"/>
            <a:ext cx="6282690" cy="296942"/>
          </a:xfrm>
          <a:prstGeom prst="rect">
            <a:avLst/>
          </a:prstGeom>
          <a:noFill/>
          <a:ln>
            <a:noFill/>
          </a:ln>
        </p:spPr>
        <p:txBody>
          <a:bodyPr anchorCtr="0" anchor="t" bIns="0" lIns="0" spcFirstLastPara="1" rIns="0" wrap="square" tIns="0">
            <a:noAutofit/>
          </a:bodyPr>
          <a:lstStyle/>
          <a:p>
            <a:pPr indent="0" lvl="0" marL="0" marR="0" rtl="0" algn="l">
              <a:lnSpc>
                <a:spcPct val="158620"/>
              </a:lnSpc>
              <a:spcBef>
                <a:spcPts val="0"/>
              </a:spcBef>
              <a:spcAft>
                <a:spcPts val="0"/>
              </a:spcAft>
              <a:buClr>
                <a:srgbClr val="E0D6DE"/>
              </a:buClr>
              <a:buSzPts val="1450"/>
              <a:buFont typeface="Noto Sans TC"/>
              <a:buNone/>
            </a:pPr>
            <a:r>
              <a:rPr b="0" i="0" lang="en-US" sz="1450" u="none" cap="none" strike="noStrike">
                <a:solidFill>
                  <a:srgbClr val="E0D6DE"/>
                </a:solidFill>
                <a:latin typeface="Noto Sans TC"/>
                <a:ea typeface="Noto Sans TC"/>
                <a:cs typeface="Noto Sans TC"/>
                <a:sym typeface="Noto Sans TC"/>
              </a:rPr>
              <a:t>Función</a:t>
            </a:r>
            <a:endParaRPr b="0" i="0" sz="1450" u="none" cap="none" strike="noStrike"/>
          </a:p>
        </p:txBody>
      </p:sp>
      <p:sp>
        <p:nvSpPr>
          <p:cNvPr id="174" name="Google Shape;174;p8"/>
          <p:cNvSpPr/>
          <p:nvPr/>
        </p:nvSpPr>
        <p:spPr>
          <a:xfrm>
            <a:off x="657463" y="4233505"/>
            <a:ext cx="13315474" cy="534829"/>
          </a:xfrm>
          <a:prstGeom prst="rect">
            <a:avLst/>
          </a:prstGeom>
          <a:solidFill>
            <a:srgbClr val="000000">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8"/>
          <p:cNvSpPr/>
          <p:nvPr/>
        </p:nvSpPr>
        <p:spPr>
          <a:xfrm>
            <a:off x="843082" y="4352449"/>
            <a:ext cx="6282690" cy="296942"/>
          </a:xfrm>
          <a:prstGeom prst="rect">
            <a:avLst/>
          </a:prstGeom>
          <a:noFill/>
          <a:ln>
            <a:noFill/>
          </a:ln>
        </p:spPr>
        <p:txBody>
          <a:bodyPr anchorCtr="0" anchor="t" bIns="0" lIns="0" spcFirstLastPara="1" rIns="0" wrap="square" tIns="0">
            <a:noAutofit/>
          </a:bodyPr>
          <a:lstStyle/>
          <a:p>
            <a:pPr indent="0" lvl="0" marL="0" marR="0" rtl="0" algn="l">
              <a:lnSpc>
                <a:spcPct val="158620"/>
              </a:lnSpc>
              <a:spcBef>
                <a:spcPts val="0"/>
              </a:spcBef>
              <a:spcAft>
                <a:spcPts val="0"/>
              </a:spcAft>
              <a:buClr>
                <a:srgbClr val="E0D6DE"/>
              </a:buClr>
              <a:buSzPts val="1450"/>
              <a:buFont typeface="Noto Sans TC"/>
              <a:buNone/>
            </a:pPr>
            <a:r>
              <a:rPr b="0" i="0" lang="en-US" sz="1450" u="none" cap="none" strike="noStrike">
                <a:solidFill>
                  <a:srgbClr val="E0D6DE"/>
                </a:solidFill>
                <a:latin typeface="Noto Sans TC"/>
                <a:ea typeface="Noto Sans TC"/>
                <a:cs typeface="Noto Sans TC"/>
                <a:sym typeface="Noto Sans TC"/>
              </a:rPr>
              <a:t>Bash</a:t>
            </a:r>
            <a:endParaRPr b="0" i="0" sz="1450" u="none" cap="none" strike="noStrike"/>
          </a:p>
        </p:txBody>
      </p:sp>
      <p:sp>
        <p:nvSpPr>
          <p:cNvPr id="176" name="Google Shape;176;p8"/>
          <p:cNvSpPr/>
          <p:nvPr/>
        </p:nvSpPr>
        <p:spPr>
          <a:xfrm>
            <a:off x="7504628" y="4352449"/>
            <a:ext cx="6282690" cy="296942"/>
          </a:xfrm>
          <a:prstGeom prst="rect">
            <a:avLst/>
          </a:prstGeom>
          <a:noFill/>
          <a:ln>
            <a:noFill/>
          </a:ln>
        </p:spPr>
        <p:txBody>
          <a:bodyPr anchorCtr="0" anchor="t" bIns="0" lIns="0" spcFirstLastPara="1" rIns="0" wrap="square" tIns="0">
            <a:noAutofit/>
          </a:bodyPr>
          <a:lstStyle/>
          <a:p>
            <a:pPr indent="0" lvl="0" marL="0" marR="0" rtl="0" algn="l">
              <a:lnSpc>
                <a:spcPct val="158620"/>
              </a:lnSpc>
              <a:spcBef>
                <a:spcPts val="0"/>
              </a:spcBef>
              <a:spcAft>
                <a:spcPts val="0"/>
              </a:spcAft>
              <a:buClr>
                <a:srgbClr val="E0D6DE"/>
              </a:buClr>
              <a:buSzPts val="1450"/>
              <a:buFont typeface="Noto Sans TC"/>
              <a:buNone/>
            </a:pPr>
            <a:r>
              <a:rPr b="0" i="0" lang="en-US" sz="1450" u="none" cap="none" strike="noStrike">
                <a:solidFill>
                  <a:srgbClr val="E0D6DE"/>
                </a:solidFill>
                <a:latin typeface="Noto Sans TC"/>
                <a:ea typeface="Noto Sans TC"/>
                <a:cs typeface="Noto Sans TC"/>
                <a:sym typeface="Noto Sans TC"/>
              </a:rPr>
              <a:t>Intérprete de comandos y scripting de shell</a:t>
            </a:r>
            <a:endParaRPr b="0" i="0" sz="1450" u="none" cap="none" strike="noStrike"/>
          </a:p>
        </p:txBody>
      </p:sp>
      <p:sp>
        <p:nvSpPr>
          <p:cNvPr id="177" name="Google Shape;177;p8"/>
          <p:cNvSpPr/>
          <p:nvPr/>
        </p:nvSpPr>
        <p:spPr>
          <a:xfrm>
            <a:off x="657463" y="4768334"/>
            <a:ext cx="13315474" cy="534829"/>
          </a:xfrm>
          <a:prstGeom prst="rect">
            <a:avLst/>
          </a:prstGeom>
          <a:solidFill>
            <a:srgbClr val="FFFFFF">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8"/>
          <p:cNvSpPr/>
          <p:nvPr/>
        </p:nvSpPr>
        <p:spPr>
          <a:xfrm>
            <a:off x="843082" y="4887278"/>
            <a:ext cx="6282690" cy="296942"/>
          </a:xfrm>
          <a:prstGeom prst="rect">
            <a:avLst/>
          </a:prstGeom>
          <a:noFill/>
          <a:ln>
            <a:noFill/>
          </a:ln>
        </p:spPr>
        <p:txBody>
          <a:bodyPr anchorCtr="0" anchor="t" bIns="0" lIns="0" spcFirstLastPara="1" rIns="0" wrap="square" tIns="0">
            <a:noAutofit/>
          </a:bodyPr>
          <a:lstStyle/>
          <a:p>
            <a:pPr indent="0" lvl="0" marL="0" marR="0" rtl="0" algn="l">
              <a:lnSpc>
                <a:spcPct val="158620"/>
              </a:lnSpc>
              <a:spcBef>
                <a:spcPts val="0"/>
              </a:spcBef>
              <a:spcAft>
                <a:spcPts val="0"/>
              </a:spcAft>
              <a:buClr>
                <a:srgbClr val="E0D6DE"/>
              </a:buClr>
              <a:buSzPts val="1450"/>
              <a:buFont typeface="Noto Sans TC"/>
              <a:buNone/>
            </a:pPr>
            <a:r>
              <a:rPr b="0" i="0" lang="en-US" sz="1450" u="none" cap="none" strike="noStrike">
                <a:solidFill>
                  <a:srgbClr val="E0D6DE"/>
                </a:solidFill>
                <a:latin typeface="Noto Sans TC"/>
                <a:ea typeface="Noto Sans TC"/>
                <a:cs typeface="Noto Sans TC"/>
                <a:sym typeface="Noto Sans TC"/>
              </a:rPr>
              <a:t>Systemd</a:t>
            </a:r>
            <a:endParaRPr b="0" i="0" sz="1450" u="none" cap="none" strike="noStrike"/>
          </a:p>
        </p:txBody>
      </p:sp>
      <p:sp>
        <p:nvSpPr>
          <p:cNvPr id="179" name="Google Shape;179;p8"/>
          <p:cNvSpPr/>
          <p:nvPr/>
        </p:nvSpPr>
        <p:spPr>
          <a:xfrm>
            <a:off x="7504628" y="4887278"/>
            <a:ext cx="6282690" cy="296942"/>
          </a:xfrm>
          <a:prstGeom prst="rect">
            <a:avLst/>
          </a:prstGeom>
          <a:noFill/>
          <a:ln>
            <a:noFill/>
          </a:ln>
        </p:spPr>
        <p:txBody>
          <a:bodyPr anchorCtr="0" anchor="t" bIns="0" lIns="0" spcFirstLastPara="1" rIns="0" wrap="square" tIns="0">
            <a:noAutofit/>
          </a:bodyPr>
          <a:lstStyle/>
          <a:p>
            <a:pPr indent="0" lvl="0" marL="0" marR="0" rtl="0" algn="l">
              <a:lnSpc>
                <a:spcPct val="158620"/>
              </a:lnSpc>
              <a:spcBef>
                <a:spcPts val="0"/>
              </a:spcBef>
              <a:spcAft>
                <a:spcPts val="0"/>
              </a:spcAft>
              <a:buClr>
                <a:srgbClr val="E0D6DE"/>
              </a:buClr>
              <a:buSzPts val="1450"/>
              <a:buFont typeface="Noto Sans TC"/>
              <a:buNone/>
            </a:pPr>
            <a:r>
              <a:rPr b="0" i="0" lang="en-US" sz="1450" u="none" cap="none" strike="noStrike">
                <a:solidFill>
                  <a:srgbClr val="E0D6DE"/>
                </a:solidFill>
                <a:latin typeface="Noto Sans TC"/>
                <a:ea typeface="Noto Sans TC"/>
                <a:cs typeface="Noto Sans TC"/>
                <a:sym typeface="Noto Sans TC"/>
              </a:rPr>
              <a:t>Gestor de init y servicios del sistema</a:t>
            </a:r>
            <a:endParaRPr b="0" i="0" sz="1450" u="none" cap="none" strike="noStrike"/>
          </a:p>
        </p:txBody>
      </p:sp>
      <p:sp>
        <p:nvSpPr>
          <p:cNvPr id="180" name="Google Shape;180;p8"/>
          <p:cNvSpPr/>
          <p:nvPr/>
        </p:nvSpPr>
        <p:spPr>
          <a:xfrm>
            <a:off x="657463" y="5303163"/>
            <a:ext cx="13315474" cy="534829"/>
          </a:xfrm>
          <a:prstGeom prst="rect">
            <a:avLst/>
          </a:prstGeom>
          <a:solidFill>
            <a:srgbClr val="000000">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8"/>
          <p:cNvSpPr/>
          <p:nvPr/>
        </p:nvSpPr>
        <p:spPr>
          <a:xfrm>
            <a:off x="843082" y="5422106"/>
            <a:ext cx="6282690" cy="296942"/>
          </a:xfrm>
          <a:prstGeom prst="rect">
            <a:avLst/>
          </a:prstGeom>
          <a:noFill/>
          <a:ln>
            <a:noFill/>
          </a:ln>
        </p:spPr>
        <p:txBody>
          <a:bodyPr anchorCtr="0" anchor="t" bIns="0" lIns="0" spcFirstLastPara="1" rIns="0" wrap="square" tIns="0">
            <a:noAutofit/>
          </a:bodyPr>
          <a:lstStyle/>
          <a:p>
            <a:pPr indent="0" lvl="0" marL="0" marR="0" rtl="0" algn="l">
              <a:lnSpc>
                <a:spcPct val="158620"/>
              </a:lnSpc>
              <a:spcBef>
                <a:spcPts val="0"/>
              </a:spcBef>
              <a:spcAft>
                <a:spcPts val="0"/>
              </a:spcAft>
              <a:buClr>
                <a:srgbClr val="E0D6DE"/>
              </a:buClr>
              <a:buSzPts val="1450"/>
              <a:buFont typeface="Noto Sans TC"/>
              <a:buNone/>
            </a:pPr>
            <a:r>
              <a:rPr b="0" i="0" lang="en-US" sz="1450" u="none" cap="none" strike="noStrike">
                <a:solidFill>
                  <a:srgbClr val="E0D6DE"/>
                </a:solidFill>
                <a:latin typeface="Noto Sans TC"/>
                <a:ea typeface="Noto Sans TC"/>
                <a:cs typeface="Noto Sans TC"/>
                <a:sym typeface="Noto Sans TC"/>
              </a:rPr>
              <a:t>Ansible</a:t>
            </a:r>
            <a:endParaRPr b="0" i="0" sz="1450" u="none" cap="none" strike="noStrike"/>
          </a:p>
        </p:txBody>
      </p:sp>
      <p:sp>
        <p:nvSpPr>
          <p:cNvPr id="182" name="Google Shape;182;p8"/>
          <p:cNvSpPr/>
          <p:nvPr/>
        </p:nvSpPr>
        <p:spPr>
          <a:xfrm>
            <a:off x="7504628" y="5422106"/>
            <a:ext cx="6282690" cy="296942"/>
          </a:xfrm>
          <a:prstGeom prst="rect">
            <a:avLst/>
          </a:prstGeom>
          <a:noFill/>
          <a:ln>
            <a:noFill/>
          </a:ln>
        </p:spPr>
        <p:txBody>
          <a:bodyPr anchorCtr="0" anchor="t" bIns="0" lIns="0" spcFirstLastPara="1" rIns="0" wrap="square" tIns="0">
            <a:noAutofit/>
          </a:bodyPr>
          <a:lstStyle/>
          <a:p>
            <a:pPr indent="0" lvl="0" marL="0" marR="0" rtl="0" algn="l">
              <a:lnSpc>
                <a:spcPct val="158620"/>
              </a:lnSpc>
              <a:spcBef>
                <a:spcPts val="0"/>
              </a:spcBef>
              <a:spcAft>
                <a:spcPts val="0"/>
              </a:spcAft>
              <a:buClr>
                <a:srgbClr val="E0D6DE"/>
              </a:buClr>
              <a:buSzPts val="1450"/>
              <a:buFont typeface="Noto Sans TC"/>
              <a:buNone/>
            </a:pPr>
            <a:r>
              <a:rPr b="0" i="0" lang="en-US" sz="1450" u="none" cap="none" strike="noStrike">
                <a:solidFill>
                  <a:srgbClr val="E0D6DE"/>
                </a:solidFill>
                <a:latin typeface="Noto Sans TC"/>
                <a:ea typeface="Noto Sans TC"/>
                <a:cs typeface="Noto Sans TC"/>
                <a:sym typeface="Noto Sans TC"/>
              </a:rPr>
              <a:t>Automatización de despliegue y configuración</a:t>
            </a:r>
            <a:endParaRPr b="0" i="0" sz="1450" u="none" cap="none" strike="noStrike"/>
          </a:p>
        </p:txBody>
      </p:sp>
      <p:sp>
        <p:nvSpPr>
          <p:cNvPr id="183" name="Google Shape;183;p8"/>
          <p:cNvSpPr/>
          <p:nvPr/>
        </p:nvSpPr>
        <p:spPr>
          <a:xfrm>
            <a:off x="657463" y="5837992"/>
            <a:ext cx="13315474" cy="534829"/>
          </a:xfrm>
          <a:prstGeom prst="rect">
            <a:avLst/>
          </a:prstGeom>
          <a:solidFill>
            <a:srgbClr val="FFFFFF">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8"/>
          <p:cNvSpPr/>
          <p:nvPr/>
        </p:nvSpPr>
        <p:spPr>
          <a:xfrm>
            <a:off x="843082" y="5956935"/>
            <a:ext cx="6282690" cy="296942"/>
          </a:xfrm>
          <a:prstGeom prst="rect">
            <a:avLst/>
          </a:prstGeom>
          <a:noFill/>
          <a:ln>
            <a:noFill/>
          </a:ln>
        </p:spPr>
        <p:txBody>
          <a:bodyPr anchorCtr="0" anchor="t" bIns="0" lIns="0" spcFirstLastPara="1" rIns="0" wrap="square" tIns="0">
            <a:noAutofit/>
          </a:bodyPr>
          <a:lstStyle/>
          <a:p>
            <a:pPr indent="0" lvl="0" marL="0" marR="0" rtl="0" algn="l">
              <a:lnSpc>
                <a:spcPct val="158620"/>
              </a:lnSpc>
              <a:spcBef>
                <a:spcPts val="0"/>
              </a:spcBef>
              <a:spcAft>
                <a:spcPts val="0"/>
              </a:spcAft>
              <a:buClr>
                <a:srgbClr val="E0D6DE"/>
              </a:buClr>
              <a:buSzPts val="1450"/>
              <a:buFont typeface="Noto Sans TC"/>
              <a:buNone/>
            </a:pPr>
            <a:r>
              <a:rPr b="0" i="0" lang="en-US" sz="1450" u="none" cap="none" strike="noStrike">
                <a:solidFill>
                  <a:srgbClr val="E0D6DE"/>
                </a:solidFill>
                <a:latin typeface="Noto Sans TC"/>
                <a:ea typeface="Noto Sans TC"/>
                <a:cs typeface="Noto Sans TC"/>
                <a:sym typeface="Noto Sans TC"/>
              </a:rPr>
              <a:t>Docker</a:t>
            </a:r>
            <a:endParaRPr b="0" i="0" sz="1450" u="none" cap="none" strike="noStrike"/>
          </a:p>
        </p:txBody>
      </p:sp>
      <p:sp>
        <p:nvSpPr>
          <p:cNvPr id="185" name="Google Shape;185;p8"/>
          <p:cNvSpPr/>
          <p:nvPr/>
        </p:nvSpPr>
        <p:spPr>
          <a:xfrm>
            <a:off x="7504628" y="5956935"/>
            <a:ext cx="6282690" cy="296942"/>
          </a:xfrm>
          <a:prstGeom prst="rect">
            <a:avLst/>
          </a:prstGeom>
          <a:noFill/>
          <a:ln>
            <a:noFill/>
          </a:ln>
        </p:spPr>
        <p:txBody>
          <a:bodyPr anchorCtr="0" anchor="t" bIns="0" lIns="0" spcFirstLastPara="1" rIns="0" wrap="square" tIns="0">
            <a:noAutofit/>
          </a:bodyPr>
          <a:lstStyle/>
          <a:p>
            <a:pPr indent="0" lvl="0" marL="0" marR="0" rtl="0" algn="l">
              <a:lnSpc>
                <a:spcPct val="158620"/>
              </a:lnSpc>
              <a:spcBef>
                <a:spcPts val="0"/>
              </a:spcBef>
              <a:spcAft>
                <a:spcPts val="0"/>
              </a:spcAft>
              <a:buClr>
                <a:srgbClr val="E0D6DE"/>
              </a:buClr>
              <a:buSzPts val="1450"/>
              <a:buFont typeface="Noto Sans TC"/>
              <a:buNone/>
            </a:pPr>
            <a:r>
              <a:rPr b="0" i="0" lang="en-US" sz="1450" u="none" cap="none" strike="noStrike">
                <a:solidFill>
                  <a:srgbClr val="E0D6DE"/>
                </a:solidFill>
                <a:latin typeface="Noto Sans TC"/>
                <a:ea typeface="Noto Sans TC"/>
                <a:cs typeface="Noto Sans TC"/>
                <a:sym typeface="Noto Sans TC"/>
              </a:rPr>
              <a:t>Contenedorización y empaquetado de aplicaciones</a:t>
            </a:r>
            <a:endParaRPr b="0" i="0" sz="1450" u="none" cap="none" strike="noStrike"/>
          </a:p>
        </p:txBody>
      </p:sp>
      <p:sp>
        <p:nvSpPr>
          <p:cNvPr id="186" name="Google Shape;186;p8"/>
          <p:cNvSpPr/>
          <p:nvPr/>
        </p:nvSpPr>
        <p:spPr>
          <a:xfrm>
            <a:off x="657463" y="6372820"/>
            <a:ext cx="13315474" cy="534829"/>
          </a:xfrm>
          <a:prstGeom prst="rect">
            <a:avLst/>
          </a:prstGeom>
          <a:solidFill>
            <a:srgbClr val="000000">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8"/>
          <p:cNvSpPr/>
          <p:nvPr/>
        </p:nvSpPr>
        <p:spPr>
          <a:xfrm>
            <a:off x="843082" y="6491764"/>
            <a:ext cx="6282690" cy="296942"/>
          </a:xfrm>
          <a:prstGeom prst="rect">
            <a:avLst/>
          </a:prstGeom>
          <a:noFill/>
          <a:ln>
            <a:noFill/>
          </a:ln>
        </p:spPr>
        <p:txBody>
          <a:bodyPr anchorCtr="0" anchor="t" bIns="0" lIns="0" spcFirstLastPara="1" rIns="0" wrap="square" tIns="0">
            <a:noAutofit/>
          </a:bodyPr>
          <a:lstStyle/>
          <a:p>
            <a:pPr indent="0" lvl="0" marL="0" marR="0" rtl="0" algn="l">
              <a:lnSpc>
                <a:spcPct val="158620"/>
              </a:lnSpc>
              <a:spcBef>
                <a:spcPts val="0"/>
              </a:spcBef>
              <a:spcAft>
                <a:spcPts val="0"/>
              </a:spcAft>
              <a:buClr>
                <a:srgbClr val="E0D6DE"/>
              </a:buClr>
              <a:buSzPts val="1450"/>
              <a:buFont typeface="Noto Sans TC"/>
              <a:buNone/>
            </a:pPr>
            <a:r>
              <a:rPr b="0" i="0" lang="en-US" sz="1450" u="none" cap="none" strike="noStrike">
                <a:solidFill>
                  <a:srgbClr val="E0D6DE"/>
                </a:solidFill>
                <a:latin typeface="Noto Sans TC"/>
                <a:ea typeface="Noto Sans TC"/>
                <a:cs typeface="Noto Sans TC"/>
                <a:sym typeface="Noto Sans TC"/>
              </a:rPr>
              <a:t>Kubernetes</a:t>
            </a:r>
            <a:endParaRPr b="0" i="0" sz="1450" u="none" cap="none" strike="noStrike"/>
          </a:p>
        </p:txBody>
      </p:sp>
      <p:sp>
        <p:nvSpPr>
          <p:cNvPr id="188" name="Google Shape;188;p8"/>
          <p:cNvSpPr/>
          <p:nvPr/>
        </p:nvSpPr>
        <p:spPr>
          <a:xfrm>
            <a:off x="7504628" y="6491764"/>
            <a:ext cx="6282690" cy="296942"/>
          </a:xfrm>
          <a:prstGeom prst="rect">
            <a:avLst/>
          </a:prstGeom>
          <a:noFill/>
          <a:ln>
            <a:noFill/>
          </a:ln>
        </p:spPr>
        <p:txBody>
          <a:bodyPr anchorCtr="0" anchor="t" bIns="0" lIns="0" spcFirstLastPara="1" rIns="0" wrap="square" tIns="0">
            <a:noAutofit/>
          </a:bodyPr>
          <a:lstStyle/>
          <a:p>
            <a:pPr indent="0" lvl="0" marL="0" marR="0" rtl="0" algn="l">
              <a:lnSpc>
                <a:spcPct val="158620"/>
              </a:lnSpc>
              <a:spcBef>
                <a:spcPts val="0"/>
              </a:spcBef>
              <a:spcAft>
                <a:spcPts val="0"/>
              </a:spcAft>
              <a:buClr>
                <a:srgbClr val="E0D6DE"/>
              </a:buClr>
              <a:buSzPts val="1450"/>
              <a:buFont typeface="Noto Sans TC"/>
              <a:buNone/>
            </a:pPr>
            <a:r>
              <a:rPr b="0" i="0" lang="en-US" sz="1450" u="none" cap="none" strike="noStrike">
                <a:solidFill>
                  <a:srgbClr val="E0D6DE"/>
                </a:solidFill>
                <a:latin typeface="Noto Sans TC"/>
                <a:ea typeface="Noto Sans TC"/>
                <a:cs typeface="Noto Sans TC"/>
                <a:sym typeface="Noto Sans TC"/>
              </a:rPr>
              <a:t>Orquestación y gestión de contenedores</a:t>
            </a:r>
            <a:endParaRPr b="0" i="0" sz="1450" u="none" cap="none" strike="noStrike"/>
          </a:p>
        </p:txBody>
      </p:sp>
      <p:sp>
        <p:nvSpPr>
          <p:cNvPr id="189" name="Google Shape;189;p8"/>
          <p:cNvSpPr/>
          <p:nvPr/>
        </p:nvSpPr>
        <p:spPr>
          <a:xfrm>
            <a:off x="649843" y="7124105"/>
            <a:ext cx="13330714" cy="593884"/>
          </a:xfrm>
          <a:prstGeom prst="rect">
            <a:avLst/>
          </a:prstGeom>
          <a:noFill/>
          <a:ln>
            <a:noFill/>
          </a:ln>
        </p:spPr>
        <p:txBody>
          <a:bodyPr anchorCtr="0" anchor="t" bIns="0" lIns="0" spcFirstLastPara="1" rIns="0" wrap="square" tIns="0">
            <a:noAutofit/>
          </a:bodyPr>
          <a:lstStyle/>
          <a:p>
            <a:pPr indent="0" lvl="0" marL="0" marR="0" rtl="0" algn="l">
              <a:lnSpc>
                <a:spcPct val="158620"/>
              </a:lnSpc>
              <a:spcBef>
                <a:spcPts val="0"/>
              </a:spcBef>
              <a:spcAft>
                <a:spcPts val="0"/>
              </a:spcAft>
              <a:buClr>
                <a:srgbClr val="E0D6DE"/>
              </a:buClr>
              <a:buSzPts val="1450"/>
              <a:buFont typeface="Noto Sans TC"/>
              <a:buNone/>
            </a:pPr>
            <a:r>
              <a:rPr b="0" i="0" lang="en-US" sz="1450" u="none" cap="none" strike="noStrike">
                <a:solidFill>
                  <a:srgbClr val="E0D6DE"/>
                </a:solidFill>
                <a:latin typeface="Noto Sans TC"/>
                <a:ea typeface="Noto Sans TC"/>
                <a:cs typeface="Noto Sans TC"/>
                <a:sym typeface="Noto Sans TC"/>
              </a:rPr>
              <a:t>Estas herramientas, entre otras, permiten a los administradores de sistemas Linux automatizar tareas, desplegar aplicaciones de manera escalable y reproducible, y gestionar la infraestructura de manera eficiente.</a:t>
            </a:r>
            <a:endParaRPr b="0" i="0" sz="1450" u="none" cap="none" strike="noStrike"/>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9"/>
          <p:cNvSpPr/>
          <p:nvPr/>
        </p:nvSpPr>
        <p:spPr>
          <a:xfrm>
            <a:off x="793790" y="814745"/>
            <a:ext cx="13042821" cy="1417558"/>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97B8FF"/>
              </a:buClr>
              <a:buSzPts val="4450"/>
              <a:buFont typeface="Sora Medium"/>
              <a:buNone/>
            </a:pPr>
            <a:r>
              <a:rPr b="0" i="0" lang="en-US" sz="4450" u="none" cap="none" strike="noStrike">
                <a:solidFill>
                  <a:srgbClr val="97B8FF"/>
                </a:solidFill>
                <a:latin typeface="Sora Medium"/>
                <a:ea typeface="Sora Medium"/>
                <a:cs typeface="Sora Medium"/>
                <a:sym typeface="Sora Medium"/>
              </a:rPr>
              <a:t>Consideraciones de seguridad y actualización de sistemas Linux</a:t>
            </a:r>
            <a:endParaRPr b="0" i="0" sz="4450" u="none" cap="none" strike="noStrike"/>
          </a:p>
        </p:txBody>
      </p:sp>
      <p:sp>
        <p:nvSpPr>
          <p:cNvPr id="196" name="Google Shape;196;p9"/>
          <p:cNvSpPr/>
          <p:nvPr/>
        </p:nvSpPr>
        <p:spPr>
          <a:xfrm>
            <a:off x="793790" y="2941082"/>
            <a:ext cx="510302" cy="510302"/>
          </a:xfrm>
          <a:prstGeom prst="roundRect">
            <a:avLst>
              <a:gd fmla="val 6667" name="adj"/>
            </a:avLst>
          </a:prstGeom>
          <a:solidFill>
            <a:srgbClr val="2626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9"/>
          <p:cNvSpPr/>
          <p:nvPr/>
        </p:nvSpPr>
        <p:spPr>
          <a:xfrm>
            <a:off x="976908" y="3026093"/>
            <a:ext cx="143947" cy="34028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0D6DE"/>
              </a:buClr>
              <a:buSzPts val="2650"/>
              <a:buFont typeface="Sora Medium"/>
              <a:buNone/>
            </a:pPr>
            <a:r>
              <a:rPr b="0" i="0" lang="en-US" sz="2650" u="none" cap="none" strike="noStrike">
                <a:solidFill>
                  <a:srgbClr val="E0D6DE"/>
                </a:solidFill>
                <a:latin typeface="Sora Medium"/>
                <a:ea typeface="Sora Medium"/>
                <a:cs typeface="Sora Medium"/>
                <a:sym typeface="Sora Medium"/>
              </a:rPr>
              <a:t>1</a:t>
            </a:r>
            <a:endParaRPr b="0" i="0" sz="2650" u="none" cap="none" strike="noStrike"/>
          </a:p>
        </p:txBody>
      </p:sp>
      <p:sp>
        <p:nvSpPr>
          <p:cNvPr id="198" name="Google Shape;198;p9"/>
          <p:cNvSpPr/>
          <p:nvPr/>
        </p:nvSpPr>
        <p:spPr>
          <a:xfrm>
            <a:off x="1530906" y="2941082"/>
            <a:ext cx="3459242"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D6DE"/>
              </a:buClr>
              <a:buSzPts val="2200"/>
              <a:buFont typeface="Sora Medium"/>
              <a:buNone/>
            </a:pPr>
            <a:r>
              <a:rPr b="0" i="0" lang="en-US" sz="2200" u="none" cap="none" strike="noStrike">
                <a:solidFill>
                  <a:srgbClr val="E0D6DE"/>
                </a:solidFill>
                <a:latin typeface="Sora Medium"/>
                <a:ea typeface="Sora Medium"/>
                <a:cs typeface="Sora Medium"/>
                <a:sym typeface="Sora Medium"/>
              </a:rPr>
              <a:t>Actualizaciones de seguridad</a:t>
            </a:r>
            <a:endParaRPr b="0" i="0" sz="2200" u="none" cap="none" strike="noStrike"/>
          </a:p>
        </p:txBody>
      </p:sp>
      <p:sp>
        <p:nvSpPr>
          <p:cNvPr id="199" name="Google Shape;199;p9"/>
          <p:cNvSpPr/>
          <p:nvPr/>
        </p:nvSpPr>
        <p:spPr>
          <a:xfrm>
            <a:off x="1530906" y="3785830"/>
            <a:ext cx="3459242" cy="362902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Noto Sans TC"/>
              <a:buNone/>
            </a:pPr>
            <a:r>
              <a:rPr b="0" i="0" lang="en-US" sz="1750" u="none" cap="none" strike="noStrike">
                <a:solidFill>
                  <a:srgbClr val="E0D6DE"/>
                </a:solidFill>
                <a:latin typeface="Noto Sans TC"/>
                <a:ea typeface="Noto Sans TC"/>
                <a:cs typeface="Noto Sans TC"/>
                <a:sym typeface="Noto Sans TC"/>
              </a:rPr>
              <a:t>Mantener los sistemas Linux actualizados con las últimas correcciones de seguridad es fundamental para proteger los entornos empresariales de amenazas y vulnerabilidades. Esto se logra a través de la gestión de paquetes y la supervisión constante de los repositorios de software.</a:t>
            </a:r>
            <a:endParaRPr b="0" i="0" sz="1750" u="none" cap="none" strike="noStrike"/>
          </a:p>
        </p:txBody>
      </p:sp>
      <p:sp>
        <p:nvSpPr>
          <p:cNvPr id="200" name="Google Shape;200;p9"/>
          <p:cNvSpPr/>
          <p:nvPr/>
        </p:nvSpPr>
        <p:spPr>
          <a:xfrm>
            <a:off x="5216962" y="2941082"/>
            <a:ext cx="510302" cy="510302"/>
          </a:xfrm>
          <a:prstGeom prst="roundRect">
            <a:avLst>
              <a:gd fmla="val 6667" name="adj"/>
            </a:avLst>
          </a:prstGeom>
          <a:solidFill>
            <a:srgbClr val="2626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9"/>
          <p:cNvSpPr/>
          <p:nvPr/>
        </p:nvSpPr>
        <p:spPr>
          <a:xfrm>
            <a:off x="5366147" y="3026093"/>
            <a:ext cx="211931" cy="34028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0D6DE"/>
              </a:buClr>
              <a:buSzPts val="2650"/>
              <a:buFont typeface="Sora Medium"/>
              <a:buNone/>
            </a:pPr>
            <a:r>
              <a:rPr b="0" i="0" lang="en-US" sz="2650" u="none" cap="none" strike="noStrike">
                <a:solidFill>
                  <a:srgbClr val="E0D6DE"/>
                </a:solidFill>
                <a:latin typeface="Sora Medium"/>
                <a:ea typeface="Sora Medium"/>
                <a:cs typeface="Sora Medium"/>
                <a:sym typeface="Sora Medium"/>
              </a:rPr>
              <a:t>2</a:t>
            </a:r>
            <a:endParaRPr b="0" i="0" sz="2650" u="none" cap="none" strike="noStrike"/>
          </a:p>
        </p:txBody>
      </p:sp>
      <p:sp>
        <p:nvSpPr>
          <p:cNvPr id="202" name="Google Shape;202;p9"/>
          <p:cNvSpPr/>
          <p:nvPr/>
        </p:nvSpPr>
        <p:spPr>
          <a:xfrm>
            <a:off x="5954078" y="2941082"/>
            <a:ext cx="313241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D6DE"/>
              </a:buClr>
              <a:buSzPts val="2200"/>
              <a:buFont typeface="Sora Medium"/>
              <a:buNone/>
            </a:pPr>
            <a:r>
              <a:rPr b="0" i="0" lang="en-US" sz="2200" u="none" cap="none" strike="noStrike">
                <a:solidFill>
                  <a:srgbClr val="E0D6DE"/>
                </a:solidFill>
                <a:latin typeface="Sora Medium"/>
                <a:ea typeface="Sora Medium"/>
                <a:cs typeface="Sora Medium"/>
                <a:sym typeface="Sora Medium"/>
              </a:rPr>
              <a:t>Configuración segura</a:t>
            </a:r>
            <a:endParaRPr b="0" i="0" sz="2200" u="none" cap="none" strike="noStrike"/>
          </a:p>
        </p:txBody>
      </p:sp>
      <p:sp>
        <p:nvSpPr>
          <p:cNvPr id="203" name="Google Shape;203;p9"/>
          <p:cNvSpPr/>
          <p:nvPr/>
        </p:nvSpPr>
        <p:spPr>
          <a:xfrm>
            <a:off x="5954078" y="3431500"/>
            <a:ext cx="3459242" cy="290322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Noto Sans TC"/>
              <a:buNone/>
            </a:pPr>
            <a:r>
              <a:rPr b="0" i="0" lang="en-US" sz="1750" u="none" cap="none" strike="noStrike">
                <a:solidFill>
                  <a:srgbClr val="E0D6DE"/>
                </a:solidFill>
                <a:latin typeface="Noto Sans TC"/>
                <a:ea typeface="Noto Sans TC"/>
                <a:cs typeface="Noto Sans TC"/>
                <a:sym typeface="Noto Sans TC"/>
              </a:rPr>
              <a:t>Además de las actualizaciones, es importante implementar una configuración segura de los sistemas Linux, lo que incluye la gestión de permisos, la aplicación de políticas de seguridad y el monitoreo de actividad sospechosa.</a:t>
            </a:r>
            <a:endParaRPr b="0" i="0" sz="1750" u="none" cap="none" strike="noStrike"/>
          </a:p>
        </p:txBody>
      </p:sp>
      <p:sp>
        <p:nvSpPr>
          <p:cNvPr id="204" name="Google Shape;204;p9"/>
          <p:cNvSpPr/>
          <p:nvPr/>
        </p:nvSpPr>
        <p:spPr>
          <a:xfrm>
            <a:off x="9640133" y="2941082"/>
            <a:ext cx="510302" cy="510302"/>
          </a:xfrm>
          <a:prstGeom prst="roundRect">
            <a:avLst>
              <a:gd fmla="val 6667" name="adj"/>
            </a:avLst>
          </a:prstGeom>
          <a:solidFill>
            <a:srgbClr val="2626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9"/>
          <p:cNvSpPr/>
          <p:nvPr/>
        </p:nvSpPr>
        <p:spPr>
          <a:xfrm>
            <a:off x="9789795" y="3026093"/>
            <a:ext cx="210979" cy="34028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0D6DE"/>
              </a:buClr>
              <a:buSzPts val="2650"/>
              <a:buFont typeface="Sora Medium"/>
              <a:buNone/>
            </a:pPr>
            <a:r>
              <a:rPr b="0" i="0" lang="en-US" sz="2650" u="none" cap="none" strike="noStrike">
                <a:solidFill>
                  <a:srgbClr val="E0D6DE"/>
                </a:solidFill>
                <a:latin typeface="Sora Medium"/>
                <a:ea typeface="Sora Medium"/>
                <a:cs typeface="Sora Medium"/>
                <a:sym typeface="Sora Medium"/>
              </a:rPr>
              <a:t>3</a:t>
            </a:r>
            <a:endParaRPr b="0" i="0" sz="2650" u="none" cap="none" strike="noStrike"/>
          </a:p>
        </p:txBody>
      </p:sp>
      <p:sp>
        <p:nvSpPr>
          <p:cNvPr id="206" name="Google Shape;206;p9"/>
          <p:cNvSpPr/>
          <p:nvPr/>
        </p:nvSpPr>
        <p:spPr>
          <a:xfrm>
            <a:off x="10377249" y="2941082"/>
            <a:ext cx="3459242"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D6DE"/>
              </a:buClr>
              <a:buSzPts val="2200"/>
              <a:buFont typeface="Sora Medium"/>
              <a:buNone/>
            </a:pPr>
            <a:r>
              <a:rPr b="0" i="0" lang="en-US" sz="2200" u="none" cap="none" strike="noStrike">
                <a:solidFill>
                  <a:srgbClr val="E0D6DE"/>
                </a:solidFill>
                <a:latin typeface="Sora Medium"/>
                <a:ea typeface="Sora Medium"/>
                <a:cs typeface="Sora Medium"/>
                <a:sym typeface="Sora Medium"/>
              </a:rPr>
              <a:t>Herramientas de seguridad</a:t>
            </a:r>
            <a:endParaRPr b="0" i="0" sz="2200" u="none" cap="none" strike="noStrike"/>
          </a:p>
        </p:txBody>
      </p:sp>
      <p:sp>
        <p:nvSpPr>
          <p:cNvPr id="207" name="Google Shape;207;p9"/>
          <p:cNvSpPr/>
          <p:nvPr/>
        </p:nvSpPr>
        <p:spPr>
          <a:xfrm>
            <a:off x="10377249" y="3785830"/>
            <a:ext cx="3459242" cy="326612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Noto Sans TC"/>
              <a:buNone/>
            </a:pPr>
            <a:r>
              <a:rPr b="0" i="0" lang="en-US" sz="1750" u="none" cap="none" strike="noStrike">
                <a:solidFill>
                  <a:srgbClr val="E0D6DE"/>
                </a:solidFill>
                <a:latin typeface="Noto Sans TC"/>
                <a:ea typeface="Noto Sans TC"/>
                <a:cs typeface="Noto Sans TC"/>
                <a:sym typeface="Noto Sans TC"/>
              </a:rPr>
              <a:t>Linux cuenta con una amplia gama de herramientas de seguridad, como firewalls, sistemas de detección de intrusos y herramientas de cifrado, que pueden ser utilizadas para fortalecer la postura de seguridad de las organizaciones.</a:t>
            </a:r>
            <a:endParaRPr b="0" i="0" sz="1750" u="none" cap="none" strike="noStrike"/>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0"/>
          <p:cNvSpPr/>
          <p:nvPr/>
        </p:nvSpPr>
        <p:spPr>
          <a:xfrm>
            <a:off x="793790" y="1101090"/>
            <a:ext cx="13042821" cy="1417558"/>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97B8FF"/>
              </a:buClr>
              <a:buSzPts val="4450"/>
              <a:buFont typeface="Sora Medium"/>
              <a:buNone/>
            </a:pPr>
            <a:r>
              <a:rPr b="0" i="0" lang="en-US" sz="4450" u="none" cap="none" strike="noStrike">
                <a:solidFill>
                  <a:srgbClr val="97B8FF"/>
                </a:solidFill>
                <a:latin typeface="Sora Medium"/>
                <a:ea typeface="Sora Medium"/>
                <a:cs typeface="Sora Medium"/>
                <a:sym typeface="Sora Medium"/>
              </a:rPr>
              <a:t>Tendencias y nuevos usos de Linux en la industria</a:t>
            </a:r>
            <a:endParaRPr b="0" i="0" sz="4450" u="none" cap="none" strike="noStrike"/>
          </a:p>
        </p:txBody>
      </p:sp>
      <p:sp>
        <p:nvSpPr>
          <p:cNvPr id="214" name="Google Shape;214;p10"/>
          <p:cNvSpPr/>
          <p:nvPr/>
        </p:nvSpPr>
        <p:spPr>
          <a:xfrm>
            <a:off x="793790" y="3085624"/>
            <a:ext cx="3185398"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97B8FF"/>
              </a:buClr>
              <a:buSzPts val="2200"/>
              <a:buFont typeface="Sora Medium"/>
              <a:buNone/>
            </a:pPr>
            <a:r>
              <a:rPr b="0" i="0" lang="en-US" sz="2200" u="none" cap="none" strike="noStrike">
                <a:solidFill>
                  <a:srgbClr val="97B8FF"/>
                </a:solidFill>
                <a:latin typeface="Sora Medium"/>
                <a:ea typeface="Sora Medium"/>
                <a:cs typeface="Sora Medium"/>
                <a:sym typeface="Sora Medium"/>
              </a:rPr>
              <a:t>Edge Computing y IoT</a:t>
            </a:r>
            <a:endParaRPr b="0" i="0" sz="2200" u="none" cap="none" strike="noStrike"/>
          </a:p>
        </p:txBody>
      </p:sp>
      <p:sp>
        <p:nvSpPr>
          <p:cNvPr id="215" name="Google Shape;215;p10"/>
          <p:cNvSpPr/>
          <p:nvPr/>
        </p:nvSpPr>
        <p:spPr>
          <a:xfrm>
            <a:off x="793790" y="3666768"/>
            <a:ext cx="3978116" cy="290322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Noto Sans TC"/>
              <a:buNone/>
            </a:pPr>
            <a:r>
              <a:rPr b="0" i="0" lang="en-US" sz="1750" u="none" cap="none" strike="noStrike">
                <a:solidFill>
                  <a:srgbClr val="E0D6DE"/>
                </a:solidFill>
                <a:latin typeface="Noto Sans TC"/>
                <a:ea typeface="Noto Sans TC"/>
                <a:cs typeface="Noto Sans TC"/>
                <a:sym typeface="Noto Sans TC"/>
              </a:rPr>
              <a:t>Linux se ha convertido en el sistema operativo de facto para dispositivos de Edge Computing y en el Internet de las Cosas (IoT), gracias a su eficiencia, seguridad y capacidad de personalización. Esto permite a las empresas implementar soluciones de IoT y Edge de manera más efectiva.</a:t>
            </a:r>
            <a:endParaRPr b="0" i="0" sz="1750" u="none" cap="none" strike="noStrike"/>
          </a:p>
        </p:txBody>
      </p:sp>
      <p:sp>
        <p:nvSpPr>
          <p:cNvPr id="216" name="Google Shape;216;p10"/>
          <p:cNvSpPr/>
          <p:nvPr/>
        </p:nvSpPr>
        <p:spPr>
          <a:xfrm>
            <a:off x="5332928" y="3085624"/>
            <a:ext cx="3978116"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97B8FF"/>
              </a:buClr>
              <a:buSzPts val="2200"/>
              <a:buFont typeface="Sora Medium"/>
              <a:buNone/>
            </a:pPr>
            <a:r>
              <a:rPr b="0" i="0" lang="en-US" sz="2200" u="none" cap="none" strike="noStrike">
                <a:solidFill>
                  <a:srgbClr val="97B8FF"/>
                </a:solidFill>
                <a:latin typeface="Sora Medium"/>
                <a:ea typeface="Sora Medium"/>
                <a:cs typeface="Sora Medium"/>
                <a:sym typeface="Sora Medium"/>
              </a:rPr>
              <a:t>Inteligencia Artificial y Machine Learning</a:t>
            </a:r>
            <a:endParaRPr b="0" i="0" sz="2200" u="none" cap="none" strike="noStrike"/>
          </a:p>
        </p:txBody>
      </p:sp>
      <p:sp>
        <p:nvSpPr>
          <p:cNvPr id="217" name="Google Shape;217;p10"/>
          <p:cNvSpPr/>
          <p:nvPr/>
        </p:nvSpPr>
        <p:spPr>
          <a:xfrm>
            <a:off x="5332928" y="4021098"/>
            <a:ext cx="3978116" cy="290322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Noto Sans TC"/>
              <a:buNone/>
            </a:pPr>
            <a:r>
              <a:rPr b="0" i="0" lang="en-US" sz="1750" u="none" cap="none" strike="noStrike">
                <a:solidFill>
                  <a:srgbClr val="E0D6DE"/>
                </a:solidFill>
                <a:latin typeface="Noto Sans TC"/>
                <a:ea typeface="Noto Sans TC"/>
                <a:cs typeface="Noto Sans TC"/>
                <a:sym typeface="Noto Sans TC"/>
              </a:rPr>
              <a:t>Linux es ampliamente utilizado en el desarrollo y despliegue de aplicaciones de Inteligencia Artificial y Machine Learning, ya que proporciona un entorno estable, escalable y optimizado para estas cargas de trabajo intensivas en recursos.</a:t>
            </a:r>
            <a:endParaRPr b="0" i="0" sz="1750" u="none" cap="none" strike="noStrike"/>
          </a:p>
        </p:txBody>
      </p:sp>
      <p:sp>
        <p:nvSpPr>
          <p:cNvPr id="218" name="Google Shape;218;p10"/>
          <p:cNvSpPr/>
          <p:nvPr/>
        </p:nvSpPr>
        <p:spPr>
          <a:xfrm>
            <a:off x="9872067" y="3085624"/>
            <a:ext cx="3978116"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97B8FF"/>
              </a:buClr>
              <a:buSzPts val="2200"/>
              <a:buFont typeface="Sora Medium"/>
              <a:buNone/>
            </a:pPr>
            <a:r>
              <a:rPr b="0" i="0" lang="en-US" sz="2200" u="none" cap="none" strike="noStrike">
                <a:solidFill>
                  <a:srgbClr val="97B8FF"/>
                </a:solidFill>
                <a:latin typeface="Sora Medium"/>
                <a:ea typeface="Sora Medium"/>
                <a:cs typeface="Sora Medium"/>
                <a:sym typeface="Sora Medium"/>
              </a:rPr>
              <a:t>Computación de Alto Rendimiento</a:t>
            </a:r>
            <a:endParaRPr b="0" i="0" sz="2200" u="none" cap="none" strike="noStrike"/>
          </a:p>
        </p:txBody>
      </p:sp>
      <p:sp>
        <p:nvSpPr>
          <p:cNvPr id="219" name="Google Shape;219;p10"/>
          <p:cNvSpPr/>
          <p:nvPr/>
        </p:nvSpPr>
        <p:spPr>
          <a:xfrm>
            <a:off x="9872067" y="4021098"/>
            <a:ext cx="3978116" cy="290322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Noto Sans TC"/>
              <a:buNone/>
            </a:pPr>
            <a:r>
              <a:rPr b="0" i="0" lang="en-US" sz="1750" u="none" cap="none" strike="noStrike">
                <a:solidFill>
                  <a:srgbClr val="E0D6DE"/>
                </a:solidFill>
                <a:latin typeface="Noto Sans TC"/>
                <a:ea typeface="Noto Sans TC"/>
                <a:cs typeface="Noto Sans TC"/>
                <a:sym typeface="Noto Sans TC"/>
              </a:rPr>
              <a:t>Gracias a su arquitectura flexible y su capacidad de aprovechar al máximo el hardware, Linux se ha consolidado como la plataforma preferida para el desarrollo y la ejecución de aplicaciones de Computación de Alto Rendimiento (HPC) en entornos empresariales.</a:t>
            </a:r>
            <a:endParaRPr b="0" i="0" sz="1750" u="none" cap="none" strike="noStrike"/>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2024-11-04T02:01:17Z</dcterms:created>
  <dc:creator>PptxGenJS</dc:creator>
</cp:coreProperties>
</file>