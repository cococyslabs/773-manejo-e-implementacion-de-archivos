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8229600" cx="14630400"/>
  <p:notesSz cx="8229600" cy="14630400"/>
  <p:embeddedFontLst>
    <p:embeddedFont>
      <p:font typeface="Noto Sans TC"/>
      <p:regular r:id="rId14"/>
      <p:bold r:id="rId15"/>
    </p:embeddedFont>
    <p:embeddedFont>
      <p:font typeface="Sora Medium"/>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jYQ0FOe3O9x6sx5WfOYLruRZOa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NotoSansTC-bold.fntdata"/><Relationship Id="rId14" Type="http://schemas.openxmlformats.org/officeDocument/2006/relationships/font" Target="fonts/NotoSansTC-regular.fntdata"/><Relationship Id="rId17" Type="http://schemas.openxmlformats.org/officeDocument/2006/relationships/font" Target="fonts/SoraMedium-bold.fntdata"/><Relationship Id="rId16" Type="http://schemas.openxmlformats.org/officeDocument/2006/relationships/font" Target="fonts/SoraMedium-regular.fntdata"/><Relationship Id="rId5" Type="http://schemas.openxmlformats.org/officeDocument/2006/relationships/slide" Target="slides/slide1.xml"/><Relationship Id="rId6" Type="http://schemas.openxmlformats.org/officeDocument/2006/relationships/slide" Target="slides/slide2.xml"/><Relationship Id="rId18"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pic>
        <p:nvPicPr>
          <p:cNvPr descr="preencoded.png" id="11" name="Google Shape;11;p1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 name="Google Shape;12;p11"/>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11">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pic>
        <p:nvPicPr>
          <p:cNvPr descr="preencoded.png" id="15" name="Google Shape;15;p1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6" name="Google Shape;16;p12"/>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12">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pic>
        <p:nvPicPr>
          <p:cNvPr descr="preencoded.png" id="19" name="Google Shape;19;p1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0" name="Google Shape;20;p13"/>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1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pic>
        <p:nvPicPr>
          <p:cNvPr descr="preencoded.png" id="23" name="Google Shape;23;p1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4" name="Google Shape;24;p14"/>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14">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pic>
        <p:nvPicPr>
          <p:cNvPr descr="preencoded.png" id="27" name="Google Shape;27;p1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8" name="Google Shape;28;p15"/>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15">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pic>
        <p:nvPicPr>
          <p:cNvPr descr="preencoded.png" id="31" name="Google Shape;31;p1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2" name="Google Shape;32;p16"/>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16">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pic>
        <p:nvPicPr>
          <p:cNvPr descr="preencoded.png" id="35" name="Google Shape;35;p1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6" name="Google Shape;36;p17"/>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17">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pic>
        <p:nvPicPr>
          <p:cNvPr descr="preencoded.png" id="39" name="Google Shape;39;p1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0" name="Google Shape;40;p18"/>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18">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2" name="Shape 42"/>
        <p:cNvGrpSpPr/>
        <p:nvPr/>
      </p:nvGrpSpPr>
      <p:grpSpPr>
        <a:xfrm>
          <a:off x="0" y="0"/>
          <a:ext cx="0" cy="0"/>
          <a:chOff x="0" y="0"/>
          <a:chExt cx="0" cy="0"/>
        </a:xfrm>
      </p:grpSpPr>
      <p:pic>
        <p:nvPicPr>
          <p:cNvPr descr="preencoded.png" id="43" name="Google Shape;43;p1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4" name="Google Shape;44;p19"/>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19">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6" name="Shape 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7.png"/><Relationship Id="rId5" Type="http://schemas.openxmlformats.org/officeDocument/2006/relationships/image" Target="../media/image24.png"/><Relationship Id="rId6"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8.png"/><Relationship Id="rId4" Type="http://schemas.openxmlformats.org/officeDocument/2006/relationships/image" Target="../media/image19.png"/><Relationship Id="rId5" Type="http://schemas.openxmlformats.org/officeDocument/2006/relationships/image" Target="../media/image21.png"/><Relationship Id="rId6" Type="http://schemas.openxmlformats.org/officeDocument/2006/relationships/image" Target="../media/image30.png"/><Relationship Id="rId7"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33.png"/><Relationship Id="rId5"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pic>
        <p:nvPicPr>
          <p:cNvPr descr="preencoded.png" id="52" name="Google Shape;52;p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53" name="Google Shape;53;p1"/>
          <p:cNvSpPr/>
          <p:nvPr/>
        </p:nvSpPr>
        <p:spPr>
          <a:xfrm>
            <a:off x="714970" y="925354"/>
            <a:ext cx="7714059" cy="352425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97B8FF"/>
              </a:buClr>
              <a:buSzPts val="5550"/>
              <a:buFont typeface="Sora Medium"/>
              <a:buNone/>
            </a:pPr>
            <a:r>
              <a:rPr b="0" i="0" lang="en-US" sz="5550" u="none" cap="none" strike="noStrike">
                <a:solidFill>
                  <a:srgbClr val="97B8FF"/>
                </a:solidFill>
                <a:latin typeface="Sora Medium"/>
                <a:ea typeface="Sora Medium"/>
                <a:cs typeface="Sora Medium"/>
                <a:sym typeface="Sora Medium"/>
              </a:rPr>
              <a:t>Arquitectura del Sistema Operativo Linux y Gestión de Procesos y Recursos</a:t>
            </a:r>
            <a:endParaRPr b="0" i="0" sz="5550" u="none" cap="none" strike="noStrike"/>
          </a:p>
        </p:txBody>
      </p:sp>
      <p:sp>
        <p:nvSpPr>
          <p:cNvPr id="54" name="Google Shape;54;p1"/>
          <p:cNvSpPr/>
          <p:nvPr/>
        </p:nvSpPr>
        <p:spPr>
          <a:xfrm>
            <a:off x="714970" y="4755952"/>
            <a:ext cx="7714059" cy="196095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E0D6DE"/>
              </a:buClr>
              <a:buSzPts val="1600"/>
              <a:buFont typeface="Noto Sans TC"/>
              <a:buNone/>
            </a:pPr>
            <a:r>
              <a:rPr b="0" i="0" lang="en-US" sz="1600" u="none" cap="none" strike="noStrike">
                <a:solidFill>
                  <a:srgbClr val="E0D6DE"/>
                </a:solidFill>
                <a:latin typeface="Noto Sans TC"/>
                <a:ea typeface="Noto Sans TC"/>
                <a:cs typeface="Noto Sans TC"/>
                <a:sym typeface="Noto Sans TC"/>
              </a:rPr>
              <a:t>Bienvenidos a esta presentación sobre la arquitectura del sistema operativo Linux y la gestión de procesos y recursos. Exploraremos los elementos clave que conforman la robusta estructura de este sistema operativo de código abierto, así como las técnicas utilizadas para administrar eficientemente los recursos del sistema. Juntos, descubriremos cómo Linux se ha convertido en una herramienta indispensable en el mundo de la informática.</a:t>
            </a:r>
            <a:endParaRPr b="0" i="0" sz="160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descr="preencoded.png" id="60" name="Google Shape;60;p2"/>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61" name="Google Shape;61;p2"/>
          <p:cNvSpPr/>
          <p:nvPr/>
        </p:nvSpPr>
        <p:spPr>
          <a:xfrm>
            <a:off x="783669" y="616387"/>
            <a:ext cx="7576661" cy="139946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7B8FF"/>
              </a:buClr>
              <a:buSzPts val="4400"/>
              <a:buFont typeface="Sora Medium"/>
              <a:buNone/>
            </a:pPr>
            <a:r>
              <a:rPr b="0" i="0" lang="en-US" sz="4400" u="none" cap="none" strike="noStrike">
                <a:solidFill>
                  <a:srgbClr val="97B8FF"/>
                </a:solidFill>
                <a:latin typeface="Sora Medium"/>
                <a:ea typeface="Sora Medium"/>
                <a:cs typeface="Sora Medium"/>
                <a:sym typeface="Sora Medium"/>
              </a:rPr>
              <a:t>Objetivos de la Presentación</a:t>
            </a:r>
            <a:endParaRPr b="0" i="0" sz="4400" u="none" cap="none" strike="noStrike"/>
          </a:p>
        </p:txBody>
      </p:sp>
      <p:sp>
        <p:nvSpPr>
          <p:cNvPr id="62" name="Google Shape;62;p2"/>
          <p:cNvSpPr/>
          <p:nvPr/>
        </p:nvSpPr>
        <p:spPr>
          <a:xfrm>
            <a:off x="783669" y="2603540"/>
            <a:ext cx="503753" cy="503753"/>
          </a:xfrm>
          <a:prstGeom prst="roundRect">
            <a:avLst>
              <a:gd fmla="val 6668"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964525" y="2687479"/>
            <a:ext cx="142042" cy="335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600"/>
              <a:buFont typeface="Sora Medium"/>
              <a:buNone/>
            </a:pPr>
            <a:r>
              <a:rPr b="0" i="0" lang="en-US" sz="2600" u="none" cap="none" strike="noStrike">
                <a:solidFill>
                  <a:srgbClr val="E0D6DE"/>
                </a:solidFill>
                <a:latin typeface="Sora Medium"/>
                <a:ea typeface="Sora Medium"/>
                <a:cs typeface="Sora Medium"/>
                <a:sym typeface="Sora Medium"/>
              </a:rPr>
              <a:t>1</a:t>
            </a:r>
            <a:endParaRPr b="0" i="0" sz="2600" u="none" cap="none" strike="noStrike"/>
          </a:p>
        </p:txBody>
      </p:sp>
      <p:sp>
        <p:nvSpPr>
          <p:cNvPr id="64" name="Google Shape;64;p2"/>
          <p:cNvSpPr/>
          <p:nvPr/>
        </p:nvSpPr>
        <p:spPr>
          <a:xfrm>
            <a:off x="1511260" y="2603540"/>
            <a:ext cx="2948821" cy="10494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Comprender la Arquitectura de Linux</a:t>
            </a:r>
            <a:endParaRPr b="0" i="0" sz="2200" u="none" cap="none" strike="noStrike"/>
          </a:p>
        </p:txBody>
      </p:sp>
      <p:sp>
        <p:nvSpPr>
          <p:cNvPr id="65" name="Google Shape;65;p2"/>
          <p:cNvSpPr/>
          <p:nvPr/>
        </p:nvSpPr>
        <p:spPr>
          <a:xfrm>
            <a:off x="1511260" y="3787259"/>
            <a:ext cx="2948821" cy="179129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Conocer los principios fundamentales y los componentes clave que conforman la estructura del sistema operativo Linux.</a:t>
            </a:r>
            <a:endParaRPr b="0" i="0" sz="1750" u="none" cap="none" strike="noStrike"/>
          </a:p>
        </p:txBody>
      </p:sp>
      <p:sp>
        <p:nvSpPr>
          <p:cNvPr id="66" name="Google Shape;66;p2"/>
          <p:cNvSpPr/>
          <p:nvPr/>
        </p:nvSpPr>
        <p:spPr>
          <a:xfrm>
            <a:off x="4683919" y="2603540"/>
            <a:ext cx="503753" cy="503753"/>
          </a:xfrm>
          <a:prstGeom prst="roundRect">
            <a:avLst>
              <a:gd fmla="val 6668"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4831199" y="2687479"/>
            <a:ext cx="209193" cy="335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600"/>
              <a:buFont typeface="Sora Medium"/>
              <a:buNone/>
            </a:pPr>
            <a:r>
              <a:rPr b="0" i="0" lang="en-US" sz="2600" u="none" cap="none" strike="noStrike">
                <a:solidFill>
                  <a:srgbClr val="E0D6DE"/>
                </a:solidFill>
                <a:latin typeface="Sora Medium"/>
                <a:ea typeface="Sora Medium"/>
                <a:cs typeface="Sora Medium"/>
                <a:sym typeface="Sora Medium"/>
              </a:rPr>
              <a:t>2</a:t>
            </a:r>
            <a:endParaRPr b="0" i="0" sz="2600" u="none" cap="none" strike="noStrike"/>
          </a:p>
        </p:txBody>
      </p:sp>
      <p:sp>
        <p:nvSpPr>
          <p:cNvPr id="68" name="Google Shape;68;p2"/>
          <p:cNvSpPr/>
          <p:nvPr/>
        </p:nvSpPr>
        <p:spPr>
          <a:xfrm>
            <a:off x="5411510" y="2603540"/>
            <a:ext cx="2948821" cy="69961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Explorar la Gestión de Procesos</a:t>
            </a:r>
            <a:endParaRPr b="0" i="0" sz="2200" u="none" cap="none" strike="noStrike"/>
          </a:p>
        </p:txBody>
      </p:sp>
      <p:sp>
        <p:nvSpPr>
          <p:cNvPr id="69" name="Google Shape;69;p2"/>
          <p:cNvSpPr/>
          <p:nvPr/>
        </p:nvSpPr>
        <p:spPr>
          <a:xfrm>
            <a:off x="5411510" y="3437453"/>
            <a:ext cx="2948821" cy="179129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Analizar cómo Linux maneja y programa los procesos y threads para optimizar el uso de los recursos del sistema.</a:t>
            </a:r>
            <a:endParaRPr b="0" i="0" sz="1750" u="none" cap="none" strike="noStrike"/>
          </a:p>
        </p:txBody>
      </p:sp>
      <p:sp>
        <p:nvSpPr>
          <p:cNvPr id="70" name="Google Shape;70;p2"/>
          <p:cNvSpPr/>
          <p:nvPr/>
        </p:nvSpPr>
        <p:spPr>
          <a:xfrm>
            <a:off x="783669" y="6054209"/>
            <a:ext cx="503753" cy="503753"/>
          </a:xfrm>
          <a:prstGeom prst="roundRect">
            <a:avLst>
              <a:gd fmla="val 6668"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931426" y="6138148"/>
            <a:ext cx="208240" cy="335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600"/>
              <a:buFont typeface="Sora Medium"/>
              <a:buNone/>
            </a:pPr>
            <a:r>
              <a:rPr b="0" i="0" lang="en-US" sz="2600" u="none" cap="none" strike="noStrike">
                <a:solidFill>
                  <a:srgbClr val="E0D6DE"/>
                </a:solidFill>
                <a:latin typeface="Sora Medium"/>
                <a:ea typeface="Sora Medium"/>
                <a:cs typeface="Sora Medium"/>
                <a:sym typeface="Sora Medium"/>
              </a:rPr>
              <a:t>3</a:t>
            </a:r>
            <a:endParaRPr b="0" i="0" sz="2600" u="none" cap="none" strike="noStrike"/>
          </a:p>
        </p:txBody>
      </p:sp>
      <p:sp>
        <p:nvSpPr>
          <p:cNvPr id="72" name="Google Shape;72;p2"/>
          <p:cNvSpPr/>
          <p:nvPr/>
        </p:nvSpPr>
        <p:spPr>
          <a:xfrm>
            <a:off x="1511260" y="6054209"/>
            <a:ext cx="6642497" cy="34980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Aprender sobre la Administración de Recursos</a:t>
            </a:r>
            <a:endParaRPr b="0" i="0" sz="2200" u="none" cap="none" strike="noStrike"/>
          </a:p>
        </p:txBody>
      </p:sp>
      <p:sp>
        <p:nvSpPr>
          <p:cNvPr id="73" name="Google Shape;73;p2"/>
          <p:cNvSpPr/>
          <p:nvPr/>
        </p:nvSpPr>
        <p:spPr>
          <a:xfrm>
            <a:off x="1511260" y="6538317"/>
            <a:ext cx="6849070" cy="1074777"/>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Comprender las técnicas utilizadas para asignar y optimizar el uso de los recursos del sistema, como la memoria, el CPU y el almacenamiento.</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3"/>
          <p:cNvSpPr/>
          <p:nvPr/>
        </p:nvSpPr>
        <p:spPr>
          <a:xfrm>
            <a:off x="793790" y="1269802"/>
            <a:ext cx="11587282"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97B8FF"/>
              </a:buClr>
              <a:buSzPts val="4450"/>
              <a:buFont typeface="Sora Medium"/>
              <a:buNone/>
            </a:pPr>
            <a:r>
              <a:rPr b="0" i="0" lang="en-US" sz="4450" u="none" cap="none" strike="noStrike">
                <a:solidFill>
                  <a:srgbClr val="97B8FF"/>
                </a:solidFill>
                <a:latin typeface="Sora Medium"/>
                <a:ea typeface="Sora Medium"/>
                <a:cs typeface="Sora Medium"/>
                <a:sym typeface="Sora Medium"/>
              </a:rPr>
              <a:t>Introducción al Sistema Operativo Linux</a:t>
            </a:r>
            <a:endParaRPr b="0" i="0" sz="4450" u="none" cap="none" strike="noStrike"/>
          </a:p>
        </p:txBody>
      </p:sp>
      <p:sp>
        <p:nvSpPr>
          <p:cNvPr id="80" name="Google Shape;80;p3"/>
          <p:cNvSpPr/>
          <p:nvPr/>
        </p:nvSpPr>
        <p:spPr>
          <a:xfrm>
            <a:off x="793790" y="2545556"/>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7B8FF"/>
              </a:buClr>
              <a:buSzPts val="2200"/>
              <a:buFont typeface="Sora Medium"/>
              <a:buNone/>
            </a:pPr>
            <a:r>
              <a:rPr b="0" i="0" lang="en-US" sz="2200" u="none" cap="none" strike="noStrike">
                <a:solidFill>
                  <a:srgbClr val="97B8FF"/>
                </a:solidFill>
                <a:latin typeface="Sora Medium"/>
                <a:ea typeface="Sora Medium"/>
                <a:cs typeface="Sora Medium"/>
                <a:sym typeface="Sora Medium"/>
              </a:rPr>
              <a:t>Historia y Orígenes</a:t>
            </a:r>
            <a:endParaRPr b="0" i="0" sz="2200" u="none" cap="none" strike="noStrike"/>
          </a:p>
        </p:txBody>
      </p:sp>
      <p:sp>
        <p:nvSpPr>
          <p:cNvPr id="81" name="Google Shape;81;p3"/>
          <p:cNvSpPr/>
          <p:nvPr/>
        </p:nvSpPr>
        <p:spPr>
          <a:xfrm>
            <a:off x="793790" y="3126700"/>
            <a:ext cx="3978116" cy="362902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Linux fue originalmente desarrollado por Linus Torvalds en 1991 como un proyecto de software libre y de código abierto. Desde entonces, ha evolucionado convirtiéndose en uno de los sistemas operativos más utilizados en el mundo, especialmente en servidores, supercomputadoras y dispositivos embebidos.</a:t>
            </a:r>
            <a:endParaRPr b="0" i="0" sz="1750" u="none" cap="none" strike="noStrike"/>
          </a:p>
        </p:txBody>
      </p:sp>
      <p:sp>
        <p:nvSpPr>
          <p:cNvPr id="82" name="Google Shape;82;p3"/>
          <p:cNvSpPr/>
          <p:nvPr/>
        </p:nvSpPr>
        <p:spPr>
          <a:xfrm>
            <a:off x="5332928" y="2545556"/>
            <a:ext cx="3072289"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7B8FF"/>
              </a:buClr>
              <a:buSzPts val="2200"/>
              <a:buFont typeface="Sora Medium"/>
              <a:buNone/>
            </a:pPr>
            <a:r>
              <a:rPr b="0" i="0" lang="en-US" sz="2200" u="none" cap="none" strike="noStrike">
                <a:solidFill>
                  <a:srgbClr val="97B8FF"/>
                </a:solidFill>
                <a:latin typeface="Sora Medium"/>
                <a:ea typeface="Sora Medium"/>
                <a:cs typeface="Sora Medium"/>
                <a:sym typeface="Sora Medium"/>
              </a:rPr>
              <a:t>Características Clave</a:t>
            </a:r>
            <a:endParaRPr b="0" i="0" sz="2200" u="none" cap="none" strike="noStrike"/>
          </a:p>
        </p:txBody>
      </p:sp>
      <p:sp>
        <p:nvSpPr>
          <p:cNvPr id="83" name="Google Shape;83;p3"/>
          <p:cNvSpPr/>
          <p:nvPr/>
        </p:nvSpPr>
        <p:spPr>
          <a:xfrm>
            <a:off x="5332928" y="3126700"/>
            <a:ext cx="3978116"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Linux se destaca por su estabilidad, seguridad, escalabilidad y flexibilidad. Cuenta con una amplia variedad de distribuciones, cada una con sus propias características y funcionalidades, lo que lo convierte en una opción adaptable a diversas necesidades.</a:t>
            </a:r>
            <a:endParaRPr b="0" i="0" sz="1750" u="none" cap="none" strike="noStrike"/>
          </a:p>
        </p:txBody>
      </p:sp>
      <p:sp>
        <p:nvSpPr>
          <p:cNvPr id="84" name="Google Shape;84;p3"/>
          <p:cNvSpPr/>
          <p:nvPr/>
        </p:nvSpPr>
        <p:spPr>
          <a:xfrm>
            <a:off x="9872067" y="2545556"/>
            <a:ext cx="2894648"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7B8FF"/>
              </a:buClr>
              <a:buSzPts val="2200"/>
              <a:buFont typeface="Sora Medium"/>
              <a:buNone/>
            </a:pPr>
            <a:r>
              <a:rPr b="0" i="0" lang="en-US" sz="2200" u="none" cap="none" strike="noStrike">
                <a:solidFill>
                  <a:srgbClr val="97B8FF"/>
                </a:solidFill>
                <a:latin typeface="Sora Medium"/>
                <a:ea typeface="Sora Medium"/>
                <a:cs typeface="Sora Medium"/>
                <a:sym typeface="Sora Medium"/>
              </a:rPr>
              <a:t>Aplicaciones y Usos</a:t>
            </a:r>
            <a:endParaRPr b="0" i="0" sz="2200" u="none" cap="none" strike="noStrike"/>
          </a:p>
        </p:txBody>
      </p:sp>
      <p:sp>
        <p:nvSpPr>
          <p:cNvPr id="85" name="Google Shape;85;p3"/>
          <p:cNvSpPr/>
          <p:nvPr/>
        </p:nvSpPr>
        <p:spPr>
          <a:xfrm>
            <a:off x="9872067" y="3126700"/>
            <a:ext cx="3978116"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Además de su uso en servidores y supercomputadoras, Linux también se ha extendido a entornos de escritorio, móviles, IoT y en una amplia gama de dispositivos. Su código abierto y su comunidad activa lo convierten en una plataforma innovadora y en constante evolución.</a:t>
            </a:r>
            <a:endParaRPr b="0" i="0" sz="17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descr="preencoded.png" id="91" name="Google Shape;91;p4"/>
          <p:cNvPicPr preferRelativeResize="0"/>
          <p:nvPr/>
        </p:nvPicPr>
        <p:blipFill rotWithShape="1">
          <a:blip r:embed="rId3">
            <a:alphaModFix/>
          </a:blip>
          <a:srcRect b="0" l="0" r="0" t="0"/>
          <a:stretch/>
        </p:blipFill>
        <p:spPr>
          <a:xfrm>
            <a:off x="0" y="0"/>
            <a:ext cx="14630400" cy="2182297"/>
          </a:xfrm>
          <a:prstGeom prst="rect">
            <a:avLst/>
          </a:prstGeom>
          <a:noFill/>
          <a:ln>
            <a:noFill/>
          </a:ln>
        </p:spPr>
      </p:pic>
      <p:sp>
        <p:nvSpPr>
          <p:cNvPr id="92" name="Google Shape;92;p4"/>
          <p:cNvSpPr/>
          <p:nvPr/>
        </p:nvSpPr>
        <p:spPr>
          <a:xfrm>
            <a:off x="611029" y="2801660"/>
            <a:ext cx="9734907" cy="54554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7B8FF"/>
              </a:buClr>
              <a:buSzPts val="3400"/>
              <a:buFont typeface="Sora Medium"/>
              <a:buNone/>
            </a:pPr>
            <a:r>
              <a:rPr b="0" i="0" lang="en-US" sz="3400" u="none" cap="none" strike="noStrike">
                <a:solidFill>
                  <a:srgbClr val="97B8FF"/>
                </a:solidFill>
                <a:latin typeface="Sora Medium"/>
                <a:ea typeface="Sora Medium"/>
                <a:cs typeface="Sora Medium"/>
                <a:sym typeface="Sora Medium"/>
              </a:rPr>
              <a:t>Elementos Clave de la Arquitectura de Linux</a:t>
            </a:r>
            <a:endParaRPr b="0" i="0" sz="3400" u="none" cap="none" strike="noStrike"/>
          </a:p>
        </p:txBody>
      </p:sp>
      <p:sp>
        <p:nvSpPr>
          <p:cNvPr id="93" name="Google Shape;93;p4"/>
          <p:cNvSpPr/>
          <p:nvPr/>
        </p:nvSpPr>
        <p:spPr>
          <a:xfrm>
            <a:off x="611029" y="5609630"/>
            <a:ext cx="13408343" cy="22860"/>
          </a:xfrm>
          <a:prstGeom prst="roundRect">
            <a:avLst>
              <a:gd fmla="val 114557" name="adj"/>
            </a:avLst>
          </a:prstGeom>
          <a:solidFill>
            <a:srgbClr val="3F3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3907869" y="4998660"/>
            <a:ext cx="22860" cy="611029"/>
          </a:xfrm>
          <a:prstGeom prst="roundRect">
            <a:avLst>
              <a:gd fmla="val 114557" name="adj"/>
            </a:avLst>
          </a:prstGeom>
          <a:solidFill>
            <a:srgbClr val="3F3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3722965" y="5413236"/>
            <a:ext cx="392787" cy="392787"/>
          </a:xfrm>
          <a:prstGeom prst="roundRect">
            <a:avLst>
              <a:gd fmla="val 6667"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3863935" y="5478720"/>
            <a:ext cx="110847" cy="26181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050"/>
              <a:buFont typeface="Sora Medium"/>
              <a:buNone/>
            </a:pPr>
            <a:r>
              <a:rPr b="0" i="0" lang="en-US" sz="2050" u="none" cap="none" strike="noStrike">
                <a:solidFill>
                  <a:srgbClr val="E0D6DE"/>
                </a:solidFill>
                <a:latin typeface="Sora Medium"/>
                <a:ea typeface="Sora Medium"/>
                <a:cs typeface="Sora Medium"/>
                <a:sym typeface="Sora Medium"/>
              </a:rPr>
              <a:t>1</a:t>
            </a:r>
            <a:endParaRPr b="0" i="0" sz="2050" u="none" cap="none" strike="noStrike"/>
          </a:p>
        </p:txBody>
      </p:sp>
      <p:sp>
        <p:nvSpPr>
          <p:cNvPr id="97" name="Google Shape;97;p4"/>
          <p:cNvSpPr/>
          <p:nvPr/>
        </p:nvSpPr>
        <p:spPr>
          <a:xfrm>
            <a:off x="2828330" y="3609023"/>
            <a:ext cx="2182297" cy="272772"/>
          </a:xfrm>
          <a:prstGeom prst="rect">
            <a:avLst/>
          </a:prstGeom>
          <a:noFill/>
          <a:ln>
            <a:noFill/>
          </a:ln>
        </p:spPr>
        <p:txBody>
          <a:bodyPr anchorCtr="0" anchor="t" bIns="0" lIns="0" spcFirstLastPara="1" rIns="0" wrap="square" tIns="0">
            <a:noAutofit/>
          </a:bodyPr>
          <a:lstStyle/>
          <a:p>
            <a:pPr indent="0" lvl="0" marL="0" marR="0" rtl="0" algn="ctr">
              <a:lnSpc>
                <a:spcPct val="123529"/>
              </a:lnSpc>
              <a:spcBef>
                <a:spcPts val="0"/>
              </a:spcBef>
              <a:spcAft>
                <a:spcPts val="0"/>
              </a:spcAft>
              <a:buClr>
                <a:srgbClr val="E0D6DE"/>
              </a:buClr>
              <a:buSzPts val="1700"/>
              <a:buFont typeface="Sora Medium"/>
              <a:buNone/>
            </a:pPr>
            <a:r>
              <a:rPr b="0" i="0" lang="en-US" sz="1700" u="none" cap="none" strike="noStrike">
                <a:solidFill>
                  <a:srgbClr val="E0D6DE"/>
                </a:solidFill>
                <a:latin typeface="Sora Medium"/>
                <a:ea typeface="Sora Medium"/>
                <a:cs typeface="Sora Medium"/>
                <a:sym typeface="Sora Medium"/>
              </a:rPr>
              <a:t>Kernel</a:t>
            </a:r>
            <a:endParaRPr b="0" i="0" sz="1700" u="none" cap="none" strike="noStrike"/>
          </a:p>
        </p:txBody>
      </p:sp>
      <p:sp>
        <p:nvSpPr>
          <p:cNvPr id="98" name="Google Shape;98;p4"/>
          <p:cNvSpPr/>
          <p:nvPr/>
        </p:nvSpPr>
        <p:spPr>
          <a:xfrm>
            <a:off x="785574" y="3986451"/>
            <a:ext cx="6267807" cy="837605"/>
          </a:xfrm>
          <a:prstGeom prst="rect">
            <a:avLst/>
          </a:prstGeom>
          <a:noFill/>
          <a:ln>
            <a:noFill/>
          </a:ln>
        </p:spPr>
        <p:txBody>
          <a:bodyPr anchorCtr="0" anchor="t" bIns="0" lIns="0" spcFirstLastPara="1" rIns="0" wrap="square" tIns="0">
            <a:noAutofit/>
          </a:bodyPr>
          <a:lstStyle/>
          <a:p>
            <a:pPr indent="0" lvl="0" marL="0" marR="0" rtl="0" algn="ctr">
              <a:lnSpc>
                <a:spcPct val="159259"/>
              </a:lnSpc>
              <a:spcBef>
                <a:spcPts val="0"/>
              </a:spcBef>
              <a:spcAft>
                <a:spcPts val="0"/>
              </a:spcAft>
              <a:buClr>
                <a:srgbClr val="E0D6DE"/>
              </a:buClr>
              <a:buSzPts val="1350"/>
              <a:buFont typeface="Noto Sans TC"/>
              <a:buNone/>
            </a:pPr>
            <a:r>
              <a:rPr b="0" i="0" lang="en-US" sz="1350" u="none" cap="none" strike="noStrike">
                <a:solidFill>
                  <a:srgbClr val="E0D6DE"/>
                </a:solidFill>
                <a:latin typeface="Noto Sans TC"/>
                <a:ea typeface="Noto Sans TC"/>
                <a:cs typeface="Noto Sans TC"/>
                <a:sym typeface="Noto Sans TC"/>
              </a:rPr>
              <a:t>El núcleo o kernel de Linux es el componente central del sistema operativo, responsable del control y la gestión de los recursos del hardware, así como de la comunicación entre el software y el hardware.</a:t>
            </a:r>
            <a:endParaRPr b="0" i="0" sz="1350" u="none" cap="none" strike="noStrike"/>
          </a:p>
        </p:txBody>
      </p:sp>
      <p:sp>
        <p:nvSpPr>
          <p:cNvPr id="99" name="Google Shape;99;p4"/>
          <p:cNvSpPr/>
          <p:nvPr/>
        </p:nvSpPr>
        <p:spPr>
          <a:xfrm>
            <a:off x="7303532" y="5609570"/>
            <a:ext cx="22860" cy="611029"/>
          </a:xfrm>
          <a:prstGeom prst="roundRect">
            <a:avLst>
              <a:gd fmla="val 114557" name="adj"/>
            </a:avLst>
          </a:prstGeom>
          <a:solidFill>
            <a:srgbClr val="3F3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7118628" y="5413236"/>
            <a:ext cx="392787" cy="392787"/>
          </a:xfrm>
          <a:prstGeom prst="roundRect">
            <a:avLst>
              <a:gd fmla="val 6667"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7233404" y="5478720"/>
            <a:ext cx="163116" cy="26181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050"/>
              <a:buFont typeface="Sora Medium"/>
              <a:buNone/>
            </a:pPr>
            <a:r>
              <a:rPr b="0" i="0" lang="en-US" sz="2050" u="none" cap="none" strike="noStrike">
                <a:solidFill>
                  <a:srgbClr val="E0D6DE"/>
                </a:solidFill>
                <a:latin typeface="Sora Medium"/>
                <a:ea typeface="Sora Medium"/>
                <a:cs typeface="Sora Medium"/>
                <a:sym typeface="Sora Medium"/>
              </a:rPr>
              <a:t>2</a:t>
            </a:r>
            <a:endParaRPr b="0" i="0" sz="2050" u="none" cap="none" strike="noStrike"/>
          </a:p>
        </p:txBody>
      </p:sp>
      <p:sp>
        <p:nvSpPr>
          <p:cNvPr id="102" name="Google Shape;102;p4"/>
          <p:cNvSpPr/>
          <p:nvPr/>
        </p:nvSpPr>
        <p:spPr>
          <a:xfrm>
            <a:off x="6223992" y="6395204"/>
            <a:ext cx="2182297" cy="272772"/>
          </a:xfrm>
          <a:prstGeom prst="rect">
            <a:avLst/>
          </a:prstGeom>
          <a:noFill/>
          <a:ln>
            <a:noFill/>
          </a:ln>
        </p:spPr>
        <p:txBody>
          <a:bodyPr anchorCtr="0" anchor="t" bIns="0" lIns="0" spcFirstLastPara="1" rIns="0" wrap="square" tIns="0">
            <a:noAutofit/>
          </a:bodyPr>
          <a:lstStyle/>
          <a:p>
            <a:pPr indent="0" lvl="0" marL="0" marR="0" rtl="0" algn="ctr">
              <a:lnSpc>
                <a:spcPct val="123529"/>
              </a:lnSpc>
              <a:spcBef>
                <a:spcPts val="0"/>
              </a:spcBef>
              <a:spcAft>
                <a:spcPts val="0"/>
              </a:spcAft>
              <a:buClr>
                <a:srgbClr val="E0D6DE"/>
              </a:buClr>
              <a:buSzPts val="1700"/>
              <a:buFont typeface="Sora Medium"/>
              <a:buNone/>
            </a:pPr>
            <a:r>
              <a:rPr b="0" i="0" lang="en-US" sz="1700" u="none" cap="none" strike="noStrike">
                <a:solidFill>
                  <a:srgbClr val="E0D6DE"/>
                </a:solidFill>
                <a:latin typeface="Sora Medium"/>
                <a:ea typeface="Sora Medium"/>
                <a:cs typeface="Sora Medium"/>
                <a:sym typeface="Sora Medium"/>
              </a:rPr>
              <a:t>Shell</a:t>
            </a:r>
            <a:endParaRPr b="0" i="0" sz="1700" u="none" cap="none" strike="noStrike"/>
          </a:p>
        </p:txBody>
      </p:sp>
      <p:sp>
        <p:nvSpPr>
          <p:cNvPr id="103" name="Google Shape;103;p4"/>
          <p:cNvSpPr/>
          <p:nvPr/>
        </p:nvSpPr>
        <p:spPr>
          <a:xfrm>
            <a:off x="4181237" y="6772632"/>
            <a:ext cx="6267807" cy="837605"/>
          </a:xfrm>
          <a:prstGeom prst="rect">
            <a:avLst/>
          </a:prstGeom>
          <a:noFill/>
          <a:ln>
            <a:noFill/>
          </a:ln>
        </p:spPr>
        <p:txBody>
          <a:bodyPr anchorCtr="0" anchor="t" bIns="0" lIns="0" spcFirstLastPara="1" rIns="0" wrap="square" tIns="0">
            <a:noAutofit/>
          </a:bodyPr>
          <a:lstStyle/>
          <a:p>
            <a:pPr indent="0" lvl="0" marL="0" marR="0" rtl="0" algn="ctr">
              <a:lnSpc>
                <a:spcPct val="159259"/>
              </a:lnSpc>
              <a:spcBef>
                <a:spcPts val="0"/>
              </a:spcBef>
              <a:spcAft>
                <a:spcPts val="0"/>
              </a:spcAft>
              <a:buClr>
                <a:srgbClr val="E0D6DE"/>
              </a:buClr>
              <a:buSzPts val="1350"/>
              <a:buFont typeface="Noto Sans TC"/>
              <a:buNone/>
            </a:pPr>
            <a:r>
              <a:rPr b="0" i="0" lang="en-US" sz="1350" u="none" cap="none" strike="noStrike">
                <a:solidFill>
                  <a:srgbClr val="E0D6DE"/>
                </a:solidFill>
                <a:latin typeface="Noto Sans TC"/>
                <a:ea typeface="Noto Sans TC"/>
                <a:cs typeface="Noto Sans TC"/>
                <a:sym typeface="Noto Sans TC"/>
              </a:rPr>
              <a:t>La shell de Linux, también conocida como intérprete de comandos, es la interfaz de usuario que permite a los usuarios interactuar con el sistema operativo a través de comandos y scripts.</a:t>
            </a:r>
            <a:endParaRPr b="0" i="0" sz="1350" u="none" cap="none" strike="noStrike"/>
          </a:p>
        </p:txBody>
      </p:sp>
      <p:sp>
        <p:nvSpPr>
          <p:cNvPr id="104" name="Google Shape;104;p4"/>
          <p:cNvSpPr/>
          <p:nvPr/>
        </p:nvSpPr>
        <p:spPr>
          <a:xfrm>
            <a:off x="10699313" y="4998660"/>
            <a:ext cx="22860" cy="611029"/>
          </a:xfrm>
          <a:prstGeom prst="roundRect">
            <a:avLst>
              <a:gd fmla="val 114557" name="adj"/>
            </a:avLst>
          </a:prstGeom>
          <a:solidFill>
            <a:srgbClr val="3F3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10514409" y="5413236"/>
            <a:ext cx="392787" cy="392787"/>
          </a:xfrm>
          <a:prstGeom prst="roundRect">
            <a:avLst>
              <a:gd fmla="val 6667"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10629543" y="5478720"/>
            <a:ext cx="162401" cy="26181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050"/>
              <a:buFont typeface="Sora Medium"/>
              <a:buNone/>
            </a:pPr>
            <a:r>
              <a:rPr b="0" i="0" lang="en-US" sz="2050" u="none" cap="none" strike="noStrike">
                <a:solidFill>
                  <a:srgbClr val="E0D6DE"/>
                </a:solidFill>
                <a:latin typeface="Sora Medium"/>
                <a:ea typeface="Sora Medium"/>
                <a:cs typeface="Sora Medium"/>
                <a:sym typeface="Sora Medium"/>
              </a:rPr>
              <a:t>3</a:t>
            </a:r>
            <a:endParaRPr b="0" i="0" sz="2050" u="none" cap="none" strike="noStrike"/>
          </a:p>
        </p:txBody>
      </p:sp>
      <p:sp>
        <p:nvSpPr>
          <p:cNvPr id="107" name="Google Shape;107;p4"/>
          <p:cNvSpPr/>
          <p:nvPr/>
        </p:nvSpPr>
        <p:spPr>
          <a:xfrm>
            <a:off x="9454039" y="3609023"/>
            <a:ext cx="2513647" cy="272772"/>
          </a:xfrm>
          <a:prstGeom prst="rect">
            <a:avLst/>
          </a:prstGeom>
          <a:noFill/>
          <a:ln>
            <a:noFill/>
          </a:ln>
        </p:spPr>
        <p:txBody>
          <a:bodyPr anchorCtr="0" anchor="t" bIns="0" lIns="0" spcFirstLastPara="1" rIns="0" wrap="square" tIns="0">
            <a:noAutofit/>
          </a:bodyPr>
          <a:lstStyle/>
          <a:p>
            <a:pPr indent="0" lvl="0" marL="0" marR="0" rtl="0" algn="ctr">
              <a:lnSpc>
                <a:spcPct val="123529"/>
              </a:lnSpc>
              <a:spcBef>
                <a:spcPts val="0"/>
              </a:spcBef>
              <a:spcAft>
                <a:spcPts val="0"/>
              </a:spcAft>
              <a:buClr>
                <a:srgbClr val="E0D6DE"/>
              </a:buClr>
              <a:buSzPts val="1700"/>
              <a:buFont typeface="Sora Medium"/>
              <a:buNone/>
            </a:pPr>
            <a:r>
              <a:rPr b="0" i="0" lang="en-US" sz="1700" u="none" cap="none" strike="noStrike">
                <a:solidFill>
                  <a:srgbClr val="E0D6DE"/>
                </a:solidFill>
                <a:latin typeface="Sora Medium"/>
                <a:ea typeface="Sora Medium"/>
                <a:cs typeface="Sora Medium"/>
                <a:sym typeface="Sora Medium"/>
              </a:rPr>
              <a:t>Servicios y Bibliotecas</a:t>
            </a:r>
            <a:endParaRPr b="0" i="0" sz="1700" u="none" cap="none" strike="noStrike"/>
          </a:p>
        </p:txBody>
      </p:sp>
      <p:sp>
        <p:nvSpPr>
          <p:cNvPr id="108" name="Google Shape;108;p4"/>
          <p:cNvSpPr/>
          <p:nvPr/>
        </p:nvSpPr>
        <p:spPr>
          <a:xfrm>
            <a:off x="7577018" y="3986451"/>
            <a:ext cx="6267807" cy="837605"/>
          </a:xfrm>
          <a:prstGeom prst="rect">
            <a:avLst/>
          </a:prstGeom>
          <a:noFill/>
          <a:ln>
            <a:noFill/>
          </a:ln>
        </p:spPr>
        <p:txBody>
          <a:bodyPr anchorCtr="0" anchor="t" bIns="0" lIns="0" spcFirstLastPara="1" rIns="0" wrap="square" tIns="0">
            <a:noAutofit/>
          </a:bodyPr>
          <a:lstStyle/>
          <a:p>
            <a:pPr indent="0" lvl="0" marL="0" marR="0" rtl="0" algn="ctr">
              <a:lnSpc>
                <a:spcPct val="159259"/>
              </a:lnSpc>
              <a:spcBef>
                <a:spcPts val="0"/>
              </a:spcBef>
              <a:spcAft>
                <a:spcPts val="0"/>
              </a:spcAft>
              <a:buClr>
                <a:srgbClr val="E0D6DE"/>
              </a:buClr>
              <a:buSzPts val="1350"/>
              <a:buFont typeface="Noto Sans TC"/>
              <a:buNone/>
            </a:pPr>
            <a:r>
              <a:rPr b="0" i="0" lang="en-US" sz="1350" u="none" cap="none" strike="noStrike">
                <a:solidFill>
                  <a:srgbClr val="E0D6DE"/>
                </a:solidFill>
                <a:latin typeface="Noto Sans TC"/>
                <a:ea typeface="Noto Sans TC"/>
                <a:cs typeface="Noto Sans TC"/>
                <a:sym typeface="Noto Sans TC"/>
              </a:rPr>
              <a:t>Linux cuenta con una amplia variedad de servicios y bibliotecas que brindan funcionalidades específicas, como la gestión de archivos, la red, la seguridad y la interoperabilidad con otros sistemas.</a:t>
            </a:r>
            <a:endParaRPr b="0" i="0" sz="13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p:nvPr/>
        </p:nvSpPr>
        <p:spPr>
          <a:xfrm>
            <a:off x="793790" y="1024533"/>
            <a:ext cx="1234821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97B8FF"/>
              </a:buClr>
              <a:buSzPts val="4450"/>
              <a:buFont typeface="Sora Medium"/>
              <a:buNone/>
            </a:pPr>
            <a:r>
              <a:rPr b="0" i="0" lang="en-US" sz="4450" u="none" cap="none" strike="noStrike">
                <a:solidFill>
                  <a:srgbClr val="97B8FF"/>
                </a:solidFill>
                <a:latin typeface="Sora Medium"/>
                <a:ea typeface="Sora Medium"/>
                <a:cs typeface="Sora Medium"/>
                <a:sym typeface="Sora Medium"/>
              </a:rPr>
              <a:t>Kernel de Linux: Funciones y Componentes</a:t>
            </a:r>
            <a:endParaRPr b="0" i="0" sz="4450" u="none" cap="none" strike="noStrike"/>
          </a:p>
        </p:txBody>
      </p:sp>
      <p:sp>
        <p:nvSpPr>
          <p:cNvPr id="115" name="Google Shape;115;p5"/>
          <p:cNvSpPr/>
          <p:nvPr/>
        </p:nvSpPr>
        <p:spPr>
          <a:xfrm>
            <a:off x="793790" y="2186940"/>
            <a:ext cx="6408063" cy="2395657"/>
          </a:xfrm>
          <a:prstGeom prst="roundRect">
            <a:avLst>
              <a:gd fmla="val 1420"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1020604" y="2413754"/>
            <a:ext cx="2986802"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Gestión de Procesos</a:t>
            </a:r>
            <a:endParaRPr b="0" i="0" sz="2200" u="none" cap="none" strike="noStrike"/>
          </a:p>
        </p:txBody>
      </p:sp>
      <p:sp>
        <p:nvSpPr>
          <p:cNvPr id="117" name="Google Shape;117;p5"/>
          <p:cNvSpPr/>
          <p:nvPr/>
        </p:nvSpPr>
        <p:spPr>
          <a:xfrm>
            <a:off x="1020604" y="2904173"/>
            <a:ext cx="5954435"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El kernel de Linux es responsable de la creación, planificación, ejecución y finalización de los procesos, asegurando un uso eficiente de los recursos del sistema.</a:t>
            </a:r>
            <a:endParaRPr b="0" i="0" sz="1750" u="none" cap="none" strike="noStrike"/>
          </a:p>
        </p:txBody>
      </p:sp>
      <p:sp>
        <p:nvSpPr>
          <p:cNvPr id="118" name="Google Shape;118;p5"/>
          <p:cNvSpPr/>
          <p:nvPr/>
        </p:nvSpPr>
        <p:spPr>
          <a:xfrm>
            <a:off x="7428667" y="2186940"/>
            <a:ext cx="6408063" cy="2395657"/>
          </a:xfrm>
          <a:prstGeom prst="roundRect">
            <a:avLst>
              <a:gd fmla="val 1420"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7655481" y="2413754"/>
            <a:ext cx="4019669"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Administración de Memoria</a:t>
            </a:r>
            <a:endParaRPr b="0" i="0" sz="2200" u="none" cap="none" strike="noStrike"/>
          </a:p>
        </p:txBody>
      </p:sp>
      <p:sp>
        <p:nvSpPr>
          <p:cNvPr id="120" name="Google Shape;120;p5"/>
          <p:cNvSpPr/>
          <p:nvPr/>
        </p:nvSpPr>
        <p:spPr>
          <a:xfrm>
            <a:off x="7655481" y="2904173"/>
            <a:ext cx="5954435"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El kernel gestiona la memoria del sistema, asignando y liberando espacios de memoria para los procesos, y aplicando técnicas como la paginación y la memoria virtual.</a:t>
            </a:r>
            <a:endParaRPr b="0" i="0" sz="1750" u="none" cap="none" strike="noStrike"/>
          </a:p>
        </p:txBody>
      </p:sp>
      <p:sp>
        <p:nvSpPr>
          <p:cNvPr id="121" name="Google Shape;121;p5"/>
          <p:cNvSpPr/>
          <p:nvPr/>
        </p:nvSpPr>
        <p:spPr>
          <a:xfrm>
            <a:off x="793790" y="4809411"/>
            <a:ext cx="6408063" cy="2395657"/>
          </a:xfrm>
          <a:prstGeom prst="roundRect">
            <a:avLst>
              <a:gd fmla="val 1420"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a:off x="1020604" y="5036225"/>
            <a:ext cx="3384113"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Manejo de Dispositivos</a:t>
            </a:r>
            <a:endParaRPr b="0" i="0" sz="2200" u="none" cap="none" strike="noStrike"/>
          </a:p>
        </p:txBody>
      </p:sp>
      <p:sp>
        <p:nvSpPr>
          <p:cNvPr id="123" name="Google Shape;123;p5"/>
          <p:cNvSpPr/>
          <p:nvPr/>
        </p:nvSpPr>
        <p:spPr>
          <a:xfrm>
            <a:off x="1020604" y="5526643"/>
            <a:ext cx="5954435"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El kernel proporciona una interfaz unificada para que los programas interactúen con los dispositivos de hardware, ya sean internos o periféricos, a través de los controladores de dispositivo.</a:t>
            </a:r>
            <a:endParaRPr b="0" i="0" sz="1750" u="none" cap="none" strike="noStrike"/>
          </a:p>
        </p:txBody>
      </p:sp>
      <p:sp>
        <p:nvSpPr>
          <p:cNvPr id="124" name="Google Shape;124;p5"/>
          <p:cNvSpPr/>
          <p:nvPr/>
        </p:nvSpPr>
        <p:spPr>
          <a:xfrm>
            <a:off x="7428667" y="4809411"/>
            <a:ext cx="6408063" cy="2395657"/>
          </a:xfrm>
          <a:prstGeom prst="roundRect">
            <a:avLst>
              <a:gd fmla="val 1420"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7655481" y="5036225"/>
            <a:ext cx="2951917"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Sistema de Archivos</a:t>
            </a:r>
            <a:endParaRPr b="0" i="0" sz="2200" u="none" cap="none" strike="noStrike"/>
          </a:p>
        </p:txBody>
      </p:sp>
      <p:sp>
        <p:nvSpPr>
          <p:cNvPr id="126" name="Google Shape;126;p5"/>
          <p:cNvSpPr/>
          <p:nvPr/>
        </p:nvSpPr>
        <p:spPr>
          <a:xfrm>
            <a:off x="7655481" y="5526643"/>
            <a:ext cx="5954435"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El kernel de Linux implementa diversos sistemas de archivos, permitiendo a los usuarios almacenar, organizar y acceder a sus datos de manera eficiente y segura.</a:t>
            </a:r>
            <a:endParaRPr b="0" i="0" sz="17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descr="preencoded.png" id="132" name="Google Shape;132;p6"/>
          <p:cNvPicPr preferRelativeResize="0"/>
          <p:nvPr/>
        </p:nvPicPr>
        <p:blipFill rotWithShape="1">
          <a:blip r:embed="rId3">
            <a:alphaModFix/>
          </a:blip>
          <a:srcRect b="0" l="0" r="0" t="0"/>
          <a:stretch/>
        </p:blipFill>
        <p:spPr>
          <a:xfrm>
            <a:off x="0" y="0"/>
            <a:ext cx="14630400" cy="2517577"/>
          </a:xfrm>
          <a:prstGeom prst="rect">
            <a:avLst/>
          </a:prstGeom>
          <a:noFill/>
          <a:ln>
            <a:noFill/>
          </a:ln>
        </p:spPr>
      </p:pic>
      <p:sp>
        <p:nvSpPr>
          <p:cNvPr id="133" name="Google Shape;133;p6"/>
          <p:cNvSpPr/>
          <p:nvPr/>
        </p:nvSpPr>
        <p:spPr>
          <a:xfrm>
            <a:off x="704850" y="3229928"/>
            <a:ext cx="7533680" cy="629364"/>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97B8FF"/>
              </a:buClr>
              <a:buSzPts val="3950"/>
              <a:buFont typeface="Sora Medium"/>
              <a:buNone/>
            </a:pPr>
            <a:r>
              <a:rPr b="0" i="0" lang="en-US" sz="3950" u="none" cap="none" strike="noStrike">
                <a:solidFill>
                  <a:srgbClr val="97B8FF"/>
                </a:solidFill>
                <a:latin typeface="Sora Medium"/>
                <a:ea typeface="Sora Medium"/>
                <a:cs typeface="Sora Medium"/>
                <a:sym typeface="Sora Medium"/>
              </a:rPr>
              <a:t>Gestión de Procesos en Linux</a:t>
            </a:r>
            <a:endParaRPr b="0" i="0" sz="3950" u="none" cap="none" strike="noStrike"/>
          </a:p>
        </p:txBody>
      </p:sp>
      <p:pic>
        <p:nvPicPr>
          <p:cNvPr descr="preencoded.png" id="134" name="Google Shape;134;p6"/>
          <p:cNvPicPr preferRelativeResize="0"/>
          <p:nvPr/>
        </p:nvPicPr>
        <p:blipFill rotWithShape="1">
          <a:blip r:embed="rId4">
            <a:alphaModFix/>
          </a:blip>
          <a:srcRect b="0" l="0" r="0" t="0"/>
          <a:stretch/>
        </p:blipFill>
        <p:spPr>
          <a:xfrm>
            <a:off x="704850" y="4161353"/>
            <a:ext cx="4406860" cy="805577"/>
          </a:xfrm>
          <a:prstGeom prst="rect">
            <a:avLst/>
          </a:prstGeom>
          <a:noFill/>
          <a:ln>
            <a:noFill/>
          </a:ln>
        </p:spPr>
      </p:pic>
      <p:sp>
        <p:nvSpPr>
          <p:cNvPr id="135" name="Google Shape;135;p6"/>
          <p:cNvSpPr/>
          <p:nvPr/>
        </p:nvSpPr>
        <p:spPr>
          <a:xfrm>
            <a:off x="906185" y="5268992"/>
            <a:ext cx="2801660" cy="314682"/>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D6DE"/>
              </a:buClr>
              <a:buSzPts val="1950"/>
              <a:buFont typeface="Sora Medium"/>
              <a:buNone/>
            </a:pPr>
            <a:r>
              <a:rPr b="0" i="0" lang="en-US" sz="1950" u="none" cap="none" strike="noStrike">
                <a:solidFill>
                  <a:srgbClr val="E0D6DE"/>
                </a:solidFill>
                <a:latin typeface="Sora Medium"/>
                <a:ea typeface="Sora Medium"/>
                <a:cs typeface="Sora Medium"/>
                <a:sym typeface="Sora Medium"/>
              </a:rPr>
              <a:t>Creación de Procesos</a:t>
            </a:r>
            <a:endParaRPr b="0" i="0" sz="1950" u="none" cap="none" strike="noStrike"/>
          </a:p>
        </p:txBody>
      </p:sp>
      <p:sp>
        <p:nvSpPr>
          <p:cNvPr id="136" name="Google Shape;136;p6"/>
          <p:cNvSpPr/>
          <p:nvPr/>
        </p:nvSpPr>
        <p:spPr>
          <a:xfrm>
            <a:off x="906185" y="5704403"/>
            <a:ext cx="4004191" cy="966907"/>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E0D6DE"/>
              </a:buClr>
              <a:buSzPts val="1550"/>
              <a:buFont typeface="Noto Sans TC"/>
              <a:buNone/>
            </a:pPr>
            <a:r>
              <a:rPr b="0" i="0" lang="en-US" sz="1550" u="none" cap="none" strike="noStrike">
                <a:solidFill>
                  <a:srgbClr val="E0D6DE"/>
                </a:solidFill>
                <a:latin typeface="Noto Sans TC"/>
                <a:ea typeface="Noto Sans TC"/>
                <a:cs typeface="Noto Sans TC"/>
                <a:sym typeface="Noto Sans TC"/>
              </a:rPr>
              <a:t>Linux utiliza el sistema de llamadas a funciones fork() y exec() para crear nuevos procesos a partir de procesos existentes.</a:t>
            </a:r>
            <a:endParaRPr b="0" i="0" sz="1550" u="none" cap="none" strike="noStrike"/>
          </a:p>
        </p:txBody>
      </p:sp>
      <p:pic>
        <p:nvPicPr>
          <p:cNvPr descr="preencoded.png" id="137" name="Google Shape;137;p6"/>
          <p:cNvPicPr preferRelativeResize="0"/>
          <p:nvPr/>
        </p:nvPicPr>
        <p:blipFill rotWithShape="1">
          <a:blip r:embed="rId5">
            <a:alphaModFix/>
          </a:blip>
          <a:srcRect b="0" l="0" r="0" t="0"/>
          <a:stretch/>
        </p:blipFill>
        <p:spPr>
          <a:xfrm>
            <a:off x="5111710" y="4161353"/>
            <a:ext cx="4406860" cy="805577"/>
          </a:xfrm>
          <a:prstGeom prst="rect">
            <a:avLst/>
          </a:prstGeom>
          <a:noFill/>
          <a:ln>
            <a:noFill/>
          </a:ln>
        </p:spPr>
      </p:pic>
      <p:sp>
        <p:nvSpPr>
          <p:cNvPr id="138" name="Google Shape;138;p6"/>
          <p:cNvSpPr/>
          <p:nvPr/>
        </p:nvSpPr>
        <p:spPr>
          <a:xfrm>
            <a:off x="5313045" y="5268992"/>
            <a:ext cx="3297079" cy="314682"/>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D6DE"/>
              </a:buClr>
              <a:buSzPts val="1950"/>
              <a:buFont typeface="Sora Medium"/>
              <a:buNone/>
            </a:pPr>
            <a:r>
              <a:rPr b="0" i="0" lang="en-US" sz="1950" u="none" cap="none" strike="noStrike">
                <a:solidFill>
                  <a:srgbClr val="E0D6DE"/>
                </a:solidFill>
                <a:latin typeface="Sora Medium"/>
                <a:ea typeface="Sora Medium"/>
                <a:cs typeface="Sora Medium"/>
                <a:sym typeface="Sora Medium"/>
              </a:rPr>
              <a:t>Planificación de Procesos</a:t>
            </a:r>
            <a:endParaRPr b="0" i="0" sz="1950" u="none" cap="none" strike="noStrike"/>
          </a:p>
        </p:txBody>
      </p:sp>
      <p:sp>
        <p:nvSpPr>
          <p:cNvPr id="139" name="Google Shape;139;p6"/>
          <p:cNvSpPr/>
          <p:nvPr/>
        </p:nvSpPr>
        <p:spPr>
          <a:xfrm>
            <a:off x="5313045" y="5704403"/>
            <a:ext cx="4004191" cy="1611511"/>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E0D6DE"/>
              </a:buClr>
              <a:buSzPts val="1550"/>
              <a:buFont typeface="Noto Sans TC"/>
              <a:buNone/>
            </a:pPr>
            <a:r>
              <a:rPr b="0" i="0" lang="en-US" sz="1550" u="none" cap="none" strike="noStrike">
                <a:solidFill>
                  <a:srgbClr val="E0D6DE"/>
                </a:solidFill>
                <a:latin typeface="Noto Sans TC"/>
                <a:ea typeface="Noto Sans TC"/>
                <a:cs typeface="Noto Sans TC"/>
                <a:sym typeface="Noto Sans TC"/>
              </a:rPr>
              <a:t>El kernel de Linux emplea algoritmos de planificación, como el Round-Robin y el CFS (Completely Fair Scheduler), para decidir qué procesos se ejecutan en un momento dado.</a:t>
            </a:r>
            <a:endParaRPr b="0" i="0" sz="1550" u="none" cap="none" strike="noStrike"/>
          </a:p>
        </p:txBody>
      </p:sp>
      <p:pic>
        <p:nvPicPr>
          <p:cNvPr descr="preencoded.png" id="140" name="Google Shape;140;p6"/>
          <p:cNvPicPr preferRelativeResize="0"/>
          <p:nvPr/>
        </p:nvPicPr>
        <p:blipFill rotWithShape="1">
          <a:blip r:embed="rId6">
            <a:alphaModFix/>
          </a:blip>
          <a:srcRect b="0" l="0" r="0" t="0"/>
          <a:stretch/>
        </p:blipFill>
        <p:spPr>
          <a:xfrm>
            <a:off x="9518571" y="4161353"/>
            <a:ext cx="4406860" cy="805577"/>
          </a:xfrm>
          <a:prstGeom prst="rect">
            <a:avLst/>
          </a:prstGeom>
          <a:noFill/>
          <a:ln>
            <a:noFill/>
          </a:ln>
        </p:spPr>
      </p:pic>
      <p:sp>
        <p:nvSpPr>
          <p:cNvPr id="141" name="Google Shape;141;p6"/>
          <p:cNvSpPr/>
          <p:nvPr/>
        </p:nvSpPr>
        <p:spPr>
          <a:xfrm>
            <a:off x="9719905" y="5268992"/>
            <a:ext cx="3867150" cy="314682"/>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D6DE"/>
              </a:buClr>
              <a:buSzPts val="1950"/>
              <a:buFont typeface="Sora Medium"/>
              <a:buNone/>
            </a:pPr>
            <a:r>
              <a:rPr b="0" i="0" lang="en-US" sz="1950" u="none" cap="none" strike="noStrike">
                <a:solidFill>
                  <a:srgbClr val="E0D6DE"/>
                </a:solidFill>
                <a:latin typeface="Sora Medium"/>
                <a:ea typeface="Sora Medium"/>
                <a:cs typeface="Sora Medium"/>
                <a:sym typeface="Sora Medium"/>
              </a:rPr>
              <a:t>Comunicación entre Procesos</a:t>
            </a:r>
            <a:endParaRPr b="0" i="0" sz="1950" u="none" cap="none" strike="noStrike"/>
          </a:p>
        </p:txBody>
      </p:sp>
      <p:sp>
        <p:nvSpPr>
          <p:cNvPr id="142" name="Google Shape;142;p6"/>
          <p:cNvSpPr/>
          <p:nvPr/>
        </p:nvSpPr>
        <p:spPr>
          <a:xfrm>
            <a:off x="9719905" y="5704403"/>
            <a:ext cx="4004191" cy="1611511"/>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E0D6DE"/>
              </a:buClr>
              <a:buSzPts val="1550"/>
              <a:buFont typeface="Noto Sans TC"/>
              <a:buNone/>
            </a:pPr>
            <a:r>
              <a:rPr b="0" i="0" lang="en-US" sz="1550" u="none" cap="none" strike="noStrike">
                <a:solidFill>
                  <a:srgbClr val="E0D6DE"/>
                </a:solidFill>
                <a:latin typeface="Noto Sans TC"/>
                <a:ea typeface="Noto Sans TC"/>
                <a:cs typeface="Noto Sans TC"/>
                <a:sym typeface="Noto Sans TC"/>
              </a:rPr>
              <a:t>Linux proporciona mecanismos de comunicación entre procesos, como tuberías, sockets y semáforos, para permitir el intercambio de datos y la sincronización entre ellos.</a:t>
            </a:r>
            <a:endParaRPr b="0" i="0" sz="15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descr="preencoded.png" id="148" name="Google Shape;148;p7"/>
          <p:cNvPicPr preferRelativeResize="0"/>
          <p:nvPr/>
        </p:nvPicPr>
        <p:blipFill rotWithShape="1">
          <a:blip r:embed="rId3">
            <a:alphaModFix/>
          </a:blip>
          <a:srcRect b="0" l="0" r="0" t="0"/>
          <a:stretch/>
        </p:blipFill>
        <p:spPr>
          <a:xfrm>
            <a:off x="0" y="0"/>
            <a:ext cx="5486400" cy="8230791"/>
          </a:xfrm>
          <a:prstGeom prst="rect">
            <a:avLst/>
          </a:prstGeom>
          <a:noFill/>
          <a:ln>
            <a:noFill/>
          </a:ln>
        </p:spPr>
      </p:pic>
      <p:sp>
        <p:nvSpPr>
          <p:cNvPr id="149" name="Google Shape;149;p7"/>
          <p:cNvSpPr/>
          <p:nvPr/>
        </p:nvSpPr>
        <p:spPr>
          <a:xfrm>
            <a:off x="6172795" y="539234"/>
            <a:ext cx="7771209" cy="1225629"/>
          </a:xfrm>
          <a:prstGeom prst="rect">
            <a:avLst/>
          </a:prstGeom>
          <a:noFill/>
          <a:ln>
            <a:noFill/>
          </a:ln>
        </p:spPr>
        <p:txBody>
          <a:bodyPr anchorCtr="0" anchor="t" bIns="0" lIns="0" spcFirstLastPara="1" rIns="0" wrap="square" tIns="0">
            <a:noAutofit/>
          </a:bodyPr>
          <a:lstStyle/>
          <a:p>
            <a:pPr indent="0" lvl="0" marL="0" marR="0" rtl="0" algn="l">
              <a:lnSpc>
                <a:spcPct val="124675"/>
              </a:lnSpc>
              <a:spcBef>
                <a:spcPts val="0"/>
              </a:spcBef>
              <a:spcAft>
                <a:spcPts val="0"/>
              </a:spcAft>
              <a:buClr>
                <a:srgbClr val="97B8FF"/>
              </a:buClr>
              <a:buSzPts val="3850"/>
              <a:buFont typeface="Sora Medium"/>
              <a:buNone/>
            </a:pPr>
            <a:r>
              <a:rPr b="0" i="0" lang="en-US" sz="3850" u="none" cap="none" strike="noStrike">
                <a:solidFill>
                  <a:srgbClr val="97B8FF"/>
                </a:solidFill>
                <a:latin typeface="Sora Medium"/>
                <a:ea typeface="Sora Medium"/>
                <a:cs typeface="Sora Medium"/>
                <a:sym typeface="Sora Medium"/>
              </a:rPr>
              <a:t>Programación de Procesos y Threads</a:t>
            </a:r>
            <a:endParaRPr b="0" i="0" sz="3850" u="none" cap="none" strike="noStrike"/>
          </a:p>
        </p:txBody>
      </p:sp>
      <p:pic>
        <p:nvPicPr>
          <p:cNvPr descr="preencoded.png" id="150" name="Google Shape;150;p7"/>
          <p:cNvPicPr preferRelativeResize="0"/>
          <p:nvPr/>
        </p:nvPicPr>
        <p:blipFill rotWithShape="1">
          <a:blip r:embed="rId4">
            <a:alphaModFix/>
          </a:blip>
          <a:srcRect b="0" l="0" r="0" t="0"/>
          <a:stretch/>
        </p:blipFill>
        <p:spPr>
          <a:xfrm>
            <a:off x="6172795" y="2058948"/>
            <a:ext cx="490299" cy="490299"/>
          </a:xfrm>
          <a:prstGeom prst="rect">
            <a:avLst/>
          </a:prstGeom>
          <a:noFill/>
          <a:ln>
            <a:noFill/>
          </a:ln>
        </p:spPr>
      </p:pic>
      <p:sp>
        <p:nvSpPr>
          <p:cNvPr id="151" name="Google Shape;151;p7"/>
          <p:cNvSpPr/>
          <p:nvPr/>
        </p:nvSpPr>
        <p:spPr>
          <a:xfrm>
            <a:off x="6172795" y="2745343"/>
            <a:ext cx="2451497" cy="306348"/>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0D6DE"/>
              </a:buClr>
              <a:buSzPts val="1900"/>
              <a:buFont typeface="Sora Medium"/>
              <a:buNone/>
            </a:pPr>
            <a:r>
              <a:rPr b="0" i="0" lang="en-US" sz="1900" u="none" cap="none" strike="noStrike">
                <a:solidFill>
                  <a:srgbClr val="E0D6DE"/>
                </a:solidFill>
                <a:latin typeface="Sora Medium"/>
                <a:ea typeface="Sora Medium"/>
                <a:cs typeface="Sora Medium"/>
                <a:sym typeface="Sora Medium"/>
              </a:rPr>
              <a:t>fork()</a:t>
            </a:r>
            <a:endParaRPr b="0" i="0" sz="1900" u="none" cap="none" strike="noStrike"/>
          </a:p>
        </p:txBody>
      </p:sp>
      <p:sp>
        <p:nvSpPr>
          <p:cNvPr id="152" name="Google Shape;152;p7"/>
          <p:cNvSpPr/>
          <p:nvPr/>
        </p:nvSpPr>
        <p:spPr>
          <a:xfrm>
            <a:off x="6172795" y="3169325"/>
            <a:ext cx="3738563" cy="1254919"/>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La llamada a sistema fork() crea un nuevo proceso que es una copia exacta del proceso original, con su propio espacio de memoria y recursos.</a:t>
            </a:r>
            <a:endParaRPr b="0" i="0" sz="1500" u="none" cap="none" strike="noStrike"/>
          </a:p>
        </p:txBody>
      </p:sp>
      <p:pic>
        <p:nvPicPr>
          <p:cNvPr descr="preencoded.png" id="153" name="Google Shape;153;p7"/>
          <p:cNvPicPr preferRelativeResize="0"/>
          <p:nvPr/>
        </p:nvPicPr>
        <p:blipFill rotWithShape="1">
          <a:blip r:embed="rId5">
            <a:alphaModFix/>
          </a:blip>
          <a:srcRect b="0" l="0" r="0" t="0"/>
          <a:stretch/>
        </p:blipFill>
        <p:spPr>
          <a:xfrm>
            <a:off x="10205442" y="2058948"/>
            <a:ext cx="490299" cy="490299"/>
          </a:xfrm>
          <a:prstGeom prst="rect">
            <a:avLst/>
          </a:prstGeom>
          <a:noFill/>
          <a:ln>
            <a:noFill/>
          </a:ln>
        </p:spPr>
      </p:pic>
      <p:sp>
        <p:nvSpPr>
          <p:cNvPr id="154" name="Google Shape;154;p7"/>
          <p:cNvSpPr/>
          <p:nvPr/>
        </p:nvSpPr>
        <p:spPr>
          <a:xfrm>
            <a:off x="10205442" y="2745343"/>
            <a:ext cx="2451497" cy="306348"/>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0D6DE"/>
              </a:buClr>
              <a:buSzPts val="1900"/>
              <a:buFont typeface="Sora Medium"/>
              <a:buNone/>
            </a:pPr>
            <a:r>
              <a:rPr b="0" i="0" lang="en-US" sz="1900" u="none" cap="none" strike="noStrike">
                <a:solidFill>
                  <a:srgbClr val="E0D6DE"/>
                </a:solidFill>
                <a:latin typeface="Sora Medium"/>
                <a:ea typeface="Sora Medium"/>
                <a:cs typeface="Sora Medium"/>
                <a:sym typeface="Sora Medium"/>
              </a:rPr>
              <a:t>exec()</a:t>
            </a:r>
            <a:endParaRPr b="0" i="0" sz="1900" u="none" cap="none" strike="noStrike"/>
          </a:p>
        </p:txBody>
      </p:sp>
      <p:sp>
        <p:nvSpPr>
          <p:cNvPr id="155" name="Google Shape;155;p7"/>
          <p:cNvSpPr/>
          <p:nvPr/>
        </p:nvSpPr>
        <p:spPr>
          <a:xfrm>
            <a:off x="10205442" y="3169325"/>
            <a:ext cx="3738563" cy="1254919"/>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La función exec() reemplaza el espacio de memoria de un proceso por un nuevo programa, permitiendo la ejecución de diferentes aplicaciones.</a:t>
            </a:r>
            <a:endParaRPr b="0" i="0" sz="1500" u="none" cap="none" strike="noStrike"/>
          </a:p>
        </p:txBody>
      </p:sp>
      <p:pic>
        <p:nvPicPr>
          <p:cNvPr descr="preencoded.png" id="156" name="Google Shape;156;p7"/>
          <p:cNvPicPr preferRelativeResize="0"/>
          <p:nvPr/>
        </p:nvPicPr>
        <p:blipFill rotWithShape="1">
          <a:blip r:embed="rId6">
            <a:alphaModFix/>
          </a:blip>
          <a:srcRect b="0" l="0" r="0" t="0"/>
          <a:stretch/>
        </p:blipFill>
        <p:spPr>
          <a:xfrm>
            <a:off x="6172795" y="5012531"/>
            <a:ext cx="490299" cy="490299"/>
          </a:xfrm>
          <a:prstGeom prst="rect">
            <a:avLst/>
          </a:prstGeom>
          <a:noFill/>
          <a:ln>
            <a:noFill/>
          </a:ln>
        </p:spPr>
      </p:pic>
      <p:sp>
        <p:nvSpPr>
          <p:cNvPr id="157" name="Google Shape;157;p7"/>
          <p:cNvSpPr/>
          <p:nvPr/>
        </p:nvSpPr>
        <p:spPr>
          <a:xfrm>
            <a:off x="6172795" y="5698927"/>
            <a:ext cx="2451497" cy="306348"/>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0D6DE"/>
              </a:buClr>
              <a:buSzPts val="1900"/>
              <a:buFont typeface="Sora Medium"/>
              <a:buNone/>
            </a:pPr>
            <a:r>
              <a:rPr b="0" i="0" lang="en-US" sz="1900" u="none" cap="none" strike="noStrike">
                <a:solidFill>
                  <a:srgbClr val="E0D6DE"/>
                </a:solidFill>
                <a:latin typeface="Sora Medium"/>
                <a:ea typeface="Sora Medium"/>
                <a:cs typeface="Sora Medium"/>
                <a:sym typeface="Sora Medium"/>
              </a:rPr>
              <a:t>Threads</a:t>
            </a:r>
            <a:endParaRPr b="0" i="0" sz="1900" u="none" cap="none" strike="noStrike"/>
          </a:p>
        </p:txBody>
      </p:sp>
      <p:sp>
        <p:nvSpPr>
          <p:cNvPr id="158" name="Google Shape;158;p7"/>
          <p:cNvSpPr/>
          <p:nvPr/>
        </p:nvSpPr>
        <p:spPr>
          <a:xfrm>
            <a:off x="6172795" y="6122908"/>
            <a:ext cx="3738563" cy="1568648"/>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Los threads son unidades de ejecución ligera dentro de un mismo proceso, compartiendo recursos como memoria y archivos, lo que mejora el rendimiento y la concurrencia.</a:t>
            </a:r>
            <a:endParaRPr b="0" i="0" sz="1500" u="none" cap="none" strike="noStrike"/>
          </a:p>
        </p:txBody>
      </p:sp>
      <p:pic>
        <p:nvPicPr>
          <p:cNvPr descr="preencoded.png" id="159" name="Google Shape;159;p7"/>
          <p:cNvPicPr preferRelativeResize="0"/>
          <p:nvPr/>
        </p:nvPicPr>
        <p:blipFill rotWithShape="1">
          <a:blip r:embed="rId7">
            <a:alphaModFix/>
          </a:blip>
          <a:srcRect b="0" l="0" r="0" t="0"/>
          <a:stretch/>
        </p:blipFill>
        <p:spPr>
          <a:xfrm>
            <a:off x="10205442" y="5012531"/>
            <a:ext cx="490299" cy="490299"/>
          </a:xfrm>
          <a:prstGeom prst="rect">
            <a:avLst/>
          </a:prstGeom>
          <a:noFill/>
          <a:ln>
            <a:noFill/>
          </a:ln>
        </p:spPr>
      </p:pic>
      <p:sp>
        <p:nvSpPr>
          <p:cNvPr id="160" name="Google Shape;160;p7"/>
          <p:cNvSpPr/>
          <p:nvPr/>
        </p:nvSpPr>
        <p:spPr>
          <a:xfrm>
            <a:off x="10205442" y="5698927"/>
            <a:ext cx="2451497" cy="306348"/>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0D6DE"/>
              </a:buClr>
              <a:buSzPts val="1900"/>
              <a:buFont typeface="Sora Medium"/>
              <a:buNone/>
            </a:pPr>
            <a:r>
              <a:rPr b="0" i="0" lang="en-US" sz="1900" u="none" cap="none" strike="noStrike">
                <a:solidFill>
                  <a:srgbClr val="E0D6DE"/>
                </a:solidFill>
                <a:latin typeface="Sora Medium"/>
                <a:ea typeface="Sora Medium"/>
                <a:cs typeface="Sora Medium"/>
                <a:sym typeface="Sora Medium"/>
              </a:rPr>
              <a:t>Sincronización</a:t>
            </a:r>
            <a:endParaRPr b="0" i="0" sz="1900" u="none" cap="none" strike="noStrike"/>
          </a:p>
        </p:txBody>
      </p:sp>
      <p:sp>
        <p:nvSpPr>
          <p:cNvPr id="161" name="Google Shape;161;p7"/>
          <p:cNvSpPr/>
          <p:nvPr/>
        </p:nvSpPr>
        <p:spPr>
          <a:xfrm>
            <a:off x="10205442" y="6122908"/>
            <a:ext cx="3738563" cy="1568648"/>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Linux proporciona mecanismos de sincronización, como mutexes y semáforos, para coordinar el acceso a recursos compartidos entre procesos y threads.</a:t>
            </a:r>
            <a:endParaRPr b="0" i="0" sz="150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descr="preencoded.png" id="167" name="Google Shape;167;p8"/>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68" name="Google Shape;168;p8"/>
          <p:cNvSpPr/>
          <p:nvPr/>
        </p:nvSpPr>
        <p:spPr>
          <a:xfrm>
            <a:off x="6157793" y="725567"/>
            <a:ext cx="7801213" cy="1198959"/>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97B8FF"/>
              </a:buClr>
              <a:buSzPts val="3750"/>
              <a:buFont typeface="Sora Medium"/>
              <a:buNone/>
            </a:pPr>
            <a:r>
              <a:rPr b="0" i="0" lang="en-US" sz="3750" u="none" cap="none" strike="noStrike">
                <a:solidFill>
                  <a:srgbClr val="97B8FF"/>
                </a:solidFill>
                <a:latin typeface="Sora Medium"/>
                <a:ea typeface="Sora Medium"/>
                <a:cs typeface="Sora Medium"/>
                <a:sym typeface="Sora Medium"/>
              </a:rPr>
              <a:t>Administración de Recursos del Sistema</a:t>
            </a:r>
            <a:endParaRPr b="0" i="0" sz="3750" u="none" cap="none" strike="noStrike"/>
          </a:p>
        </p:txBody>
      </p:sp>
      <p:sp>
        <p:nvSpPr>
          <p:cNvPr id="169" name="Google Shape;169;p8"/>
          <p:cNvSpPr/>
          <p:nvPr/>
        </p:nvSpPr>
        <p:spPr>
          <a:xfrm>
            <a:off x="6157793" y="2212181"/>
            <a:ext cx="7801213" cy="5291852"/>
          </a:xfrm>
          <a:prstGeom prst="roundRect">
            <a:avLst>
              <a:gd fmla="val 544" name="adj"/>
            </a:avLst>
          </a:prstGeom>
          <a:noFill/>
          <a:ln cap="flat" cmpd="sng" w="9525">
            <a:solidFill>
              <a:srgbClr val="FFFFFF">
                <a:alpha val="2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8"/>
          <p:cNvSpPr/>
          <p:nvPr/>
        </p:nvSpPr>
        <p:spPr>
          <a:xfrm>
            <a:off x="6165413" y="2219801"/>
            <a:ext cx="7785140" cy="858917"/>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6358176" y="2342436"/>
            <a:ext cx="2207300" cy="30682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Recurso</a:t>
            </a:r>
            <a:endParaRPr b="0" i="0" sz="1500" u="none" cap="none" strike="noStrike"/>
          </a:p>
        </p:txBody>
      </p:sp>
      <p:sp>
        <p:nvSpPr>
          <p:cNvPr id="172" name="Google Shape;172;p8"/>
          <p:cNvSpPr/>
          <p:nvPr/>
        </p:nvSpPr>
        <p:spPr>
          <a:xfrm>
            <a:off x="8956715" y="2342436"/>
            <a:ext cx="2203490" cy="61364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Funciones de Administración</a:t>
            </a:r>
            <a:endParaRPr b="0" i="0" sz="1500" u="none" cap="none" strike="noStrike"/>
          </a:p>
        </p:txBody>
      </p:sp>
      <p:sp>
        <p:nvSpPr>
          <p:cNvPr id="173" name="Google Shape;173;p8"/>
          <p:cNvSpPr/>
          <p:nvPr/>
        </p:nvSpPr>
        <p:spPr>
          <a:xfrm>
            <a:off x="11551444" y="2342436"/>
            <a:ext cx="2207300" cy="61364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Técnicas de Optimización</a:t>
            </a:r>
            <a:endParaRPr b="0" i="0" sz="1500" u="none" cap="none" strike="noStrike"/>
          </a:p>
        </p:txBody>
      </p:sp>
      <p:sp>
        <p:nvSpPr>
          <p:cNvPr id="174" name="Google Shape;174;p8"/>
          <p:cNvSpPr/>
          <p:nvPr/>
        </p:nvSpPr>
        <p:spPr>
          <a:xfrm>
            <a:off x="6165413" y="3078718"/>
            <a:ext cx="7785140" cy="1472565"/>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p:nvPr/>
        </p:nvSpPr>
        <p:spPr>
          <a:xfrm>
            <a:off x="6358176" y="3201353"/>
            <a:ext cx="2207300" cy="30682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Memoria</a:t>
            </a:r>
            <a:endParaRPr b="0" i="0" sz="1500" u="none" cap="none" strike="noStrike"/>
          </a:p>
        </p:txBody>
      </p:sp>
      <p:sp>
        <p:nvSpPr>
          <p:cNvPr id="176" name="Google Shape;176;p8"/>
          <p:cNvSpPr/>
          <p:nvPr/>
        </p:nvSpPr>
        <p:spPr>
          <a:xfrm>
            <a:off x="8956715" y="3201353"/>
            <a:ext cx="2203490" cy="920472"/>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Asignación, liberación, paginación, memoria virtual</a:t>
            </a:r>
            <a:endParaRPr b="0" i="0" sz="1500" u="none" cap="none" strike="noStrike"/>
          </a:p>
        </p:txBody>
      </p:sp>
      <p:sp>
        <p:nvSpPr>
          <p:cNvPr id="177" name="Google Shape;177;p8"/>
          <p:cNvSpPr/>
          <p:nvPr/>
        </p:nvSpPr>
        <p:spPr>
          <a:xfrm>
            <a:off x="11551444" y="3201353"/>
            <a:ext cx="2207300" cy="1227296"/>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Técnicas de caching, compresión de datos, uso eficiente de la memoria</a:t>
            </a:r>
            <a:endParaRPr b="0" i="0" sz="1500" u="none" cap="none" strike="noStrike"/>
          </a:p>
        </p:txBody>
      </p:sp>
      <p:sp>
        <p:nvSpPr>
          <p:cNvPr id="178" name="Google Shape;178;p8"/>
          <p:cNvSpPr/>
          <p:nvPr/>
        </p:nvSpPr>
        <p:spPr>
          <a:xfrm>
            <a:off x="6165413" y="4551283"/>
            <a:ext cx="7785140" cy="1472565"/>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
          <p:cNvSpPr/>
          <p:nvPr/>
        </p:nvSpPr>
        <p:spPr>
          <a:xfrm>
            <a:off x="6358176" y="4673918"/>
            <a:ext cx="2207300" cy="30682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CPU</a:t>
            </a:r>
            <a:endParaRPr b="0" i="0" sz="1500" u="none" cap="none" strike="noStrike"/>
          </a:p>
        </p:txBody>
      </p:sp>
      <p:sp>
        <p:nvSpPr>
          <p:cNvPr id="180" name="Google Shape;180;p8"/>
          <p:cNvSpPr/>
          <p:nvPr/>
        </p:nvSpPr>
        <p:spPr>
          <a:xfrm>
            <a:off x="8956715" y="4673918"/>
            <a:ext cx="2203490" cy="920472"/>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Planificación de procesos, asignación de tiempo de CPU</a:t>
            </a:r>
            <a:endParaRPr b="0" i="0" sz="1500" u="none" cap="none" strike="noStrike"/>
          </a:p>
        </p:txBody>
      </p:sp>
      <p:sp>
        <p:nvSpPr>
          <p:cNvPr id="181" name="Google Shape;181;p8"/>
          <p:cNvSpPr/>
          <p:nvPr/>
        </p:nvSpPr>
        <p:spPr>
          <a:xfrm>
            <a:off x="11551444" y="4673918"/>
            <a:ext cx="2207300" cy="1227296"/>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Algoritmos de planificación eficientes, balanceo de carga, uso de multi-core</a:t>
            </a:r>
            <a:endParaRPr b="0" i="0" sz="1500" u="none" cap="none" strike="noStrike"/>
          </a:p>
        </p:txBody>
      </p:sp>
      <p:sp>
        <p:nvSpPr>
          <p:cNvPr id="182" name="Google Shape;182;p8"/>
          <p:cNvSpPr/>
          <p:nvPr/>
        </p:nvSpPr>
        <p:spPr>
          <a:xfrm>
            <a:off x="6165413" y="6023848"/>
            <a:ext cx="7785140" cy="1472565"/>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8"/>
          <p:cNvSpPr/>
          <p:nvPr/>
        </p:nvSpPr>
        <p:spPr>
          <a:xfrm>
            <a:off x="6358176" y="6146483"/>
            <a:ext cx="2207300" cy="30682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Almacenamiento</a:t>
            </a:r>
            <a:endParaRPr b="0" i="0" sz="1500" u="none" cap="none" strike="noStrike"/>
          </a:p>
        </p:txBody>
      </p:sp>
      <p:sp>
        <p:nvSpPr>
          <p:cNvPr id="184" name="Google Shape;184;p8"/>
          <p:cNvSpPr/>
          <p:nvPr/>
        </p:nvSpPr>
        <p:spPr>
          <a:xfrm>
            <a:off x="8956715" y="6146483"/>
            <a:ext cx="2203490" cy="920472"/>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Organización y acceso a archivos, gestión de discos</a:t>
            </a:r>
            <a:endParaRPr b="0" i="0" sz="1500" u="none" cap="none" strike="noStrike"/>
          </a:p>
        </p:txBody>
      </p:sp>
      <p:sp>
        <p:nvSpPr>
          <p:cNvPr id="185" name="Google Shape;185;p8"/>
          <p:cNvSpPr/>
          <p:nvPr/>
        </p:nvSpPr>
        <p:spPr>
          <a:xfrm>
            <a:off x="11551444" y="6146483"/>
            <a:ext cx="2207300" cy="1227296"/>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Sistemas de archivos avanzados, técnicas de cache y buffering, desfragmentación</a:t>
            </a:r>
            <a:endParaRPr b="0" i="0" sz="150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9"/>
          <p:cNvSpPr/>
          <p:nvPr/>
        </p:nvSpPr>
        <p:spPr>
          <a:xfrm>
            <a:off x="790932" y="621387"/>
            <a:ext cx="11078647" cy="706160"/>
          </a:xfrm>
          <a:prstGeom prst="rect">
            <a:avLst/>
          </a:prstGeom>
          <a:noFill/>
          <a:ln>
            <a:noFill/>
          </a:ln>
        </p:spPr>
        <p:txBody>
          <a:bodyPr anchorCtr="0" anchor="t" bIns="0" lIns="0" spcFirstLastPara="1" rIns="0" wrap="square" tIns="0">
            <a:noAutofit/>
          </a:bodyPr>
          <a:lstStyle/>
          <a:p>
            <a:pPr indent="0" lvl="0" marL="0" marR="0" rtl="0" algn="l">
              <a:lnSpc>
                <a:spcPct val="126136"/>
              </a:lnSpc>
              <a:spcBef>
                <a:spcPts val="0"/>
              </a:spcBef>
              <a:spcAft>
                <a:spcPts val="0"/>
              </a:spcAft>
              <a:buClr>
                <a:srgbClr val="97B8FF"/>
              </a:buClr>
              <a:buSzPts val="4400"/>
              <a:buFont typeface="Sora Medium"/>
              <a:buNone/>
            </a:pPr>
            <a:r>
              <a:rPr b="0" i="0" lang="en-US" sz="4400" u="none" cap="none" strike="noStrike">
                <a:solidFill>
                  <a:srgbClr val="97B8FF"/>
                </a:solidFill>
                <a:latin typeface="Sora Medium"/>
                <a:ea typeface="Sora Medium"/>
                <a:cs typeface="Sora Medium"/>
                <a:sym typeface="Sora Medium"/>
              </a:rPr>
              <a:t>Técnicas de Optimización de Recursos</a:t>
            </a:r>
            <a:endParaRPr b="0" i="0" sz="4400" u="none" cap="none" strike="noStrike"/>
          </a:p>
        </p:txBody>
      </p:sp>
      <p:pic>
        <p:nvPicPr>
          <p:cNvPr descr="preencoded.png" id="192" name="Google Shape;192;p9"/>
          <p:cNvPicPr preferRelativeResize="0"/>
          <p:nvPr/>
        </p:nvPicPr>
        <p:blipFill rotWithShape="1">
          <a:blip r:embed="rId3">
            <a:alphaModFix/>
          </a:blip>
          <a:srcRect b="0" l="0" r="0" t="0"/>
          <a:stretch/>
        </p:blipFill>
        <p:spPr>
          <a:xfrm>
            <a:off x="790932" y="1779508"/>
            <a:ext cx="4123492" cy="2548414"/>
          </a:xfrm>
          <a:prstGeom prst="rect">
            <a:avLst/>
          </a:prstGeom>
          <a:noFill/>
          <a:ln>
            <a:noFill/>
          </a:ln>
        </p:spPr>
      </p:pic>
      <p:sp>
        <p:nvSpPr>
          <p:cNvPr id="193" name="Google Shape;193;p9"/>
          <p:cNvSpPr/>
          <p:nvPr/>
        </p:nvSpPr>
        <p:spPr>
          <a:xfrm>
            <a:off x="790932" y="4610338"/>
            <a:ext cx="4034314" cy="35313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Optimización de la Memoria</a:t>
            </a:r>
            <a:endParaRPr b="0" i="0" sz="2200" u="none" cap="none" strike="noStrike"/>
          </a:p>
        </p:txBody>
      </p:sp>
      <p:sp>
        <p:nvSpPr>
          <p:cNvPr id="194" name="Google Shape;194;p9"/>
          <p:cNvSpPr/>
          <p:nvPr/>
        </p:nvSpPr>
        <p:spPr>
          <a:xfrm>
            <a:off x="790932" y="5098971"/>
            <a:ext cx="4123492" cy="180736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Linux implementa técnicas como la paginación, el uso de la memoria virtual y el caching para optimizar el uso de la memoria y mejorar el rendimiento del sistema.</a:t>
            </a:r>
            <a:endParaRPr b="0" i="0" sz="1750" u="none" cap="none" strike="noStrike"/>
          </a:p>
        </p:txBody>
      </p:sp>
      <p:pic>
        <p:nvPicPr>
          <p:cNvPr descr="preencoded.png" id="195" name="Google Shape;195;p9"/>
          <p:cNvPicPr preferRelativeResize="0"/>
          <p:nvPr/>
        </p:nvPicPr>
        <p:blipFill rotWithShape="1">
          <a:blip r:embed="rId4">
            <a:alphaModFix/>
          </a:blip>
          <a:srcRect b="0" l="0" r="0" t="0"/>
          <a:stretch/>
        </p:blipFill>
        <p:spPr>
          <a:xfrm>
            <a:off x="5253395" y="1779508"/>
            <a:ext cx="4123492" cy="2548414"/>
          </a:xfrm>
          <a:prstGeom prst="rect">
            <a:avLst/>
          </a:prstGeom>
          <a:noFill/>
          <a:ln>
            <a:noFill/>
          </a:ln>
        </p:spPr>
      </p:pic>
      <p:sp>
        <p:nvSpPr>
          <p:cNvPr id="196" name="Google Shape;196;p9"/>
          <p:cNvSpPr/>
          <p:nvPr/>
        </p:nvSpPr>
        <p:spPr>
          <a:xfrm>
            <a:off x="5253395" y="4610338"/>
            <a:ext cx="3162300" cy="35313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Optimización del CPU</a:t>
            </a:r>
            <a:endParaRPr b="0" i="0" sz="2200" u="none" cap="none" strike="noStrike"/>
          </a:p>
        </p:txBody>
      </p:sp>
      <p:sp>
        <p:nvSpPr>
          <p:cNvPr id="197" name="Google Shape;197;p9"/>
          <p:cNvSpPr/>
          <p:nvPr/>
        </p:nvSpPr>
        <p:spPr>
          <a:xfrm>
            <a:off x="5253395" y="5098971"/>
            <a:ext cx="4123492" cy="180736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El kernel de Linux emplea algoritmos de planificación avanzados y técnicas de balanceo de carga para distribuir eficientemente las tareas entre los núcleos del procesador.</a:t>
            </a:r>
            <a:endParaRPr b="0" i="0" sz="1750" u="none" cap="none" strike="noStrike"/>
          </a:p>
        </p:txBody>
      </p:sp>
      <p:pic>
        <p:nvPicPr>
          <p:cNvPr descr="preencoded.png" id="198" name="Google Shape;198;p9"/>
          <p:cNvPicPr preferRelativeResize="0"/>
          <p:nvPr/>
        </p:nvPicPr>
        <p:blipFill rotWithShape="1">
          <a:blip r:embed="rId5">
            <a:alphaModFix/>
          </a:blip>
          <a:srcRect b="0" l="0" r="0" t="0"/>
          <a:stretch/>
        </p:blipFill>
        <p:spPr>
          <a:xfrm>
            <a:off x="9715857" y="1779508"/>
            <a:ext cx="4123492" cy="2548414"/>
          </a:xfrm>
          <a:prstGeom prst="rect">
            <a:avLst/>
          </a:prstGeom>
          <a:noFill/>
          <a:ln>
            <a:noFill/>
          </a:ln>
        </p:spPr>
      </p:pic>
      <p:sp>
        <p:nvSpPr>
          <p:cNvPr id="199" name="Google Shape;199;p9"/>
          <p:cNvSpPr/>
          <p:nvPr/>
        </p:nvSpPr>
        <p:spPr>
          <a:xfrm>
            <a:off x="9715857" y="4610338"/>
            <a:ext cx="4123492" cy="70627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Optimización del Almacenamiento</a:t>
            </a:r>
            <a:endParaRPr b="0" i="0" sz="2200" u="none" cap="none" strike="noStrike"/>
          </a:p>
        </p:txBody>
      </p:sp>
      <p:sp>
        <p:nvSpPr>
          <p:cNvPr id="200" name="Google Shape;200;p9"/>
          <p:cNvSpPr/>
          <p:nvPr/>
        </p:nvSpPr>
        <p:spPr>
          <a:xfrm>
            <a:off x="9715857" y="5452110"/>
            <a:ext cx="4123492" cy="2168843"/>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Linux utiliza sistemas de archivos avanzados, técnicas de cache y buffering, y procedimientos de desfragmentación para optimizar el acceso y la gestión del almacenamiento del sistema.</a:t>
            </a:r>
            <a:endParaRPr b="0" i="0" sz="17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2024-11-04T02:01:06Z</dcterms:created>
  <dc:creator>PptxGenJS</dc:creator>
</cp:coreProperties>
</file>