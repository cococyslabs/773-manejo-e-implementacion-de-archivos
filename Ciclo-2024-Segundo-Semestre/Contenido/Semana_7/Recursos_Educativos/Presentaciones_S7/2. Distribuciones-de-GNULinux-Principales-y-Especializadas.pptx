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8229600" cx="14630400"/>
  <p:notesSz cx="8229600" cy="14630400"/>
  <p:embeddedFontLst>
    <p:embeddedFont>
      <p:font typeface="Noto Sans TC"/>
      <p:regular r:id="rId15"/>
      <p:bold r:id="rId16"/>
    </p:embeddedFont>
    <p:embeddedFont>
      <p:font typeface="Sora Medium"/>
      <p:regular r:id="rId17"/>
      <p:bold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9" roundtripDataSignature="AMtx7mjURwEKU6jseiskAqOu7ZdCNOaPb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NotoSansTC-regular.fntdata"/><Relationship Id="rId14" Type="http://schemas.openxmlformats.org/officeDocument/2006/relationships/slide" Target="slides/slide10.xml"/><Relationship Id="rId17" Type="http://schemas.openxmlformats.org/officeDocument/2006/relationships/font" Target="fonts/SoraMedium-regular.fntdata"/><Relationship Id="rId16" Type="http://schemas.openxmlformats.org/officeDocument/2006/relationships/font" Target="fonts/NotoSansTC-bold.fntdata"/><Relationship Id="rId5" Type="http://schemas.openxmlformats.org/officeDocument/2006/relationships/slide" Target="slides/slide1.xml"/><Relationship Id="rId19" Type="http://customschemas.google.com/relationships/presentationmetadata" Target="metadata"/><Relationship Id="rId6" Type="http://schemas.openxmlformats.org/officeDocument/2006/relationships/slide" Target="slides/slide2.xml"/><Relationship Id="rId18" Type="http://schemas.openxmlformats.org/officeDocument/2006/relationships/font" Target="fonts/SoraMedium-bold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/>
              <a:t>‹#›</a:t>
            </a:fld>
            <a:endParaRPr b="0" i="0" sz="1200" u="none" cap="none" strike="noStrike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" name="Google Shape;5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" name="Google Shape;6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" name="Google Shape;8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" name="Google Shape;9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" name="Google Shape;115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" name="Google Shape;134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2" name="Google Shape;16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1" name="Google Shape;181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0" name="Google Shape;20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3" name="Google Shape;223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9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9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9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9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9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9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9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9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9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9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1" name="Google Shape;11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1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07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" name="Google Shape;13;p12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5" name="Google Shape;15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1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07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" name="Google Shape;17;p13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9" name="Google Shape;19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1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07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" name="Google Shape;21;p14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3" name="Google Shape;23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1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07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" name="Google Shape;25;p15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7" name="Google Shape;27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1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07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9" name="Google Shape;29;p16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6 master">
  <p:cSld name="Slide 6 master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1" name="Google Shape;31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1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07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3" name="Google Shape;33;p17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7 master">
  <p:cSld name="Slide 7 master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5" name="Google Shape;35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1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07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7" name="Google Shape;37;p18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8 master">
  <p:cSld name="Slide 8 master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9" name="Google Shape;39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1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07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1" name="Google Shape;41;p19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9 master">
  <p:cSld name="Slide 9 master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3" name="Google Shape;43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2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07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5" name="Google Shape;45;p20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0 master">
  <p:cSld name="Slide 10 mast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7" name="Google Shape;47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2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07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9" name="Google Shape;49;p21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9.png"/><Relationship Id="rId4" Type="http://schemas.openxmlformats.org/officeDocument/2006/relationships/image" Target="../media/image25.png"/><Relationship Id="rId5" Type="http://schemas.openxmlformats.org/officeDocument/2006/relationships/image" Target="../media/image34.png"/><Relationship Id="rId6" Type="http://schemas.openxmlformats.org/officeDocument/2006/relationships/image" Target="../media/image36.png"/><Relationship Id="rId7" Type="http://schemas.openxmlformats.org/officeDocument/2006/relationships/image" Target="../media/image2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7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image" Target="../media/image28.png"/><Relationship Id="rId7" Type="http://schemas.openxmlformats.org/officeDocument/2006/relationships/image" Target="../media/image2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56" name="Google Shape;5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"/>
          <p:cNvSpPr/>
          <p:nvPr/>
        </p:nvSpPr>
        <p:spPr>
          <a:xfrm>
            <a:off x="6237803" y="591741"/>
            <a:ext cx="7641193" cy="3703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97B8FF"/>
              </a:buClr>
              <a:buSzPts val="5800"/>
              <a:buFont typeface="Sora Medium"/>
              <a:buNone/>
            </a:pPr>
            <a:r>
              <a:rPr b="0" i="0" lang="en-US" sz="5800" u="none" cap="none" strike="noStrike">
                <a:solidFill>
                  <a:srgbClr val="97B8FF"/>
                </a:solidFill>
                <a:latin typeface="Sora Medium"/>
                <a:ea typeface="Sora Medium"/>
                <a:cs typeface="Sora Medium"/>
                <a:sym typeface="Sora Medium"/>
              </a:rPr>
              <a:t>Distribuciones de GNU/Linux: Principales y Especializadas</a:t>
            </a:r>
            <a:endParaRPr b="0" i="0" sz="5800" u="none" cap="none" strike="noStrike"/>
          </a:p>
        </p:txBody>
      </p:sp>
      <p:sp>
        <p:nvSpPr>
          <p:cNvPr id="58" name="Google Shape;58;p1"/>
          <p:cNvSpPr/>
          <p:nvPr/>
        </p:nvSpPr>
        <p:spPr>
          <a:xfrm>
            <a:off x="6237803" y="4617006"/>
            <a:ext cx="7641193" cy="24036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650"/>
              <a:buFont typeface="Noto Sans TC"/>
              <a:buNone/>
            </a:pPr>
            <a:r>
              <a:rPr b="0" i="0" lang="en-US" sz="1650" u="none" cap="none" strike="noStrike">
                <a:solidFill>
                  <a:srgbClr val="E0D6DE"/>
                </a:solidFill>
                <a:latin typeface="Noto Sans TC"/>
                <a:ea typeface="Noto Sans TC"/>
                <a:cs typeface="Noto Sans TC"/>
                <a:sym typeface="Noto Sans TC"/>
              </a:rPr>
              <a:t>Bienvenidos, estudiantes, a esta presentación sobre las distribuciones de GNU/Linux, tanto las principales como las especializadas. En el transcurso de esta clase, exploraremos las características, diferencias y aplicaciones de estos sistemas operativos abiertos y flexibles. Nuestro objetivo es que al finalizar, ustedes tengan un conocimiento sólido sobre las opciones disponibles y puedan elegir la distribución más adecuada para sus necesidades.</a:t>
            </a:r>
            <a:endParaRPr b="0" i="0" sz="1650" u="none" cap="none" strike="noStrike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64" name="Google Shape;6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2"/>
          <p:cNvSpPr/>
          <p:nvPr/>
        </p:nvSpPr>
        <p:spPr>
          <a:xfrm>
            <a:off x="6195060" y="781526"/>
            <a:ext cx="7726680" cy="12656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316"/>
              </a:lnSpc>
              <a:spcBef>
                <a:spcPts val="0"/>
              </a:spcBef>
              <a:spcAft>
                <a:spcPts val="0"/>
              </a:spcAft>
              <a:buClr>
                <a:srgbClr val="97B8FF"/>
              </a:buClr>
              <a:buSzPts val="3950"/>
              <a:buFont typeface="Sora Medium"/>
              <a:buNone/>
            </a:pPr>
            <a:r>
              <a:rPr b="0" i="0" lang="en-US" sz="3950" u="none" cap="none" strike="noStrike">
                <a:solidFill>
                  <a:srgbClr val="97B8FF"/>
                </a:solidFill>
                <a:latin typeface="Sora Medium"/>
                <a:ea typeface="Sora Medium"/>
                <a:cs typeface="Sora Medium"/>
                <a:sym typeface="Sora Medium"/>
              </a:rPr>
              <a:t>Introducción a los sistemas operativos Linux</a:t>
            </a:r>
            <a:endParaRPr b="0" i="0" sz="3950" u="none" cap="none" strike="noStrike"/>
          </a:p>
        </p:txBody>
      </p:sp>
      <p:sp>
        <p:nvSpPr>
          <p:cNvPr id="66" name="Google Shape;66;p2"/>
          <p:cNvSpPr/>
          <p:nvPr/>
        </p:nvSpPr>
        <p:spPr>
          <a:xfrm>
            <a:off x="6195060" y="2578656"/>
            <a:ext cx="455533" cy="455533"/>
          </a:xfrm>
          <a:prstGeom prst="roundRect">
            <a:avLst>
              <a:gd fmla="val 6668" name="adj"/>
            </a:avLst>
          </a:prstGeom>
          <a:solidFill>
            <a:srgbClr val="2626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2"/>
          <p:cNvSpPr/>
          <p:nvPr/>
        </p:nvSpPr>
        <p:spPr>
          <a:xfrm>
            <a:off x="6358533" y="2654498"/>
            <a:ext cx="128588" cy="3037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2350"/>
              <a:buFont typeface="Sora Medium"/>
              <a:buNone/>
            </a:pPr>
            <a:r>
              <a:rPr b="0" i="0" lang="en-US" sz="2350" u="none" cap="none" strike="noStrike">
                <a:solidFill>
                  <a:srgbClr val="E0D6DE"/>
                </a:solidFill>
                <a:latin typeface="Sora Medium"/>
                <a:ea typeface="Sora Medium"/>
                <a:cs typeface="Sora Medium"/>
                <a:sym typeface="Sora Medium"/>
              </a:rPr>
              <a:t>1</a:t>
            </a:r>
            <a:endParaRPr b="0" i="0" sz="2350" u="none" cap="none" strike="noStrike"/>
          </a:p>
        </p:txBody>
      </p:sp>
      <p:sp>
        <p:nvSpPr>
          <p:cNvPr id="68" name="Google Shape;68;p2"/>
          <p:cNvSpPr/>
          <p:nvPr/>
        </p:nvSpPr>
        <p:spPr>
          <a:xfrm>
            <a:off x="6852999" y="2578656"/>
            <a:ext cx="2531269" cy="3163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641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950"/>
              <a:buFont typeface="Sora Medium"/>
              <a:buNone/>
            </a:pPr>
            <a:r>
              <a:rPr b="0" i="0" lang="en-US" sz="1950" u="none" cap="none" strike="noStrike">
                <a:solidFill>
                  <a:srgbClr val="E0D6DE"/>
                </a:solidFill>
                <a:latin typeface="Sora Medium"/>
                <a:ea typeface="Sora Medium"/>
                <a:cs typeface="Sora Medium"/>
                <a:sym typeface="Sora Medium"/>
              </a:rPr>
              <a:t>Origen y evolución</a:t>
            </a:r>
            <a:endParaRPr b="0" i="0" sz="1950" u="none" cap="none" strike="noStrike"/>
          </a:p>
        </p:txBody>
      </p:sp>
      <p:sp>
        <p:nvSpPr>
          <p:cNvPr id="69" name="Google Shape;69;p2"/>
          <p:cNvSpPr/>
          <p:nvPr/>
        </p:nvSpPr>
        <p:spPr>
          <a:xfrm>
            <a:off x="6852999" y="3016448"/>
            <a:ext cx="3104198" cy="25917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4516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550"/>
              <a:buFont typeface="Noto Sans TC"/>
              <a:buNone/>
            </a:pPr>
            <a:r>
              <a:rPr b="0" i="0" lang="en-US" sz="1550" u="none" cap="none" strike="noStrike">
                <a:solidFill>
                  <a:srgbClr val="E0D6DE"/>
                </a:solidFill>
                <a:latin typeface="Noto Sans TC"/>
                <a:ea typeface="Noto Sans TC"/>
                <a:cs typeface="Noto Sans TC"/>
                <a:sym typeface="Noto Sans TC"/>
              </a:rPr>
              <a:t>Linux es un sistema operativo de código abierto, inicialmente desarrollado por Linus Torvalds en 1991. Desde entonces, ha evolucionado y se ha convertido en una alternativa sólida a los sistemas operativos propietarios como Windows y macOS.</a:t>
            </a:r>
            <a:endParaRPr b="0" i="0" sz="1550" u="none" cap="none" strike="noStrike"/>
          </a:p>
        </p:txBody>
      </p:sp>
      <p:sp>
        <p:nvSpPr>
          <p:cNvPr id="70" name="Google Shape;70;p2"/>
          <p:cNvSpPr/>
          <p:nvPr/>
        </p:nvSpPr>
        <p:spPr>
          <a:xfrm>
            <a:off x="10159603" y="2578656"/>
            <a:ext cx="455533" cy="455533"/>
          </a:xfrm>
          <a:prstGeom prst="roundRect">
            <a:avLst>
              <a:gd fmla="val 6668" name="adj"/>
            </a:avLst>
          </a:prstGeom>
          <a:solidFill>
            <a:srgbClr val="2626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2"/>
          <p:cNvSpPr/>
          <p:nvPr/>
        </p:nvSpPr>
        <p:spPr>
          <a:xfrm>
            <a:off x="10292715" y="2654498"/>
            <a:ext cx="189309" cy="3037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2350"/>
              <a:buFont typeface="Sora Medium"/>
              <a:buNone/>
            </a:pPr>
            <a:r>
              <a:rPr b="0" i="0" lang="en-US" sz="2350" u="none" cap="none" strike="noStrike">
                <a:solidFill>
                  <a:srgbClr val="E0D6DE"/>
                </a:solidFill>
                <a:latin typeface="Sora Medium"/>
                <a:ea typeface="Sora Medium"/>
                <a:cs typeface="Sora Medium"/>
                <a:sym typeface="Sora Medium"/>
              </a:rPr>
              <a:t>2</a:t>
            </a:r>
            <a:endParaRPr b="0" i="0" sz="2350" u="none" cap="none" strike="noStrike"/>
          </a:p>
        </p:txBody>
      </p:sp>
      <p:sp>
        <p:nvSpPr>
          <p:cNvPr id="72" name="Google Shape;72;p2"/>
          <p:cNvSpPr/>
          <p:nvPr/>
        </p:nvSpPr>
        <p:spPr>
          <a:xfrm>
            <a:off x="10817543" y="2578656"/>
            <a:ext cx="3104198" cy="6326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641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950"/>
              <a:buFont typeface="Sora Medium"/>
              <a:buNone/>
            </a:pPr>
            <a:r>
              <a:rPr b="0" i="0" lang="en-US" sz="1950" u="none" cap="none" strike="noStrike">
                <a:solidFill>
                  <a:srgbClr val="E0D6DE"/>
                </a:solidFill>
                <a:latin typeface="Sora Medium"/>
                <a:ea typeface="Sora Medium"/>
                <a:cs typeface="Sora Medium"/>
                <a:sym typeface="Sora Medium"/>
              </a:rPr>
              <a:t>Principios fundamentales</a:t>
            </a:r>
            <a:endParaRPr b="0" i="0" sz="1950" u="none" cap="none" strike="noStrike"/>
          </a:p>
        </p:txBody>
      </p:sp>
      <p:sp>
        <p:nvSpPr>
          <p:cNvPr id="73" name="Google Shape;73;p2"/>
          <p:cNvSpPr/>
          <p:nvPr/>
        </p:nvSpPr>
        <p:spPr>
          <a:xfrm>
            <a:off x="10817543" y="3332798"/>
            <a:ext cx="3104198" cy="19438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4516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550"/>
              <a:buFont typeface="Noto Sans TC"/>
              <a:buNone/>
            </a:pPr>
            <a:r>
              <a:rPr b="0" i="0" lang="en-US" sz="1550" u="none" cap="none" strike="noStrike">
                <a:solidFill>
                  <a:srgbClr val="E0D6DE"/>
                </a:solidFill>
                <a:latin typeface="Noto Sans TC"/>
                <a:ea typeface="Noto Sans TC"/>
                <a:cs typeface="Noto Sans TC"/>
                <a:sym typeface="Noto Sans TC"/>
              </a:rPr>
              <a:t>Linux se basa en principios de código abierto, flexibilidad y personalización. Esto permite a los usuarios y desarrolladores adaptar el sistema a sus necesidades específicas.</a:t>
            </a:r>
            <a:endParaRPr b="0" i="0" sz="1550" u="none" cap="none" strike="noStrike"/>
          </a:p>
        </p:txBody>
      </p:sp>
      <p:sp>
        <p:nvSpPr>
          <p:cNvPr id="74" name="Google Shape;74;p2"/>
          <p:cNvSpPr/>
          <p:nvPr/>
        </p:nvSpPr>
        <p:spPr>
          <a:xfrm>
            <a:off x="6195060" y="6038374"/>
            <a:ext cx="455533" cy="455533"/>
          </a:xfrm>
          <a:prstGeom prst="roundRect">
            <a:avLst>
              <a:gd fmla="val 6668" name="adj"/>
            </a:avLst>
          </a:prstGeom>
          <a:solidFill>
            <a:srgbClr val="2626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2"/>
          <p:cNvSpPr/>
          <p:nvPr/>
        </p:nvSpPr>
        <p:spPr>
          <a:xfrm>
            <a:off x="6328648" y="6114217"/>
            <a:ext cx="188357" cy="3037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2350"/>
              <a:buFont typeface="Sora Medium"/>
              <a:buNone/>
            </a:pPr>
            <a:r>
              <a:rPr b="0" i="0" lang="en-US" sz="2350" u="none" cap="none" strike="noStrike">
                <a:solidFill>
                  <a:srgbClr val="E0D6DE"/>
                </a:solidFill>
                <a:latin typeface="Sora Medium"/>
                <a:ea typeface="Sora Medium"/>
                <a:cs typeface="Sora Medium"/>
                <a:sym typeface="Sora Medium"/>
              </a:rPr>
              <a:t>3</a:t>
            </a:r>
            <a:endParaRPr b="0" i="0" sz="2350" u="none" cap="none" strike="noStrike"/>
          </a:p>
        </p:txBody>
      </p:sp>
      <p:sp>
        <p:nvSpPr>
          <p:cNvPr id="76" name="Google Shape;76;p2"/>
          <p:cNvSpPr/>
          <p:nvPr/>
        </p:nvSpPr>
        <p:spPr>
          <a:xfrm>
            <a:off x="6852999" y="6038374"/>
            <a:ext cx="3004780" cy="3163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641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950"/>
              <a:buFont typeface="Sora Medium"/>
              <a:buNone/>
            </a:pPr>
            <a:r>
              <a:rPr b="0" i="0" lang="en-US" sz="1950" u="none" cap="none" strike="noStrike">
                <a:solidFill>
                  <a:srgbClr val="E0D6DE"/>
                </a:solidFill>
                <a:latin typeface="Sora Medium"/>
                <a:ea typeface="Sora Medium"/>
                <a:cs typeface="Sora Medium"/>
                <a:sym typeface="Sora Medium"/>
              </a:rPr>
              <a:t>Ventajas y aplicaciones</a:t>
            </a:r>
            <a:endParaRPr b="0" i="0" sz="1950" u="none" cap="none" strike="noStrike"/>
          </a:p>
        </p:txBody>
      </p:sp>
      <p:sp>
        <p:nvSpPr>
          <p:cNvPr id="77" name="Google Shape;77;p2"/>
          <p:cNvSpPr/>
          <p:nvPr/>
        </p:nvSpPr>
        <p:spPr>
          <a:xfrm>
            <a:off x="6852999" y="6476167"/>
            <a:ext cx="7068741" cy="9719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4516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550"/>
              <a:buFont typeface="Noto Sans TC"/>
              <a:buNone/>
            </a:pPr>
            <a:r>
              <a:rPr b="0" i="0" lang="en-US" sz="1550" u="none" cap="none" strike="noStrike">
                <a:solidFill>
                  <a:srgbClr val="E0D6DE"/>
                </a:solidFill>
                <a:latin typeface="Noto Sans TC"/>
                <a:ea typeface="Noto Sans TC"/>
                <a:cs typeface="Noto Sans TC"/>
                <a:sym typeface="Noto Sans TC"/>
              </a:rPr>
              <a:t>Linux se utiliza ampliamente en servidores, supercomputadoras, dispositivos móviles e incluso en escritorios. Ofrece beneficios como seguridad, estabilidad, rendimiento y bajo costo.</a:t>
            </a:r>
            <a:endParaRPr b="0" i="0" sz="1550" u="none" cap="none" strike="noStrike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3"/>
          <p:cNvSpPr/>
          <p:nvPr/>
        </p:nvSpPr>
        <p:spPr>
          <a:xfrm>
            <a:off x="793790" y="1995607"/>
            <a:ext cx="11715988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97B8FF"/>
              </a:buClr>
              <a:buSzPts val="4450"/>
              <a:buFont typeface="Sora Medium"/>
              <a:buNone/>
            </a:pPr>
            <a:r>
              <a:rPr b="0" i="0" lang="en-US" sz="4450" u="none" cap="none" strike="noStrike">
                <a:solidFill>
                  <a:srgbClr val="97B8FF"/>
                </a:solidFill>
                <a:latin typeface="Sora Medium"/>
                <a:ea typeface="Sora Medium"/>
                <a:cs typeface="Sora Medium"/>
                <a:sym typeface="Sora Medium"/>
              </a:rPr>
              <a:t>Principales distribuciones de GNU/Linux</a:t>
            </a:r>
            <a:endParaRPr b="0" i="0" sz="4450" u="none" cap="none" strike="noStrike"/>
          </a:p>
        </p:txBody>
      </p:sp>
      <p:sp>
        <p:nvSpPr>
          <p:cNvPr id="84" name="Google Shape;84;p3"/>
          <p:cNvSpPr/>
          <p:nvPr/>
        </p:nvSpPr>
        <p:spPr>
          <a:xfrm>
            <a:off x="793790" y="3271361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97B8FF"/>
              </a:buClr>
              <a:buSzPts val="2200"/>
              <a:buFont typeface="Sora Medium"/>
              <a:buNone/>
            </a:pPr>
            <a:r>
              <a:rPr b="0" i="0" lang="en-US" sz="2200" u="none" cap="none" strike="noStrike">
                <a:solidFill>
                  <a:srgbClr val="97B8FF"/>
                </a:solidFill>
                <a:latin typeface="Sora Medium"/>
                <a:ea typeface="Sora Medium"/>
                <a:cs typeface="Sora Medium"/>
                <a:sym typeface="Sora Medium"/>
              </a:rPr>
              <a:t>Ubuntu</a:t>
            </a:r>
            <a:endParaRPr b="0" i="0" sz="2200" u="none" cap="none" strike="noStrike"/>
          </a:p>
        </p:txBody>
      </p:sp>
      <p:sp>
        <p:nvSpPr>
          <p:cNvPr id="85" name="Google Shape;85;p3"/>
          <p:cNvSpPr/>
          <p:nvPr/>
        </p:nvSpPr>
        <p:spPr>
          <a:xfrm>
            <a:off x="793790" y="3852505"/>
            <a:ext cx="3978116" cy="18145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750"/>
              <a:buFont typeface="Noto Sans TC"/>
              <a:buNone/>
            </a:pPr>
            <a:r>
              <a:rPr b="0" i="0" lang="en-US" sz="1750" u="none" cap="none" strike="noStrike">
                <a:solidFill>
                  <a:srgbClr val="E0D6DE"/>
                </a:solidFill>
                <a:latin typeface="Noto Sans TC"/>
                <a:ea typeface="Noto Sans TC"/>
                <a:cs typeface="Noto Sans TC"/>
                <a:sym typeface="Noto Sans TC"/>
              </a:rPr>
              <a:t>Ubuntu es una de las distribuciones más populares y amigables para usuarios principiantes. Se enfoca en la sencillez de uso y la integración con aplicaciones de escritorio.</a:t>
            </a:r>
            <a:endParaRPr b="0" i="0" sz="1750" u="none" cap="none" strike="noStrike"/>
          </a:p>
        </p:txBody>
      </p:sp>
      <p:sp>
        <p:nvSpPr>
          <p:cNvPr id="86" name="Google Shape;86;p3"/>
          <p:cNvSpPr/>
          <p:nvPr/>
        </p:nvSpPr>
        <p:spPr>
          <a:xfrm>
            <a:off x="5332928" y="3271361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97B8FF"/>
              </a:buClr>
              <a:buSzPts val="2200"/>
              <a:buFont typeface="Sora Medium"/>
              <a:buNone/>
            </a:pPr>
            <a:r>
              <a:rPr b="0" i="0" lang="en-US" sz="2200" u="none" cap="none" strike="noStrike">
                <a:solidFill>
                  <a:srgbClr val="97B8FF"/>
                </a:solidFill>
                <a:latin typeface="Sora Medium"/>
                <a:ea typeface="Sora Medium"/>
                <a:cs typeface="Sora Medium"/>
                <a:sym typeface="Sora Medium"/>
              </a:rPr>
              <a:t>Debian</a:t>
            </a:r>
            <a:endParaRPr b="0" i="0" sz="2200" u="none" cap="none" strike="noStrike"/>
          </a:p>
        </p:txBody>
      </p:sp>
      <p:sp>
        <p:nvSpPr>
          <p:cNvPr id="87" name="Google Shape;87;p3"/>
          <p:cNvSpPr/>
          <p:nvPr/>
        </p:nvSpPr>
        <p:spPr>
          <a:xfrm>
            <a:off x="5332928" y="3852505"/>
            <a:ext cx="3978116" cy="18145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750"/>
              <a:buFont typeface="Noto Sans TC"/>
              <a:buNone/>
            </a:pPr>
            <a:r>
              <a:rPr b="0" i="0" lang="en-US" sz="1750" u="none" cap="none" strike="noStrike">
                <a:solidFill>
                  <a:srgbClr val="E0D6DE"/>
                </a:solidFill>
                <a:latin typeface="Noto Sans TC"/>
                <a:ea typeface="Noto Sans TC"/>
                <a:cs typeface="Noto Sans TC"/>
                <a:sym typeface="Noto Sans TC"/>
              </a:rPr>
              <a:t>Debian es una distribución estable, segura y altamente personalizable. Es una de las bases para muchas otras distribuciones y se considera una opción sólida para servidores.</a:t>
            </a:r>
            <a:endParaRPr b="0" i="0" sz="1750" u="none" cap="none" strike="noStrike"/>
          </a:p>
        </p:txBody>
      </p:sp>
      <p:sp>
        <p:nvSpPr>
          <p:cNvPr id="88" name="Google Shape;88;p3"/>
          <p:cNvSpPr/>
          <p:nvPr/>
        </p:nvSpPr>
        <p:spPr>
          <a:xfrm>
            <a:off x="9872067" y="3271361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97B8FF"/>
              </a:buClr>
              <a:buSzPts val="2200"/>
              <a:buFont typeface="Sora Medium"/>
              <a:buNone/>
            </a:pPr>
            <a:r>
              <a:rPr b="0" i="0" lang="en-US" sz="2200" u="none" cap="none" strike="noStrike">
                <a:solidFill>
                  <a:srgbClr val="97B8FF"/>
                </a:solidFill>
                <a:latin typeface="Sora Medium"/>
                <a:ea typeface="Sora Medium"/>
                <a:cs typeface="Sora Medium"/>
                <a:sym typeface="Sora Medium"/>
              </a:rPr>
              <a:t>CentOS</a:t>
            </a:r>
            <a:endParaRPr b="0" i="0" sz="2200" u="none" cap="none" strike="noStrike"/>
          </a:p>
        </p:txBody>
      </p:sp>
      <p:sp>
        <p:nvSpPr>
          <p:cNvPr id="89" name="Google Shape;89;p3"/>
          <p:cNvSpPr/>
          <p:nvPr/>
        </p:nvSpPr>
        <p:spPr>
          <a:xfrm>
            <a:off x="9872067" y="3852505"/>
            <a:ext cx="3978116" cy="21774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750"/>
              <a:buFont typeface="Noto Sans TC"/>
              <a:buNone/>
            </a:pPr>
            <a:r>
              <a:rPr b="0" i="0" lang="en-US" sz="1750" u="none" cap="none" strike="noStrike">
                <a:solidFill>
                  <a:srgbClr val="E0D6DE"/>
                </a:solidFill>
                <a:latin typeface="Noto Sans TC"/>
                <a:ea typeface="Noto Sans TC"/>
                <a:cs typeface="Noto Sans TC"/>
                <a:sym typeface="Noto Sans TC"/>
              </a:rPr>
              <a:t>CentOS es una distribución basada en Red Hat Enterprise Linux (RHEL) y se enfoca en la estabilidad y confiabilidad, lo que la hace una opción popular para entornos empresariales.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95" name="Google Shape;95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4"/>
          <p:cNvSpPr/>
          <p:nvPr/>
        </p:nvSpPr>
        <p:spPr>
          <a:xfrm>
            <a:off x="660916" y="807006"/>
            <a:ext cx="7822168" cy="11803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24"/>
              </a:lnSpc>
              <a:spcBef>
                <a:spcPts val="0"/>
              </a:spcBef>
              <a:spcAft>
                <a:spcPts val="0"/>
              </a:spcAft>
              <a:buClr>
                <a:srgbClr val="97B8FF"/>
              </a:buClr>
              <a:buSzPts val="3700"/>
              <a:buFont typeface="Sora Medium"/>
              <a:buNone/>
            </a:pPr>
            <a:r>
              <a:rPr b="0" i="0" lang="en-US" sz="3700" u="none" cap="none" strike="noStrike">
                <a:solidFill>
                  <a:srgbClr val="97B8FF"/>
                </a:solidFill>
                <a:latin typeface="Sora Medium"/>
                <a:ea typeface="Sora Medium"/>
                <a:cs typeface="Sora Medium"/>
                <a:sym typeface="Sora Medium"/>
              </a:rPr>
              <a:t>Características y diferencias entre las distribuciones</a:t>
            </a:r>
            <a:endParaRPr b="0" i="0" sz="3700" u="none" cap="none" strike="noStrike"/>
          </a:p>
        </p:txBody>
      </p:sp>
      <p:sp>
        <p:nvSpPr>
          <p:cNvPr id="97" name="Google Shape;97;p4"/>
          <p:cNvSpPr/>
          <p:nvPr/>
        </p:nvSpPr>
        <p:spPr>
          <a:xfrm>
            <a:off x="932736" y="2270641"/>
            <a:ext cx="22860" cy="5151953"/>
          </a:xfrm>
          <a:prstGeom prst="roundRect">
            <a:avLst>
              <a:gd fmla="val 123928" name="adj"/>
            </a:avLst>
          </a:prstGeom>
          <a:solidFill>
            <a:srgbClr val="3F3F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4"/>
          <p:cNvSpPr/>
          <p:nvPr/>
        </p:nvSpPr>
        <p:spPr>
          <a:xfrm>
            <a:off x="1133773" y="2684026"/>
            <a:ext cx="660916" cy="22860"/>
          </a:xfrm>
          <a:prstGeom prst="roundRect">
            <a:avLst>
              <a:gd fmla="val 123928" name="adj"/>
            </a:avLst>
          </a:prstGeom>
          <a:solidFill>
            <a:srgbClr val="3F3F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4"/>
          <p:cNvSpPr/>
          <p:nvPr/>
        </p:nvSpPr>
        <p:spPr>
          <a:xfrm>
            <a:off x="731699" y="2483048"/>
            <a:ext cx="424934" cy="424934"/>
          </a:xfrm>
          <a:prstGeom prst="roundRect">
            <a:avLst>
              <a:gd fmla="val 6667" name="adj"/>
            </a:avLst>
          </a:prstGeom>
          <a:solidFill>
            <a:srgbClr val="2626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4"/>
          <p:cNvSpPr/>
          <p:nvPr/>
        </p:nvSpPr>
        <p:spPr>
          <a:xfrm>
            <a:off x="884218" y="2553891"/>
            <a:ext cx="119777" cy="283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2200"/>
              <a:buFont typeface="Sora Medium"/>
              <a:buNone/>
            </a:pPr>
            <a:r>
              <a:rPr b="0" i="0" lang="en-US" sz="2200" u="none" cap="none" strike="noStrike">
                <a:solidFill>
                  <a:srgbClr val="E0D6DE"/>
                </a:solidFill>
                <a:latin typeface="Sora Medium"/>
                <a:ea typeface="Sora Medium"/>
                <a:cs typeface="Sora Medium"/>
                <a:sym typeface="Sora Medium"/>
              </a:rPr>
              <a:t>1</a:t>
            </a:r>
            <a:endParaRPr b="0" i="0" sz="2200" u="none" cap="none" strike="noStrike"/>
          </a:p>
        </p:txBody>
      </p:sp>
      <p:sp>
        <p:nvSpPr>
          <p:cNvPr id="101" name="Google Shape;101;p4"/>
          <p:cNvSpPr/>
          <p:nvPr/>
        </p:nvSpPr>
        <p:spPr>
          <a:xfrm>
            <a:off x="1982867" y="2459474"/>
            <a:ext cx="2524125" cy="2950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24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850"/>
              <a:buFont typeface="Sora Medium"/>
              <a:buNone/>
            </a:pPr>
            <a:r>
              <a:rPr b="0" i="0" lang="en-US" sz="1850" u="none" cap="none" strike="noStrike">
                <a:solidFill>
                  <a:srgbClr val="E0D6DE"/>
                </a:solidFill>
                <a:latin typeface="Sora Medium"/>
                <a:ea typeface="Sora Medium"/>
                <a:cs typeface="Sora Medium"/>
                <a:sym typeface="Sora Medium"/>
              </a:rPr>
              <a:t>Sistema de paquetes</a:t>
            </a:r>
            <a:endParaRPr b="0" i="0" sz="1850" u="none" cap="none" strike="noStrike"/>
          </a:p>
        </p:txBody>
      </p:sp>
      <p:sp>
        <p:nvSpPr>
          <p:cNvPr id="102" name="Google Shape;102;p4"/>
          <p:cNvSpPr/>
          <p:nvPr/>
        </p:nvSpPr>
        <p:spPr>
          <a:xfrm>
            <a:off x="1982867" y="2867739"/>
            <a:ext cx="6500217" cy="9061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068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450"/>
              <a:buFont typeface="Noto Sans TC"/>
              <a:buNone/>
            </a:pPr>
            <a:r>
              <a:rPr b="0" i="0" lang="en-US" sz="1450" u="none" cap="none" strike="noStrike">
                <a:solidFill>
                  <a:srgbClr val="E0D6DE"/>
                </a:solidFill>
                <a:latin typeface="Noto Sans TC"/>
                <a:ea typeface="Noto Sans TC"/>
                <a:cs typeface="Noto Sans TC"/>
                <a:sym typeface="Noto Sans TC"/>
              </a:rPr>
              <a:t>Cada distribución utiliza un sistema de gestión de paquetes específico, como APT (Debian/Ubuntu), YUM (CentOS) o pacman (Arch Linux), lo que afecta la instalación y actualización de software.</a:t>
            </a:r>
            <a:endParaRPr b="0" i="0" sz="1450" u="none" cap="none" strike="noStrike"/>
          </a:p>
        </p:txBody>
      </p:sp>
      <p:sp>
        <p:nvSpPr>
          <p:cNvPr id="103" name="Google Shape;103;p4"/>
          <p:cNvSpPr/>
          <p:nvPr/>
        </p:nvSpPr>
        <p:spPr>
          <a:xfrm>
            <a:off x="1133773" y="4564975"/>
            <a:ext cx="660916" cy="22860"/>
          </a:xfrm>
          <a:prstGeom prst="roundRect">
            <a:avLst>
              <a:gd fmla="val 123928" name="adj"/>
            </a:avLst>
          </a:prstGeom>
          <a:solidFill>
            <a:srgbClr val="3F3F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4"/>
          <p:cNvSpPr/>
          <p:nvPr/>
        </p:nvSpPr>
        <p:spPr>
          <a:xfrm>
            <a:off x="731699" y="4363998"/>
            <a:ext cx="424934" cy="424934"/>
          </a:xfrm>
          <a:prstGeom prst="roundRect">
            <a:avLst>
              <a:gd fmla="val 6667" name="adj"/>
            </a:avLst>
          </a:prstGeom>
          <a:solidFill>
            <a:srgbClr val="2626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4"/>
          <p:cNvSpPr/>
          <p:nvPr/>
        </p:nvSpPr>
        <p:spPr>
          <a:xfrm>
            <a:off x="855881" y="4434840"/>
            <a:ext cx="176451" cy="283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2200"/>
              <a:buFont typeface="Sora Medium"/>
              <a:buNone/>
            </a:pPr>
            <a:r>
              <a:rPr b="0" i="0" lang="en-US" sz="2200" u="none" cap="none" strike="noStrike">
                <a:solidFill>
                  <a:srgbClr val="E0D6DE"/>
                </a:solidFill>
                <a:latin typeface="Sora Medium"/>
                <a:ea typeface="Sora Medium"/>
                <a:cs typeface="Sora Medium"/>
                <a:sym typeface="Sora Medium"/>
              </a:rPr>
              <a:t>2</a:t>
            </a:r>
            <a:endParaRPr b="0" i="0" sz="2200" u="none" cap="none" strike="noStrike"/>
          </a:p>
        </p:txBody>
      </p:sp>
      <p:sp>
        <p:nvSpPr>
          <p:cNvPr id="106" name="Google Shape;106;p4"/>
          <p:cNvSpPr/>
          <p:nvPr/>
        </p:nvSpPr>
        <p:spPr>
          <a:xfrm>
            <a:off x="1982867" y="4340423"/>
            <a:ext cx="2559725" cy="2950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24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850"/>
              <a:buFont typeface="Sora Medium"/>
              <a:buNone/>
            </a:pPr>
            <a:r>
              <a:rPr b="0" i="0" lang="en-US" sz="1850" u="none" cap="none" strike="noStrike">
                <a:solidFill>
                  <a:srgbClr val="E0D6DE"/>
                </a:solidFill>
                <a:latin typeface="Sora Medium"/>
                <a:ea typeface="Sora Medium"/>
                <a:cs typeface="Sora Medium"/>
                <a:sym typeface="Sora Medium"/>
              </a:rPr>
              <a:t>Entorno de escritorio</a:t>
            </a:r>
            <a:endParaRPr b="0" i="0" sz="1850" u="none" cap="none" strike="noStrike"/>
          </a:p>
        </p:txBody>
      </p:sp>
      <p:sp>
        <p:nvSpPr>
          <p:cNvPr id="107" name="Google Shape;107;p4"/>
          <p:cNvSpPr/>
          <p:nvPr/>
        </p:nvSpPr>
        <p:spPr>
          <a:xfrm>
            <a:off x="1982867" y="4748689"/>
            <a:ext cx="6500217" cy="6041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068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450"/>
              <a:buFont typeface="Noto Sans TC"/>
              <a:buNone/>
            </a:pPr>
            <a:r>
              <a:rPr b="0" i="0" lang="en-US" sz="1450" u="none" cap="none" strike="noStrike">
                <a:solidFill>
                  <a:srgbClr val="E0D6DE"/>
                </a:solidFill>
                <a:latin typeface="Noto Sans TC"/>
                <a:ea typeface="Noto Sans TC"/>
                <a:cs typeface="Noto Sans TC"/>
                <a:sym typeface="Noto Sans TC"/>
              </a:rPr>
              <a:t>Las distribuciones ofrecen diversos entornos de escritorio, como GNOME, KDE, Xfce o LXDE, cada uno con su propio aspecto y funcionalidades.</a:t>
            </a:r>
            <a:endParaRPr b="0" i="0" sz="1450" u="none" cap="none" strike="noStrike"/>
          </a:p>
        </p:txBody>
      </p:sp>
      <p:sp>
        <p:nvSpPr>
          <p:cNvPr id="108" name="Google Shape;108;p4"/>
          <p:cNvSpPr/>
          <p:nvPr/>
        </p:nvSpPr>
        <p:spPr>
          <a:xfrm>
            <a:off x="1133773" y="6143863"/>
            <a:ext cx="660916" cy="22860"/>
          </a:xfrm>
          <a:prstGeom prst="roundRect">
            <a:avLst>
              <a:gd fmla="val 123928" name="adj"/>
            </a:avLst>
          </a:prstGeom>
          <a:solidFill>
            <a:srgbClr val="3F3F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4"/>
          <p:cNvSpPr/>
          <p:nvPr/>
        </p:nvSpPr>
        <p:spPr>
          <a:xfrm>
            <a:off x="731699" y="5942886"/>
            <a:ext cx="424934" cy="424934"/>
          </a:xfrm>
          <a:prstGeom prst="roundRect">
            <a:avLst>
              <a:gd fmla="val 6667" name="adj"/>
            </a:avLst>
          </a:prstGeom>
          <a:solidFill>
            <a:srgbClr val="2626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4"/>
          <p:cNvSpPr/>
          <p:nvPr/>
        </p:nvSpPr>
        <p:spPr>
          <a:xfrm>
            <a:off x="856357" y="6013728"/>
            <a:ext cx="175617" cy="283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2200"/>
              <a:buFont typeface="Sora Medium"/>
              <a:buNone/>
            </a:pPr>
            <a:r>
              <a:rPr b="0" i="0" lang="en-US" sz="2200" u="none" cap="none" strike="noStrike">
                <a:solidFill>
                  <a:srgbClr val="E0D6DE"/>
                </a:solidFill>
                <a:latin typeface="Sora Medium"/>
                <a:ea typeface="Sora Medium"/>
                <a:cs typeface="Sora Medium"/>
                <a:sym typeface="Sora Medium"/>
              </a:rPr>
              <a:t>3</a:t>
            </a:r>
            <a:endParaRPr b="0" i="0" sz="2200" u="none" cap="none" strike="noStrike"/>
          </a:p>
        </p:txBody>
      </p:sp>
      <p:sp>
        <p:nvSpPr>
          <p:cNvPr id="111" name="Google Shape;111;p4"/>
          <p:cNvSpPr/>
          <p:nvPr/>
        </p:nvSpPr>
        <p:spPr>
          <a:xfrm>
            <a:off x="1982867" y="5919311"/>
            <a:ext cx="2360771" cy="2950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24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850"/>
              <a:buFont typeface="Sora Medium"/>
              <a:buNone/>
            </a:pPr>
            <a:r>
              <a:rPr b="0" i="0" lang="en-US" sz="1850" u="none" cap="none" strike="noStrike">
                <a:solidFill>
                  <a:srgbClr val="E0D6DE"/>
                </a:solidFill>
                <a:latin typeface="Sora Medium"/>
                <a:ea typeface="Sora Medium"/>
                <a:cs typeface="Sora Medium"/>
                <a:sym typeface="Sora Medium"/>
              </a:rPr>
              <a:t>Nivel de dificultad</a:t>
            </a:r>
            <a:endParaRPr b="0" i="0" sz="1850" u="none" cap="none" strike="noStrike"/>
          </a:p>
        </p:txBody>
      </p:sp>
      <p:sp>
        <p:nvSpPr>
          <p:cNvPr id="112" name="Google Shape;112;p4"/>
          <p:cNvSpPr/>
          <p:nvPr/>
        </p:nvSpPr>
        <p:spPr>
          <a:xfrm>
            <a:off x="1982867" y="6327577"/>
            <a:ext cx="6500217" cy="9061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068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450"/>
              <a:buFont typeface="Noto Sans TC"/>
              <a:buNone/>
            </a:pPr>
            <a:r>
              <a:rPr b="0" i="0" lang="en-US" sz="1450" u="none" cap="none" strike="noStrike">
                <a:solidFill>
                  <a:srgbClr val="E0D6DE"/>
                </a:solidFill>
                <a:latin typeface="Noto Sans TC"/>
                <a:ea typeface="Noto Sans TC"/>
                <a:cs typeface="Noto Sans TC"/>
                <a:sym typeface="Noto Sans TC"/>
              </a:rPr>
              <a:t>Algunas distribuciones, como Ubuntu, son más amigables para usuarios principiantes, mientras que otras, como Arch Linux, requieren más conocimientos técnicos.</a:t>
            </a:r>
            <a:endParaRPr b="0" i="0" sz="1450" u="none" cap="none" strike="noStrike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18" name="Google Shape;11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2475428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5"/>
          <p:cNvSpPr/>
          <p:nvPr/>
        </p:nvSpPr>
        <p:spPr>
          <a:xfrm>
            <a:off x="693063" y="3021449"/>
            <a:ext cx="12679561" cy="6187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974"/>
              </a:lnSpc>
              <a:spcBef>
                <a:spcPts val="0"/>
              </a:spcBef>
              <a:spcAft>
                <a:spcPts val="0"/>
              </a:spcAft>
              <a:buClr>
                <a:srgbClr val="97B8FF"/>
              </a:buClr>
              <a:buSzPts val="3850"/>
              <a:buFont typeface="Sora Medium"/>
              <a:buNone/>
            </a:pPr>
            <a:r>
              <a:rPr b="0" i="0" lang="en-US" sz="3850" u="none" cap="none" strike="noStrike">
                <a:solidFill>
                  <a:srgbClr val="97B8FF"/>
                </a:solidFill>
                <a:latin typeface="Sora Medium"/>
                <a:ea typeface="Sora Medium"/>
                <a:cs typeface="Sora Medium"/>
                <a:sym typeface="Sora Medium"/>
              </a:rPr>
              <a:t>Distribuciones especializadas: usos y aplicaciones</a:t>
            </a:r>
            <a:endParaRPr b="0" i="0" sz="3850" u="none" cap="none" strike="noStrike"/>
          </a:p>
        </p:txBody>
      </p:sp>
      <p:sp>
        <p:nvSpPr>
          <p:cNvPr id="120" name="Google Shape;120;p5"/>
          <p:cNvSpPr/>
          <p:nvPr/>
        </p:nvSpPr>
        <p:spPr>
          <a:xfrm>
            <a:off x="693063" y="3937159"/>
            <a:ext cx="6523196" cy="1774150"/>
          </a:xfrm>
          <a:prstGeom prst="roundRect">
            <a:avLst>
              <a:gd fmla="val 1674" name="adj"/>
            </a:avLst>
          </a:prstGeom>
          <a:solidFill>
            <a:srgbClr val="2626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5"/>
          <p:cNvSpPr/>
          <p:nvPr/>
        </p:nvSpPr>
        <p:spPr>
          <a:xfrm>
            <a:off x="891064" y="4135160"/>
            <a:ext cx="2606993" cy="3093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315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900"/>
              <a:buFont typeface="Sora Medium"/>
              <a:buNone/>
            </a:pPr>
            <a:r>
              <a:rPr b="0" i="0" lang="en-US" sz="1900" u="none" cap="none" strike="noStrike">
                <a:solidFill>
                  <a:srgbClr val="E0D6DE"/>
                </a:solidFill>
                <a:latin typeface="Sora Medium"/>
                <a:ea typeface="Sora Medium"/>
                <a:cs typeface="Sora Medium"/>
                <a:sym typeface="Sora Medium"/>
              </a:rPr>
              <a:t>Seguridad y Hacking</a:t>
            </a:r>
            <a:endParaRPr b="0" i="0" sz="1900" u="none" cap="none" strike="noStrike"/>
          </a:p>
        </p:txBody>
      </p:sp>
      <p:sp>
        <p:nvSpPr>
          <p:cNvPr id="122" name="Google Shape;122;p5"/>
          <p:cNvSpPr/>
          <p:nvPr/>
        </p:nvSpPr>
        <p:spPr>
          <a:xfrm>
            <a:off x="891064" y="4563189"/>
            <a:ext cx="6127194" cy="9501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064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550"/>
              <a:buFont typeface="Noto Sans TC"/>
              <a:buNone/>
            </a:pPr>
            <a:r>
              <a:rPr b="0" i="0" lang="en-US" sz="1550" u="none" cap="none" strike="noStrike">
                <a:solidFill>
                  <a:srgbClr val="E0D6DE"/>
                </a:solidFill>
                <a:latin typeface="Noto Sans TC"/>
                <a:ea typeface="Noto Sans TC"/>
                <a:cs typeface="Noto Sans TC"/>
                <a:sym typeface="Noto Sans TC"/>
              </a:rPr>
              <a:t>Distribuciones como Kali Linux están diseñadas específicamente para pruebas de penetración, análisis forense y seguridad informática.</a:t>
            </a:r>
            <a:endParaRPr b="0" i="0" sz="1550" u="none" cap="none" strike="noStrike"/>
          </a:p>
        </p:txBody>
      </p:sp>
      <p:sp>
        <p:nvSpPr>
          <p:cNvPr id="123" name="Google Shape;123;p5"/>
          <p:cNvSpPr/>
          <p:nvPr/>
        </p:nvSpPr>
        <p:spPr>
          <a:xfrm>
            <a:off x="7414260" y="3937159"/>
            <a:ext cx="6523196" cy="1774150"/>
          </a:xfrm>
          <a:prstGeom prst="roundRect">
            <a:avLst>
              <a:gd fmla="val 1674" name="adj"/>
            </a:avLst>
          </a:prstGeom>
          <a:solidFill>
            <a:srgbClr val="2626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5"/>
          <p:cNvSpPr/>
          <p:nvPr/>
        </p:nvSpPr>
        <p:spPr>
          <a:xfrm>
            <a:off x="7612261" y="4135160"/>
            <a:ext cx="3022640" cy="3093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315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900"/>
              <a:buFont typeface="Sora Medium"/>
              <a:buNone/>
            </a:pPr>
            <a:r>
              <a:rPr b="0" i="0" lang="en-US" sz="1900" u="none" cap="none" strike="noStrike">
                <a:solidFill>
                  <a:srgbClr val="E0D6DE"/>
                </a:solidFill>
                <a:latin typeface="Sora Medium"/>
                <a:ea typeface="Sora Medium"/>
                <a:cs typeface="Sora Medium"/>
                <a:sym typeface="Sora Medium"/>
              </a:rPr>
              <a:t>Hardware especializado</a:t>
            </a:r>
            <a:endParaRPr b="0" i="0" sz="1900" u="none" cap="none" strike="noStrike"/>
          </a:p>
        </p:txBody>
      </p:sp>
      <p:sp>
        <p:nvSpPr>
          <p:cNvPr id="125" name="Google Shape;125;p5"/>
          <p:cNvSpPr/>
          <p:nvPr/>
        </p:nvSpPr>
        <p:spPr>
          <a:xfrm>
            <a:off x="7612261" y="4563189"/>
            <a:ext cx="6127194" cy="9501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064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550"/>
              <a:buFont typeface="Noto Sans TC"/>
              <a:buNone/>
            </a:pPr>
            <a:r>
              <a:rPr b="0" i="0" lang="en-US" sz="1550" u="none" cap="none" strike="noStrike">
                <a:solidFill>
                  <a:srgbClr val="E0D6DE"/>
                </a:solidFill>
                <a:latin typeface="Noto Sans TC"/>
                <a:ea typeface="Noto Sans TC"/>
                <a:cs typeface="Noto Sans TC"/>
                <a:sym typeface="Noto Sans TC"/>
              </a:rPr>
              <a:t>Distribuciones como Raspberry Pi OS están optimizadas para funcionar en plataformas de hardware específicas, como la Raspberry Pi.</a:t>
            </a:r>
            <a:endParaRPr b="0" i="0" sz="1550" u="none" cap="none" strike="noStrike"/>
          </a:p>
        </p:txBody>
      </p:sp>
      <p:sp>
        <p:nvSpPr>
          <p:cNvPr id="126" name="Google Shape;126;p5"/>
          <p:cNvSpPr/>
          <p:nvPr/>
        </p:nvSpPr>
        <p:spPr>
          <a:xfrm>
            <a:off x="693063" y="5909310"/>
            <a:ext cx="6523196" cy="1774150"/>
          </a:xfrm>
          <a:prstGeom prst="roundRect">
            <a:avLst>
              <a:gd fmla="val 1674" name="adj"/>
            </a:avLst>
          </a:prstGeom>
          <a:solidFill>
            <a:srgbClr val="2626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5"/>
          <p:cNvSpPr/>
          <p:nvPr/>
        </p:nvSpPr>
        <p:spPr>
          <a:xfrm>
            <a:off x="891064" y="6107311"/>
            <a:ext cx="3001208" cy="3093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315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900"/>
              <a:buFont typeface="Sora Medium"/>
              <a:buNone/>
            </a:pPr>
            <a:r>
              <a:rPr b="0" i="0" lang="en-US" sz="1900" u="none" cap="none" strike="noStrike">
                <a:solidFill>
                  <a:srgbClr val="E0D6DE"/>
                </a:solidFill>
                <a:latin typeface="Sora Medium"/>
                <a:ea typeface="Sora Medium"/>
                <a:cs typeface="Sora Medium"/>
                <a:sym typeface="Sora Medium"/>
              </a:rPr>
              <a:t>Privacidad y Anonimato</a:t>
            </a:r>
            <a:endParaRPr b="0" i="0" sz="1900" u="none" cap="none" strike="noStrike"/>
          </a:p>
        </p:txBody>
      </p:sp>
      <p:sp>
        <p:nvSpPr>
          <p:cNvPr id="128" name="Google Shape;128;p5"/>
          <p:cNvSpPr/>
          <p:nvPr/>
        </p:nvSpPr>
        <p:spPr>
          <a:xfrm>
            <a:off x="891064" y="6535341"/>
            <a:ext cx="6127194" cy="9501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064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550"/>
              <a:buFont typeface="Noto Sans TC"/>
              <a:buNone/>
            </a:pPr>
            <a:r>
              <a:rPr b="0" i="0" lang="en-US" sz="1550" u="none" cap="none" strike="noStrike">
                <a:solidFill>
                  <a:srgbClr val="E0D6DE"/>
                </a:solidFill>
                <a:latin typeface="Noto Sans TC"/>
                <a:ea typeface="Noto Sans TC"/>
                <a:cs typeface="Noto Sans TC"/>
                <a:sym typeface="Noto Sans TC"/>
              </a:rPr>
              <a:t>Distribuciones como Tails se enfocan en la privacidad y el anonimato en línea, y se utilizan para navegación segura y confidencial.</a:t>
            </a:r>
            <a:endParaRPr b="0" i="0" sz="1550" u="none" cap="none" strike="noStrike"/>
          </a:p>
        </p:txBody>
      </p:sp>
      <p:sp>
        <p:nvSpPr>
          <p:cNvPr id="129" name="Google Shape;129;p5"/>
          <p:cNvSpPr/>
          <p:nvPr/>
        </p:nvSpPr>
        <p:spPr>
          <a:xfrm>
            <a:off x="7414260" y="5909310"/>
            <a:ext cx="6523196" cy="1774150"/>
          </a:xfrm>
          <a:prstGeom prst="roundRect">
            <a:avLst>
              <a:gd fmla="val 1674" name="adj"/>
            </a:avLst>
          </a:prstGeom>
          <a:solidFill>
            <a:srgbClr val="2626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5"/>
          <p:cNvSpPr/>
          <p:nvPr/>
        </p:nvSpPr>
        <p:spPr>
          <a:xfrm>
            <a:off x="7612261" y="6107311"/>
            <a:ext cx="2475428" cy="3093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315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900"/>
              <a:buFont typeface="Sora Medium"/>
              <a:buNone/>
            </a:pPr>
            <a:r>
              <a:rPr b="0" i="0" lang="en-US" sz="1900" u="none" cap="none" strike="noStrike">
                <a:solidFill>
                  <a:srgbClr val="E0D6DE"/>
                </a:solidFill>
                <a:latin typeface="Sora Medium"/>
                <a:ea typeface="Sora Medium"/>
                <a:cs typeface="Sora Medium"/>
                <a:sym typeface="Sora Medium"/>
              </a:rPr>
              <a:t>Entornos Virtuales</a:t>
            </a:r>
            <a:endParaRPr b="0" i="0" sz="1900" u="none" cap="none" strike="noStrike"/>
          </a:p>
        </p:txBody>
      </p:sp>
      <p:sp>
        <p:nvSpPr>
          <p:cNvPr id="131" name="Google Shape;131;p5"/>
          <p:cNvSpPr/>
          <p:nvPr/>
        </p:nvSpPr>
        <p:spPr>
          <a:xfrm>
            <a:off x="7612261" y="6535341"/>
            <a:ext cx="6127194" cy="6334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064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550"/>
              <a:buFont typeface="Noto Sans TC"/>
              <a:buNone/>
            </a:pPr>
            <a:r>
              <a:rPr b="0" i="0" lang="en-US" sz="1550" u="none" cap="none" strike="noStrike">
                <a:solidFill>
                  <a:srgbClr val="E0D6DE"/>
                </a:solidFill>
                <a:latin typeface="Noto Sans TC"/>
                <a:ea typeface="Noto Sans TC"/>
                <a:cs typeface="Noto Sans TC"/>
                <a:sym typeface="Noto Sans TC"/>
              </a:rPr>
              <a:t>Distribuciones como Qubes OS se basan en el uso de máquinas virtuales para lograr un mayor aislamiento y seguridad.</a:t>
            </a:r>
            <a:endParaRPr b="0" i="0" sz="1550" u="none" cap="none" strike="noStrike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37" name="Google Shape;137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6"/>
          <p:cNvSpPr/>
          <p:nvPr/>
        </p:nvSpPr>
        <p:spPr>
          <a:xfrm>
            <a:off x="584478" y="491728"/>
            <a:ext cx="7975044" cy="10437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153"/>
              </a:lnSpc>
              <a:spcBef>
                <a:spcPts val="0"/>
              </a:spcBef>
              <a:spcAft>
                <a:spcPts val="0"/>
              </a:spcAft>
              <a:buClr>
                <a:srgbClr val="97B8FF"/>
              </a:buClr>
              <a:buSzPts val="3250"/>
              <a:buFont typeface="Sora Medium"/>
              <a:buNone/>
            </a:pPr>
            <a:r>
              <a:rPr b="0" i="0" lang="en-US" sz="3250" u="none" cap="none" strike="noStrike">
                <a:solidFill>
                  <a:srgbClr val="97B8FF"/>
                </a:solidFill>
                <a:latin typeface="Sora Medium"/>
                <a:ea typeface="Sora Medium"/>
                <a:cs typeface="Sora Medium"/>
                <a:sym typeface="Sora Medium"/>
              </a:rPr>
              <a:t>Estructura y componentes de un sistema GNU/Linux</a:t>
            </a:r>
            <a:endParaRPr b="0" i="0" sz="3250" u="none" cap="none" strike="noStrike"/>
          </a:p>
        </p:txBody>
      </p:sp>
      <p:sp>
        <p:nvSpPr>
          <p:cNvPr id="139" name="Google Shape;139;p6"/>
          <p:cNvSpPr/>
          <p:nvPr/>
        </p:nvSpPr>
        <p:spPr>
          <a:xfrm>
            <a:off x="823436" y="1785818"/>
            <a:ext cx="22860" cy="5951934"/>
          </a:xfrm>
          <a:prstGeom prst="roundRect">
            <a:avLst>
              <a:gd fmla="val 109580" name="adj"/>
            </a:avLst>
          </a:prstGeom>
          <a:solidFill>
            <a:srgbClr val="3F3F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6"/>
          <p:cNvSpPr/>
          <p:nvPr/>
        </p:nvSpPr>
        <p:spPr>
          <a:xfrm>
            <a:off x="999827" y="2149912"/>
            <a:ext cx="584478" cy="22860"/>
          </a:xfrm>
          <a:prstGeom prst="roundRect">
            <a:avLst>
              <a:gd fmla="val 109580" name="adj"/>
            </a:avLst>
          </a:prstGeom>
          <a:solidFill>
            <a:srgbClr val="3F3F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6"/>
          <p:cNvSpPr/>
          <p:nvPr/>
        </p:nvSpPr>
        <p:spPr>
          <a:xfrm>
            <a:off x="647045" y="1973580"/>
            <a:ext cx="375642" cy="375642"/>
          </a:xfrm>
          <a:prstGeom prst="roundRect">
            <a:avLst>
              <a:gd fmla="val 6669" name="adj"/>
            </a:avLst>
          </a:prstGeom>
          <a:solidFill>
            <a:srgbClr val="2626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6"/>
          <p:cNvSpPr/>
          <p:nvPr/>
        </p:nvSpPr>
        <p:spPr>
          <a:xfrm>
            <a:off x="781824" y="2036088"/>
            <a:ext cx="105966" cy="2505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950"/>
              <a:buFont typeface="Sora Medium"/>
              <a:buNone/>
            </a:pPr>
            <a:r>
              <a:rPr b="0" i="0" lang="en-US" sz="1950" u="none" cap="none" strike="noStrike">
                <a:solidFill>
                  <a:srgbClr val="E0D6DE"/>
                </a:solidFill>
                <a:latin typeface="Sora Medium"/>
                <a:ea typeface="Sora Medium"/>
                <a:cs typeface="Sora Medium"/>
                <a:sym typeface="Sora Medium"/>
              </a:rPr>
              <a:t>1</a:t>
            </a:r>
            <a:endParaRPr b="0" i="0" sz="1950" u="none" cap="none" strike="noStrike"/>
          </a:p>
        </p:txBody>
      </p:sp>
      <p:sp>
        <p:nvSpPr>
          <p:cNvPr id="143" name="Google Shape;143;p6"/>
          <p:cNvSpPr/>
          <p:nvPr/>
        </p:nvSpPr>
        <p:spPr>
          <a:xfrm>
            <a:off x="1753314" y="1952744"/>
            <a:ext cx="2087404" cy="2608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125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600"/>
              <a:buFont typeface="Sora Medium"/>
              <a:buNone/>
            </a:pPr>
            <a:r>
              <a:rPr b="0" i="0" lang="en-US" sz="1600" u="none" cap="none" strike="noStrike">
                <a:solidFill>
                  <a:srgbClr val="E0D6DE"/>
                </a:solidFill>
                <a:latin typeface="Sora Medium"/>
                <a:ea typeface="Sora Medium"/>
                <a:cs typeface="Sora Medium"/>
                <a:sym typeface="Sora Medium"/>
              </a:rPr>
              <a:t>Kernel de Linux</a:t>
            </a:r>
            <a:endParaRPr b="0" i="0" sz="1600" u="none" cap="none" strike="noStrike"/>
          </a:p>
        </p:txBody>
      </p:sp>
      <p:sp>
        <p:nvSpPr>
          <p:cNvPr id="144" name="Google Shape;144;p6"/>
          <p:cNvSpPr/>
          <p:nvPr/>
        </p:nvSpPr>
        <p:spPr>
          <a:xfrm>
            <a:off x="1753314" y="2313742"/>
            <a:ext cx="6806208" cy="5343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538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300"/>
              <a:buFont typeface="Noto Sans TC"/>
              <a:buNone/>
            </a:pPr>
            <a:r>
              <a:rPr b="0" i="0" lang="en-US" sz="1300" u="none" cap="none" strike="noStrike">
                <a:solidFill>
                  <a:srgbClr val="E0D6DE"/>
                </a:solidFill>
                <a:latin typeface="Noto Sans TC"/>
                <a:ea typeface="Noto Sans TC"/>
                <a:cs typeface="Noto Sans TC"/>
                <a:sym typeface="Noto Sans TC"/>
              </a:rPr>
              <a:t>El kernel de Linux es el núcleo del sistema operativo, responsable de la gestión de recursos, la comunicación con el hardware y la ejecución de procesos.</a:t>
            </a:r>
            <a:endParaRPr b="0" i="0" sz="1300" u="none" cap="none" strike="noStrike"/>
          </a:p>
        </p:txBody>
      </p:sp>
      <p:sp>
        <p:nvSpPr>
          <p:cNvPr id="145" name="Google Shape;145;p6"/>
          <p:cNvSpPr/>
          <p:nvPr/>
        </p:nvSpPr>
        <p:spPr>
          <a:xfrm>
            <a:off x="999827" y="3546038"/>
            <a:ext cx="584478" cy="22860"/>
          </a:xfrm>
          <a:prstGeom prst="roundRect">
            <a:avLst>
              <a:gd fmla="val 109580" name="adj"/>
            </a:avLst>
          </a:prstGeom>
          <a:solidFill>
            <a:srgbClr val="3F3F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6"/>
          <p:cNvSpPr/>
          <p:nvPr/>
        </p:nvSpPr>
        <p:spPr>
          <a:xfrm>
            <a:off x="647045" y="3369707"/>
            <a:ext cx="375642" cy="375642"/>
          </a:xfrm>
          <a:prstGeom prst="roundRect">
            <a:avLst>
              <a:gd fmla="val 6669" name="adj"/>
            </a:avLst>
          </a:prstGeom>
          <a:solidFill>
            <a:srgbClr val="2626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6"/>
          <p:cNvSpPr/>
          <p:nvPr/>
        </p:nvSpPr>
        <p:spPr>
          <a:xfrm>
            <a:off x="756821" y="3432215"/>
            <a:ext cx="156091" cy="2505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950"/>
              <a:buFont typeface="Sora Medium"/>
              <a:buNone/>
            </a:pPr>
            <a:r>
              <a:rPr b="0" i="0" lang="en-US" sz="1950" u="none" cap="none" strike="noStrike">
                <a:solidFill>
                  <a:srgbClr val="E0D6DE"/>
                </a:solidFill>
                <a:latin typeface="Sora Medium"/>
                <a:ea typeface="Sora Medium"/>
                <a:cs typeface="Sora Medium"/>
                <a:sym typeface="Sora Medium"/>
              </a:rPr>
              <a:t>2</a:t>
            </a:r>
            <a:endParaRPr b="0" i="0" sz="1950" u="none" cap="none" strike="noStrike"/>
          </a:p>
        </p:txBody>
      </p:sp>
      <p:sp>
        <p:nvSpPr>
          <p:cNvPr id="148" name="Google Shape;148;p6"/>
          <p:cNvSpPr/>
          <p:nvPr/>
        </p:nvSpPr>
        <p:spPr>
          <a:xfrm>
            <a:off x="1753314" y="3348871"/>
            <a:ext cx="2255877" cy="2608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125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600"/>
              <a:buFont typeface="Sora Medium"/>
              <a:buNone/>
            </a:pPr>
            <a:r>
              <a:rPr b="0" i="0" lang="en-US" sz="1600" u="none" cap="none" strike="noStrike">
                <a:solidFill>
                  <a:srgbClr val="E0D6DE"/>
                </a:solidFill>
                <a:latin typeface="Sora Medium"/>
                <a:ea typeface="Sora Medium"/>
                <a:cs typeface="Sora Medium"/>
                <a:sym typeface="Sora Medium"/>
              </a:rPr>
              <a:t>Servicios del sistema</a:t>
            </a:r>
            <a:endParaRPr b="0" i="0" sz="1600" u="none" cap="none" strike="noStrike"/>
          </a:p>
        </p:txBody>
      </p:sp>
      <p:sp>
        <p:nvSpPr>
          <p:cNvPr id="149" name="Google Shape;149;p6"/>
          <p:cNvSpPr/>
          <p:nvPr/>
        </p:nvSpPr>
        <p:spPr>
          <a:xfrm>
            <a:off x="1753314" y="3709868"/>
            <a:ext cx="6806208" cy="8015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538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300"/>
              <a:buFont typeface="Noto Sans TC"/>
              <a:buNone/>
            </a:pPr>
            <a:r>
              <a:rPr b="0" i="0" lang="en-US" sz="1300" u="none" cap="none" strike="noStrike">
                <a:solidFill>
                  <a:srgbClr val="E0D6DE"/>
                </a:solidFill>
                <a:latin typeface="Noto Sans TC"/>
                <a:ea typeface="Noto Sans TC"/>
                <a:cs typeface="Noto Sans TC"/>
                <a:sym typeface="Noto Sans TC"/>
              </a:rPr>
              <a:t>Los servicios del sistema, como el gestor de archivos, el administrador de redes y el gestor de procesos, proporcionan funcionalidades esenciales para el funcionamiento del sistema.</a:t>
            </a:r>
            <a:endParaRPr b="0" i="0" sz="1300" u="none" cap="none" strike="noStrike"/>
          </a:p>
        </p:txBody>
      </p:sp>
      <p:sp>
        <p:nvSpPr>
          <p:cNvPr id="150" name="Google Shape;150;p6"/>
          <p:cNvSpPr/>
          <p:nvPr/>
        </p:nvSpPr>
        <p:spPr>
          <a:xfrm>
            <a:off x="999827" y="5209342"/>
            <a:ext cx="584478" cy="22860"/>
          </a:xfrm>
          <a:prstGeom prst="roundRect">
            <a:avLst>
              <a:gd fmla="val 109580" name="adj"/>
            </a:avLst>
          </a:prstGeom>
          <a:solidFill>
            <a:srgbClr val="3F3F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6"/>
          <p:cNvSpPr/>
          <p:nvPr/>
        </p:nvSpPr>
        <p:spPr>
          <a:xfrm>
            <a:off x="647045" y="5033010"/>
            <a:ext cx="375642" cy="375642"/>
          </a:xfrm>
          <a:prstGeom prst="roundRect">
            <a:avLst>
              <a:gd fmla="val 6669" name="adj"/>
            </a:avLst>
          </a:prstGeom>
          <a:solidFill>
            <a:srgbClr val="2626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6"/>
          <p:cNvSpPr/>
          <p:nvPr/>
        </p:nvSpPr>
        <p:spPr>
          <a:xfrm>
            <a:off x="757178" y="5095518"/>
            <a:ext cx="155258" cy="2505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950"/>
              <a:buFont typeface="Sora Medium"/>
              <a:buNone/>
            </a:pPr>
            <a:r>
              <a:rPr b="0" i="0" lang="en-US" sz="1950" u="none" cap="none" strike="noStrike">
                <a:solidFill>
                  <a:srgbClr val="E0D6DE"/>
                </a:solidFill>
                <a:latin typeface="Sora Medium"/>
                <a:ea typeface="Sora Medium"/>
                <a:cs typeface="Sora Medium"/>
                <a:sym typeface="Sora Medium"/>
              </a:rPr>
              <a:t>3</a:t>
            </a:r>
            <a:endParaRPr b="0" i="0" sz="1950" u="none" cap="none" strike="noStrike"/>
          </a:p>
        </p:txBody>
      </p:sp>
      <p:sp>
        <p:nvSpPr>
          <p:cNvPr id="153" name="Google Shape;153;p6"/>
          <p:cNvSpPr/>
          <p:nvPr/>
        </p:nvSpPr>
        <p:spPr>
          <a:xfrm>
            <a:off x="1753314" y="5012174"/>
            <a:ext cx="2232898" cy="2608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125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600"/>
              <a:buFont typeface="Sora Medium"/>
              <a:buNone/>
            </a:pPr>
            <a:r>
              <a:rPr b="0" i="0" lang="en-US" sz="1600" u="none" cap="none" strike="noStrike">
                <a:solidFill>
                  <a:srgbClr val="E0D6DE"/>
                </a:solidFill>
                <a:latin typeface="Sora Medium"/>
                <a:ea typeface="Sora Medium"/>
                <a:cs typeface="Sora Medium"/>
                <a:sym typeface="Sora Medium"/>
              </a:rPr>
              <a:t>Interfaces de usuario</a:t>
            </a:r>
            <a:endParaRPr b="0" i="0" sz="1600" u="none" cap="none" strike="noStrike"/>
          </a:p>
        </p:txBody>
      </p:sp>
      <p:sp>
        <p:nvSpPr>
          <p:cNvPr id="154" name="Google Shape;154;p6"/>
          <p:cNvSpPr/>
          <p:nvPr/>
        </p:nvSpPr>
        <p:spPr>
          <a:xfrm>
            <a:off x="1753314" y="5373172"/>
            <a:ext cx="6806208" cy="5343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538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300"/>
              <a:buFont typeface="Noto Sans TC"/>
              <a:buNone/>
            </a:pPr>
            <a:r>
              <a:rPr b="0" i="0" lang="en-US" sz="1300" u="none" cap="none" strike="noStrike">
                <a:solidFill>
                  <a:srgbClr val="E0D6DE"/>
                </a:solidFill>
                <a:latin typeface="Noto Sans TC"/>
                <a:ea typeface="Noto Sans TC"/>
                <a:cs typeface="Noto Sans TC"/>
                <a:sym typeface="Noto Sans TC"/>
              </a:rPr>
              <a:t>Las interfaces de usuario, como los entornos de escritorio (GNOME, KDE) y las líneas de comandos, permiten a los usuarios interactuar con el sistema operativo.</a:t>
            </a:r>
            <a:endParaRPr b="0" i="0" sz="1300" u="none" cap="none" strike="noStrike"/>
          </a:p>
        </p:txBody>
      </p:sp>
      <p:sp>
        <p:nvSpPr>
          <p:cNvPr id="155" name="Google Shape;155;p6"/>
          <p:cNvSpPr/>
          <p:nvPr/>
        </p:nvSpPr>
        <p:spPr>
          <a:xfrm>
            <a:off x="999827" y="6605468"/>
            <a:ext cx="584478" cy="22860"/>
          </a:xfrm>
          <a:prstGeom prst="roundRect">
            <a:avLst>
              <a:gd fmla="val 109580" name="adj"/>
            </a:avLst>
          </a:prstGeom>
          <a:solidFill>
            <a:srgbClr val="3F3F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6"/>
          <p:cNvSpPr/>
          <p:nvPr/>
        </p:nvSpPr>
        <p:spPr>
          <a:xfrm>
            <a:off x="647045" y="6429137"/>
            <a:ext cx="375642" cy="375642"/>
          </a:xfrm>
          <a:prstGeom prst="roundRect">
            <a:avLst>
              <a:gd fmla="val 6669" name="adj"/>
            </a:avLst>
          </a:prstGeom>
          <a:solidFill>
            <a:srgbClr val="2626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6"/>
          <p:cNvSpPr/>
          <p:nvPr/>
        </p:nvSpPr>
        <p:spPr>
          <a:xfrm>
            <a:off x="753130" y="6491645"/>
            <a:ext cx="163354" cy="2505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950"/>
              <a:buFont typeface="Sora Medium"/>
              <a:buNone/>
            </a:pPr>
            <a:r>
              <a:rPr b="0" i="0" lang="en-US" sz="1950" u="none" cap="none" strike="noStrike">
                <a:solidFill>
                  <a:srgbClr val="E0D6DE"/>
                </a:solidFill>
                <a:latin typeface="Sora Medium"/>
                <a:ea typeface="Sora Medium"/>
                <a:cs typeface="Sora Medium"/>
                <a:sym typeface="Sora Medium"/>
              </a:rPr>
              <a:t>4</a:t>
            </a:r>
            <a:endParaRPr b="0" i="0" sz="1950" u="none" cap="none" strike="noStrike"/>
          </a:p>
        </p:txBody>
      </p:sp>
      <p:sp>
        <p:nvSpPr>
          <p:cNvPr id="158" name="Google Shape;158;p6"/>
          <p:cNvSpPr/>
          <p:nvPr/>
        </p:nvSpPr>
        <p:spPr>
          <a:xfrm>
            <a:off x="1753314" y="6408301"/>
            <a:ext cx="2540556" cy="2608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125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600"/>
              <a:buFont typeface="Sora Medium"/>
              <a:buNone/>
            </a:pPr>
            <a:r>
              <a:rPr b="0" i="0" lang="en-US" sz="1600" u="none" cap="none" strike="noStrike">
                <a:solidFill>
                  <a:srgbClr val="E0D6DE"/>
                </a:solidFill>
                <a:latin typeface="Sora Medium"/>
                <a:ea typeface="Sora Medium"/>
                <a:cs typeface="Sora Medium"/>
                <a:sym typeface="Sora Medium"/>
              </a:rPr>
              <a:t>Aplicaciones y software</a:t>
            </a:r>
            <a:endParaRPr b="0" i="0" sz="1600" u="none" cap="none" strike="noStrike"/>
          </a:p>
        </p:txBody>
      </p:sp>
      <p:sp>
        <p:nvSpPr>
          <p:cNvPr id="159" name="Google Shape;159;p6"/>
          <p:cNvSpPr/>
          <p:nvPr/>
        </p:nvSpPr>
        <p:spPr>
          <a:xfrm>
            <a:off x="1753314" y="6769298"/>
            <a:ext cx="6806208" cy="8015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538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300"/>
              <a:buFont typeface="Noto Sans TC"/>
              <a:buNone/>
            </a:pPr>
            <a:r>
              <a:rPr b="0" i="0" lang="en-US" sz="1300" u="none" cap="none" strike="noStrike">
                <a:solidFill>
                  <a:srgbClr val="E0D6DE"/>
                </a:solidFill>
                <a:latin typeface="Noto Sans TC"/>
                <a:ea typeface="Noto Sans TC"/>
                <a:cs typeface="Noto Sans TC"/>
                <a:sym typeface="Noto Sans TC"/>
              </a:rPr>
              <a:t>Una amplia gama de aplicaciones y software, como navegadores web, herramientas de ofimática y programas de desarrollo, complementan las capacidades del sistema operativo.</a:t>
            </a:r>
            <a:endParaRPr b="0" i="0" sz="1300" u="none" cap="none" strike="noStrike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65" name="Google Shape;165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7"/>
          <p:cNvSpPr/>
          <p:nvPr/>
        </p:nvSpPr>
        <p:spPr>
          <a:xfrm>
            <a:off x="632460" y="523637"/>
            <a:ext cx="7879080" cy="11291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943"/>
              </a:lnSpc>
              <a:spcBef>
                <a:spcPts val="0"/>
              </a:spcBef>
              <a:spcAft>
                <a:spcPts val="0"/>
              </a:spcAft>
              <a:buClr>
                <a:srgbClr val="97B8FF"/>
              </a:buClr>
              <a:buSzPts val="3550"/>
              <a:buFont typeface="Sora Medium"/>
              <a:buNone/>
            </a:pPr>
            <a:r>
              <a:rPr b="0" i="0" lang="en-US" sz="3550" u="none" cap="none" strike="noStrike">
                <a:solidFill>
                  <a:srgbClr val="97B8FF"/>
                </a:solidFill>
                <a:latin typeface="Sora Medium"/>
                <a:ea typeface="Sora Medium"/>
                <a:cs typeface="Sora Medium"/>
                <a:sym typeface="Sora Medium"/>
              </a:rPr>
              <a:t>El sistema de inicialización: inicio, ejecución y cierre</a:t>
            </a:r>
            <a:endParaRPr b="0" i="0" sz="3550" u="none" cap="none" strike="noStrike"/>
          </a:p>
        </p:txBody>
      </p:sp>
      <p:pic>
        <p:nvPicPr>
          <p:cNvPr descr="preencoded.png" id="167" name="Google Shape;167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2460" y="1923812"/>
            <a:ext cx="903446" cy="1445538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7"/>
          <p:cNvSpPr/>
          <p:nvPr/>
        </p:nvSpPr>
        <p:spPr>
          <a:xfrm>
            <a:off x="1806892" y="2104430"/>
            <a:ext cx="2258735" cy="2822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750"/>
              <a:buFont typeface="Sora Medium"/>
              <a:buNone/>
            </a:pPr>
            <a:r>
              <a:rPr b="0" i="0" lang="en-US" sz="1750" u="none" cap="none" strike="noStrike">
                <a:solidFill>
                  <a:srgbClr val="E0D6DE"/>
                </a:solidFill>
                <a:latin typeface="Sora Medium"/>
                <a:ea typeface="Sora Medium"/>
                <a:cs typeface="Sora Medium"/>
                <a:sym typeface="Sora Medium"/>
              </a:rPr>
              <a:t>Etapa de POST</a:t>
            </a:r>
            <a:endParaRPr b="0" i="0" sz="1750" u="none" cap="none" strike="noStrike"/>
          </a:p>
        </p:txBody>
      </p:sp>
      <p:sp>
        <p:nvSpPr>
          <p:cNvPr id="169" name="Google Shape;169;p7"/>
          <p:cNvSpPr/>
          <p:nvPr/>
        </p:nvSpPr>
        <p:spPr>
          <a:xfrm>
            <a:off x="1806892" y="2495074"/>
            <a:ext cx="6704648" cy="578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714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400"/>
              <a:buFont typeface="Noto Sans TC"/>
              <a:buNone/>
            </a:pPr>
            <a:r>
              <a:rPr b="0" i="0" lang="en-US" sz="1400" u="none" cap="none" strike="noStrike">
                <a:solidFill>
                  <a:srgbClr val="E0D6DE"/>
                </a:solidFill>
                <a:latin typeface="Noto Sans TC"/>
                <a:ea typeface="Noto Sans TC"/>
                <a:cs typeface="Noto Sans TC"/>
                <a:sym typeface="Noto Sans TC"/>
              </a:rPr>
              <a:t>El proceso de inicio comienza con la verificación del hardware durante la Prueba Automática de Encendido (POST), antes de cargar el sistema operativo.</a:t>
            </a:r>
            <a:endParaRPr b="0" i="0" sz="1400" u="none" cap="none" strike="noStrike"/>
          </a:p>
        </p:txBody>
      </p:sp>
      <p:pic>
        <p:nvPicPr>
          <p:cNvPr descr="preencoded.png" id="170" name="Google Shape;170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2460" y="3369350"/>
            <a:ext cx="903446" cy="1445538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7"/>
          <p:cNvSpPr/>
          <p:nvPr/>
        </p:nvSpPr>
        <p:spPr>
          <a:xfrm>
            <a:off x="1806892" y="3549968"/>
            <a:ext cx="2450544" cy="2822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750"/>
              <a:buFont typeface="Sora Medium"/>
              <a:buNone/>
            </a:pPr>
            <a:r>
              <a:rPr b="0" i="0" lang="en-US" sz="1750" u="none" cap="none" strike="noStrike">
                <a:solidFill>
                  <a:srgbClr val="E0D6DE"/>
                </a:solidFill>
                <a:latin typeface="Sora Medium"/>
                <a:ea typeface="Sora Medium"/>
                <a:cs typeface="Sora Medium"/>
                <a:sym typeface="Sora Medium"/>
              </a:rPr>
              <a:t>Carga del bootloader</a:t>
            </a:r>
            <a:endParaRPr b="0" i="0" sz="1750" u="none" cap="none" strike="noStrike"/>
          </a:p>
        </p:txBody>
      </p:sp>
      <p:sp>
        <p:nvSpPr>
          <p:cNvPr id="172" name="Google Shape;172;p7"/>
          <p:cNvSpPr/>
          <p:nvPr/>
        </p:nvSpPr>
        <p:spPr>
          <a:xfrm>
            <a:off x="1806892" y="3940612"/>
            <a:ext cx="6704648" cy="578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714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400"/>
              <a:buFont typeface="Noto Sans TC"/>
              <a:buNone/>
            </a:pPr>
            <a:r>
              <a:rPr b="0" i="0" lang="en-US" sz="1400" u="none" cap="none" strike="noStrike">
                <a:solidFill>
                  <a:srgbClr val="E0D6DE"/>
                </a:solidFill>
                <a:latin typeface="Noto Sans TC"/>
                <a:ea typeface="Noto Sans TC"/>
                <a:cs typeface="Noto Sans TC"/>
                <a:sym typeface="Noto Sans TC"/>
              </a:rPr>
              <a:t>El bootloader, como GRUB o systemd-boot, se encarga de cargar el kernel de Linux y los módulos necesarios para el arranque.</a:t>
            </a:r>
            <a:endParaRPr b="0" i="0" sz="1400" u="none" cap="none" strike="noStrike"/>
          </a:p>
        </p:txBody>
      </p:sp>
      <p:pic>
        <p:nvPicPr>
          <p:cNvPr descr="preencoded.png" id="173" name="Google Shape;173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2460" y="4814888"/>
            <a:ext cx="903446" cy="1445538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7"/>
          <p:cNvSpPr/>
          <p:nvPr/>
        </p:nvSpPr>
        <p:spPr>
          <a:xfrm>
            <a:off x="1806892" y="4995505"/>
            <a:ext cx="2882741" cy="2822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750"/>
              <a:buFont typeface="Sora Medium"/>
              <a:buNone/>
            </a:pPr>
            <a:r>
              <a:rPr b="0" i="0" lang="en-US" sz="1750" u="none" cap="none" strike="noStrike">
                <a:solidFill>
                  <a:srgbClr val="E0D6DE"/>
                </a:solidFill>
                <a:latin typeface="Sora Medium"/>
                <a:ea typeface="Sora Medium"/>
                <a:cs typeface="Sora Medium"/>
                <a:sym typeface="Sora Medium"/>
              </a:rPr>
              <a:t>Inicialización del sistema</a:t>
            </a:r>
            <a:endParaRPr b="0" i="0" sz="1750" u="none" cap="none" strike="noStrike"/>
          </a:p>
        </p:txBody>
      </p:sp>
      <p:sp>
        <p:nvSpPr>
          <p:cNvPr id="175" name="Google Shape;175;p7"/>
          <p:cNvSpPr/>
          <p:nvPr/>
        </p:nvSpPr>
        <p:spPr>
          <a:xfrm>
            <a:off x="1806892" y="5386149"/>
            <a:ext cx="6704648" cy="578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714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400"/>
              <a:buFont typeface="Noto Sans TC"/>
              <a:buNone/>
            </a:pPr>
            <a:r>
              <a:rPr b="0" i="0" lang="en-US" sz="1400" u="none" cap="none" strike="noStrike">
                <a:solidFill>
                  <a:srgbClr val="E0D6DE"/>
                </a:solidFill>
                <a:latin typeface="Noto Sans TC"/>
                <a:ea typeface="Noto Sans TC"/>
                <a:cs typeface="Noto Sans TC"/>
                <a:sym typeface="Noto Sans TC"/>
              </a:rPr>
              <a:t>El sistema de inicialización, como systemd o init, se encarga de arrancar los servicios y procesos esenciales para el funcionamiento del sistema.</a:t>
            </a:r>
            <a:endParaRPr b="0" i="0" sz="1400" u="none" cap="none" strike="noStrike"/>
          </a:p>
        </p:txBody>
      </p:sp>
      <p:pic>
        <p:nvPicPr>
          <p:cNvPr descr="preencoded.png" id="176" name="Google Shape;176;p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2460" y="6260425"/>
            <a:ext cx="903446" cy="1445538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7"/>
          <p:cNvSpPr/>
          <p:nvPr/>
        </p:nvSpPr>
        <p:spPr>
          <a:xfrm>
            <a:off x="1806892" y="6441043"/>
            <a:ext cx="2950964" cy="2822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750"/>
              <a:buFont typeface="Sora Medium"/>
              <a:buNone/>
            </a:pPr>
            <a:r>
              <a:rPr b="0" i="0" lang="en-US" sz="1750" u="none" cap="none" strike="noStrike">
                <a:solidFill>
                  <a:srgbClr val="E0D6DE"/>
                </a:solidFill>
                <a:latin typeface="Sora Medium"/>
                <a:ea typeface="Sora Medium"/>
                <a:cs typeface="Sora Medium"/>
                <a:sym typeface="Sora Medium"/>
              </a:rPr>
              <a:t>Carga del entorno gráfico</a:t>
            </a:r>
            <a:endParaRPr b="0" i="0" sz="1750" u="none" cap="none" strike="noStrike"/>
          </a:p>
        </p:txBody>
      </p:sp>
      <p:sp>
        <p:nvSpPr>
          <p:cNvPr id="178" name="Google Shape;178;p7"/>
          <p:cNvSpPr/>
          <p:nvPr/>
        </p:nvSpPr>
        <p:spPr>
          <a:xfrm>
            <a:off x="1806892" y="6831687"/>
            <a:ext cx="6704648" cy="578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714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400"/>
              <a:buFont typeface="Noto Sans TC"/>
              <a:buNone/>
            </a:pPr>
            <a:r>
              <a:rPr b="0" i="0" lang="en-US" sz="1400" u="none" cap="none" strike="noStrike">
                <a:solidFill>
                  <a:srgbClr val="E0D6DE"/>
                </a:solidFill>
                <a:latin typeface="Noto Sans TC"/>
                <a:ea typeface="Noto Sans TC"/>
                <a:cs typeface="Noto Sans TC"/>
                <a:sym typeface="Noto Sans TC"/>
              </a:rPr>
              <a:t>Finalmente, se carga el entorno gráfico, como GNOME o KDE, que proporciona la interfaz de usuario para el usuario final.</a:t>
            </a:r>
            <a:endParaRPr b="0" i="0" sz="1400" u="none" cap="none" strike="noStrike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84" name="Google Shape;184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8"/>
          <p:cNvSpPr/>
          <p:nvPr/>
        </p:nvSpPr>
        <p:spPr>
          <a:xfrm>
            <a:off x="6161961" y="595432"/>
            <a:ext cx="7792879" cy="1206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333"/>
              </a:lnSpc>
              <a:spcBef>
                <a:spcPts val="0"/>
              </a:spcBef>
              <a:spcAft>
                <a:spcPts val="0"/>
              </a:spcAft>
              <a:buClr>
                <a:srgbClr val="97B8FF"/>
              </a:buClr>
              <a:buSzPts val="3750"/>
              <a:buFont typeface="Sora Medium"/>
              <a:buNone/>
            </a:pPr>
            <a:r>
              <a:rPr b="0" i="0" lang="en-US" sz="3750" u="none" cap="none" strike="noStrike">
                <a:solidFill>
                  <a:srgbClr val="97B8FF"/>
                </a:solidFill>
                <a:latin typeface="Sora Medium"/>
                <a:ea typeface="Sora Medium"/>
                <a:cs typeface="Sora Medium"/>
                <a:sym typeface="Sora Medium"/>
              </a:rPr>
              <a:t>Gestión de servicios en GNU/Linux</a:t>
            </a:r>
            <a:endParaRPr b="0" i="0" sz="3750" u="none" cap="none" strike="noStrike"/>
          </a:p>
        </p:txBody>
      </p:sp>
      <p:pic>
        <p:nvPicPr>
          <p:cNvPr descr="preencoded.png" id="186" name="Google Shape;186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61961" y="2091214"/>
            <a:ext cx="482441" cy="482441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8"/>
          <p:cNvSpPr/>
          <p:nvPr/>
        </p:nvSpPr>
        <p:spPr>
          <a:xfrm>
            <a:off x="6161961" y="2766655"/>
            <a:ext cx="2551748" cy="3014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27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850"/>
              <a:buFont typeface="Sora Medium"/>
              <a:buNone/>
            </a:pPr>
            <a:r>
              <a:rPr b="0" i="0" lang="en-US" sz="1850" u="none" cap="none" strike="noStrike">
                <a:solidFill>
                  <a:srgbClr val="E0D6DE"/>
                </a:solidFill>
                <a:latin typeface="Sora Medium"/>
                <a:ea typeface="Sora Medium"/>
                <a:cs typeface="Sora Medium"/>
                <a:sym typeface="Sora Medium"/>
              </a:rPr>
              <a:t>Gestión de Servicios</a:t>
            </a:r>
            <a:endParaRPr b="0" i="0" sz="1850" u="none" cap="none" strike="noStrike"/>
          </a:p>
        </p:txBody>
      </p:sp>
      <p:sp>
        <p:nvSpPr>
          <p:cNvPr id="188" name="Google Shape;188;p8"/>
          <p:cNvSpPr/>
          <p:nvPr/>
        </p:nvSpPr>
        <p:spPr>
          <a:xfrm>
            <a:off x="6161961" y="3183850"/>
            <a:ext cx="3751659" cy="12349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500"/>
              <a:buFont typeface="Noto Sans TC"/>
              <a:buNone/>
            </a:pPr>
            <a:r>
              <a:rPr b="0" i="0" lang="en-US" sz="1500" u="none" cap="none" strike="noStrike">
                <a:solidFill>
                  <a:srgbClr val="E0D6DE"/>
                </a:solidFill>
                <a:latin typeface="Noto Sans TC"/>
                <a:ea typeface="Noto Sans TC"/>
                <a:cs typeface="Noto Sans TC"/>
                <a:sym typeface="Noto Sans TC"/>
              </a:rPr>
              <a:t>Los servicios en Linux, como Apache, MySQL y SSH, se inician, detienen y reinician mediante herramientas como systemctl y service.</a:t>
            </a:r>
            <a:endParaRPr b="0" i="0" sz="1500" u="none" cap="none" strike="noStrike"/>
          </a:p>
        </p:txBody>
      </p:sp>
      <p:pic>
        <p:nvPicPr>
          <p:cNvPr descr="preencoded.png" id="189" name="Google Shape;189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203061" y="2091214"/>
            <a:ext cx="482441" cy="482441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8"/>
          <p:cNvSpPr/>
          <p:nvPr/>
        </p:nvSpPr>
        <p:spPr>
          <a:xfrm>
            <a:off x="10203061" y="2766655"/>
            <a:ext cx="3349704" cy="3014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27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850"/>
              <a:buFont typeface="Sora Medium"/>
              <a:buNone/>
            </a:pPr>
            <a:r>
              <a:rPr b="0" i="0" lang="en-US" sz="1850" u="none" cap="none" strike="noStrike">
                <a:solidFill>
                  <a:srgbClr val="E0D6DE"/>
                </a:solidFill>
                <a:latin typeface="Sora Medium"/>
                <a:ea typeface="Sora Medium"/>
                <a:cs typeface="Sora Medium"/>
                <a:sym typeface="Sora Medium"/>
              </a:rPr>
              <a:t>Configuración de Servicios</a:t>
            </a:r>
            <a:endParaRPr b="0" i="0" sz="1850" u="none" cap="none" strike="noStrike"/>
          </a:p>
        </p:txBody>
      </p:sp>
      <p:sp>
        <p:nvSpPr>
          <p:cNvPr id="191" name="Google Shape;191;p8"/>
          <p:cNvSpPr/>
          <p:nvPr/>
        </p:nvSpPr>
        <p:spPr>
          <a:xfrm>
            <a:off x="10203061" y="3183850"/>
            <a:ext cx="3751778" cy="15436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500"/>
              <a:buFont typeface="Noto Sans TC"/>
              <a:buNone/>
            </a:pPr>
            <a:r>
              <a:rPr b="0" i="0" lang="en-US" sz="1500" u="none" cap="none" strike="noStrike">
                <a:solidFill>
                  <a:srgbClr val="E0D6DE"/>
                </a:solidFill>
                <a:latin typeface="Noto Sans TC"/>
                <a:ea typeface="Noto Sans TC"/>
                <a:cs typeface="Noto Sans TC"/>
                <a:sym typeface="Noto Sans TC"/>
              </a:rPr>
              <a:t>Los archivos de configuración de los servicios, como /etc/apache2/apache2.conf, permiten personalizar el comportamiento y las opciones de cada servicio.</a:t>
            </a:r>
            <a:endParaRPr b="0" i="0" sz="1500" u="none" cap="none" strike="noStrike"/>
          </a:p>
        </p:txBody>
      </p:sp>
      <p:pic>
        <p:nvPicPr>
          <p:cNvPr descr="preencoded.png" id="192" name="Google Shape;192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161961" y="5306497"/>
            <a:ext cx="482441" cy="482441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8"/>
          <p:cNvSpPr/>
          <p:nvPr/>
        </p:nvSpPr>
        <p:spPr>
          <a:xfrm>
            <a:off x="6161961" y="5981938"/>
            <a:ext cx="2871073" cy="3014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27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850"/>
              <a:buFont typeface="Sora Medium"/>
              <a:buNone/>
            </a:pPr>
            <a:r>
              <a:rPr b="0" i="0" lang="en-US" sz="1850" u="none" cap="none" strike="noStrike">
                <a:solidFill>
                  <a:srgbClr val="E0D6DE"/>
                </a:solidFill>
                <a:latin typeface="Sora Medium"/>
                <a:ea typeface="Sora Medium"/>
                <a:cs typeface="Sora Medium"/>
                <a:sym typeface="Sora Medium"/>
              </a:rPr>
              <a:t>Monitoreo de Servicios</a:t>
            </a:r>
            <a:endParaRPr b="0" i="0" sz="1850" u="none" cap="none" strike="noStrike"/>
          </a:p>
        </p:txBody>
      </p:sp>
      <p:sp>
        <p:nvSpPr>
          <p:cNvPr id="194" name="Google Shape;194;p8"/>
          <p:cNvSpPr/>
          <p:nvPr/>
        </p:nvSpPr>
        <p:spPr>
          <a:xfrm>
            <a:off x="6161961" y="6399133"/>
            <a:ext cx="3751659" cy="12349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500"/>
              <a:buFont typeface="Noto Sans TC"/>
              <a:buNone/>
            </a:pPr>
            <a:r>
              <a:rPr b="0" i="0" lang="en-US" sz="1500" u="none" cap="none" strike="noStrike">
                <a:solidFill>
                  <a:srgbClr val="E0D6DE"/>
                </a:solidFill>
                <a:latin typeface="Noto Sans TC"/>
                <a:ea typeface="Noto Sans TC"/>
                <a:cs typeface="Noto Sans TC"/>
                <a:sym typeface="Noto Sans TC"/>
              </a:rPr>
              <a:t>Herramientas como top, htop y journalctl ayudan a monitorear el estado, el consumo de recursos y los registros de los servicios en ejecución.</a:t>
            </a:r>
            <a:endParaRPr b="0" i="0" sz="1500" u="none" cap="none" strike="noStrike"/>
          </a:p>
        </p:txBody>
      </p:sp>
      <p:pic>
        <p:nvPicPr>
          <p:cNvPr descr="preencoded.png" id="195" name="Google Shape;195;p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203061" y="5306497"/>
            <a:ext cx="482441" cy="482441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8"/>
          <p:cNvSpPr/>
          <p:nvPr/>
        </p:nvSpPr>
        <p:spPr>
          <a:xfrm>
            <a:off x="10203061" y="5981938"/>
            <a:ext cx="2412683" cy="3014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27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850"/>
              <a:buFont typeface="Sora Medium"/>
              <a:buNone/>
            </a:pPr>
            <a:r>
              <a:rPr b="0" i="0" lang="en-US" sz="1850" u="none" cap="none" strike="noStrike">
                <a:solidFill>
                  <a:srgbClr val="E0D6DE"/>
                </a:solidFill>
                <a:latin typeface="Sora Medium"/>
                <a:ea typeface="Sora Medium"/>
                <a:cs typeface="Sora Medium"/>
                <a:sym typeface="Sora Medium"/>
              </a:rPr>
              <a:t>Automatización</a:t>
            </a:r>
            <a:endParaRPr b="0" i="0" sz="1850" u="none" cap="none" strike="noStrike"/>
          </a:p>
        </p:txBody>
      </p:sp>
      <p:sp>
        <p:nvSpPr>
          <p:cNvPr id="197" name="Google Shape;197;p8"/>
          <p:cNvSpPr/>
          <p:nvPr/>
        </p:nvSpPr>
        <p:spPr>
          <a:xfrm>
            <a:off x="10203061" y="6399133"/>
            <a:ext cx="3751778" cy="12349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500"/>
              <a:buFont typeface="Noto Sans TC"/>
              <a:buNone/>
            </a:pPr>
            <a:r>
              <a:rPr b="0" i="0" lang="en-US" sz="1500" u="none" cap="none" strike="noStrike">
                <a:solidFill>
                  <a:srgbClr val="E0D6DE"/>
                </a:solidFill>
                <a:latin typeface="Noto Sans TC"/>
                <a:ea typeface="Noto Sans TC"/>
                <a:cs typeface="Noto Sans TC"/>
                <a:sym typeface="Noto Sans TC"/>
              </a:rPr>
              <a:t>La automatización de tareas, como el inicio de servicios en el arranque, se realiza mediante scripts de shell y unidades systemd.</a:t>
            </a:r>
            <a:endParaRPr b="0" i="0" sz="1500" u="none" cap="none" strike="noStrike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03" name="Google Shape;203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9"/>
          <p:cNvSpPr/>
          <p:nvPr/>
        </p:nvSpPr>
        <p:spPr>
          <a:xfrm>
            <a:off x="6147911" y="804148"/>
            <a:ext cx="7820978" cy="11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675"/>
              </a:lnSpc>
              <a:spcBef>
                <a:spcPts val="0"/>
              </a:spcBef>
              <a:spcAft>
                <a:spcPts val="0"/>
              </a:spcAft>
              <a:buClr>
                <a:srgbClr val="97B8FF"/>
              </a:buClr>
              <a:buSzPts val="3700"/>
              <a:buFont typeface="Sora Medium"/>
              <a:buNone/>
            </a:pPr>
            <a:r>
              <a:rPr b="0" i="0" lang="en-US" sz="3700" u="none" cap="none" strike="noStrike">
                <a:solidFill>
                  <a:srgbClr val="97B8FF"/>
                </a:solidFill>
                <a:latin typeface="Sora Medium"/>
                <a:ea typeface="Sora Medium"/>
                <a:cs typeface="Sora Medium"/>
                <a:sym typeface="Sora Medium"/>
              </a:rPr>
              <a:t>Herramientas de administración y monitoreo</a:t>
            </a:r>
            <a:endParaRPr b="0" i="0" sz="3700" u="none" cap="none" strike="noStrike"/>
          </a:p>
        </p:txBody>
      </p:sp>
      <p:sp>
        <p:nvSpPr>
          <p:cNvPr id="205" name="Google Shape;205;p9"/>
          <p:cNvSpPr/>
          <p:nvPr/>
        </p:nvSpPr>
        <p:spPr>
          <a:xfrm>
            <a:off x="6147911" y="2268974"/>
            <a:ext cx="7820978" cy="5156359"/>
          </a:xfrm>
          <a:prstGeom prst="roundRect">
            <a:avLst>
              <a:gd fmla="val 550" name="adj"/>
            </a:avLst>
          </a:prstGeom>
          <a:noFill/>
          <a:ln cap="flat" cmpd="sng" w="9525">
            <a:solidFill>
              <a:srgbClr val="FFFFFF">
                <a:alpha val="2392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9"/>
          <p:cNvSpPr/>
          <p:nvPr/>
        </p:nvSpPr>
        <p:spPr>
          <a:xfrm>
            <a:off x="6155531" y="2276594"/>
            <a:ext cx="7805738" cy="544354"/>
          </a:xfrm>
          <a:prstGeom prst="rect">
            <a:avLst/>
          </a:prstGeom>
          <a:solidFill>
            <a:srgbClr val="FFFFFF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9"/>
          <p:cNvSpPr/>
          <p:nvPr/>
        </p:nvSpPr>
        <p:spPr>
          <a:xfrm>
            <a:off x="6344483" y="2397562"/>
            <a:ext cx="3521154" cy="3024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068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450"/>
              <a:buFont typeface="Noto Sans TC"/>
              <a:buNone/>
            </a:pPr>
            <a:r>
              <a:rPr b="0" i="0" lang="en-US" sz="1450" u="none" cap="none" strike="noStrike">
                <a:solidFill>
                  <a:srgbClr val="E0D6DE"/>
                </a:solidFill>
                <a:latin typeface="Noto Sans TC"/>
                <a:ea typeface="Noto Sans TC"/>
                <a:cs typeface="Noto Sans TC"/>
                <a:sym typeface="Noto Sans TC"/>
              </a:rPr>
              <a:t>Herramienta</a:t>
            </a:r>
            <a:endParaRPr b="0" i="0" sz="1450" u="none" cap="none" strike="noStrike"/>
          </a:p>
        </p:txBody>
      </p:sp>
      <p:sp>
        <p:nvSpPr>
          <p:cNvPr id="208" name="Google Shape;208;p9"/>
          <p:cNvSpPr/>
          <p:nvPr/>
        </p:nvSpPr>
        <p:spPr>
          <a:xfrm>
            <a:off x="10251162" y="2397562"/>
            <a:ext cx="3521154" cy="3024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068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450"/>
              <a:buFont typeface="Noto Sans TC"/>
              <a:buNone/>
            </a:pPr>
            <a:r>
              <a:rPr b="0" i="0" lang="en-US" sz="1450" u="none" cap="none" strike="noStrike">
                <a:solidFill>
                  <a:srgbClr val="E0D6DE"/>
                </a:solidFill>
                <a:latin typeface="Noto Sans TC"/>
                <a:ea typeface="Noto Sans TC"/>
                <a:cs typeface="Noto Sans TC"/>
                <a:sym typeface="Noto Sans TC"/>
              </a:rPr>
              <a:t>Descripción</a:t>
            </a:r>
            <a:endParaRPr b="0" i="0" sz="1450" u="none" cap="none" strike="noStrike"/>
          </a:p>
        </p:txBody>
      </p:sp>
      <p:sp>
        <p:nvSpPr>
          <p:cNvPr id="209" name="Google Shape;209;p9"/>
          <p:cNvSpPr/>
          <p:nvPr/>
        </p:nvSpPr>
        <p:spPr>
          <a:xfrm>
            <a:off x="6155531" y="2820948"/>
            <a:ext cx="7805738" cy="1149191"/>
          </a:xfrm>
          <a:prstGeom prst="rect">
            <a:avLst/>
          </a:pr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9"/>
          <p:cNvSpPr/>
          <p:nvPr/>
        </p:nvSpPr>
        <p:spPr>
          <a:xfrm>
            <a:off x="6344483" y="2941915"/>
            <a:ext cx="3521154" cy="3024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068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450"/>
              <a:buFont typeface="Noto Sans TC"/>
              <a:buNone/>
            </a:pPr>
            <a:r>
              <a:rPr b="0" i="0" lang="en-US" sz="1450" u="none" cap="none" strike="noStrike">
                <a:solidFill>
                  <a:srgbClr val="E0D6DE"/>
                </a:solidFill>
                <a:latin typeface="Noto Sans TC"/>
                <a:ea typeface="Noto Sans TC"/>
                <a:cs typeface="Noto Sans TC"/>
                <a:sym typeface="Noto Sans TC"/>
              </a:rPr>
              <a:t>Bash</a:t>
            </a:r>
            <a:endParaRPr b="0" i="0" sz="1450" u="none" cap="none" strike="noStrike"/>
          </a:p>
        </p:txBody>
      </p:sp>
      <p:sp>
        <p:nvSpPr>
          <p:cNvPr id="211" name="Google Shape;211;p9"/>
          <p:cNvSpPr/>
          <p:nvPr/>
        </p:nvSpPr>
        <p:spPr>
          <a:xfrm>
            <a:off x="10251162" y="2941915"/>
            <a:ext cx="3521154" cy="9072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068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450"/>
              <a:buFont typeface="Noto Sans TC"/>
              <a:buNone/>
            </a:pPr>
            <a:r>
              <a:rPr b="0" i="0" lang="en-US" sz="1450" u="none" cap="none" strike="noStrike">
                <a:solidFill>
                  <a:srgbClr val="E0D6DE"/>
                </a:solidFill>
                <a:latin typeface="Noto Sans TC"/>
                <a:ea typeface="Noto Sans TC"/>
                <a:cs typeface="Noto Sans TC"/>
                <a:sym typeface="Noto Sans TC"/>
              </a:rPr>
              <a:t>La shell de línea de comandos de Linux, utilizada para scripting y automatización de tareas.</a:t>
            </a:r>
            <a:endParaRPr b="0" i="0" sz="1450" u="none" cap="none" strike="noStrike"/>
          </a:p>
        </p:txBody>
      </p:sp>
      <p:sp>
        <p:nvSpPr>
          <p:cNvPr id="212" name="Google Shape;212;p9"/>
          <p:cNvSpPr/>
          <p:nvPr/>
        </p:nvSpPr>
        <p:spPr>
          <a:xfrm>
            <a:off x="6155531" y="3970139"/>
            <a:ext cx="7805738" cy="1149191"/>
          </a:xfrm>
          <a:prstGeom prst="rect">
            <a:avLst/>
          </a:prstGeom>
          <a:solidFill>
            <a:srgbClr val="FFFFFF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9"/>
          <p:cNvSpPr/>
          <p:nvPr/>
        </p:nvSpPr>
        <p:spPr>
          <a:xfrm>
            <a:off x="6344483" y="4091107"/>
            <a:ext cx="3521154" cy="3024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068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450"/>
              <a:buFont typeface="Noto Sans TC"/>
              <a:buNone/>
            </a:pPr>
            <a:r>
              <a:rPr b="0" i="0" lang="en-US" sz="1450" u="none" cap="none" strike="noStrike">
                <a:solidFill>
                  <a:srgbClr val="E0D6DE"/>
                </a:solidFill>
                <a:latin typeface="Noto Sans TC"/>
                <a:ea typeface="Noto Sans TC"/>
                <a:cs typeface="Noto Sans TC"/>
                <a:sym typeface="Noto Sans TC"/>
              </a:rPr>
              <a:t>Cockpit</a:t>
            </a:r>
            <a:endParaRPr b="0" i="0" sz="1450" u="none" cap="none" strike="noStrike"/>
          </a:p>
        </p:txBody>
      </p:sp>
      <p:sp>
        <p:nvSpPr>
          <p:cNvPr id="214" name="Google Shape;214;p9"/>
          <p:cNvSpPr/>
          <p:nvPr/>
        </p:nvSpPr>
        <p:spPr>
          <a:xfrm>
            <a:off x="10251162" y="4091107"/>
            <a:ext cx="3521154" cy="9072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068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450"/>
              <a:buFont typeface="Noto Sans TC"/>
              <a:buNone/>
            </a:pPr>
            <a:r>
              <a:rPr b="0" i="0" lang="en-US" sz="1450" u="none" cap="none" strike="noStrike">
                <a:solidFill>
                  <a:srgbClr val="E0D6DE"/>
                </a:solidFill>
                <a:latin typeface="Noto Sans TC"/>
                <a:ea typeface="Noto Sans TC"/>
                <a:cs typeface="Noto Sans TC"/>
                <a:sym typeface="Noto Sans TC"/>
              </a:rPr>
              <a:t>Una interfaz web que proporciona una vista general del sistema y herramientas de administración.</a:t>
            </a:r>
            <a:endParaRPr b="0" i="0" sz="1450" u="none" cap="none" strike="noStrike"/>
          </a:p>
        </p:txBody>
      </p:sp>
      <p:sp>
        <p:nvSpPr>
          <p:cNvPr id="215" name="Google Shape;215;p9"/>
          <p:cNvSpPr/>
          <p:nvPr/>
        </p:nvSpPr>
        <p:spPr>
          <a:xfrm>
            <a:off x="6155531" y="5119330"/>
            <a:ext cx="7805738" cy="1149191"/>
          </a:xfrm>
          <a:prstGeom prst="rect">
            <a:avLst/>
          </a:pr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9"/>
          <p:cNvSpPr/>
          <p:nvPr/>
        </p:nvSpPr>
        <p:spPr>
          <a:xfrm>
            <a:off x="6344483" y="5240298"/>
            <a:ext cx="3521154" cy="3024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068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450"/>
              <a:buFont typeface="Noto Sans TC"/>
              <a:buNone/>
            </a:pPr>
            <a:r>
              <a:rPr b="0" i="0" lang="en-US" sz="1450" u="none" cap="none" strike="noStrike">
                <a:solidFill>
                  <a:srgbClr val="E0D6DE"/>
                </a:solidFill>
                <a:latin typeface="Noto Sans TC"/>
                <a:ea typeface="Noto Sans TC"/>
                <a:cs typeface="Noto Sans TC"/>
                <a:sym typeface="Noto Sans TC"/>
              </a:rPr>
              <a:t>Nagios</a:t>
            </a:r>
            <a:endParaRPr b="0" i="0" sz="1450" u="none" cap="none" strike="noStrike"/>
          </a:p>
        </p:txBody>
      </p:sp>
      <p:sp>
        <p:nvSpPr>
          <p:cNvPr id="217" name="Google Shape;217;p9"/>
          <p:cNvSpPr/>
          <p:nvPr/>
        </p:nvSpPr>
        <p:spPr>
          <a:xfrm>
            <a:off x="10251162" y="5240298"/>
            <a:ext cx="3521154" cy="9072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068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450"/>
              <a:buFont typeface="Noto Sans TC"/>
              <a:buNone/>
            </a:pPr>
            <a:r>
              <a:rPr b="0" i="0" lang="en-US" sz="1450" u="none" cap="none" strike="noStrike">
                <a:solidFill>
                  <a:srgbClr val="E0D6DE"/>
                </a:solidFill>
                <a:latin typeface="Noto Sans TC"/>
                <a:ea typeface="Noto Sans TC"/>
                <a:cs typeface="Noto Sans TC"/>
                <a:sym typeface="Noto Sans TC"/>
              </a:rPr>
              <a:t>Un sistema de monitoreo de red y servicios que alerta sobre problemas y fallas.</a:t>
            </a:r>
            <a:endParaRPr b="0" i="0" sz="1450" u="none" cap="none" strike="noStrike"/>
          </a:p>
        </p:txBody>
      </p:sp>
      <p:sp>
        <p:nvSpPr>
          <p:cNvPr id="218" name="Google Shape;218;p9"/>
          <p:cNvSpPr/>
          <p:nvPr/>
        </p:nvSpPr>
        <p:spPr>
          <a:xfrm>
            <a:off x="6155531" y="6268522"/>
            <a:ext cx="7805738" cy="1149191"/>
          </a:xfrm>
          <a:prstGeom prst="rect">
            <a:avLst/>
          </a:prstGeom>
          <a:solidFill>
            <a:srgbClr val="FFFFFF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9"/>
          <p:cNvSpPr/>
          <p:nvPr/>
        </p:nvSpPr>
        <p:spPr>
          <a:xfrm>
            <a:off x="6344483" y="6389489"/>
            <a:ext cx="3521154" cy="3024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068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450"/>
              <a:buFont typeface="Noto Sans TC"/>
              <a:buNone/>
            </a:pPr>
            <a:r>
              <a:rPr b="0" i="0" lang="en-US" sz="1450" u="none" cap="none" strike="noStrike">
                <a:solidFill>
                  <a:srgbClr val="E0D6DE"/>
                </a:solidFill>
                <a:latin typeface="Noto Sans TC"/>
                <a:ea typeface="Noto Sans TC"/>
                <a:cs typeface="Noto Sans TC"/>
                <a:sym typeface="Noto Sans TC"/>
              </a:rPr>
              <a:t>Grafana</a:t>
            </a:r>
            <a:endParaRPr b="0" i="0" sz="1450" u="none" cap="none" strike="noStrike"/>
          </a:p>
        </p:txBody>
      </p:sp>
      <p:sp>
        <p:nvSpPr>
          <p:cNvPr id="220" name="Google Shape;220;p9"/>
          <p:cNvSpPr/>
          <p:nvPr/>
        </p:nvSpPr>
        <p:spPr>
          <a:xfrm>
            <a:off x="10251162" y="6389489"/>
            <a:ext cx="3521154" cy="9072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068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450"/>
              <a:buFont typeface="Noto Sans TC"/>
              <a:buNone/>
            </a:pPr>
            <a:r>
              <a:rPr b="0" i="0" lang="en-US" sz="1450" u="none" cap="none" strike="noStrike">
                <a:solidFill>
                  <a:srgbClr val="E0D6DE"/>
                </a:solidFill>
                <a:latin typeface="Noto Sans TC"/>
                <a:ea typeface="Noto Sans TC"/>
                <a:cs typeface="Noto Sans TC"/>
                <a:sym typeface="Noto Sans TC"/>
              </a:rPr>
              <a:t>Una herramienta de visualización de datos que permite crear dashboards personalizados.</a:t>
            </a:r>
            <a:endParaRPr b="0" i="0" sz="1450" u="none" cap="none" strike="noStrike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26" name="Google Shape;226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10"/>
          <p:cNvSpPr/>
          <p:nvPr/>
        </p:nvSpPr>
        <p:spPr>
          <a:xfrm>
            <a:off x="665440" y="687943"/>
            <a:ext cx="7813119" cy="11882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675"/>
              </a:lnSpc>
              <a:spcBef>
                <a:spcPts val="0"/>
              </a:spcBef>
              <a:spcAft>
                <a:spcPts val="0"/>
              </a:spcAft>
              <a:buClr>
                <a:srgbClr val="97B8FF"/>
              </a:buClr>
              <a:buSzPts val="3700"/>
              <a:buFont typeface="Sora Medium"/>
              <a:buNone/>
            </a:pPr>
            <a:r>
              <a:rPr b="0" i="0" lang="en-US" sz="3700" u="none" cap="none" strike="noStrike">
                <a:solidFill>
                  <a:srgbClr val="97B8FF"/>
                </a:solidFill>
                <a:latin typeface="Sora Medium"/>
                <a:ea typeface="Sora Medium"/>
                <a:cs typeface="Sora Medium"/>
                <a:sym typeface="Sora Medium"/>
              </a:rPr>
              <a:t>Casos de uso y aplicaciones prácticas</a:t>
            </a:r>
            <a:endParaRPr b="0" i="0" sz="3700" u="none" cap="none" strike="noStrike"/>
          </a:p>
        </p:txBody>
      </p:sp>
      <p:sp>
        <p:nvSpPr>
          <p:cNvPr id="228" name="Google Shape;228;p10"/>
          <p:cNvSpPr/>
          <p:nvPr/>
        </p:nvSpPr>
        <p:spPr>
          <a:xfrm>
            <a:off x="665440" y="2375178"/>
            <a:ext cx="427792" cy="427792"/>
          </a:xfrm>
          <a:prstGeom prst="roundRect">
            <a:avLst>
              <a:gd fmla="val 6667" name="adj"/>
            </a:avLst>
          </a:prstGeom>
          <a:solidFill>
            <a:srgbClr val="2626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10"/>
          <p:cNvSpPr/>
          <p:nvPr/>
        </p:nvSpPr>
        <p:spPr>
          <a:xfrm>
            <a:off x="819031" y="2446496"/>
            <a:ext cx="120610" cy="2851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2200"/>
              <a:buFont typeface="Sora Medium"/>
              <a:buNone/>
            </a:pPr>
            <a:r>
              <a:rPr b="0" i="0" lang="en-US" sz="2200" u="none" cap="none" strike="noStrike">
                <a:solidFill>
                  <a:srgbClr val="E0D6DE"/>
                </a:solidFill>
                <a:latin typeface="Sora Medium"/>
                <a:ea typeface="Sora Medium"/>
                <a:cs typeface="Sora Medium"/>
                <a:sym typeface="Sora Medium"/>
              </a:rPr>
              <a:t>1</a:t>
            </a:r>
            <a:endParaRPr b="0" i="0" sz="2200" u="none" cap="none" strike="noStrike"/>
          </a:p>
        </p:txBody>
      </p:sp>
      <p:sp>
        <p:nvSpPr>
          <p:cNvPr id="230" name="Google Shape;230;p10"/>
          <p:cNvSpPr/>
          <p:nvPr/>
        </p:nvSpPr>
        <p:spPr>
          <a:xfrm>
            <a:off x="1283256" y="2375178"/>
            <a:ext cx="3193733" cy="5941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24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850"/>
              <a:buFont typeface="Sora Medium"/>
              <a:buNone/>
            </a:pPr>
            <a:r>
              <a:rPr b="0" i="0" lang="en-US" sz="1850" u="none" cap="none" strike="noStrike">
                <a:solidFill>
                  <a:srgbClr val="E0D6DE"/>
                </a:solidFill>
                <a:latin typeface="Sora Medium"/>
                <a:ea typeface="Sora Medium"/>
                <a:cs typeface="Sora Medium"/>
                <a:sym typeface="Sora Medium"/>
              </a:rPr>
              <a:t>Servidores web y de aplicaciones</a:t>
            </a:r>
            <a:endParaRPr b="0" i="0" sz="1850" u="none" cap="none" strike="noStrike"/>
          </a:p>
        </p:txBody>
      </p:sp>
      <p:sp>
        <p:nvSpPr>
          <p:cNvPr id="231" name="Google Shape;231;p10"/>
          <p:cNvSpPr/>
          <p:nvPr/>
        </p:nvSpPr>
        <p:spPr>
          <a:xfrm>
            <a:off x="1283256" y="3083362"/>
            <a:ext cx="3193733" cy="15210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068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450"/>
              <a:buFont typeface="Noto Sans TC"/>
              <a:buNone/>
            </a:pPr>
            <a:r>
              <a:rPr b="0" i="0" lang="en-US" sz="1450" u="none" cap="none" strike="noStrike">
                <a:solidFill>
                  <a:srgbClr val="E0D6DE"/>
                </a:solidFill>
                <a:latin typeface="Noto Sans TC"/>
                <a:ea typeface="Noto Sans TC"/>
                <a:cs typeface="Noto Sans TC"/>
                <a:sym typeface="Noto Sans TC"/>
              </a:rPr>
              <a:t>Linux es ampliamente utilizado en servidores web, de aplicaciones y de infraestructura, gracias a su estabilidad, seguridad y alto rendimiento.</a:t>
            </a:r>
            <a:endParaRPr b="0" i="0" sz="1450" u="none" cap="none" strike="noStrike"/>
          </a:p>
        </p:txBody>
      </p:sp>
      <p:sp>
        <p:nvSpPr>
          <p:cNvPr id="232" name="Google Shape;232;p10"/>
          <p:cNvSpPr/>
          <p:nvPr/>
        </p:nvSpPr>
        <p:spPr>
          <a:xfrm>
            <a:off x="4667012" y="2375178"/>
            <a:ext cx="427792" cy="427792"/>
          </a:xfrm>
          <a:prstGeom prst="roundRect">
            <a:avLst>
              <a:gd fmla="val 6667" name="adj"/>
            </a:avLst>
          </a:prstGeom>
          <a:solidFill>
            <a:srgbClr val="2626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0"/>
          <p:cNvSpPr/>
          <p:nvPr/>
        </p:nvSpPr>
        <p:spPr>
          <a:xfrm>
            <a:off x="4792028" y="2446496"/>
            <a:ext cx="177641" cy="2851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2200"/>
              <a:buFont typeface="Sora Medium"/>
              <a:buNone/>
            </a:pPr>
            <a:r>
              <a:rPr b="0" i="0" lang="en-US" sz="2200" u="none" cap="none" strike="noStrike">
                <a:solidFill>
                  <a:srgbClr val="E0D6DE"/>
                </a:solidFill>
                <a:latin typeface="Sora Medium"/>
                <a:ea typeface="Sora Medium"/>
                <a:cs typeface="Sora Medium"/>
                <a:sym typeface="Sora Medium"/>
              </a:rPr>
              <a:t>2</a:t>
            </a:r>
            <a:endParaRPr b="0" i="0" sz="2200" u="none" cap="none" strike="noStrike"/>
          </a:p>
        </p:txBody>
      </p:sp>
      <p:sp>
        <p:nvSpPr>
          <p:cNvPr id="234" name="Google Shape;234;p10"/>
          <p:cNvSpPr/>
          <p:nvPr/>
        </p:nvSpPr>
        <p:spPr>
          <a:xfrm>
            <a:off x="5284827" y="2375178"/>
            <a:ext cx="3193733" cy="8911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24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850"/>
              <a:buFont typeface="Sora Medium"/>
              <a:buNone/>
            </a:pPr>
            <a:r>
              <a:rPr b="0" i="0" lang="en-US" sz="1850" u="none" cap="none" strike="noStrike">
                <a:solidFill>
                  <a:srgbClr val="E0D6DE"/>
                </a:solidFill>
                <a:latin typeface="Sora Medium"/>
                <a:ea typeface="Sora Medium"/>
                <a:cs typeface="Sora Medium"/>
                <a:sym typeface="Sora Medium"/>
              </a:rPr>
              <a:t>Supercomputadoras y Computación de Alto Rendimiento</a:t>
            </a:r>
            <a:endParaRPr b="0" i="0" sz="1850" u="none" cap="none" strike="noStrike"/>
          </a:p>
        </p:txBody>
      </p:sp>
      <p:sp>
        <p:nvSpPr>
          <p:cNvPr id="235" name="Google Shape;235;p10"/>
          <p:cNvSpPr/>
          <p:nvPr/>
        </p:nvSpPr>
        <p:spPr>
          <a:xfrm>
            <a:off x="5284827" y="3380423"/>
            <a:ext cx="3193733" cy="15210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068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450"/>
              <a:buFont typeface="Noto Sans TC"/>
              <a:buNone/>
            </a:pPr>
            <a:r>
              <a:rPr b="0" i="0" lang="en-US" sz="1450" u="none" cap="none" strike="noStrike">
                <a:solidFill>
                  <a:srgbClr val="E0D6DE"/>
                </a:solidFill>
                <a:latin typeface="Noto Sans TC"/>
                <a:ea typeface="Noto Sans TC"/>
                <a:cs typeface="Noto Sans TC"/>
                <a:sym typeface="Noto Sans TC"/>
              </a:rPr>
              <a:t>Debido a su escalabilidad y capacidad de aprovechar al máximo el hardware, Linux es la elección predominante en el mundo de los supercomputadores.</a:t>
            </a:r>
            <a:endParaRPr b="0" i="0" sz="1450" u="none" cap="none" strike="noStrike"/>
          </a:p>
        </p:txBody>
      </p:sp>
      <p:sp>
        <p:nvSpPr>
          <p:cNvPr id="236" name="Google Shape;236;p10"/>
          <p:cNvSpPr/>
          <p:nvPr/>
        </p:nvSpPr>
        <p:spPr>
          <a:xfrm>
            <a:off x="665440" y="5305306"/>
            <a:ext cx="427792" cy="427792"/>
          </a:xfrm>
          <a:prstGeom prst="roundRect">
            <a:avLst>
              <a:gd fmla="val 6667" name="adj"/>
            </a:avLst>
          </a:prstGeom>
          <a:solidFill>
            <a:srgbClr val="2626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10"/>
          <p:cNvSpPr/>
          <p:nvPr/>
        </p:nvSpPr>
        <p:spPr>
          <a:xfrm>
            <a:off x="790932" y="5376624"/>
            <a:ext cx="176808" cy="2851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2200"/>
              <a:buFont typeface="Sora Medium"/>
              <a:buNone/>
            </a:pPr>
            <a:r>
              <a:rPr b="0" i="0" lang="en-US" sz="2200" u="none" cap="none" strike="noStrike">
                <a:solidFill>
                  <a:srgbClr val="E0D6DE"/>
                </a:solidFill>
                <a:latin typeface="Sora Medium"/>
                <a:ea typeface="Sora Medium"/>
                <a:cs typeface="Sora Medium"/>
                <a:sym typeface="Sora Medium"/>
              </a:rPr>
              <a:t>3</a:t>
            </a:r>
            <a:endParaRPr b="0" i="0" sz="2200" u="none" cap="none" strike="noStrike"/>
          </a:p>
        </p:txBody>
      </p:sp>
      <p:sp>
        <p:nvSpPr>
          <p:cNvPr id="238" name="Google Shape;238;p10"/>
          <p:cNvSpPr/>
          <p:nvPr/>
        </p:nvSpPr>
        <p:spPr>
          <a:xfrm>
            <a:off x="1283256" y="5305306"/>
            <a:ext cx="3193733" cy="5941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24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850"/>
              <a:buFont typeface="Sora Medium"/>
              <a:buNone/>
            </a:pPr>
            <a:r>
              <a:rPr b="0" i="0" lang="en-US" sz="1850" u="none" cap="none" strike="noStrike">
                <a:solidFill>
                  <a:srgbClr val="E0D6DE"/>
                </a:solidFill>
                <a:latin typeface="Sora Medium"/>
                <a:ea typeface="Sora Medium"/>
                <a:cs typeface="Sora Medium"/>
                <a:sym typeface="Sora Medium"/>
              </a:rPr>
              <a:t>Dispositivos IoT y Embebidos</a:t>
            </a:r>
            <a:endParaRPr b="0" i="0" sz="1850" u="none" cap="none" strike="noStrike"/>
          </a:p>
        </p:txBody>
      </p:sp>
      <p:sp>
        <p:nvSpPr>
          <p:cNvPr id="239" name="Google Shape;239;p10"/>
          <p:cNvSpPr/>
          <p:nvPr/>
        </p:nvSpPr>
        <p:spPr>
          <a:xfrm>
            <a:off x="1283256" y="6013490"/>
            <a:ext cx="3193733" cy="15210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068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450"/>
              <a:buFont typeface="Noto Sans TC"/>
              <a:buNone/>
            </a:pPr>
            <a:r>
              <a:rPr b="0" i="0" lang="en-US" sz="1450" u="none" cap="none" strike="noStrike">
                <a:solidFill>
                  <a:srgbClr val="E0D6DE"/>
                </a:solidFill>
                <a:latin typeface="Noto Sans TC"/>
                <a:ea typeface="Noto Sans TC"/>
                <a:cs typeface="Noto Sans TC"/>
                <a:sym typeface="Noto Sans TC"/>
              </a:rPr>
              <a:t>Distribuciones especializadas de Linux, como Raspberry Pi OS, se utilizan en una amplia gama de dispositivos IoT y sistemas embebidos.</a:t>
            </a:r>
            <a:endParaRPr b="0" i="0" sz="1450" u="none" cap="none" strike="noStrike"/>
          </a:p>
        </p:txBody>
      </p:sp>
      <p:sp>
        <p:nvSpPr>
          <p:cNvPr id="240" name="Google Shape;240;p10"/>
          <p:cNvSpPr/>
          <p:nvPr/>
        </p:nvSpPr>
        <p:spPr>
          <a:xfrm>
            <a:off x="4667012" y="5305306"/>
            <a:ext cx="427792" cy="427792"/>
          </a:xfrm>
          <a:prstGeom prst="roundRect">
            <a:avLst>
              <a:gd fmla="val 6667" name="adj"/>
            </a:avLst>
          </a:prstGeom>
          <a:solidFill>
            <a:srgbClr val="2626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10"/>
          <p:cNvSpPr/>
          <p:nvPr/>
        </p:nvSpPr>
        <p:spPr>
          <a:xfrm>
            <a:off x="4787979" y="5376624"/>
            <a:ext cx="185857" cy="2851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2200"/>
              <a:buFont typeface="Sora Medium"/>
              <a:buNone/>
            </a:pPr>
            <a:r>
              <a:rPr b="0" i="0" lang="en-US" sz="2200" u="none" cap="none" strike="noStrike">
                <a:solidFill>
                  <a:srgbClr val="E0D6DE"/>
                </a:solidFill>
                <a:latin typeface="Sora Medium"/>
                <a:ea typeface="Sora Medium"/>
                <a:cs typeface="Sora Medium"/>
                <a:sym typeface="Sora Medium"/>
              </a:rPr>
              <a:t>4</a:t>
            </a:r>
            <a:endParaRPr b="0" i="0" sz="2200" u="none" cap="none" strike="noStrike"/>
          </a:p>
        </p:txBody>
      </p:sp>
      <p:sp>
        <p:nvSpPr>
          <p:cNvPr id="242" name="Google Shape;242;p10"/>
          <p:cNvSpPr/>
          <p:nvPr/>
        </p:nvSpPr>
        <p:spPr>
          <a:xfrm>
            <a:off x="5284827" y="5305306"/>
            <a:ext cx="2669381" cy="2970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24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850"/>
              <a:buFont typeface="Sora Medium"/>
              <a:buNone/>
            </a:pPr>
            <a:r>
              <a:rPr b="0" i="0" lang="en-US" sz="1850" u="none" cap="none" strike="noStrike">
                <a:solidFill>
                  <a:srgbClr val="E0D6DE"/>
                </a:solidFill>
                <a:latin typeface="Sora Medium"/>
                <a:ea typeface="Sora Medium"/>
                <a:cs typeface="Sora Medium"/>
                <a:sym typeface="Sora Medium"/>
              </a:rPr>
              <a:t>Escritorios de Usuario</a:t>
            </a:r>
            <a:endParaRPr b="0" i="0" sz="1850" u="none" cap="none" strike="noStrike"/>
          </a:p>
        </p:txBody>
      </p:sp>
      <p:sp>
        <p:nvSpPr>
          <p:cNvPr id="243" name="Google Shape;243;p10"/>
          <p:cNvSpPr/>
          <p:nvPr/>
        </p:nvSpPr>
        <p:spPr>
          <a:xfrm>
            <a:off x="5284827" y="5716429"/>
            <a:ext cx="3193733" cy="18252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068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450"/>
              <a:buFont typeface="Noto Sans TC"/>
              <a:buNone/>
            </a:pPr>
            <a:r>
              <a:rPr b="0" i="0" lang="en-US" sz="1450" u="none" cap="none" strike="noStrike">
                <a:solidFill>
                  <a:srgbClr val="E0D6DE"/>
                </a:solidFill>
                <a:latin typeface="Noto Sans TC"/>
                <a:ea typeface="Noto Sans TC"/>
                <a:cs typeface="Noto Sans TC"/>
                <a:sym typeface="Noto Sans TC"/>
              </a:rPr>
              <a:t>Distribuciones como Ubuntu y Fedora ofrecen una experiencia de escritorio rica y confiable, convirtiéndose en opciones populares para usuarios domésticos y empresariales.</a:t>
            </a:r>
            <a:endParaRPr b="0" i="0" sz="1450" u="none" cap="none" strike="noStrike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2024-11-04T02:01:13Z</dcterms:created>
  <dc:creator>PptxGenJS</dc:creator>
</cp:coreProperties>
</file>