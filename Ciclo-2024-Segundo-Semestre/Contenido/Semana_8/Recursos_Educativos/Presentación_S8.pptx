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Inter"/>
      <p:regular r:id="rId23"/>
      <p:bold r:id="rId24"/>
      <p:italic r:id="rId25"/>
      <p:boldItalic r:id="rId26"/>
    </p:embeddedFont>
    <p:embeddedFont>
      <p:font typeface="Libre Baskerville"/>
      <p:regular r:id="rId27"/>
      <p:bold r:id="rId28"/>
      <p: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j/R45nsJKcJ14V9YA0j6xBESc6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LibreBaskerville-bold.fntdata"/><Relationship Id="rId27" Type="http://schemas.openxmlformats.org/officeDocument/2006/relationships/font" Target="fonts/LibreBaskervill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Baskervill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2"/>
          <p:cNvGrpSpPr/>
          <p:nvPr/>
        </p:nvGrpSpPr>
        <p:grpSpPr>
          <a:xfrm>
            <a:off x="-12700" y="3383459"/>
            <a:ext cx="18300704" cy="6903541"/>
            <a:chOff x="0" y="-57150"/>
            <a:chExt cx="4819938" cy="1818217"/>
          </a:xfrm>
        </p:grpSpPr>
        <p:sp>
          <p:nvSpPr>
            <p:cNvPr id="85" name="Google Shape;85;p2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86" name="Google Shape;86;p2"/>
            <p:cNvSpPr txBox="1"/>
            <p:nvPr/>
          </p:nvSpPr>
          <p:spPr>
            <a:xfrm>
              <a:off x="0" y="-57150"/>
              <a:ext cx="4819937" cy="1818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2"/>
          <p:cNvSpPr txBox="1"/>
          <p:nvPr/>
        </p:nvSpPr>
        <p:spPr>
          <a:xfrm>
            <a:off x="1549263" y="1114466"/>
            <a:ext cx="13844095" cy="15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Manejo e Implementación de Archivos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9907075" y="7583800"/>
            <a:ext cx="73521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5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Semana 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AGENDA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1893341" y="5408357"/>
            <a:ext cx="6770249" cy="1261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17" lvl="1" marL="777234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Dudas</a:t>
            </a:r>
            <a:endParaRPr/>
          </a:p>
          <a:p>
            <a:pPr indent="-388617" lvl="1" marL="777234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XXXX</a:t>
            </a:r>
            <a:endParaRPr/>
          </a:p>
        </p:txBody>
      </p:sp>
      <p:cxnSp>
        <p:nvCxnSpPr>
          <p:cNvPr id="95" name="Google Shape;95;p3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708799" y="1601150"/>
            <a:ext cx="13122600" cy="7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5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Evolución de los Sistemas de Almacenamiento en Red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/>
        </p:nvSpPr>
        <p:spPr>
          <a:xfrm>
            <a:off x="1708797" y="1261450"/>
            <a:ext cx="15387600" cy="6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27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 evolución de los sistemas de almacenamiento en red ha sido impulsada por la necesidad de gestionar grandes volúmenes de datos de manera eficiente y segura. A medida que las organizaciones han crecido, también lo ha hecho la complejidad de sus necesidades de almacenamiento.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/>
        </p:nvSpPr>
        <p:spPr>
          <a:xfrm>
            <a:off x="1893341" y="1373994"/>
            <a:ext cx="14501319" cy="2314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Almacenamiento Directo (DAS):</a:t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1893341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Historia: Originalmente, el almacenamiento se conectaba directamente a un servidor, lo que era suficiente para aplicaciones pequeñas o individuales.</a:t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9624410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Limitaciones: La falta de flexibilidad y la dificultad para compartir datos entre múltiples servidores llevaron a la búsqueda de soluciones más avanzadas.</a:t>
            </a:r>
            <a:endParaRPr/>
          </a:p>
        </p:txBody>
      </p:sp>
      <p:cxnSp>
        <p:nvCxnSpPr>
          <p:cNvPr id="113" name="Google Shape;113;p6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/>
        </p:nvSpPr>
        <p:spPr>
          <a:xfrm>
            <a:off x="1893341" y="1373994"/>
            <a:ext cx="14501319" cy="2314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Redes de Área de Almacenamiento (SAN):</a:t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1893341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Desarrollo: Las SAN surgieron para permitir que múltiples servidores accedieran a un almacenamiento compartido, mejorando la utilización de los recursos y la eficiencia.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9624410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Tecnología: Utilizan tecnologías como Fibre Channel para ofrecer conexiones de alta velocidad y baja latencia.</a:t>
            </a:r>
            <a:endParaRPr/>
          </a:p>
        </p:txBody>
      </p:sp>
      <p:cxnSp>
        <p:nvCxnSpPr>
          <p:cNvPr id="121" name="Google Shape;121;p7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/>
        </p:nvSpPr>
        <p:spPr>
          <a:xfrm>
            <a:off x="1893341" y="1373994"/>
            <a:ext cx="14501319" cy="2314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Almacenamiento Conectado a la Red (NAS):</a:t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1893341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Funcionalidad: NAS permite el acceso a archivos a través de una red estándar, facilitando la gestión de datos y el acceso remoto.</a:t>
            </a:r>
            <a:endParaRPr/>
          </a:p>
        </p:txBody>
      </p:sp>
      <p:sp>
        <p:nvSpPr>
          <p:cNvPr id="128" name="Google Shape;128;p8"/>
          <p:cNvSpPr txBox="1"/>
          <p:nvPr/>
        </p:nvSpPr>
        <p:spPr>
          <a:xfrm>
            <a:off x="9624410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Uso Común: Ideal para compartir archivos en entornos colaborativos y para aplicaciones que requieren acceso a archivos desde múltiples ubicaciones.</a:t>
            </a:r>
            <a:endParaRPr/>
          </a:p>
        </p:txBody>
      </p:sp>
      <p:cxnSp>
        <p:nvCxnSpPr>
          <p:cNvPr id="129" name="Google Shape;129;p8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/>
        </p:nvSpPr>
        <p:spPr>
          <a:xfrm>
            <a:off x="1893341" y="1373994"/>
            <a:ext cx="14501319" cy="2314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 Attached Storage (DAS)</a:t>
            </a:r>
            <a:endParaRPr/>
          </a:p>
        </p:txBody>
      </p:sp>
      <p:cxnSp>
        <p:nvCxnSpPr>
          <p:cNvPr id="135" name="Google Shape;135;p9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6" name="Google Shape;136;p9"/>
          <p:cNvGrpSpPr/>
          <p:nvPr/>
        </p:nvGrpSpPr>
        <p:grpSpPr>
          <a:xfrm>
            <a:off x="1893341" y="5351207"/>
            <a:ext cx="6235246" cy="2943225"/>
            <a:chOff x="0" y="-38100"/>
            <a:chExt cx="8313661" cy="3924300"/>
          </a:xfrm>
        </p:grpSpPr>
        <p:sp>
          <p:nvSpPr>
            <p:cNvPr id="137" name="Google Shape;137;p9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Características:</a:t>
              </a:r>
              <a:endParaRPr/>
            </a:p>
          </p:txBody>
        </p:sp>
        <p:sp>
          <p:nvSpPr>
            <p:cNvPr id="138" name="Google Shape;138;p9"/>
            <p:cNvSpPr txBox="1"/>
            <p:nvPr/>
          </p:nvSpPr>
          <p:spPr>
            <a:xfrm>
              <a:off x="0" y="858308"/>
              <a:ext cx="8313661" cy="3027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Conexión Directa: Los dispositivos de almacenamiento están conectados directamente a un servidor, sin intermediarios.</a:t>
              </a:r>
              <a:endParaRPr/>
            </a:p>
            <a:p>
              <a:pPr indent="0" lvl="0" marL="0" marR="0" rtl="0" algn="ctr">
                <a:lnSpc>
                  <a:spcPct val="69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Configuración Sencilla: Fácil de instalar y configurar, lo que lo hace adecuado para pequeñas empresas o aplicaciones específicas.</a:t>
              </a:r>
              <a:endParaRPr/>
            </a:p>
          </p:txBody>
        </p:sp>
      </p:grpSp>
      <p:grpSp>
        <p:nvGrpSpPr>
          <p:cNvPr id="139" name="Google Shape;139;p9"/>
          <p:cNvGrpSpPr/>
          <p:nvPr/>
        </p:nvGrpSpPr>
        <p:grpSpPr>
          <a:xfrm>
            <a:off x="10159414" y="5351207"/>
            <a:ext cx="6235246" cy="2943225"/>
            <a:chOff x="0" y="-38100"/>
            <a:chExt cx="8313661" cy="3924300"/>
          </a:xfrm>
        </p:grpSpPr>
        <p:sp>
          <p:nvSpPr>
            <p:cNvPr id="140" name="Google Shape;140;p9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Ventajas y Desventajas:</a:t>
              </a:r>
              <a:endParaRPr/>
            </a:p>
          </p:txBody>
        </p:sp>
        <p:sp>
          <p:nvSpPr>
            <p:cNvPr id="141" name="Google Shape;141;p9"/>
            <p:cNvSpPr txBox="1"/>
            <p:nvPr/>
          </p:nvSpPr>
          <p:spPr>
            <a:xfrm>
              <a:off x="0" y="858308"/>
              <a:ext cx="8313661" cy="3027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Ventajas: Bajo costo inicial, simplicidad en la instalación y configuración.</a:t>
              </a:r>
              <a:endParaRPr/>
            </a:p>
            <a:p>
              <a:pPr indent="0" lvl="0" marL="0" marR="0" rtl="0" algn="ctr">
                <a:lnSpc>
                  <a:spcPct val="69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Desventajas: Limitaciones en la escalabilidad, difícil de gestionar en entornos grandes, y no permite compartir almacenamiento entre múltiples servidores.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0"/>
          <p:cNvGrpSpPr/>
          <p:nvPr/>
        </p:nvGrpSpPr>
        <p:grpSpPr>
          <a:xfrm>
            <a:off x="-12700" y="3383459"/>
            <a:ext cx="18300704" cy="6903541"/>
            <a:chOff x="0" y="-57150"/>
            <a:chExt cx="4819938" cy="1818217"/>
          </a:xfrm>
        </p:grpSpPr>
        <p:sp>
          <p:nvSpPr>
            <p:cNvPr id="147" name="Google Shape;147;p10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148" name="Google Shape;148;p10"/>
            <p:cNvSpPr txBox="1"/>
            <p:nvPr/>
          </p:nvSpPr>
          <p:spPr>
            <a:xfrm>
              <a:off x="0" y="-57150"/>
              <a:ext cx="4819937" cy="1818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0"/>
          <p:cNvSpPr txBox="1"/>
          <p:nvPr/>
        </p:nvSpPr>
        <p:spPr>
          <a:xfrm>
            <a:off x="1549276" y="1388100"/>
            <a:ext cx="153132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31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Storage Area Networks (SAN)</a:t>
            </a:r>
            <a:endParaRPr/>
          </a:p>
        </p:txBody>
      </p:sp>
      <p:grpSp>
        <p:nvGrpSpPr>
          <p:cNvPr id="150" name="Google Shape;150;p10"/>
          <p:cNvGrpSpPr/>
          <p:nvPr/>
        </p:nvGrpSpPr>
        <p:grpSpPr>
          <a:xfrm>
            <a:off x="1549263" y="5191125"/>
            <a:ext cx="7340874" cy="2419350"/>
            <a:chOff x="0" y="-38100"/>
            <a:chExt cx="9787832" cy="3225800"/>
          </a:xfrm>
        </p:grpSpPr>
        <p:sp>
          <p:nvSpPr>
            <p:cNvPr id="151" name="Google Shape;151;p10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Características:</a:t>
              </a:r>
              <a:endParaRPr/>
            </a:p>
          </p:txBody>
        </p:sp>
        <p:sp>
          <p:nvSpPr>
            <p:cNvPr id="152" name="Google Shape;152;p10"/>
            <p:cNvSpPr txBox="1"/>
            <p:nvPr/>
          </p:nvSpPr>
          <p:spPr>
            <a:xfrm>
              <a:off x="0" y="858308"/>
              <a:ext cx="9787832" cy="232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Red de Alta Velocidad: Utiliza conexiones de alta velocidad para conectar servidores y dispositivos de almacenamiento.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Escalabilidad: Permite agregar más almacenamiento y servidores sin interrumpir el servicio.</a:t>
              </a:r>
              <a:endParaRPr/>
            </a:p>
          </p:txBody>
        </p:sp>
      </p:grpSp>
      <p:grpSp>
        <p:nvGrpSpPr>
          <p:cNvPr id="153" name="Google Shape;153;p10"/>
          <p:cNvGrpSpPr/>
          <p:nvPr/>
        </p:nvGrpSpPr>
        <p:grpSpPr>
          <a:xfrm>
            <a:off x="9385163" y="5191125"/>
            <a:ext cx="7340874" cy="2771775"/>
            <a:chOff x="0" y="-38100"/>
            <a:chExt cx="9787832" cy="3695700"/>
          </a:xfrm>
        </p:grpSpPr>
        <p:sp>
          <p:nvSpPr>
            <p:cNvPr id="154" name="Google Shape;154;p10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Ventajas y Desventajas:</a:t>
              </a:r>
              <a:endParaRPr/>
            </a:p>
          </p:txBody>
        </p:sp>
        <p:sp>
          <p:nvSpPr>
            <p:cNvPr id="155" name="Google Shape;155;p10"/>
            <p:cNvSpPr txBox="1"/>
            <p:nvPr/>
          </p:nvSpPr>
          <p:spPr>
            <a:xfrm>
              <a:off x="0" y="858308"/>
              <a:ext cx="9787832" cy="279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Ventajas: Alta disponibilidad, rendimiento mejorado, y capacidad para manejar grandes volúmenes de datos.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Desventajas: Costos elevados de implementación y mantenimiento, y requiere personal especializado para su gestión.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/>
        </p:nvSpPr>
        <p:spPr>
          <a:xfrm>
            <a:off x="1708799" y="2472700"/>
            <a:ext cx="12129000" cy="57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5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Protocolos de Almacenamiento en Red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Fibre Channel (FC):</a:t>
            </a:r>
            <a:endParaRPr/>
          </a:p>
        </p:txBody>
      </p:sp>
      <p:sp>
        <p:nvSpPr>
          <p:cNvPr id="166" name="Google Shape;166;p12"/>
          <p:cNvSpPr txBox="1"/>
          <p:nvPr/>
        </p:nvSpPr>
        <p:spPr>
          <a:xfrm>
            <a:off x="1893341" y="5446457"/>
            <a:ext cx="6770249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Uso: Protocolo estándar para SAN, ofrece alta velocidad y baja latencia.</a:t>
            </a:r>
            <a:endParaRPr/>
          </a:p>
        </p:txBody>
      </p:sp>
      <p:sp>
        <p:nvSpPr>
          <p:cNvPr id="167" name="Google Shape;167;p12"/>
          <p:cNvSpPr txBox="1"/>
          <p:nvPr/>
        </p:nvSpPr>
        <p:spPr>
          <a:xfrm>
            <a:off x="9624410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Implementación: Requiere hardware especializado, como switches y adaptadores de host.</a:t>
            </a:r>
            <a:endParaRPr/>
          </a:p>
        </p:txBody>
      </p:sp>
      <p:cxnSp>
        <p:nvCxnSpPr>
          <p:cNvPr id="168" name="Google Shape;168;p12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iSCSI:</a:t>
            </a:r>
            <a:endParaRPr/>
          </a:p>
        </p:txBody>
      </p:sp>
      <p:sp>
        <p:nvSpPr>
          <p:cNvPr id="174" name="Google Shape;174;p13"/>
          <p:cNvSpPr txBox="1"/>
          <p:nvPr/>
        </p:nvSpPr>
        <p:spPr>
          <a:xfrm>
            <a:off x="1893341" y="5446457"/>
            <a:ext cx="6770249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Funcionalidad: Permite el transporte de comandos SCSI sobre redes IP, facilitando la implementación de SAN sobre infraestructuras de red existentes.</a:t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9624410" y="5446457"/>
            <a:ext cx="6770249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Ventajas: Menor costo que Fibre Channel, ya que utiliza redes IP estándar.</a:t>
            </a:r>
            <a:endParaRPr/>
          </a:p>
        </p:txBody>
      </p:sp>
      <p:cxnSp>
        <p:nvCxnSpPr>
          <p:cNvPr id="176" name="Google Shape;176;p13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/>
        </p:nvSpPr>
        <p:spPr>
          <a:xfrm>
            <a:off x="1893341" y="2507469"/>
            <a:ext cx="14501319" cy="118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NFS y SMB: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1893341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NFS (Network File System): Protocolo utilizado principalmente en sistemas Unix/Linux para compartir archivos.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9624410" y="5446457"/>
            <a:ext cx="6770249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SMB (Server Message Block): Protocolo utilizado en entornos Windows para compartir archivos e impresoras.</a:t>
            </a:r>
            <a:endParaRPr/>
          </a:p>
        </p:txBody>
      </p:sp>
      <p:cxnSp>
        <p:nvCxnSpPr>
          <p:cNvPr id="184" name="Google Shape;184;p14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ACB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/>
        </p:nvSpPr>
        <p:spPr>
          <a:xfrm>
            <a:off x="50" y="1536525"/>
            <a:ext cx="18288000" cy="25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6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Principios de Fibra Óptica en Redes de Almacenamiento</a:t>
            </a:r>
            <a:endParaRPr/>
          </a:p>
        </p:txBody>
      </p:sp>
      <p:cxnSp>
        <p:nvCxnSpPr>
          <p:cNvPr id="190" name="Google Shape;190;p15"/>
          <p:cNvCxnSpPr/>
          <p:nvPr/>
        </p:nvCxnSpPr>
        <p:spPr>
          <a:xfrm>
            <a:off x="1893341" y="4532057"/>
            <a:ext cx="1450131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1" name="Google Shape;191;p15"/>
          <p:cNvGrpSpPr/>
          <p:nvPr/>
        </p:nvGrpSpPr>
        <p:grpSpPr>
          <a:xfrm>
            <a:off x="1893341" y="5351207"/>
            <a:ext cx="6235246" cy="2943225"/>
            <a:chOff x="0" y="-38100"/>
            <a:chExt cx="8313661" cy="3924300"/>
          </a:xfrm>
        </p:grpSpPr>
        <p:sp>
          <p:nvSpPr>
            <p:cNvPr id="192" name="Google Shape;192;p15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Ventajas de la Fibra Óptica:</a:t>
              </a:r>
              <a:endParaRPr/>
            </a:p>
          </p:txBody>
        </p:sp>
        <p:sp>
          <p:nvSpPr>
            <p:cNvPr id="193" name="Google Shape;193;p15"/>
            <p:cNvSpPr txBox="1"/>
            <p:nvPr/>
          </p:nvSpPr>
          <p:spPr>
            <a:xfrm>
              <a:off x="0" y="858308"/>
              <a:ext cx="8313661" cy="3027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Alta Capacidad de Transmisión: Soporta grandes anchos de banda, esenciales para el tráfico de datos en SAN.</a:t>
              </a:r>
              <a:endParaRPr/>
            </a:p>
            <a:p>
              <a:pPr indent="0" lvl="0" marL="0" marR="0" rtl="0" algn="ctr">
                <a:lnSpc>
                  <a:spcPct val="69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Distancia: Permite conexiones a largas distancias sin pérdida significativa de señal, lo que es crucial para la interconexión de centros de datos.</a:t>
              </a:r>
              <a:endParaRPr/>
            </a:p>
          </p:txBody>
        </p:sp>
      </p:grpSp>
      <p:grpSp>
        <p:nvGrpSpPr>
          <p:cNvPr id="194" name="Google Shape;194;p15"/>
          <p:cNvGrpSpPr/>
          <p:nvPr/>
        </p:nvGrpSpPr>
        <p:grpSpPr>
          <a:xfrm>
            <a:off x="10159414" y="5351207"/>
            <a:ext cx="6235246" cy="2066925"/>
            <a:chOff x="0" y="-38100"/>
            <a:chExt cx="8313661" cy="2755900"/>
          </a:xfrm>
        </p:grpSpPr>
        <p:sp>
          <p:nvSpPr>
            <p:cNvPr id="195" name="Google Shape;195;p15"/>
            <p:cNvSpPr txBox="1"/>
            <p:nvPr/>
          </p:nvSpPr>
          <p:spPr>
            <a:xfrm>
              <a:off x="0" y="-38100"/>
              <a:ext cx="8313661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Consideraciones Técnicas:</a:t>
              </a:r>
              <a:endParaRPr/>
            </a:p>
          </p:txBody>
        </p:sp>
        <p:sp>
          <p:nvSpPr>
            <p:cNvPr id="196" name="Google Shape;196;p15"/>
            <p:cNvSpPr txBox="1"/>
            <p:nvPr/>
          </p:nvSpPr>
          <p:spPr>
            <a:xfrm>
              <a:off x="0" y="858308"/>
              <a:ext cx="8313661" cy="18594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Inmunidad a Interferencias: No se ve afectada por interferencias electromagnéticas, lo que la hace ideal para entornos industriales o de alta interferencia.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6"/>
          <p:cNvGrpSpPr/>
          <p:nvPr/>
        </p:nvGrpSpPr>
        <p:grpSpPr>
          <a:xfrm>
            <a:off x="-12700" y="3383459"/>
            <a:ext cx="18300704" cy="6903541"/>
            <a:chOff x="0" y="-57150"/>
            <a:chExt cx="4819938" cy="1818217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0" y="-57150"/>
              <a:ext cx="4819937" cy="1818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6"/>
          <p:cNvSpPr txBox="1"/>
          <p:nvPr/>
        </p:nvSpPr>
        <p:spPr>
          <a:xfrm>
            <a:off x="1549263" y="1114466"/>
            <a:ext cx="13844095" cy="15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Administración de Redes de Almacenamiento</a:t>
            </a:r>
            <a:endParaRPr/>
          </a:p>
        </p:txBody>
      </p:sp>
      <p:grpSp>
        <p:nvGrpSpPr>
          <p:cNvPr id="205" name="Google Shape;205;p16"/>
          <p:cNvGrpSpPr/>
          <p:nvPr/>
        </p:nvGrpSpPr>
        <p:grpSpPr>
          <a:xfrm>
            <a:off x="1549263" y="5191125"/>
            <a:ext cx="7340874" cy="2419350"/>
            <a:chOff x="0" y="-38100"/>
            <a:chExt cx="9787832" cy="3225800"/>
          </a:xfrm>
        </p:grpSpPr>
        <p:sp>
          <p:nvSpPr>
            <p:cNvPr id="206" name="Google Shape;206;p16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Monitoreo y Gestión:</a:t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0" y="858308"/>
              <a:ext cx="9787832" cy="232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Herramientas de Gestión: Software especializado para monitorear el rendimiento, la capacidad y la salud del sistema de almacenamiento.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Automatización: Uso de herramientas para automatizar tareas de gestión y mantenimiento.</a:t>
              </a:r>
              <a:endParaRPr/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385163" y="5191125"/>
            <a:ext cx="7340874" cy="2771775"/>
            <a:chOff x="0" y="-38100"/>
            <a:chExt cx="9787832" cy="3695700"/>
          </a:xfrm>
        </p:grpSpPr>
        <p:sp>
          <p:nvSpPr>
            <p:cNvPr id="209" name="Google Shape;209;p16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Seguridad:</a:t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0" y="858308"/>
              <a:ext cx="9787832" cy="279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Protección de Datos: Implementación de cifrado y controles de acceso para proteger los datos almacenados.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Respaldo y Recuperación: Estrategias para asegurar la disponibilidad de datos en caso de fallos o desastres.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7"/>
          <p:cNvGrpSpPr/>
          <p:nvPr/>
        </p:nvGrpSpPr>
        <p:grpSpPr>
          <a:xfrm>
            <a:off x="-12700" y="3383459"/>
            <a:ext cx="18300704" cy="6903541"/>
            <a:chOff x="0" y="-57150"/>
            <a:chExt cx="4819938" cy="1818217"/>
          </a:xfrm>
        </p:grpSpPr>
        <p:sp>
          <p:nvSpPr>
            <p:cNvPr id="216" name="Google Shape;216;p17"/>
            <p:cNvSpPr/>
            <p:nvPr/>
          </p:nvSpPr>
          <p:spPr>
            <a:xfrm>
              <a:off x="0" y="0"/>
              <a:ext cx="4819938" cy="1761067"/>
            </a:xfrm>
            <a:custGeom>
              <a:rect b="b" l="l" r="r" t="t"/>
              <a:pathLst>
                <a:path extrusionOk="0" h="1761067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761067"/>
                  </a:lnTo>
                  <a:lnTo>
                    <a:pt x="0" y="1761067"/>
                  </a:lnTo>
                  <a:close/>
                </a:path>
              </a:pathLst>
            </a:custGeom>
            <a:solidFill>
              <a:srgbClr val="ACB6A6"/>
            </a:solidFill>
            <a:ln>
              <a:noFill/>
            </a:ln>
          </p:spPr>
        </p:sp>
        <p:sp>
          <p:nvSpPr>
            <p:cNvPr id="217" name="Google Shape;217;p17"/>
            <p:cNvSpPr txBox="1"/>
            <p:nvPr/>
          </p:nvSpPr>
          <p:spPr>
            <a:xfrm>
              <a:off x="0" y="-57150"/>
              <a:ext cx="4819937" cy="1818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7"/>
          <p:cNvSpPr txBox="1"/>
          <p:nvPr/>
        </p:nvSpPr>
        <p:spPr>
          <a:xfrm>
            <a:off x="1549263" y="1114466"/>
            <a:ext cx="13844095" cy="15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58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Comparación y Selección de Soluciones de Almacenamiento</a:t>
            </a:r>
            <a:endParaRPr/>
          </a:p>
        </p:txBody>
      </p:sp>
      <p:grpSp>
        <p:nvGrpSpPr>
          <p:cNvPr id="219" name="Google Shape;219;p17"/>
          <p:cNvGrpSpPr/>
          <p:nvPr/>
        </p:nvGrpSpPr>
        <p:grpSpPr>
          <a:xfrm>
            <a:off x="1549263" y="5191125"/>
            <a:ext cx="7340874" cy="3124200"/>
            <a:chOff x="0" y="-38100"/>
            <a:chExt cx="9787832" cy="4165600"/>
          </a:xfrm>
        </p:grpSpPr>
        <p:sp>
          <p:nvSpPr>
            <p:cNvPr id="220" name="Google Shape;220;p17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Criterios de Selección:</a:t>
              </a: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0" y="858308"/>
              <a:ext cx="9787832" cy="3269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Costo: Consideración del costo total de propiedad, incluyendo hardware, software, y mantenimiento.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Rendimiento: Evaluación del rendimiento necesario para soportar las aplicaciones críticas de la organización.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Escalabilidad: Capacidad para crecer con las necesidades de la organización.</a:t>
              </a:r>
              <a:endParaRPr/>
            </a:p>
          </p:txBody>
        </p:sp>
      </p:grpSp>
      <p:grpSp>
        <p:nvGrpSpPr>
          <p:cNvPr id="222" name="Google Shape;222;p17"/>
          <p:cNvGrpSpPr/>
          <p:nvPr/>
        </p:nvGrpSpPr>
        <p:grpSpPr>
          <a:xfrm>
            <a:off x="9385163" y="5191125"/>
            <a:ext cx="7340874" cy="2771775"/>
            <a:chOff x="0" y="-38100"/>
            <a:chExt cx="9787832" cy="3695700"/>
          </a:xfrm>
        </p:grpSpPr>
        <p:sp>
          <p:nvSpPr>
            <p:cNvPr id="223" name="Google Shape;223;p17"/>
            <p:cNvSpPr txBox="1"/>
            <p:nvPr/>
          </p:nvSpPr>
          <p:spPr>
            <a:xfrm>
              <a:off x="0" y="-38100"/>
              <a:ext cx="9787832" cy="537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Tendencias Actuales:</a:t>
              </a:r>
              <a:endParaRPr/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0" y="858308"/>
              <a:ext cx="9787832" cy="2799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Almacenamiento en la Nube: Creciente adopción de soluciones de almacenamiento en la nube por su flexibilidad y costo variable.</a:t>
              </a:r>
              <a:endParaRPr/>
            </a:p>
            <a:p>
              <a:pPr indent="-287866" lvl="2" marL="863601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3D2A"/>
                </a:buClr>
                <a:buSzPts val="2000"/>
                <a:buFont typeface="Arial"/>
                <a:buChar char="⚬"/>
              </a:pPr>
              <a:r>
                <a:rPr b="0" i="0" lang="en-US" sz="2000" u="none" cap="none" strike="noStrike">
                  <a:solidFill>
                    <a:srgbClr val="263D2A"/>
                  </a:solidFill>
                  <a:latin typeface="Inter"/>
                  <a:ea typeface="Inter"/>
                  <a:cs typeface="Inter"/>
                  <a:sym typeface="Inter"/>
                </a:rPr>
                <a:t>Soluciones Híbridas: Combinación de almacenamiento local y en la nube para optimizar costos y rendimiento.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D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/>
        </p:nvSpPr>
        <p:spPr>
          <a:xfrm>
            <a:off x="1708806" y="3344228"/>
            <a:ext cx="10584794" cy="3417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825" u="none" cap="none" strike="noStrike">
                <a:solidFill>
                  <a:srgbClr val="E4D8B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Muchas 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