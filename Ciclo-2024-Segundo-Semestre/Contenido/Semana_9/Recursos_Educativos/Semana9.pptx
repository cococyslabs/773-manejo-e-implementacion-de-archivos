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504">
          <p15:clr>
            <a:srgbClr val="A4A3A4"/>
          </p15:clr>
        </p15:guide>
        <p15:guide id="2" orient="horz" pos="3696">
          <p15:clr>
            <a:srgbClr val="A4A3A4"/>
          </p15:clr>
        </p15:guide>
        <p15:guide id="3" orient="horz" pos="1968">
          <p15:clr>
            <a:srgbClr val="A4A3A4"/>
          </p15:clr>
        </p15:guide>
      </p15:sldGuideLst>
    </p:ext>
    <p:ext uri="GoogleSlidesCustomDataVersion2">
      <go:slidesCustomData xmlns:go="http://customooxmlschemas.google.com/" r:id="rId72" roundtripDataSignature="AMtx7mgFi6DGxRtllOzwcgHCHjVwbP6R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82A243-C910-40E5-833B-2A529E762398}">
  <a:tblStyle styleId="{8482A243-C910-40E5-833B-2A529E762398}" styleName="Table_0">
    <a:wholeTbl>
      <a:tcTxStyle b="off" i="off">
        <a:font>
          <a:latin typeface="Avenir Next LT Pro Light"/>
          <a:ea typeface="Avenir Next LT Pro Light"/>
          <a:cs typeface="Avenir Next LT Pro Light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1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504"/>
        <p:guide pos="3696" orient="horz"/>
        <p:guide pos="196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2" Type="http://customschemas.google.com/relationships/presentationmetadata" Target="meta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1" name="Google Shape;931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1" name="Google Shape;981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8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6" name="Google Shape;16;p68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9pPr>
          </a:lstStyle>
          <a:p/>
        </p:txBody>
      </p:sp>
      <p:sp>
        <p:nvSpPr>
          <p:cNvPr id="17" name="Google Shape;17;p68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ción">
  <p:cSld name="Introducción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9"/>
          <p:cNvSpPr txBox="1"/>
          <p:nvPr>
            <p:ph type="title"/>
          </p:nvPr>
        </p:nvSpPr>
        <p:spPr>
          <a:xfrm>
            <a:off x="893064" y="72518"/>
            <a:ext cx="8297380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9"/>
          <p:cNvSpPr txBox="1"/>
          <p:nvPr>
            <p:ph idx="1" type="body"/>
          </p:nvPr>
        </p:nvSpPr>
        <p:spPr>
          <a:xfrm>
            <a:off x="865631" y="2072640"/>
            <a:ext cx="8324089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indent="-355600" lvl="1" marL="914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indent="-355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55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indent="-355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69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22" name="Google Shape;22;p69"/>
          <p:cNvSpPr txBox="1"/>
          <p:nvPr>
            <p:ph idx="11" type="ftr"/>
          </p:nvPr>
        </p:nvSpPr>
        <p:spPr>
          <a:xfrm>
            <a:off x="3806194" y="624662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" name="Google Shape;23;p69"/>
          <p:cNvPicPr preferRelativeResize="0"/>
          <p:nvPr/>
        </p:nvPicPr>
        <p:blipFill rotWithShape="1">
          <a:blip r:embed="rId2">
            <a:alphaModFix/>
          </a:blip>
          <a:srcRect b="3860" l="1585" r="26226" t="0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bg>
      <p:bgPr>
        <a:solidFill>
          <a:srgbClr val="9FDAF5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0"/>
          <p:cNvSpPr txBox="1"/>
          <p:nvPr>
            <p:ph type="ctrTitle"/>
          </p:nvPr>
        </p:nvSpPr>
        <p:spPr>
          <a:xfrm>
            <a:off x="6071616" y="960120"/>
            <a:ext cx="5221224" cy="30563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70"/>
          <p:cNvPicPr preferRelativeResize="0"/>
          <p:nvPr/>
        </p:nvPicPr>
        <p:blipFill rotWithShape="1">
          <a:blip r:embed="rId2">
            <a:alphaModFix/>
          </a:blip>
          <a:srcRect b="0" l="10617" r="0" t="0"/>
          <a:stretch/>
        </p:blipFill>
        <p:spPr>
          <a:xfrm>
            <a:off x="0" y="0"/>
            <a:ext cx="615304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739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contenido e imagen">
  <p:cSld name="Título, contenido e imagen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1"/>
          <p:cNvSpPr/>
          <p:nvPr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9" name="Google Shape;29;p71"/>
          <p:cNvPicPr preferRelativeResize="0"/>
          <p:nvPr/>
        </p:nvPicPr>
        <p:blipFill rotWithShape="1">
          <a:blip r:embed="rId2">
            <a:alphaModFix/>
          </a:blip>
          <a:srcRect b="20417" l="21367" r="19367" t="32063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1"/>
          <p:cNvSpPr txBox="1"/>
          <p:nvPr>
            <p:ph type="title"/>
          </p:nvPr>
        </p:nvSpPr>
        <p:spPr>
          <a:xfrm>
            <a:off x="899160" y="137160"/>
            <a:ext cx="6172200" cy="1249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1"/>
          <p:cNvSpPr txBox="1"/>
          <p:nvPr>
            <p:ph idx="1" type="body"/>
          </p:nvPr>
        </p:nvSpPr>
        <p:spPr>
          <a:xfrm>
            <a:off x="899160" y="2087880"/>
            <a:ext cx="10210800" cy="195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1"/>
          <p:cNvSpPr txBox="1"/>
          <p:nvPr>
            <p:ph idx="12" type="sldNum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33" name="Google Shape;33;p71"/>
          <p:cNvSpPr/>
          <p:nvPr>
            <p:ph idx="2" type="pic"/>
          </p:nvPr>
        </p:nvSpPr>
        <p:spPr>
          <a:xfrm>
            <a:off x="2179320" y="4094802"/>
            <a:ext cx="10027919" cy="246888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de la sección">
  <p:cSld name="Título de la sección">
    <p:bg>
      <p:bgPr>
        <a:solidFill>
          <a:srgbClr val="FDF3E9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2"/>
          <p:cNvSpPr txBox="1"/>
          <p:nvPr>
            <p:ph type="title"/>
          </p:nvPr>
        </p:nvSpPr>
        <p:spPr>
          <a:xfrm>
            <a:off x="902208" y="420624"/>
            <a:ext cx="5864352" cy="36210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2"/>
          <p:cNvSpPr/>
          <p:nvPr>
            <p:ph idx="2" type="pic"/>
          </p:nvPr>
        </p:nvSpPr>
        <p:spPr>
          <a:xfrm>
            <a:off x="7625969" y="-9144"/>
            <a:ext cx="4581525" cy="6602413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72"/>
          <p:cNvSpPr/>
          <p:nvPr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sumen 1">
  <p:cSld name="Resumen 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73"/>
          <p:cNvPicPr preferRelativeResize="0"/>
          <p:nvPr/>
        </p:nvPicPr>
        <p:blipFill rotWithShape="1">
          <a:blip r:embed="rId2">
            <a:alphaModFix/>
          </a:blip>
          <a:srcRect b="30269" l="19256" r="58719" t="-150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73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3"/>
          <p:cNvSpPr txBox="1"/>
          <p:nvPr>
            <p:ph idx="1" type="body"/>
          </p:nvPr>
        </p:nvSpPr>
        <p:spPr>
          <a:xfrm>
            <a:off x="911352" y="2058669"/>
            <a:ext cx="6192838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3"/>
          <p:cNvSpPr txBox="1"/>
          <p:nvPr>
            <p:ph idx="2" type="body"/>
          </p:nvPr>
        </p:nvSpPr>
        <p:spPr>
          <a:xfrm>
            <a:off x="8295483" y="2058670"/>
            <a:ext cx="3002755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73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44" name="Google Shape;44;p73"/>
          <p:cNvSpPr txBox="1"/>
          <p:nvPr>
            <p:ph idx="11" type="ftr"/>
          </p:nvPr>
        </p:nvSpPr>
        <p:spPr>
          <a:xfrm>
            <a:off x="3806194" y="624662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de la sección 2">
  <p:cSld name="Título de la sección 2">
    <p:bg>
      <p:bgPr>
        <a:solidFill>
          <a:srgbClr val="FCE9E7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4"/>
          <p:cNvSpPr txBox="1"/>
          <p:nvPr>
            <p:ph type="title"/>
          </p:nvPr>
        </p:nvSpPr>
        <p:spPr>
          <a:xfrm>
            <a:off x="6096000" y="176784"/>
            <a:ext cx="5864352" cy="36210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4"/>
          <p:cNvSpPr/>
          <p:nvPr>
            <p:ph idx="2" type="pic"/>
          </p:nvPr>
        </p:nvSpPr>
        <p:spPr>
          <a:xfrm>
            <a:off x="-15240" y="-15240"/>
            <a:ext cx="4581525" cy="6602413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74"/>
          <p:cNvSpPr txBox="1"/>
          <p:nvPr>
            <p:ph idx="1" type="body"/>
          </p:nvPr>
        </p:nvSpPr>
        <p:spPr>
          <a:xfrm>
            <a:off x="6096000" y="4084320"/>
            <a:ext cx="5864225" cy="2362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4"/>
          <p:cNvSpPr/>
          <p:nvPr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de la sección 3">
  <p:cSld name="Título de la sección 3">
    <p:bg>
      <p:bgPr>
        <a:solidFill>
          <a:srgbClr val="D7ECEB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5"/>
          <p:cNvSpPr txBox="1"/>
          <p:nvPr>
            <p:ph type="title"/>
          </p:nvPr>
        </p:nvSpPr>
        <p:spPr>
          <a:xfrm>
            <a:off x="6095999" y="441960"/>
            <a:ext cx="5641897" cy="33168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5"/>
          <p:cNvSpPr txBox="1"/>
          <p:nvPr>
            <p:ph idx="1" type="body"/>
          </p:nvPr>
        </p:nvSpPr>
        <p:spPr>
          <a:xfrm>
            <a:off x="6109694" y="4068392"/>
            <a:ext cx="5580586" cy="2197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3" name="Google Shape;53;p75"/>
          <p:cNvPicPr preferRelativeResize="0"/>
          <p:nvPr/>
        </p:nvPicPr>
        <p:blipFill rotWithShape="1">
          <a:blip r:embed="rId2">
            <a:alphaModFix/>
          </a:blip>
          <a:srcRect b="0" l="21706" r="0" t="0"/>
          <a:stretch/>
        </p:blipFill>
        <p:spPr>
          <a:xfrm>
            <a:off x="0" y="0"/>
            <a:ext cx="466106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a">
  <p:cSld name="Tabla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6"/>
          <p:cNvSpPr txBox="1"/>
          <p:nvPr>
            <p:ph type="title"/>
          </p:nvPr>
        </p:nvSpPr>
        <p:spPr>
          <a:xfrm>
            <a:off x="899160" y="137160"/>
            <a:ext cx="6172200" cy="1249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6"/>
          <p:cNvSpPr txBox="1"/>
          <p:nvPr>
            <p:ph idx="1" type="body"/>
          </p:nvPr>
        </p:nvSpPr>
        <p:spPr>
          <a:xfrm>
            <a:off x="899160" y="2026920"/>
            <a:ext cx="3017520" cy="3901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76"/>
          <p:cNvSpPr txBox="1"/>
          <p:nvPr>
            <p:ph idx="2" type="body"/>
          </p:nvPr>
        </p:nvSpPr>
        <p:spPr>
          <a:xfrm>
            <a:off x="4525963" y="2026603"/>
            <a:ext cx="6766877" cy="390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76"/>
          <p:cNvSpPr txBox="1"/>
          <p:nvPr>
            <p:ph idx="12" type="sldNum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cias">
  <p:cSld name="Gracias">
    <p:bg>
      <p:bgPr>
        <a:solidFill>
          <a:srgbClr val="FDDDA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77"/>
          <p:cNvPicPr preferRelativeResize="0"/>
          <p:nvPr/>
        </p:nvPicPr>
        <p:blipFill rotWithShape="1">
          <a:blip r:embed="rId2">
            <a:alphaModFix/>
          </a:blip>
          <a:srcRect b="11733" l="3432" r="24023" t="-5525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7"/>
          <p:cNvSpPr txBox="1"/>
          <p:nvPr>
            <p:ph type="title"/>
          </p:nvPr>
        </p:nvSpPr>
        <p:spPr>
          <a:xfrm>
            <a:off x="911352" y="505016"/>
            <a:ext cx="5775656" cy="32849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7"/>
          <p:cNvSpPr txBox="1"/>
          <p:nvPr>
            <p:ph idx="1" type="body"/>
          </p:nvPr>
        </p:nvSpPr>
        <p:spPr>
          <a:xfrm>
            <a:off x="911353" y="4006024"/>
            <a:ext cx="5794248" cy="2346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355600" lvl="1" marL="914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indent="-355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55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indent="-355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ntenidos">
  <p:cSld name="Título y dos contenido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8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8"/>
          <p:cNvSpPr txBox="1"/>
          <p:nvPr>
            <p:ph idx="1" type="body"/>
          </p:nvPr>
        </p:nvSpPr>
        <p:spPr>
          <a:xfrm>
            <a:off x="893763" y="2073275"/>
            <a:ext cx="4887594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78"/>
          <p:cNvSpPr txBox="1"/>
          <p:nvPr>
            <p:ph idx="2" type="body"/>
          </p:nvPr>
        </p:nvSpPr>
        <p:spPr>
          <a:xfrm>
            <a:off x="6410644" y="2073275"/>
            <a:ext cx="4887594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78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68" name="Google Shape;68;p78"/>
          <p:cNvSpPr txBox="1"/>
          <p:nvPr>
            <p:ph idx="11" type="ftr"/>
          </p:nvPr>
        </p:nvSpPr>
        <p:spPr>
          <a:xfrm>
            <a:off x="3806194" y="624662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ntenidos 2">
  <p:cSld name="Título y dos contenidos 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9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9"/>
          <p:cNvSpPr txBox="1"/>
          <p:nvPr>
            <p:ph idx="1" type="body"/>
          </p:nvPr>
        </p:nvSpPr>
        <p:spPr>
          <a:xfrm>
            <a:off x="893763" y="2073275"/>
            <a:ext cx="3144837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eriod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arenR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arenR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romanLcPeriod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79"/>
          <p:cNvSpPr txBox="1"/>
          <p:nvPr>
            <p:ph idx="2" type="body"/>
          </p:nvPr>
        </p:nvSpPr>
        <p:spPr>
          <a:xfrm>
            <a:off x="4556760" y="2073275"/>
            <a:ext cx="6192838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79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74" name="Google Shape;74;p79"/>
          <p:cNvSpPr txBox="1"/>
          <p:nvPr>
            <p:ph idx="11" type="ftr"/>
          </p:nvPr>
        </p:nvSpPr>
        <p:spPr>
          <a:xfrm>
            <a:off x="3806194" y="624662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a 2">
  <p:cSld name="Tabla 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0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80"/>
          <p:cNvSpPr txBox="1"/>
          <p:nvPr>
            <p:ph idx="1" type="body"/>
          </p:nvPr>
        </p:nvSpPr>
        <p:spPr>
          <a:xfrm>
            <a:off x="911352" y="2043429"/>
            <a:ext cx="10405174" cy="3925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80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79" name="Google Shape;79;p80"/>
          <p:cNvSpPr txBox="1"/>
          <p:nvPr>
            <p:ph idx="11" type="ftr"/>
          </p:nvPr>
        </p:nvSpPr>
        <p:spPr>
          <a:xfrm>
            <a:off x="3806194" y="624662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Encabezado de secció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1"/>
          <p:cNvSpPr txBox="1"/>
          <p:nvPr>
            <p:ph type="title"/>
          </p:nvPr>
        </p:nvSpPr>
        <p:spPr>
          <a:xfrm>
            <a:off x="831850" y="4672584"/>
            <a:ext cx="10515600" cy="12994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2" name="Google Shape;82;p81"/>
          <p:cNvGrpSpPr/>
          <p:nvPr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83" name="Google Shape;83;p81"/>
            <p:cNvSpPr/>
            <p:nvPr/>
          </p:nvSpPr>
          <p:spPr>
            <a:xfrm>
              <a:off x="9865435" y="2327548"/>
              <a:ext cx="952261" cy="268535"/>
            </a:xfrm>
            <a:custGeom>
              <a:rect b="b" l="l" r="r" t="t"/>
              <a:pathLst>
                <a:path extrusionOk="0" h="268535" w="952261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4" name="Google Shape;84;p81"/>
            <p:cNvSpPr/>
            <p:nvPr/>
          </p:nvSpPr>
          <p:spPr>
            <a:xfrm>
              <a:off x="8614163" y="1807872"/>
              <a:ext cx="51549" cy="49897"/>
            </a:xfrm>
            <a:custGeom>
              <a:rect b="b" l="l" r="r" t="t"/>
              <a:pathLst>
                <a:path extrusionOk="0" h="49897" w="51549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5" name="Google Shape;85;p81"/>
            <p:cNvSpPr/>
            <p:nvPr/>
          </p:nvSpPr>
          <p:spPr>
            <a:xfrm>
              <a:off x="6092192" y="292266"/>
              <a:ext cx="3458361" cy="1058651"/>
            </a:xfrm>
            <a:custGeom>
              <a:rect b="b" l="l" r="r" t="t"/>
              <a:pathLst>
                <a:path extrusionOk="0" h="1058651" w="345836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6" name="Google Shape;86;p81"/>
            <p:cNvSpPr/>
            <p:nvPr/>
          </p:nvSpPr>
          <p:spPr>
            <a:xfrm>
              <a:off x="4278070" y="29318"/>
              <a:ext cx="1022221" cy="308021"/>
            </a:xfrm>
            <a:custGeom>
              <a:rect b="b" l="l" r="r" t="t"/>
              <a:pathLst>
                <a:path extrusionOk="0" h="308021" w="10222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7" name="Google Shape;87;p81"/>
            <p:cNvSpPr/>
            <p:nvPr/>
          </p:nvSpPr>
          <p:spPr>
            <a:xfrm>
              <a:off x="10809444" y="-12696"/>
              <a:ext cx="1265873" cy="505824"/>
            </a:xfrm>
            <a:custGeom>
              <a:rect b="b" l="l" r="r" t="t"/>
              <a:pathLst>
                <a:path extrusionOk="0" h="505824" w="1265873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8" name="Google Shape;88;p81"/>
            <p:cNvSpPr/>
            <p:nvPr/>
          </p:nvSpPr>
          <p:spPr>
            <a:xfrm>
              <a:off x="12086110" y="93055"/>
              <a:ext cx="105510" cy="435370"/>
            </a:xfrm>
            <a:custGeom>
              <a:rect b="b" l="l" r="r" t="t"/>
              <a:pathLst>
                <a:path extrusionOk="0" h="435370" w="10551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rgbClr val="468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9" name="Google Shape;89;p81"/>
            <p:cNvSpPr/>
            <p:nvPr/>
          </p:nvSpPr>
          <p:spPr>
            <a:xfrm>
              <a:off x="12091315" y="2655"/>
              <a:ext cx="100305" cy="111985"/>
            </a:xfrm>
            <a:custGeom>
              <a:rect b="b" l="l" r="r" t="t"/>
              <a:pathLst>
                <a:path extrusionOk="0" h="111985" w="10030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" name="Google Shape;90;p81"/>
            <p:cNvSpPr/>
            <p:nvPr/>
          </p:nvSpPr>
          <p:spPr>
            <a:xfrm>
              <a:off x="9859975" y="328071"/>
              <a:ext cx="1740226" cy="683844"/>
            </a:xfrm>
            <a:custGeom>
              <a:rect b="b" l="l" r="r" t="t"/>
              <a:pathLst>
                <a:path extrusionOk="0" h="683844" w="1740226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rgbClr val="D3F4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" name="Google Shape;91;p81"/>
            <p:cNvSpPr/>
            <p:nvPr/>
          </p:nvSpPr>
          <p:spPr>
            <a:xfrm>
              <a:off x="11314396" y="782994"/>
              <a:ext cx="496826" cy="353730"/>
            </a:xfrm>
            <a:custGeom>
              <a:rect b="b" l="l" r="r" t="t"/>
              <a:pathLst>
                <a:path extrusionOk="0" h="353730" w="496826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rgbClr val="C4E3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2" name="Google Shape;92;p81"/>
            <p:cNvSpPr/>
            <p:nvPr/>
          </p:nvSpPr>
          <p:spPr>
            <a:xfrm>
              <a:off x="9220690" y="630380"/>
              <a:ext cx="1411124" cy="930414"/>
            </a:xfrm>
            <a:custGeom>
              <a:rect b="b" l="l" r="r" t="t"/>
              <a:pathLst>
                <a:path extrusionOk="0" h="930414" w="141112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3" name="Google Shape;93;p81"/>
            <p:cNvSpPr/>
            <p:nvPr/>
          </p:nvSpPr>
          <p:spPr>
            <a:xfrm>
              <a:off x="10642608" y="1060036"/>
              <a:ext cx="407567" cy="588492"/>
            </a:xfrm>
            <a:custGeom>
              <a:rect b="b" l="l" r="r" t="t"/>
              <a:pathLst>
                <a:path extrusionOk="0" h="588492" w="407567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4" name="Google Shape;94;p81"/>
            <p:cNvSpPr/>
            <p:nvPr/>
          </p:nvSpPr>
          <p:spPr>
            <a:xfrm>
              <a:off x="9225769" y="422916"/>
              <a:ext cx="1654777" cy="624804"/>
            </a:xfrm>
            <a:custGeom>
              <a:rect b="b" l="l" r="r" t="t"/>
              <a:pathLst>
                <a:path extrusionOk="0" h="624804" w="1654777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5" name="Google Shape;95;p81"/>
            <p:cNvSpPr/>
            <p:nvPr/>
          </p:nvSpPr>
          <p:spPr>
            <a:xfrm>
              <a:off x="10647813" y="852572"/>
              <a:ext cx="650712" cy="321607"/>
            </a:xfrm>
            <a:custGeom>
              <a:rect b="b" l="l" r="r" t="t"/>
              <a:pathLst>
                <a:path extrusionOk="0" h="321607" w="650712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rgbClr val="A2D0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" name="Google Shape;96;p81"/>
            <p:cNvSpPr/>
            <p:nvPr/>
          </p:nvSpPr>
          <p:spPr>
            <a:xfrm>
              <a:off x="8696438" y="247828"/>
              <a:ext cx="243017" cy="805732"/>
            </a:xfrm>
            <a:custGeom>
              <a:rect b="b" l="l" r="r" t="t"/>
              <a:pathLst>
                <a:path extrusionOk="0" h="805732" w="243017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7" name="Google Shape;97;p81"/>
            <p:cNvSpPr/>
            <p:nvPr/>
          </p:nvSpPr>
          <p:spPr>
            <a:xfrm>
              <a:off x="5145790" y="-12696"/>
              <a:ext cx="3539857" cy="1070447"/>
            </a:xfrm>
            <a:custGeom>
              <a:rect b="b" l="l" r="r" t="t"/>
              <a:pathLst>
                <a:path extrusionOk="0" h="1070447" w="353985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rgbClr val="A2D0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8" name="Google Shape;98;p81"/>
            <p:cNvSpPr/>
            <p:nvPr/>
          </p:nvSpPr>
          <p:spPr>
            <a:xfrm>
              <a:off x="7200361" y="-12696"/>
              <a:ext cx="1734016" cy="450213"/>
            </a:xfrm>
            <a:custGeom>
              <a:rect b="b" l="l" r="r" t="t"/>
              <a:pathLst>
                <a:path extrusionOk="0" h="450213" w="1734016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9" name="Google Shape;99;p81"/>
            <p:cNvSpPr/>
            <p:nvPr/>
          </p:nvSpPr>
          <p:spPr>
            <a:xfrm>
              <a:off x="8136109" y="-12695"/>
              <a:ext cx="1588137" cy="527789"/>
            </a:xfrm>
            <a:custGeom>
              <a:rect b="b" l="l" r="r" t="t"/>
              <a:pathLst>
                <a:path extrusionOk="0" h="527789" w="1588137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rgbClr val="A2D0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" name="Google Shape;100;p81"/>
            <p:cNvSpPr/>
            <p:nvPr/>
          </p:nvSpPr>
          <p:spPr>
            <a:xfrm>
              <a:off x="9736181" y="-34166"/>
              <a:ext cx="320976" cy="560686"/>
            </a:xfrm>
            <a:custGeom>
              <a:rect b="b" l="l" r="r" t="t"/>
              <a:pathLst>
                <a:path extrusionOk="0" h="560686" w="32097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" name="Google Shape;101;p81"/>
            <p:cNvSpPr/>
            <p:nvPr/>
          </p:nvSpPr>
          <p:spPr>
            <a:xfrm>
              <a:off x="8963680" y="-12696"/>
              <a:ext cx="1050864" cy="231449"/>
            </a:xfrm>
            <a:custGeom>
              <a:rect b="b" l="l" r="r" t="t"/>
              <a:pathLst>
                <a:path extrusionOk="0" h="231449" w="1050864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2" name="Google Shape;102;p81"/>
            <p:cNvSpPr/>
            <p:nvPr/>
          </p:nvSpPr>
          <p:spPr>
            <a:xfrm>
              <a:off x="7815659" y="853334"/>
              <a:ext cx="28187" cy="216732"/>
            </a:xfrm>
            <a:custGeom>
              <a:rect b="b" l="l" r="r" t="t"/>
              <a:pathLst>
                <a:path extrusionOk="0" h="216732" w="28187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3" name="Google Shape;103;p81"/>
            <p:cNvSpPr/>
            <p:nvPr/>
          </p:nvSpPr>
          <p:spPr>
            <a:xfrm>
              <a:off x="7581530" y="884949"/>
              <a:ext cx="223337" cy="229683"/>
            </a:xfrm>
            <a:custGeom>
              <a:rect b="b" l="l" r="r" t="t"/>
              <a:pathLst>
                <a:path extrusionOk="0" h="229683" w="223337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4" name="Google Shape;104;p81"/>
            <p:cNvSpPr/>
            <p:nvPr/>
          </p:nvSpPr>
          <p:spPr>
            <a:xfrm>
              <a:off x="7404156" y="746047"/>
              <a:ext cx="433850" cy="122396"/>
            </a:xfrm>
            <a:custGeom>
              <a:rect b="b" l="l" r="r" t="t"/>
              <a:pathLst>
                <a:path extrusionOk="0" h="122396" w="433850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5" name="Google Shape;105;p81"/>
            <p:cNvSpPr/>
            <p:nvPr/>
          </p:nvSpPr>
          <p:spPr>
            <a:xfrm>
              <a:off x="7064261" y="715448"/>
              <a:ext cx="735526" cy="343572"/>
            </a:xfrm>
            <a:custGeom>
              <a:rect b="b" l="l" r="r" t="t"/>
              <a:pathLst>
                <a:path extrusionOk="0" h="343572" w="735526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rgbClr val="D3F4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6" name="Google Shape;106;p81"/>
            <p:cNvSpPr/>
            <p:nvPr/>
          </p:nvSpPr>
          <p:spPr>
            <a:xfrm>
              <a:off x="8660760" y="1948171"/>
              <a:ext cx="86719" cy="160994"/>
            </a:xfrm>
            <a:custGeom>
              <a:rect b="b" l="l" r="r" t="t"/>
              <a:pathLst>
                <a:path extrusionOk="0" h="160994" w="86719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7" name="Google Shape;107;p81"/>
            <p:cNvSpPr/>
            <p:nvPr/>
          </p:nvSpPr>
          <p:spPr>
            <a:xfrm>
              <a:off x="8264746" y="1925190"/>
              <a:ext cx="385094" cy="188546"/>
            </a:xfrm>
            <a:custGeom>
              <a:rect b="b" l="l" r="r" t="t"/>
              <a:pathLst>
                <a:path extrusionOk="0" h="188546" w="385094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8" name="Google Shape;108;p81"/>
            <p:cNvSpPr/>
            <p:nvPr/>
          </p:nvSpPr>
          <p:spPr>
            <a:xfrm>
              <a:off x="8271476" y="1752133"/>
              <a:ext cx="470924" cy="261425"/>
            </a:xfrm>
            <a:custGeom>
              <a:rect b="b" l="l" r="r" t="t"/>
              <a:pathLst>
                <a:path extrusionOk="0" h="261425" w="470924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rgbClr val="A2D0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9" name="Google Shape;109;p81"/>
            <p:cNvSpPr/>
            <p:nvPr/>
          </p:nvSpPr>
          <p:spPr>
            <a:xfrm>
              <a:off x="8596134" y="1831742"/>
              <a:ext cx="64753" cy="72370"/>
            </a:xfrm>
            <a:custGeom>
              <a:rect b="b" l="l" r="r" t="t"/>
              <a:pathLst>
                <a:path extrusionOk="0" h="72370" w="64753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0" name="Google Shape;110;p81"/>
            <p:cNvSpPr/>
            <p:nvPr/>
          </p:nvSpPr>
          <p:spPr>
            <a:xfrm>
              <a:off x="5870252" y="307756"/>
              <a:ext cx="242636" cy="686002"/>
            </a:xfrm>
            <a:custGeom>
              <a:rect b="b" l="l" r="r" t="t"/>
              <a:pathLst>
                <a:path extrusionOk="0" h="686002" w="242636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rgbClr val="D3F4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1" name="Google Shape;111;p81"/>
            <p:cNvSpPr/>
            <p:nvPr/>
          </p:nvSpPr>
          <p:spPr>
            <a:xfrm>
              <a:off x="4280737" y="38713"/>
              <a:ext cx="1577961" cy="1069316"/>
            </a:xfrm>
            <a:custGeom>
              <a:rect b="b" l="l" r="r" t="t"/>
              <a:pathLst>
                <a:path extrusionOk="0" h="1069316" w="1577961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2" name="Google Shape;112;p81"/>
            <p:cNvSpPr/>
            <p:nvPr/>
          </p:nvSpPr>
          <p:spPr>
            <a:xfrm>
              <a:off x="4281244" y="-12696"/>
              <a:ext cx="1826185" cy="510522"/>
            </a:xfrm>
            <a:custGeom>
              <a:rect b="b" l="l" r="r" t="t"/>
              <a:pathLst>
                <a:path extrusionOk="0" h="510522" w="1826185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3" name="Google Shape;113;p81"/>
            <p:cNvSpPr/>
            <p:nvPr/>
          </p:nvSpPr>
          <p:spPr>
            <a:xfrm>
              <a:off x="3884723" y="-12695"/>
              <a:ext cx="242636" cy="547597"/>
            </a:xfrm>
            <a:custGeom>
              <a:rect b="b" l="l" r="r" t="t"/>
              <a:pathLst>
                <a:path extrusionOk="0" h="547597" w="242636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" name="Google Shape;114;p81"/>
            <p:cNvSpPr/>
            <p:nvPr/>
          </p:nvSpPr>
          <p:spPr>
            <a:xfrm>
              <a:off x="2048998" y="-12696"/>
              <a:ext cx="1824932" cy="551786"/>
            </a:xfrm>
            <a:custGeom>
              <a:rect b="b" l="l" r="r" t="t"/>
              <a:pathLst>
                <a:path extrusionOk="0" h="551786" w="1824932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5" name="Google Shape;115;p81"/>
            <p:cNvSpPr/>
            <p:nvPr/>
          </p:nvSpPr>
          <p:spPr>
            <a:xfrm>
              <a:off x="7060071" y="934974"/>
              <a:ext cx="510666" cy="160232"/>
            </a:xfrm>
            <a:custGeom>
              <a:rect b="b" l="l" r="r" t="t"/>
              <a:pathLst>
                <a:path extrusionOk="0" h="160232" w="510666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68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6" name="Google Shape;116;p81"/>
            <p:cNvSpPr/>
            <p:nvPr/>
          </p:nvSpPr>
          <p:spPr>
            <a:xfrm>
              <a:off x="8667235" y="1770925"/>
              <a:ext cx="1164933" cy="547100"/>
            </a:xfrm>
            <a:custGeom>
              <a:rect b="b" l="l" r="r" t="t"/>
              <a:pathLst>
                <a:path extrusionOk="0" h="547100" w="1164933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rgbClr val="468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7" name="Google Shape;117;p81"/>
            <p:cNvSpPr/>
            <p:nvPr/>
          </p:nvSpPr>
          <p:spPr>
            <a:xfrm>
              <a:off x="5839272" y="1087842"/>
              <a:ext cx="3068949" cy="638517"/>
            </a:xfrm>
            <a:custGeom>
              <a:rect b="b" l="l" r="r" t="t"/>
              <a:pathLst>
                <a:path extrusionOk="0" h="638517" w="3068949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F4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8" name="Google Shape;118;p81"/>
            <p:cNvSpPr/>
            <p:nvPr/>
          </p:nvSpPr>
          <p:spPr>
            <a:xfrm>
              <a:off x="10341185" y="2444231"/>
              <a:ext cx="758888" cy="229302"/>
            </a:xfrm>
            <a:custGeom>
              <a:rect b="b" l="l" r="r" t="t"/>
              <a:pathLst>
                <a:path extrusionOk="0" h="229302" w="758888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9" name="Google Shape;119;p81"/>
            <p:cNvSpPr/>
            <p:nvPr/>
          </p:nvSpPr>
          <p:spPr>
            <a:xfrm>
              <a:off x="9841438" y="2122369"/>
              <a:ext cx="1764858" cy="708603"/>
            </a:xfrm>
            <a:custGeom>
              <a:rect b="b" l="l" r="r" t="t"/>
              <a:pathLst>
                <a:path extrusionOk="0" h="708603" w="1764858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0" name="Google Shape;120;p81"/>
            <p:cNvSpPr/>
            <p:nvPr/>
          </p:nvSpPr>
          <p:spPr>
            <a:xfrm>
              <a:off x="5841684" y="934974"/>
              <a:ext cx="4550795" cy="1177492"/>
            </a:xfrm>
            <a:custGeom>
              <a:rect b="b" l="l" r="r" t="t"/>
              <a:pathLst>
                <a:path extrusionOk="0" h="1177492" w="4550795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1" name="Google Shape;121;p81"/>
            <p:cNvSpPr/>
            <p:nvPr/>
          </p:nvSpPr>
          <p:spPr>
            <a:xfrm>
              <a:off x="9241513" y="1301655"/>
              <a:ext cx="1286569" cy="350428"/>
            </a:xfrm>
            <a:custGeom>
              <a:rect b="b" l="l" r="r" t="t"/>
              <a:pathLst>
                <a:path extrusionOk="0" h="350428" w="1286569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2" name="Google Shape;122;p81"/>
            <p:cNvSpPr/>
            <p:nvPr/>
          </p:nvSpPr>
          <p:spPr>
            <a:xfrm>
              <a:off x="10413557" y="1551906"/>
              <a:ext cx="1759399" cy="580239"/>
            </a:xfrm>
            <a:custGeom>
              <a:rect b="b" l="l" r="r" t="t"/>
              <a:pathLst>
                <a:path extrusionOk="0" h="580239" w="175939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3" name="Google Shape;123;p81"/>
            <p:cNvSpPr/>
            <p:nvPr/>
          </p:nvSpPr>
          <p:spPr>
            <a:xfrm>
              <a:off x="9848167" y="1663130"/>
              <a:ext cx="2135606" cy="964060"/>
            </a:xfrm>
            <a:custGeom>
              <a:rect b="b" l="l" r="r" t="t"/>
              <a:pathLst>
                <a:path extrusionOk="0" h="964060" w="2135606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4" name="Google Shape;124;p81"/>
            <p:cNvSpPr/>
            <p:nvPr/>
          </p:nvSpPr>
          <p:spPr>
            <a:xfrm>
              <a:off x="11455839" y="853461"/>
              <a:ext cx="359954" cy="383186"/>
            </a:xfrm>
            <a:custGeom>
              <a:rect b="b" l="l" r="r" t="t"/>
              <a:pathLst>
                <a:path extrusionOk="0" h="383186" w="359954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rgbClr val="468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5" name="Google Shape;125;p81"/>
            <p:cNvSpPr/>
            <p:nvPr/>
          </p:nvSpPr>
          <p:spPr>
            <a:xfrm>
              <a:off x="11314396" y="1105871"/>
              <a:ext cx="131285" cy="133188"/>
            </a:xfrm>
            <a:custGeom>
              <a:rect b="b" l="l" r="r" t="t"/>
              <a:pathLst>
                <a:path extrusionOk="0" h="133188" w="131285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rgbClr val="D3F4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6" name="Google Shape;126;p81"/>
            <p:cNvSpPr/>
            <p:nvPr/>
          </p:nvSpPr>
          <p:spPr>
            <a:xfrm>
              <a:off x="11061095" y="984364"/>
              <a:ext cx="242509" cy="694890"/>
            </a:xfrm>
            <a:custGeom>
              <a:rect b="b" l="l" r="r" t="t"/>
              <a:pathLst>
                <a:path extrusionOk="0" h="694890" w="242509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7" name="Google Shape;127;p81"/>
            <p:cNvSpPr/>
            <p:nvPr/>
          </p:nvSpPr>
          <p:spPr>
            <a:xfrm>
              <a:off x="11526179" y="1190431"/>
              <a:ext cx="665441" cy="395883"/>
            </a:xfrm>
            <a:custGeom>
              <a:rect b="b" l="l" r="r" t="t"/>
              <a:pathLst>
                <a:path extrusionOk="0" h="395883" w="665441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8" name="Google Shape;128;p81"/>
            <p:cNvSpPr/>
            <p:nvPr/>
          </p:nvSpPr>
          <p:spPr>
            <a:xfrm>
              <a:off x="11530751" y="653742"/>
              <a:ext cx="660869" cy="725489"/>
            </a:xfrm>
            <a:custGeom>
              <a:rect b="b" l="l" r="r" t="t"/>
              <a:pathLst>
                <a:path extrusionOk="0" h="725489" w="66086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9" name="Google Shape;129;p81"/>
            <p:cNvSpPr/>
            <p:nvPr/>
          </p:nvSpPr>
          <p:spPr>
            <a:xfrm>
              <a:off x="11997740" y="1906144"/>
              <a:ext cx="178898" cy="423308"/>
            </a:xfrm>
            <a:custGeom>
              <a:rect b="b" l="l" r="r" t="t"/>
              <a:pathLst>
                <a:path extrusionOk="0" h="423308" w="17889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0" name="Google Shape;130;p81"/>
            <p:cNvSpPr/>
            <p:nvPr/>
          </p:nvSpPr>
          <p:spPr>
            <a:xfrm>
              <a:off x="11618740" y="2153603"/>
              <a:ext cx="368080" cy="670767"/>
            </a:xfrm>
            <a:custGeom>
              <a:rect b="b" l="l" r="r" t="t"/>
              <a:pathLst>
                <a:path extrusionOk="0" h="670767" w="368080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rgbClr val="468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1" name="Google Shape;131;p81"/>
            <p:cNvSpPr/>
            <p:nvPr/>
          </p:nvSpPr>
          <p:spPr>
            <a:xfrm>
              <a:off x="11114168" y="2732192"/>
              <a:ext cx="168740" cy="227525"/>
            </a:xfrm>
            <a:custGeom>
              <a:rect b="b" l="l" r="r" t="t"/>
              <a:pathLst>
                <a:path extrusionOk="0" h="227525" w="168740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2" name="Google Shape;132;p81"/>
            <p:cNvSpPr/>
            <p:nvPr/>
          </p:nvSpPr>
          <p:spPr>
            <a:xfrm>
              <a:off x="9840295" y="2510254"/>
              <a:ext cx="1263079" cy="453780"/>
            </a:xfrm>
            <a:custGeom>
              <a:rect b="b" l="l" r="r" t="t"/>
              <a:pathLst>
                <a:path extrusionOk="0" h="453780" w="1263079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3" name="Google Shape;133;p81"/>
            <p:cNvSpPr/>
            <p:nvPr/>
          </p:nvSpPr>
          <p:spPr>
            <a:xfrm>
              <a:off x="9845628" y="2372748"/>
              <a:ext cx="1428138" cy="489076"/>
            </a:xfrm>
            <a:custGeom>
              <a:rect b="b" l="l" r="r" t="t"/>
              <a:pathLst>
                <a:path extrusionOk="0" h="489076" w="1428138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rgbClr val="C4E3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4" name="Google Shape;134;p81"/>
            <p:cNvSpPr/>
            <p:nvPr/>
          </p:nvSpPr>
          <p:spPr>
            <a:xfrm>
              <a:off x="6538994" y="1476234"/>
              <a:ext cx="45073" cy="157311"/>
            </a:xfrm>
            <a:custGeom>
              <a:rect b="b" l="l" r="r" t="t"/>
              <a:pathLst>
                <a:path extrusionOk="0" h="157311" w="45073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5" name="Google Shape;135;p81"/>
            <p:cNvSpPr/>
            <p:nvPr/>
          </p:nvSpPr>
          <p:spPr>
            <a:xfrm>
              <a:off x="5730587" y="1419734"/>
              <a:ext cx="797614" cy="227017"/>
            </a:xfrm>
            <a:custGeom>
              <a:rect b="b" l="l" r="r" t="t"/>
              <a:pathLst>
                <a:path extrusionOk="0" h="227017" w="797614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6" name="Google Shape;136;p81"/>
            <p:cNvSpPr/>
            <p:nvPr/>
          </p:nvSpPr>
          <p:spPr>
            <a:xfrm>
              <a:off x="5734015" y="1311177"/>
              <a:ext cx="847259" cy="232857"/>
            </a:xfrm>
            <a:custGeom>
              <a:rect b="b" l="l" r="r" t="t"/>
              <a:pathLst>
                <a:path extrusionOk="0" h="232857" w="847259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7" name="Google Shape;137;p81"/>
            <p:cNvSpPr/>
            <p:nvPr/>
          </p:nvSpPr>
          <p:spPr>
            <a:xfrm>
              <a:off x="4085459" y="893328"/>
              <a:ext cx="165185" cy="224604"/>
            </a:xfrm>
            <a:custGeom>
              <a:rect b="b" l="l" r="r" t="t"/>
              <a:pathLst>
                <a:path extrusionOk="0" h="224604" w="165185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8" name="Google Shape;138;p81"/>
            <p:cNvSpPr/>
            <p:nvPr/>
          </p:nvSpPr>
          <p:spPr>
            <a:xfrm>
              <a:off x="5716" y="7225"/>
              <a:ext cx="4068951" cy="1115278"/>
            </a:xfrm>
            <a:custGeom>
              <a:rect b="b" l="l" r="r" t="t"/>
              <a:pathLst>
                <a:path extrusionOk="0" h="1115278" w="4068951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9" name="Google Shape;139;p81"/>
            <p:cNvSpPr/>
            <p:nvPr/>
          </p:nvSpPr>
          <p:spPr>
            <a:xfrm>
              <a:off x="5716" y="-12696"/>
              <a:ext cx="4239343" cy="1032611"/>
            </a:xfrm>
            <a:custGeom>
              <a:rect b="b" l="l" r="r" t="t"/>
              <a:pathLst>
                <a:path extrusionOk="0" h="1032611" w="4239343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0" name="Google Shape;140;p81"/>
            <p:cNvSpPr/>
            <p:nvPr/>
          </p:nvSpPr>
          <p:spPr>
            <a:xfrm>
              <a:off x="5460272" y="1245789"/>
              <a:ext cx="83544" cy="195656"/>
            </a:xfrm>
            <a:custGeom>
              <a:rect b="b" l="l" r="r" t="t"/>
              <a:pathLst>
                <a:path extrusionOk="0" h="195656" w="83544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1" name="Google Shape;141;p81"/>
            <p:cNvSpPr/>
            <p:nvPr/>
          </p:nvSpPr>
          <p:spPr>
            <a:xfrm>
              <a:off x="4381041" y="1164022"/>
              <a:ext cx="1068437" cy="287072"/>
            </a:xfrm>
            <a:custGeom>
              <a:rect b="b" l="l" r="r" t="t"/>
              <a:pathLst>
                <a:path extrusionOk="0" h="287072" w="1068437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2" name="Google Shape;142;p81"/>
            <p:cNvSpPr/>
            <p:nvPr/>
          </p:nvSpPr>
          <p:spPr>
            <a:xfrm>
              <a:off x="4385358" y="1007980"/>
              <a:ext cx="1154903" cy="340144"/>
            </a:xfrm>
            <a:custGeom>
              <a:rect b="b" l="l" r="r" t="t"/>
              <a:pathLst>
                <a:path extrusionOk="0" h="340144" w="1154903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rgbClr val="468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3" name="Google Shape;143;p81"/>
            <p:cNvSpPr/>
            <p:nvPr/>
          </p:nvSpPr>
          <p:spPr>
            <a:xfrm>
              <a:off x="10108071" y="318802"/>
              <a:ext cx="1506478" cy="460636"/>
            </a:xfrm>
            <a:custGeom>
              <a:rect b="b" l="l" r="r" t="t"/>
              <a:pathLst>
                <a:path extrusionOk="0" h="460636" w="1506478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4" name="Google Shape;144;p81"/>
            <p:cNvSpPr/>
            <p:nvPr/>
          </p:nvSpPr>
          <p:spPr>
            <a:xfrm>
              <a:off x="11313889" y="773218"/>
              <a:ext cx="300280" cy="253553"/>
            </a:xfrm>
            <a:custGeom>
              <a:rect b="b" l="l" r="r" t="t"/>
              <a:pathLst>
                <a:path extrusionOk="0" h="253553" w="300280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5" name="Google Shape;145;p81"/>
            <p:cNvSpPr/>
            <p:nvPr/>
          </p:nvSpPr>
          <p:spPr>
            <a:xfrm>
              <a:off x="9213453" y="1240964"/>
              <a:ext cx="430421" cy="128109"/>
            </a:xfrm>
            <a:custGeom>
              <a:rect b="b" l="l" r="r" t="t"/>
              <a:pathLst>
                <a:path extrusionOk="0" h="128109" w="430421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6" name="Google Shape;146;p81"/>
            <p:cNvSpPr/>
            <p:nvPr/>
          </p:nvSpPr>
          <p:spPr>
            <a:xfrm>
              <a:off x="9211548" y="620095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7" name="Google Shape;147;p81"/>
            <p:cNvSpPr/>
            <p:nvPr/>
          </p:nvSpPr>
          <p:spPr>
            <a:xfrm>
              <a:off x="9210914" y="621619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8" name="Google Shape;148;p81"/>
            <p:cNvSpPr/>
            <p:nvPr/>
          </p:nvSpPr>
          <p:spPr>
            <a:xfrm>
              <a:off x="9211511" y="624285"/>
              <a:ext cx="9179" cy="625065"/>
            </a:xfrm>
            <a:custGeom>
              <a:rect b="b" l="l" r="r" t="t"/>
              <a:pathLst>
                <a:path extrusionOk="0" h="625065" w="9179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9" name="Google Shape;149;p81"/>
            <p:cNvSpPr/>
            <p:nvPr/>
          </p:nvSpPr>
          <p:spPr>
            <a:xfrm>
              <a:off x="10631815" y="1056862"/>
              <a:ext cx="10792" cy="506217"/>
            </a:xfrm>
            <a:custGeom>
              <a:rect b="b" l="l" r="r" t="t"/>
              <a:pathLst>
                <a:path extrusionOk="0" h="506217" w="10792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0" name="Google Shape;150;p81"/>
            <p:cNvSpPr/>
            <p:nvPr/>
          </p:nvSpPr>
          <p:spPr>
            <a:xfrm>
              <a:off x="9210914" y="621111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1" name="Google Shape;151;p81"/>
            <p:cNvSpPr/>
            <p:nvPr/>
          </p:nvSpPr>
          <p:spPr>
            <a:xfrm>
              <a:off x="9210914" y="620222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2" name="Google Shape;152;p81"/>
            <p:cNvSpPr/>
            <p:nvPr/>
          </p:nvSpPr>
          <p:spPr>
            <a:xfrm>
              <a:off x="9213326" y="621619"/>
              <a:ext cx="1422679" cy="436512"/>
            </a:xfrm>
            <a:custGeom>
              <a:rect b="b" l="l" r="r" t="t"/>
              <a:pathLst>
                <a:path extrusionOk="0" h="436512" w="1422679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3" name="Google Shape;153;p81"/>
            <p:cNvSpPr/>
            <p:nvPr/>
          </p:nvSpPr>
          <p:spPr>
            <a:xfrm>
              <a:off x="10633593" y="848890"/>
              <a:ext cx="258888" cy="202258"/>
            </a:xfrm>
            <a:custGeom>
              <a:rect b="b" l="l" r="r" t="t"/>
              <a:pathLst>
                <a:path extrusionOk="0" h="202258" w="25888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4" name="Google Shape;154;p81"/>
            <p:cNvSpPr/>
            <p:nvPr/>
          </p:nvSpPr>
          <p:spPr>
            <a:xfrm>
              <a:off x="10632958" y="1055973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5" name="Google Shape;155;p81"/>
            <p:cNvSpPr/>
            <p:nvPr/>
          </p:nvSpPr>
          <p:spPr>
            <a:xfrm>
              <a:off x="8694787" y="855746"/>
              <a:ext cx="253936" cy="211400"/>
            </a:xfrm>
            <a:custGeom>
              <a:rect b="b" l="l" r="r" t="t"/>
              <a:pathLst>
                <a:path extrusionOk="0" h="211400" w="253936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6" name="Google Shape;156;p81"/>
            <p:cNvSpPr/>
            <p:nvPr/>
          </p:nvSpPr>
          <p:spPr>
            <a:xfrm>
              <a:off x="5051688" y="-39118"/>
              <a:ext cx="3638910" cy="1108170"/>
            </a:xfrm>
            <a:custGeom>
              <a:rect b="b" l="l" r="r" t="t"/>
              <a:pathLst>
                <a:path extrusionOk="0" h="1108170" w="363891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7" name="Google Shape;157;p81"/>
            <p:cNvSpPr/>
            <p:nvPr/>
          </p:nvSpPr>
          <p:spPr>
            <a:xfrm>
              <a:off x="8696245" y="1065369"/>
              <a:ext cx="66" cy="761"/>
            </a:xfrm>
            <a:custGeom>
              <a:rect b="b" l="l" r="r" t="t"/>
              <a:pathLst>
                <a:path extrusionOk="0" h="761" w="66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8" name="Google Shape;158;p81"/>
            <p:cNvSpPr/>
            <p:nvPr/>
          </p:nvSpPr>
          <p:spPr>
            <a:xfrm>
              <a:off x="8685011" y="445262"/>
              <a:ext cx="10537" cy="624171"/>
            </a:xfrm>
            <a:custGeom>
              <a:rect b="b" l="l" r="r" t="t"/>
              <a:pathLst>
                <a:path extrusionOk="0" h="624171" w="10537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9" name="Google Shape;159;p81"/>
            <p:cNvSpPr/>
            <p:nvPr/>
          </p:nvSpPr>
          <p:spPr>
            <a:xfrm>
              <a:off x="7164989" y="-12695"/>
              <a:ext cx="1525737" cy="460751"/>
            </a:xfrm>
            <a:custGeom>
              <a:rect b="b" l="l" r="r" t="t"/>
              <a:pathLst>
                <a:path extrusionOk="0" h="460751" w="1525737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" name="Google Shape;160;p81"/>
            <p:cNvSpPr/>
            <p:nvPr/>
          </p:nvSpPr>
          <p:spPr>
            <a:xfrm>
              <a:off x="8948851" y="233481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1" name="Google Shape;161;p81"/>
            <p:cNvSpPr/>
            <p:nvPr/>
          </p:nvSpPr>
          <p:spPr>
            <a:xfrm>
              <a:off x="8949994" y="234877"/>
              <a:ext cx="12696" cy="888"/>
            </a:xfrm>
            <a:custGeom>
              <a:rect b="b" l="l" r="r" t="t"/>
              <a:pathLst>
                <a:path extrusionOk="0" h="888" w="12696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" name="Google Shape;162;p81"/>
            <p:cNvSpPr/>
            <p:nvPr/>
          </p:nvSpPr>
          <p:spPr>
            <a:xfrm>
              <a:off x="8947073" y="232719"/>
              <a:ext cx="762" cy="12696"/>
            </a:xfrm>
            <a:custGeom>
              <a:rect b="b" l="l" r="r" t="t"/>
              <a:pathLst>
                <a:path extrusionOk="0" h="12696" w="762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3" name="Google Shape;163;p81"/>
            <p:cNvSpPr/>
            <p:nvPr/>
          </p:nvSpPr>
          <p:spPr>
            <a:xfrm>
              <a:off x="8685923" y="239448"/>
              <a:ext cx="253532" cy="208702"/>
            </a:xfrm>
            <a:custGeom>
              <a:rect b="b" l="l" r="r" t="t"/>
              <a:pathLst>
                <a:path extrusionOk="0" h="208702" w="25353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4" name="Google Shape;164;p81"/>
            <p:cNvSpPr/>
            <p:nvPr/>
          </p:nvSpPr>
          <p:spPr>
            <a:xfrm>
              <a:off x="8950375" y="397522"/>
              <a:ext cx="389665" cy="125316"/>
            </a:xfrm>
            <a:custGeom>
              <a:rect b="b" l="l" r="r" t="t"/>
              <a:pathLst>
                <a:path extrusionOk="0" h="125316" w="389665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5" name="Google Shape;165;p81"/>
            <p:cNvSpPr/>
            <p:nvPr/>
          </p:nvSpPr>
          <p:spPr>
            <a:xfrm>
              <a:off x="9725389" y="226244"/>
              <a:ext cx="10791" cy="266630"/>
            </a:xfrm>
            <a:custGeom>
              <a:rect b="b" l="l" r="r" t="t"/>
              <a:pathLst>
                <a:path extrusionOk="0" h="266630" w="10791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6" name="Google Shape;166;p81"/>
            <p:cNvSpPr/>
            <p:nvPr/>
          </p:nvSpPr>
          <p:spPr>
            <a:xfrm>
              <a:off x="8928349" y="-12696"/>
              <a:ext cx="802500" cy="241733"/>
            </a:xfrm>
            <a:custGeom>
              <a:rect b="b" l="l" r="r" t="t"/>
              <a:pathLst>
                <a:path extrusionOk="0" h="241733" w="802500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7" name="Google Shape;167;p81"/>
            <p:cNvSpPr/>
            <p:nvPr/>
          </p:nvSpPr>
          <p:spPr>
            <a:xfrm>
              <a:off x="9731483" y="228021"/>
              <a:ext cx="3301" cy="1269"/>
            </a:xfrm>
            <a:custGeom>
              <a:rect b="b" l="l" r="r" t="t"/>
              <a:pathLst>
                <a:path extrusionOk="0" h="1269" w="3301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8" name="Google Shape;168;p81"/>
            <p:cNvSpPr/>
            <p:nvPr/>
          </p:nvSpPr>
          <p:spPr>
            <a:xfrm>
              <a:off x="10057157" y="-45212"/>
              <a:ext cx="10792" cy="401723"/>
            </a:xfrm>
            <a:custGeom>
              <a:rect b="b" l="l" r="r" t="t"/>
              <a:pathLst>
                <a:path extrusionOk="0" h="401723" w="10792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9" name="Google Shape;169;p81"/>
            <p:cNvSpPr/>
            <p:nvPr/>
          </p:nvSpPr>
          <p:spPr>
            <a:xfrm>
              <a:off x="9725613" y="-50037"/>
              <a:ext cx="342397" cy="278819"/>
            </a:xfrm>
            <a:custGeom>
              <a:rect b="b" l="l" r="r" t="t"/>
              <a:pathLst>
                <a:path extrusionOk="0" h="278819" w="342397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0" name="Google Shape;170;p81"/>
            <p:cNvSpPr/>
            <p:nvPr/>
          </p:nvSpPr>
          <p:spPr>
            <a:xfrm>
              <a:off x="10803222" y="89626"/>
              <a:ext cx="1276793" cy="415944"/>
            </a:xfrm>
            <a:custGeom>
              <a:rect b="b" l="l" r="r" t="t"/>
              <a:pathLst>
                <a:path extrusionOk="0" h="415944" w="1276793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1" name="Google Shape;171;p81"/>
            <p:cNvSpPr/>
            <p:nvPr/>
          </p:nvSpPr>
          <p:spPr>
            <a:xfrm>
              <a:off x="12075222" y="89754"/>
              <a:ext cx="10633" cy="410357"/>
            </a:xfrm>
            <a:custGeom>
              <a:rect b="b" l="l" r="r" t="t"/>
              <a:pathLst>
                <a:path extrusionOk="0" h="410357" w="10633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2" name="Google Shape;172;p81"/>
            <p:cNvSpPr/>
            <p:nvPr/>
          </p:nvSpPr>
          <p:spPr>
            <a:xfrm>
              <a:off x="12076333" y="88992"/>
              <a:ext cx="634" cy="634"/>
            </a:xfrm>
            <a:custGeom>
              <a:rect b="b" l="l" r="r" t="t"/>
              <a:pathLst>
                <a:path extrusionOk="0" h="634" w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3" name="Google Shape;173;p81"/>
            <p:cNvSpPr/>
            <p:nvPr/>
          </p:nvSpPr>
          <p:spPr>
            <a:xfrm>
              <a:off x="12077095" y="-10169"/>
              <a:ext cx="114652" cy="94336"/>
            </a:xfrm>
            <a:custGeom>
              <a:rect b="b" l="l" r="r" t="t"/>
              <a:pathLst>
                <a:path extrusionOk="0" h="94336" w="114652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" name="Google Shape;174;p81"/>
            <p:cNvSpPr/>
            <p:nvPr/>
          </p:nvSpPr>
          <p:spPr>
            <a:xfrm>
              <a:off x="10472343" y="-4456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" name="Google Shape;175;p81"/>
            <p:cNvSpPr/>
            <p:nvPr/>
          </p:nvSpPr>
          <p:spPr>
            <a:xfrm>
              <a:off x="10474619" y="-7757"/>
              <a:ext cx="56" cy="888"/>
            </a:xfrm>
            <a:custGeom>
              <a:rect b="b" l="l" r="r" t="t"/>
              <a:pathLst>
                <a:path extrusionOk="0" h="888" w="56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6" name="Google Shape;176;p81"/>
            <p:cNvSpPr/>
            <p:nvPr/>
          </p:nvSpPr>
          <p:spPr>
            <a:xfrm>
              <a:off x="7815659" y="1046958"/>
              <a:ext cx="38979" cy="36947"/>
            </a:xfrm>
            <a:custGeom>
              <a:rect b="b" l="l" r="r" t="t"/>
              <a:pathLst>
                <a:path extrusionOk="0" h="36947" w="38979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7" name="Google Shape;177;p81"/>
            <p:cNvSpPr/>
            <p:nvPr/>
          </p:nvSpPr>
          <p:spPr>
            <a:xfrm>
              <a:off x="7804867" y="876188"/>
              <a:ext cx="10792" cy="204670"/>
            </a:xfrm>
            <a:custGeom>
              <a:rect b="b" l="l" r="r" t="t"/>
              <a:pathLst>
                <a:path extrusionOk="0" h="204670" w="10792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8" name="Google Shape;178;p81"/>
            <p:cNvSpPr/>
            <p:nvPr/>
          </p:nvSpPr>
          <p:spPr>
            <a:xfrm>
              <a:off x="7263347" y="705544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9" name="Google Shape;179;p81"/>
            <p:cNvSpPr/>
            <p:nvPr/>
          </p:nvSpPr>
          <p:spPr>
            <a:xfrm>
              <a:off x="7266395" y="704782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0" name="Google Shape;180;p81"/>
            <p:cNvSpPr/>
            <p:nvPr/>
          </p:nvSpPr>
          <p:spPr>
            <a:xfrm>
              <a:off x="7264363" y="705544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1" name="Google Shape;181;p81"/>
            <p:cNvSpPr/>
            <p:nvPr/>
          </p:nvSpPr>
          <p:spPr>
            <a:xfrm>
              <a:off x="7268426" y="715194"/>
              <a:ext cx="540631" cy="160740"/>
            </a:xfrm>
            <a:custGeom>
              <a:rect b="b" l="l" r="r" t="t"/>
              <a:pathLst>
                <a:path extrusionOk="0" h="160740" w="540631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2" name="Google Shape;182;p81"/>
            <p:cNvSpPr/>
            <p:nvPr/>
          </p:nvSpPr>
          <p:spPr>
            <a:xfrm>
              <a:off x="7854004" y="840129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3" name="Google Shape;183;p81"/>
            <p:cNvSpPr/>
            <p:nvPr/>
          </p:nvSpPr>
          <p:spPr>
            <a:xfrm>
              <a:off x="7854512" y="841272"/>
              <a:ext cx="47" cy="761"/>
            </a:xfrm>
            <a:custGeom>
              <a:rect b="b" l="l" r="r" t="t"/>
              <a:pathLst>
                <a:path extrusionOk="0" h="761" w="47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" name="Google Shape;184;p81"/>
            <p:cNvSpPr/>
            <p:nvPr/>
          </p:nvSpPr>
          <p:spPr>
            <a:xfrm>
              <a:off x="7851592" y="838733"/>
              <a:ext cx="761" cy="12696"/>
            </a:xfrm>
            <a:custGeom>
              <a:rect b="b" l="l" r="r" t="t"/>
              <a:pathLst>
                <a:path extrusionOk="0" h="12696" w="761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5" name="Google Shape;185;p81"/>
            <p:cNvSpPr/>
            <p:nvPr/>
          </p:nvSpPr>
          <p:spPr>
            <a:xfrm>
              <a:off x="7263347" y="705496"/>
              <a:ext cx="888" cy="47"/>
            </a:xfrm>
            <a:custGeom>
              <a:rect b="b" l="l" r="r" t="t"/>
              <a:pathLst>
                <a:path extrusionOk="0" h="47" w="888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6" name="Google Shape;186;p81"/>
            <p:cNvSpPr/>
            <p:nvPr/>
          </p:nvSpPr>
          <p:spPr>
            <a:xfrm>
              <a:off x="7265125" y="705544"/>
              <a:ext cx="1143" cy="12696"/>
            </a:xfrm>
            <a:custGeom>
              <a:rect b="b" l="l" r="r" t="t"/>
              <a:pathLst>
                <a:path extrusionOk="0" h="12696" w="1143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7" name="Google Shape;187;p81"/>
            <p:cNvSpPr/>
            <p:nvPr/>
          </p:nvSpPr>
          <p:spPr>
            <a:xfrm>
              <a:off x="7267538" y="705544"/>
              <a:ext cx="583037" cy="139663"/>
            </a:xfrm>
            <a:custGeom>
              <a:rect b="b" l="l" r="r" t="t"/>
              <a:pathLst>
                <a:path extrusionOk="0" h="139663" w="583037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8" name="Google Shape;188;p81"/>
            <p:cNvSpPr/>
            <p:nvPr/>
          </p:nvSpPr>
          <p:spPr>
            <a:xfrm>
              <a:off x="7849179" y="837463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9" name="Google Shape;189;p81"/>
            <p:cNvSpPr/>
            <p:nvPr/>
          </p:nvSpPr>
          <p:spPr>
            <a:xfrm>
              <a:off x="7850576" y="837971"/>
              <a:ext cx="888" cy="12696"/>
            </a:xfrm>
            <a:custGeom>
              <a:rect b="b" l="l" r="r" t="t"/>
              <a:pathLst>
                <a:path extrusionOk="0" h="12696" w="888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0" name="Google Shape;190;p81"/>
            <p:cNvSpPr/>
            <p:nvPr/>
          </p:nvSpPr>
          <p:spPr>
            <a:xfrm>
              <a:off x="7843338" y="841653"/>
              <a:ext cx="10030" cy="212417"/>
            </a:xfrm>
            <a:custGeom>
              <a:rect b="b" l="l" r="r" t="t"/>
              <a:pathLst>
                <a:path extrusionOk="0" h="212417" w="10030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1" name="Google Shape;191;p81"/>
            <p:cNvSpPr/>
            <p:nvPr/>
          </p:nvSpPr>
          <p:spPr>
            <a:xfrm>
              <a:off x="7854258" y="840637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2" name="Google Shape;192;p81"/>
            <p:cNvSpPr/>
            <p:nvPr/>
          </p:nvSpPr>
          <p:spPr>
            <a:xfrm>
              <a:off x="7853115" y="838986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3" name="Google Shape;193;p81"/>
            <p:cNvSpPr/>
            <p:nvPr/>
          </p:nvSpPr>
          <p:spPr>
            <a:xfrm>
              <a:off x="7806645" y="837463"/>
              <a:ext cx="48317" cy="38597"/>
            </a:xfrm>
            <a:custGeom>
              <a:rect b="b" l="l" r="r" t="t"/>
              <a:pathLst>
                <a:path extrusionOk="0" h="38597" w="4831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4" name="Google Shape;194;p81"/>
            <p:cNvSpPr/>
            <p:nvPr/>
          </p:nvSpPr>
          <p:spPr>
            <a:xfrm>
              <a:off x="9147430" y="1283498"/>
              <a:ext cx="1254319" cy="376203"/>
            </a:xfrm>
            <a:custGeom>
              <a:rect b="b" l="l" r="r" t="t"/>
              <a:pathLst>
                <a:path extrusionOk="0" h="376203" w="1254319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5" name="Google Shape;195;p81"/>
            <p:cNvSpPr/>
            <p:nvPr/>
          </p:nvSpPr>
          <p:spPr>
            <a:xfrm>
              <a:off x="10398829" y="1549367"/>
              <a:ext cx="141315" cy="107287"/>
            </a:xfrm>
            <a:custGeom>
              <a:rect b="b" l="l" r="r" t="t"/>
              <a:pathLst>
                <a:path extrusionOk="0" h="107287" w="141315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6" name="Google Shape;196;p81"/>
            <p:cNvSpPr/>
            <p:nvPr/>
          </p:nvSpPr>
          <p:spPr>
            <a:xfrm>
              <a:off x="6533534" y="1657543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7" name="Google Shape;197;p81"/>
            <p:cNvSpPr/>
            <p:nvPr/>
          </p:nvSpPr>
          <p:spPr>
            <a:xfrm>
              <a:off x="6538232" y="1559397"/>
              <a:ext cx="55866" cy="95352"/>
            </a:xfrm>
            <a:custGeom>
              <a:rect b="b" l="l" r="r" t="t"/>
              <a:pathLst>
                <a:path extrusionOk="0" h="95352" w="55866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8" name="Google Shape;198;p81"/>
            <p:cNvSpPr/>
            <p:nvPr/>
          </p:nvSpPr>
          <p:spPr>
            <a:xfrm>
              <a:off x="6533534" y="1657543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9" name="Google Shape;199;p81"/>
            <p:cNvSpPr/>
            <p:nvPr/>
          </p:nvSpPr>
          <p:spPr>
            <a:xfrm>
              <a:off x="5723731" y="1513308"/>
              <a:ext cx="809803" cy="144494"/>
            </a:xfrm>
            <a:custGeom>
              <a:rect b="b" l="l" r="r" t="t"/>
              <a:pathLst>
                <a:path extrusionOk="0" h="144494" w="809803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0" name="Google Shape;200;p81"/>
            <p:cNvSpPr/>
            <p:nvPr/>
          </p:nvSpPr>
          <p:spPr>
            <a:xfrm>
              <a:off x="6538867" y="1653480"/>
              <a:ext cx="12696" cy="634"/>
            </a:xfrm>
            <a:custGeom>
              <a:rect b="b" l="l" r="r" t="t"/>
              <a:pathLst>
                <a:path extrusionOk="0" h="634" w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1" name="Google Shape;201;p81"/>
            <p:cNvSpPr/>
            <p:nvPr/>
          </p:nvSpPr>
          <p:spPr>
            <a:xfrm>
              <a:off x="5720372" y="1411608"/>
              <a:ext cx="56" cy="888"/>
            </a:xfrm>
            <a:custGeom>
              <a:rect b="b" l="l" r="r" t="t"/>
              <a:pathLst>
                <a:path extrusionOk="0" h="888" w="56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2" name="Google Shape;202;p81"/>
            <p:cNvSpPr/>
            <p:nvPr/>
          </p:nvSpPr>
          <p:spPr>
            <a:xfrm>
              <a:off x="5720645" y="1414274"/>
              <a:ext cx="9941" cy="107336"/>
            </a:xfrm>
            <a:custGeom>
              <a:rect b="b" l="l" r="r" t="t"/>
              <a:pathLst>
                <a:path extrusionOk="0" h="107336" w="9941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3" name="Google Shape;203;p81"/>
            <p:cNvSpPr/>
            <p:nvPr/>
          </p:nvSpPr>
          <p:spPr>
            <a:xfrm>
              <a:off x="5719826" y="1413005"/>
              <a:ext cx="95" cy="1650"/>
            </a:xfrm>
            <a:custGeom>
              <a:rect b="b" l="l" r="r" t="t"/>
              <a:pathLst>
                <a:path extrusionOk="0" h="1650" w="95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4" name="Google Shape;204;p81"/>
            <p:cNvSpPr/>
            <p:nvPr/>
          </p:nvSpPr>
          <p:spPr>
            <a:xfrm>
              <a:off x="5722334" y="1417956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5" name="Google Shape;205;p81"/>
            <p:cNvSpPr/>
            <p:nvPr/>
          </p:nvSpPr>
          <p:spPr>
            <a:xfrm>
              <a:off x="5720683" y="1303051"/>
              <a:ext cx="82275" cy="108175"/>
            </a:xfrm>
            <a:custGeom>
              <a:rect b="b" l="l" r="r" t="t"/>
              <a:pathLst>
                <a:path extrusionOk="0" h="108175" w="822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6" name="Google Shape;206;p81"/>
            <p:cNvSpPr/>
            <p:nvPr/>
          </p:nvSpPr>
          <p:spPr>
            <a:xfrm>
              <a:off x="6592955" y="1453380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7" name="Google Shape;207;p81"/>
            <p:cNvSpPr/>
            <p:nvPr/>
          </p:nvSpPr>
          <p:spPr>
            <a:xfrm>
              <a:off x="6595368" y="1456681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8" name="Google Shape;208;p81"/>
            <p:cNvSpPr/>
            <p:nvPr/>
          </p:nvSpPr>
          <p:spPr>
            <a:xfrm>
              <a:off x="6594225" y="1454650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9" name="Google Shape;209;p81"/>
            <p:cNvSpPr/>
            <p:nvPr/>
          </p:nvSpPr>
          <p:spPr>
            <a:xfrm>
              <a:off x="5794960" y="1302543"/>
              <a:ext cx="795328" cy="158074"/>
            </a:xfrm>
            <a:custGeom>
              <a:rect b="b" l="l" r="r" t="t"/>
              <a:pathLst>
                <a:path extrusionOk="0" h="158074" w="795328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0" name="Google Shape;210;p81"/>
            <p:cNvSpPr/>
            <p:nvPr/>
          </p:nvSpPr>
          <p:spPr>
            <a:xfrm>
              <a:off x="6591050" y="1452745"/>
              <a:ext cx="761" cy="12696"/>
            </a:xfrm>
            <a:custGeom>
              <a:rect b="b" l="l" r="r" t="t"/>
              <a:pathLst>
                <a:path extrusionOk="0" h="12696" w="761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1" name="Google Shape;211;p81"/>
            <p:cNvSpPr/>
            <p:nvPr/>
          </p:nvSpPr>
          <p:spPr>
            <a:xfrm>
              <a:off x="6593463" y="1453888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2" name="Google Shape;212;p81"/>
            <p:cNvSpPr/>
            <p:nvPr/>
          </p:nvSpPr>
          <p:spPr>
            <a:xfrm>
              <a:off x="6585210" y="1456554"/>
              <a:ext cx="10433" cy="109070"/>
            </a:xfrm>
            <a:custGeom>
              <a:rect b="b" l="l" r="r" t="t"/>
              <a:pathLst>
                <a:path extrusionOk="0" h="109070" w="10433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3" name="Google Shape;213;p81"/>
            <p:cNvSpPr/>
            <p:nvPr/>
          </p:nvSpPr>
          <p:spPr>
            <a:xfrm>
              <a:off x="6594479" y="1454903"/>
              <a:ext cx="47" cy="635"/>
            </a:xfrm>
            <a:custGeom>
              <a:rect b="b" l="l" r="r" t="t"/>
              <a:pathLst>
                <a:path extrusionOk="0" h="635" w="47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4" name="Google Shape;214;p81"/>
            <p:cNvSpPr/>
            <p:nvPr/>
          </p:nvSpPr>
          <p:spPr>
            <a:xfrm>
              <a:off x="6589527" y="1452237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5" name="Google Shape;215;p81"/>
            <p:cNvSpPr/>
            <p:nvPr/>
          </p:nvSpPr>
          <p:spPr>
            <a:xfrm>
              <a:off x="6530995" y="1451095"/>
              <a:ext cx="61856" cy="95733"/>
            </a:xfrm>
            <a:custGeom>
              <a:rect b="b" l="l" r="r" t="t"/>
              <a:pathLst>
                <a:path extrusionOk="0" h="95733" w="61856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6" name="Google Shape;216;p81"/>
            <p:cNvSpPr/>
            <p:nvPr/>
          </p:nvSpPr>
          <p:spPr>
            <a:xfrm>
              <a:off x="6528202" y="1550002"/>
              <a:ext cx="10712" cy="108558"/>
            </a:xfrm>
            <a:custGeom>
              <a:rect b="b" l="l" r="r" t="t"/>
              <a:pathLst>
                <a:path extrusionOk="0" h="108558" w="10712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7" name="Google Shape;217;p81"/>
            <p:cNvSpPr/>
            <p:nvPr/>
          </p:nvSpPr>
          <p:spPr>
            <a:xfrm>
              <a:off x="5719921" y="1409865"/>
              <a:ext cx="818231" cy="143695"/>
            </a:xfrm>
            <a:custGeom>
              <a:rect b="b" l="l" r="r" t="t"/>
              <a:pathLst>
                <a:path extrusionOk="0" h="143695" w="818231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8" name="Google Shape;218;p81"/>
            <p:cNvSpPr/>
            <p:nvPr/>
          </p:nvSpPr>
          <p:spPr>
            <a:xfrm>
              <a:off x="4083936" y="983729"/>
              <a:ext cx="175216" cy="148170"/>
            </a:xfrm>
            <a:custGeom>
              <a:rect b="b" l="l" r="r" t="t"/>
              <a:pathLst>
                <a:path extrusionOk="0" h="148170" w="175216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9" name="Google Shape;219;p81"/>
            <p:cNvSpPr/>
            <p:nvPr/>
          </p:nvSpPr>
          <p:spPr>
            <a:xfrm>
              <a:off x="4085332" y="1130249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0" name="Google Shape;220;p81"/>
            <p:cNvSpPr/>
            <p:nvPr/>
          </p:nvSpPr>
          <p:spPr>
            <a:xfrm>
              <a:off x="5716" y="100673"/>
              <a:ext cx="4074411" cy="1033011"/>
            </a:xfrm>
            <a:custGeom>
              <a:rect b="b" l="l" r="r" t="t"/>
              <a:pathLst>
                <a:path extrusionOk="0" h="1033011" w="40744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1" name="Google Shape;221;p81"/>
            <p:cNvSpPr/>
            <p:nvPr/>
          </p:nvSpPr>
          <p:spPr>
            <a:xfrm>
              <a:off x="4074794" y="1027406"/>
              <a:ext cx="10538" cy="106531"/>
            </a:xfrm>
            <a:custGeom>
              <a:rect b="b" l="l" r="r" t="t"/>
              <a:pathLst>
                <a:path extrusionOk="0" h="106531" w="10538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2" name="Google Shape;222;p81"/>
            <p:cNvSpPr/>
            <p:nvPr/>
          </p:nvSpPr>
          <p:spPr>
            <a:xfrm>
              <a:off x="4080127" y="1029183"/>
              <a:ext cx="3301" cy="1142"/>
            </a:xfrm>
            <a:custGeom>
              <a:rect b="b" l="l" r="r" t="t"/>
              <a:pathLst>
                <a:path extrusionOk="0" h="1142" w="3301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3" name="Google Shape;223;p81"/>
            <p:cNvSpPr/>
            <p:nvPr/>
          </p:nvSpPr>
          <p:spPr>
            <a:xfrm>
              <a:off x="5716" y="-2932"/>
              <a:ext cx="4074411" cy="1033003"/>
            </a:xfrm>
            <a:custGeom>
              <a:rect b="b" l="l" r="r" t="t"/>
              <a:pathLst>
                <a:path extrusionOk="0" h="1033003" w="4074411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4" name="Google Shape;224;p81"/>
            <p:cNvSpPr/>
            <p:nvPr/>
          </p:nvSpPr>
          <p:spPr>
            <a:xfrm>
              <a:off x="4260930" y="879489"/>
              <a:ext cx="12696" cy="634"/>
            </a:xfrm>
            <a:custGeom>
              <a:rect b="b" l="l" r="r" t="t"/>
              <a:pathLst>
                <a:path extrusionOk="0" h="634" w="12696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5" name="Google Shape;225;p81"/>
            <p:cNvSpPr/>
            <p:nvPr/>
          </p:nvSpPr>
          <p:spPr>
            <a:xfrm>
              <a:off x="4261437" y="881266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6" name="Google Shape;226;p81"/>
            <p:cNvSpPr/>
            <p:nvPr/>
          </p:nvSpPr>
          <p:spPr>
            <a:xfrm>
              <a:off x="4258390" y="878727"/>
              <a:ext cx="761" cy="12696"/>
            </a:xfrm>
            <a:custGeom>
              <a:rect b="b" l="l" r="r" t="t"/>
              <a:pathLst>
                <a:path extrusionOk="0" h="12696" w="761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7" name="Google Shape;227;p81"/>
            <p:cNvSpPr/>
            <p:nvPr/>
          </p:nvSpPr>
          <p:spPr>
            <a:xfrm>
              <a:off x="678430" y="-12696"/>
              <a:ext cx="3578310" cy="897391"/>
            </a:xfrm>
            <a:custGeom>
              <a:rect b="b" l="l" r="r" t="t"/>
              <a:pathLst>
                <a:path extrusionOk="0" h="897391" w="3578310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8" name="Google Shape;228;p81"/>
            <p:cNvSpPr/>
            <p:nvPr/>
          </p:nvSpPr>
          <p:spPr>
            <a:xfrm>
              <a:off x="4258263" y="877838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9" name="Google Shape;229;p81"/>
            <p:cNvSpPr/>
            <p:nvPr/>
          </p:nvSpPr>
          <p:spPr>
            <a:xfrm>
              <a:off x="4256105" y="877457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0" name="Google Shape;230;p81"/>
            <p:cNvSpPr/>
            <p:nvPr/>
          </p:nvSpPr>
          <p:spPr>
            <a:xfrm>
              <a:off x="4261056" y="880632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1" name="Google Shape;231;p81"/>
            <p:cNvSpPr/>
            <p:nvPr/>
          </p:nvSpPr>
          <p:spPr>
            <a:xfrm>
              <a:off x="4259406" y="878981"/>
              <a:ext cx="635" cy="12696"/>
            </a:xfrm>
            <a:custGeom>
              <a:rect b="b" l="l" r="r" t="t"/>
              <a:pathLst>
                <a:path extrusionOk="0" h="12696" w="635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2" name="Google Shape;232;p81"/>
            <p:cNvSpPr/>
            <p:nvPr/>
          </p:nvSpPr>
          <p:spPr>
            <a:xfrm>
              <a:off x="4250645" y="881647"/>
              <a:ext cx="10726" cy="109197"/>
            </a:xfrm>
            <a:custGeom>
              <a:rect b="b" l="l" r="r" t="t"/>
              <a:pathLst>
                <a:path extrusionOk="0" h="109197" w="10726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3" name="Google Shape;233;p81"/>
            <p:cNvSpPr/>
            <p:nvPr/>
          </p:nvSpPr>
          <p:spPr>
            <a:xfrm>
              <a:off x="4075526" y="877457"/>
              <a:ext cx="186480" cy="152233"/>
            </a:xfrm>
            <a:custGeom>
              <a:rect b="b" l="l" r="r" t="t"/>
              <a:pathLst>
                <a:path extrusionOk="0" h="152233" w="186480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4" name="Google Shape;234;p81"/>
            <p:cNvSpPr/>
            <p:nvPr/>
          </p:nvSpPr>
          <p:spPr>
            <a:xfrm>
              <a:off x="5459256" y="1332127"/>
              <a:ext cx="94464" cy="128236"/>
            </a:xfrm>
            <a:custGeom>
              <a:rect b="b" l="l" r="r" t="t"/>
              <a:pathLst>
                <a:path extrusionOk="0" h="128236" w="94464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5" name="Google Shape;235;p81"/>
            <p:cNvSpPr/>
            <p:nvPr/>
          </p:nvSpPr>
          <p:spPr>
            <a:xfrm>
              <a:off x="4374058" y="1257597"/>
              <a:ext cx="1080246" cy="204416"/>
            </a:xfrm>
            <a:custGeom>
              <a:rect b="b" l="l" r="r" t="t"/>
              <a:pathLst>
                <a:path extrusionOk="0" h="204416" w="108024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6" name="Google Shape;236;p81"/>
            <p:cNvSpPr/>
            <p:nvPr/>
          </p:nvSpPr>
          <p:spPr>
            <a:xfrm>
              <a:off x="5460145" y="1458078"/>
              <a:ext cx="12696" cy="988"/>
            </a:xfrm>
            <a:custGeom>
              <a:rect b="b" l="l" r="r" t="t"/>
              <a:pathLst>
                <a:path extrusionOk="0" h="988" w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7" name="Google Shape;237;p81"/>
            <p:cNvSpPr/>
            <p:nvPr/>
          </p:nvSpPr>
          <p:spPr>
            <a:xfrm>
              <a:off x="4371011" y="1155769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8" name="Google Shape;238;p81"/>
            <p:cNvSpPr/>
            <p:nvPr/>
          </p:nvSpPr>
          <p:spPr>
            <a:xfrm>
              <a:off x="4371687" y="1158436"/>
              <a:ext cx="9354" cy="106167"/>
            </a:xfrm>
            <a:custGeom>
              <a:rect b="b" l="l" r="r" t="t"/>
              <a:pathLst>
                <a:path extrusionOk="0" h="106167" w="9354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9" name="Google Shape;239;p81"/>
            <p:cNvSpPr/>
            <p:nvPr/>
          </p:nvSpPr>
          <p:spPr>
            <a:xfrm>
              <a:off x="4505216" y="999473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0" name="Google Shape;240;p81"/>
            <p:cNvSpPr/>
            <p:nvPr/>
          </p:nvSpPr>
          <p:spPr>
            <a:xfrm>
              <a:off x="4370374" y="1155515"/>
              <a:ext cx="256" cy="1015"/>
            </a:xfrm>
            <a:custGeom>
              <a:rect b="b" l="l" r="r" t="t"/>
              <a:pathLst>
                <a:path extrusionOk="0" h="1015" w="256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1" name="Google Shape;241;p81"/>
            <p:cNvSpPr/>
            <p:nvPr/>
          </p:nvSpPr>
          <p:spPr>
            <a:xfrm>
              <a:off x="4371392" y="1000235"/>
              <a:ext cx="140173" cy="154772"/>
            </a:xfrm>
            <a:custGeom>
              <a:rect b="b" l="l" r="r" t="t"/>
              <a:pathLst>
                <a:path extrusionOk="0" h="154772" w="140173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2" name="Google Shape;242;p81"/>
            <p:cNvSpPr/>
            <p:nvPr/>
          </p:nvSpPr>
          <p:spPr>
            <a:xfrm>
              <a:off x="4371646" y="1162625"/>
              <a:ext cx="635" cy="12696"/>
            </a:xfrm>
            <a:custGeom>
              <a:rect b="b" l="l" r="r" t="t"/>
              <a:pathLst>
                <a:path extrusionOk="0" h="12696" w="635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3" name="Google Shape;243;p81"/>
            <p:cNvSpPr/>
            <p:nvPr/>
          </p:nvSpPr>
          <p:spPr>
            <a:xfrm>
              <a:off x="5554228" y="1227760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4" name="Google Shape;244;p81"/>
            <p:cNvSpPr/>
            <p:nvPr/>
          </p:nvSpPr>
          <p:spPr>
            <a:xfrm>
              <a:off x="5554228" y="1229664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5" name="Google Shape;245;p81"/>
            <p:cNvSpPr/>
            <p:nvPr/>
          </p:nvSpPr>
          <p:spPr>
            <a:xfrm>
              <a:off x="5552704" y="1226109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6" name="Google Shape;246;p81"/>
            <p:cNvSpPr/>
            <p:nvPr/>
          </p:nvSpPr>
          <p:spPr>
            <a:xfrm>
              <a:off x="4504217" y="997483"/>
              <a:ext cx="1046074" cy="234974"/>
            </a:xfrm>
            <a:custGeom>
              <a:rect b="b" l="l" r="r" t="t"/>
              <a:pathLst>
                <a:path extrusionOk="0" h="234974" w="10460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7" name="Google Shape;247;p81"/>
            <p:cNvSpPr/>
            <p:nvPr/>
          </p:nvSpPr>
          <p:spPr>
            <a:xfrm>
              <a:off x="5550927" y="1226033"/>
              <a:ext cx="888" cy="76"/>
            </a:xfrm>
            <a:custGeom>
              <a:rect b="b" l="l" r="r" t="t"/>
              <a:pathLst>
                <a:path extrusionOk="0" h="76" w="888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8" name="Google Shape;248;p81"/>
            <p:cNvSpPr/>
            <p:nvPr/>
          </p:nvSpPr>
          <p:spPr>
            <a:xfrm>
              <a:off x="5543436" y="1229537"/>
              <a:ext cx="10800" cy="108798"/>
            </a:xfrm>
            <a:custGeom>
              <a:rect b="b" l="l" r="r" t="t"/>
              <a:pathLst>
                <a:path extrusionOk="0" h="108798" w="10800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9" name="Google Shape;249;p81"/>
            <p:cNvSpPr/>
            <p:nvPr/>
          </p:nvSpPr>
          <p:spPr>
            <a:xfrm>
              <a:off x="5552704" y="1226363"/>
              <a:ext cx="634" cy="635"/>
            </a:xfrm>
            <a:custGeom>
              <a:rect b="b" l="l" r="r" t="t"/>
              <a:pathLst>
                <a:path extrusionOk="0" h="635" w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0" name="Google Shape;250;p81"/>
            <p:cNvSpPr/>
            <p:nvPr/>
          </p:nvSpPr>
          <p:spPr>
            <a:xfrm>
              <a:off x="5549276" y="1225093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1" name="Google Shape;251;p81"/>
            <p:cNvSpPr/>
            <p:nvPr/>
          </p:nvSpPr>
          <p:spPr>
            <a:xfrm>
              <a:off x="5554228" y="1227760"/>
              <a:ext cx="12696" cy="888"/>
            </a:xfrm>
            <a:custGeom>
              <a:rect b="b" l="l" r="r" t="t"/>
              <a:pathLst>
                <a:path extrusionOk="0" h="888" w="12696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2" name="Google Shape;252;p81"/>
            <p:cNvSpPr/>
            <p:nvPr/>
          </p:nvSpPr>
          <p:spPr>
            <a:xfrm>
              <a:off x="5452653" y="1225220"/>
              <a:ext cx="100439" cy="128871"/>
            </a:xfrm>
            <a:custGeom>
              <a:rect b="b" l="l" r="r" t="t"/>
              <a:pathLst>
                <a:path extrusionOk="0" h="128871" w="100439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3" name="Google Shape;253;p81"/>
            <p:cNvSpPr/>
            <p:nvPr/>
          </p:nvSpPr>
          <p:spPr>
            <a:xfrm>
              <a:off x="5449479" y="1353076"/>
              <a:ext cx="10712" cy="109090"/>
            </a:xfrm>
            <a:custGeom>
              <a:rect b="b" l="l" r="r" t="t"/>
              <a:pathLst>
                <a:path extrusionOk="0" h="109090" w="10712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4" name="Google Shape;254;p81"/>
            <p:cNvSpPr/>
            <p:nvPr/>
          </p:nvSpPr>
          <p:spPr>
            <a:xfrm>
              <a:off x="4370319" y="1153023"/>
              <a:ext cx="1089130" cy="204759"/>
            </a:xfrm>
            <a:custGeom>
              <a:rect b="b" l="l" r="r" t="t"/>
              <a:pathLst>
                <a:path extrusionOk="0" h="204759" w="1089130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rgbClr val="468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5" name="Google Shape;255;p81"/>
            <p:cNvSpPr/>
            <p:nvPr/>
          </p:nvSpPr>
          <p:spPr>
            <a:xfrm>
              <a:off x="8659109" y="2038698"/>
              <a:ext cx="97638" cy="84687"/>
            </a:xfrm>
            <a:custGeom>
              <a:rect b="b" l="l" r="r" t="t"/>
              <a:pathLst>
                <a:path extrusionOk="0" h="84687" w="97638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6" name="Google Shape;256;p81"/>
            <p:cNvSpPr/>
            <p:nvPr/>
          </p:nvSpPr>
          <p:spPr>
            <a:xfrm>
              <a:off x="8257636" y="2018257"/>
              <a:ext cx="397410" cy="106906"/>
            </a:xfrm>
            <a:custGeom>
              <a:rect b="b" l="l" r="r" t="t"/>
              <a:pathLst>
                <a:path extrusionOk="0" h="106906" w="397410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7" name="Google Shape;257;p81"/>
            <p:cNvSpPr/>
            <p:nvPr/>
          </p:nvSpPr>
          <p:spPr>
            <a:xfrm>
              <a:off x="8660507" y="2121480"/>
              <a:ext cx="47" cy="761"/>
            </a:xfrm>
            <a:custGeom>
              <a:rect b="b" l="l" r="r" t="t"/>
              <a:pathLst>
                <a:path extrusionOk="0" h="761" w="47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8" name="Google Shape;258;p81"/>
            <p:cNvSpPr/>
            <p:nvPr/>
          </p:nvSpPr>
          <p:spPr>
            <a:xfrm>
              <a:off x="8255605" y="1915286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9" name="Google Shape;259;p81"/>
            <p:cNvSpPr/>
            <p:nvPr/>
          </p:nvSpPr>
          <p:spPr>
            <a:xfrm>
              <a:off x="8254405" y="1916810"/>
              <a:ext cx="56" cy="56"/>
            </a:xfrm>
            <a:custGeom>
              <a:rect b="b" l="l" r="r" t="t"/>
              <a:pathLst>
                <a:path extrusionOk="0" h="56" w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0" name="Google Shape;260;p81"/>
            <p:cNvSpPr/>
            <p:nvPr/>
          </p:nvSpPr>
          <p:spPr>
            <a:xfrm>
              <a:off x="8255303" y="1920111"/>
              <a:ext cx="9443" cy="106493"/>
            </a:xfrm>
            <a:custGeom>
              <a:rect b="b" l="l" r="r" t="t"/>
              <a:pathLst>
                <a:path extrusionOk="0" h="106493" w="944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1" name="Google Shape;261;p81"/>
            <p:cNvSpPr/>
            <p:nvPr/>
          </p:nvSpPr>
          <p:spPr>
            <a:xfrm>
              <a:off x="8649714" y="2018510"/>
              <a:ext cx="10830" cy="106277"/>
            </a:xfrm>
            <a:custGeom>
              <a:rect b="b" l="l" r="r" t="t"/>
              <a:pathLst>
                <a:path extrusionOk="0" h="106277" w="10830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2" name="Google Shape;262;p81"/>
            <p:cNvSpPr/>
            <p:nvPr/>
          </p:nvSpPr>
          <p:spPr>
            <a:xfrm>
              <a:off x="8254334" y="1916175"/>
              <a:ext cx="12696" cy="1015"/>
            </a:xfrm>
            <a:custGeom>
              <a:rect b="b" l="l" r="r" t="t"/>
              <a:pathLst>
                <a:path extrusionOk="0" h="1015" w="12696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3" name="Google Shape;263;p81"/>
            <p:cNvSpPr/>
            <p:nvPr/>
          </p:nvSpPr>
          <p:spPr>
            <a:xfrm>
              <a:off x="8255350" y="1915413"/>
              <a:ext cx="761" cy="888"/>
            </a:xfrm>
            <a:custGeom>
              <a:rect b="b" l="l" r="r" t="t"/>
              <a:pathLst>
                <a:path extrusionOk="0" h="888" w="761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4" name="Google Shape;264;p81"/>
            <p:cNvSpPr/>
            <p:nvPr/>
          </p:nvSpPr>
          <p:spPr>
            <a:xfrm>
              <a:off x="8655300" y="2020288"/>
              <a:ext cx="3428" cy="1143"/>
            </a:xfrm>
            <a:custGeom>
              <a:rect b="b" l="l" r="r" t="t"/>
              <a:pathLst>
                <a:path extrusionOk="0" h="1143" w="3428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5" name="Google Shape;265;p81"/>
            <p:cNvSpPr/>
            <p:nvPr/>
          </p:nvSpPr>
          <p:spPr>
            <a:xfrm>
              <a:off x="8258017" y="1916810"/>
              <a:ext cx="397410" cy="105002"/>
            </a:xfrm>
            <a:custGeom>
              <a:rect b="b" l="l" r="r" t="t"/>
              <a:pathLst>
                <a:path extrusionOk="0" h="105002" w="397410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6" name="Google Shape;266;p81"/>
            <p:cNvSpPr/>
            <p:nvPr/>
          </p:nvSpPr>
          <p:spPr>
            <a:xfrm>
              <a:off x="8650708" y="1939156"/>
              <a:ext cx="97660" cy="82404"/>
            </a:xfrm>
            <a:custGeom>
              <a:rect b="b" l="l" r="r" t="t"/>
              <a:pathLst>
                <a:path extrusionOk="0" h="82404" w="97660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7" name="Google Shape;267;p81"/>
            <p:cNvSpPr/>
            <p:nvPr/>
          </p:nvSpPr>
          <p:spPr>
            <a:xfrm>
              <a:off x="8757256" y="1934331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8" name="Google Shape;268;p81"/>
            <p:cNvSpPr/>
            <p:nvPr/>
          </p:nvSpPr>
          <p:spPr>
            <a:xfrm>
              <a:off x="8755097" y="1933061"/>
              <a:ext cx="761" cy="12696"/>
            </a:xfrm>
            <a:custGeom>
              <a:rect b="b" l="l" r="r" t="t"/>
              <a:pathLst>
                <a:path extrusionOk="0" h="12696" w="761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9" name="Google Shape;269;p81"/>
            <p:cNvSpPr/>
            <p:nvPr/>
          </p:nvSpPr>
          <p:spPr>
            <a:xfrm>
              <a:off x="8758145" y="1935347"/>
              <a:ext cx="47" cy="762"/>
            </a:xfrm>
            <a:custGeom>
              <a:rect b="b" l="l" r="r" t="t"/>
              <a:pathLst>
                <a:path extrusionOk="0" h="762" w="47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0" name="Google Shape;270;p81"/>
            <p:cNvSpPr/>
            <p:nvPr/>
          </p:nvSpPr>
          <p:spPr>
            <a:xfrm>
              <a:off x="8581024" y="1889258"/>
              <a:ext cx="634" cy="761"/>
            </a:xfrm>
            <a:custGeom>
              <a:rect b="b" l="l" r="r" t="t"/>
              <a:pathLst>
                <a:path extrusionOk="0" h="761" w="634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1" name="Google Shape;271;p81"/>
            <p:cNvSpPr/>
            <p:nvPr/>
          </p:nvSpPr>
          <p:spPr>
            <a:xfrm>
              <a:off x="8582675" y="1816633"/>
              <a:ext cx="80624" cy="68181"/>
            </a:xfrm>
            <a:custGeom>
              <a:rect b="b" l="l" r="r" t="t"/>
              <a:pathLst>
                <a:path extrusionOk="0" h="68181" w="80624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2" name="Google Shape;272;p81"/>
            <p:cNvSpPr/>
            <p:nvPr/>
          </p:nvSpPr>
          <p:spPr>
            <a:xfrm>
              <a:off x="8670283" y="1817395"/>
              <a:ext cx="12696" cy="634"/>
            </a:xfrm>
            <a:custGeom>
              <a:rect b="b" l="l" r="r" t="t"/>
              <a:pathLst>
                <a:path extrusionOk="0" h="634" w="12696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3" name="Google Shape;273;p81"/>
            <p:cNvSpPr/>
            <p:nvPr/>
          </p:nvSpPr>
          <p:spPr>
            <a:xfrm>
              <a:off x="8474498" y="1739183"/>
              <a:ext cx="191848" cy="67895"/>
            </a:xfrm>
            <a:custGeom>
              <a:rect b="b" l="l" r="r" t="t"/>
              <a:pathLst>
                <a:path extrusionOk="0" h="67895" w="191848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4" name="Google Shape;274;p81"/>
            <p:cNvSpPr/>
            <p:nvPr/>
          </p:nvSpPr>
          <p:spPr>
            <a:xfrm>
              <a:off x="8671496" y="1803174"/>
              <a:ext cx="56" cy="761"/>
            </a:xfrm>
            <a:custGeom>
              <a:rect b="b" l="l" r="r" t="t"/>
              <a:pathLst>
                <a:path extrusionOk="0" h="761" w="56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5" name="Google Shape;275;p81"/>
            <p:cNvSpPr/>
            <p:nvPr/>
          </p:nvSpPr>
          <p:spPr>
            <a:xfrm>
              <a:off x="8253395" y="1738040"/>
              <a:ext cx="224884" cy="184356"/>
            </a:xfrm>
            <a:custGeom>
              <a:rect b="b" l="l" r="r" t="t"/>
              <a:pathLst>
                <a:path extrusionOk="0" h="184356" w="224884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6" name="Google Shape;276;p81"/>
            <p:cNvSpPr/>
            <p:nvPr/>
          </p:nvSpPr>
          <p:spPr>
            <a:xfrm>
              <a:off x="4279213" y="33761"/>
              <a:ext cx="28" cy="761"/>
            </a:xfrm>
            <a:custGeom>
              <a:rect b="b" l="l" r="r" t="t"/>
              <a:pathLst>
                <a:path extrusionOk="0" h="761" w="28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7" name="Google Shape;277;p81"/>
            <p:cNvSpPr/>
            <p:nvPr/>
          </p:nvSpPr>
          <p:spPr>
            <a:xfrm>
              <a:off x="4277435" y="32619"/>
              <a:ext cx="888" cy="12696"/>
            </a:xfrm>
            <a:custGeom>
              <a:rect b="b" l="l" r="r" t="t"/>
              <a:pathLst>
                <a:path extrusionOk="0" h="12696" w="888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8" name="Google Shape;278;p81"/>
            <p:cNvSpPr/>
            <p:nvPr/>
          </p:nvSpPr>
          <p:spPr>
            <a:xfrm>
              <a:off x="6079496" y="915675"/>
              <a:ext cx="42153" cy="28186"/>
            </a:xfrm>
            <a:custGeom>
              <a:rect b="b" l="l" r="r" t="t"/>
              <a:pathLst>
                <a:path extrusionOk="0" h="28186" w="42153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9" name="Google Shape;279;p81"/>
            <p:cNvSpPr/>
            <p:nvPr/>
          </p:nvSpPr>
          <p:spPr>
            <a:xfrm>
              <a:off x="4273372" y="640029"/>
              <a:ext cx="1555107" cy="478284"/>
            </a:xfrm>
            <a:custGeom>
              <a:rect b="b" l="l" r="r" t="t"/>
              <a:pathLst>
                <a:path extrusionOk="0" h="478284" w="1555107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0" name="Google Shape;280;p81"/>
            <p:cNvSpPr/>
            <p:nvPr/>
          </p:nvSpPr>
          <p:spPr>
            <a:xfrm>
              <a:off x="5859333" y="505190"/>
              <a:ext cx="10538" cy="511423"/>
            </a:xfrm>
            <a:custGeom>
              <a:rect b="b" l="l" r="r" t="t"/>
              <a:pathLst>
                <a:path extrusionOk="0" h="511423" w="10538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1" name="Google Shape;281;p81"/>
            <p:cNvSpPr/>
            <p:nvPr/>
          </p:nvSpPr>
          <p:spPr>
            <a:xfrm>
              <a:off x="5864538" y="506714"/>
              <a:ext cx="3301" cy="1145"/>
            </a:xfrm>
            <a:custGeom>
              <a:rect b="b" l="l" r="r" t="t"/>
              <a:pathLst>
                <a:path extrusionOk="0" h="1145" w="3301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2" name="Google Shape;282;p81"/>
            <p:cNvSpPr/>
            <p:nvPr/>
          </p:nvSpPr>
          <p:spPr>
            <a:xfrm>
              <a:off x="4269524" y="17651"/>
              <a:ext cx="1595014" cy="490224"/>
            </a:xfrm>
            <a:custGeom>
              <a:rect b="b" l="l" r="r" t="t"/>
              <a:pathLst>
                <a:path extrusionOk="0" h="490224" w="159501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3" name="Google Shape;283;p81"/>
            <p:cNvSpPr/>
            <p:nvPr/>
          </p:nvSpPr>
          <p:spPr>
            <a:xfrm>
              <a:off x="6122792" y="293917"/>
              <a:ext cx="28" cy="761"/>
            </a:xfrm>
            <a:custGeom>
              <a:rect b="b" l="l" r="r" t="t"/>
              <a:pathLst>
                <a:path extrusionOk="0" h="761" w="28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4" name="Google Shape;284;p81"/>
            <p:cNvSpPr/>
            <p:nvPr/>
          </p:nvSpPr>
          <p:spPr>
            <a:xfrm>
              <a:off x="6123300" y="295694"/>
              <a:ext cx="12696" cy="888"/>
            </a:xfrm>
            <a:custGeom>
              <a:rect b="b" l="l" r="r" t="t"/>
              <a:pathLst>
                <a:path extrusionOk="0" h="888" w="12696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5" name="Google Shape;285;p81"/>
            <p:cNvSpPr/>
            <p:nvPr/>
          </p:nvSpPr>
          <p:spPr>
            <a:xfrm>
              <a:off x="6120760" y="293155"/>
              <a:ext cx="888" cy="12696"/>
            </a:xfrm>
            <a:custGeom>
              <a:rect b="b" l="l" r="r" t="t"/>
              <a:pathLst>
                <a:path extrusionOk="0" h="12696" w="888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6" name="Google Shape;286;p81"/>
            <p:cNvSpPr/>
            <p:nvPr/>
          </p:nvSpPr>
          <p:spPr>
            <a:xfrm>
              <a:off x="6119237" y="292012"/>
              <a:ext cx="888" cy="12696"/>
            </a:xfrm>
            <a:custGeom>
              <a:rect b="b" l="l" r="r" t="t"/>
              <a:pathLst>
                <a:path extrusionOk="0" h="12696" w="888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7" name="Google Shape;287;p81"/>
            <p:cNvSpPr/>
            <p:nvPr/>
          </p:nvSpPr>
          <p:spPr>
            <a:xfrm>
              <a:off x="6121141" y="293409"/>
              <a:ext cx="761" cy="12696"/>
            </a:xfrm>
            <a:custGeom>
              <a:rect b="b" l="l" r="r" t="t"/>
              <a:pathLst>
                <a:path extrusionOk="0" h="12696" w="761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8" name="Google Shape;288;p81"/>
            <p:cNvSpPr/>
            <p:nvPr/>
          </p:nvSpPr>
          <p:spPr>
            <a:xfrm>
              <a:off x="6117205" y="291885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9" name="Google Shape;289;p81"/>
            <p:cNvSpPr/>
            <p:nvPr/>
          </p:nvSpPr>
          <p:spPr>
            <a:xfrm>
              <a:off x="6122919" y="294933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0" name="Google Shape;290;p81"/>
            <p:cNvSpPr/>
            <p:nvPr/>
          </p:nvSpPr>
          <p:spPr>
            <a:xfrm>
              <a:off x="6112507" y="296710"/>
              <a:ext cx="10468" cy="625319"/>
            </a:xfrm>
            <a:custGeom>
              <a:rect b="b" l="l" r="r" t="t"/>
              <a:pathLst>
                <a:path extrusionOk="0" h="625319" w="10468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1" name="Google Shape;291;p81"/>
            <p:cNvSpPr/>
            <p:nvPr/>
          </p:nvSpPr>
          <p:spPr>
            <a:xfrm>
              <a:off x="5861334" y="293663"/>
              <a:ext cx="261899" cy="214829"/>
            </a:xfrm>
            <a:custGeom>
              <a:rect b="b" l="l" r="r" t="t"/>
              <a:pathLst>
                <a:path extrusionOk="0" h="214829" w="26189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2" name="Google Shape;292;p81"/>
            <p:cNvSpPr/>
            <p:nvPr/>
          </p:nvSpPr>
          <p:spPr>
            <a:xfrm>
              <a:off x="3883199" y="337340"/>
              <a:ext cx="253936" cy="212162"/>
            </a:xfrm>
            <a:custGeom>
              <a:rect b="b" l="l" r="r" t="t"/>
              <a:pathLst>
                <a:path extrusionOk="0" h="212162" w="253936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3" name="Google Shape;293;p81"/>
            <p:cNvSpPr/>
            <p:nvPr/>
          </p:nvSpPr>
          <p:spPr>
            <a:xfrm>
              <a:off x="3884468" y="546581"/>
              <a:ext cx="57" cy="888"/>
            </a:xfrm>
            <a:custGeom>
              <a:rect b="b" l="l" r="r" t="t"/>
              <a:pathLst>
                <a:path extrusionOk="0" h="888" w="57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4" name="Google Shape;294;p81"/>
            <p:cNvSpPr/>
            <p:nvPr/>
          </p:nvSpPr>
          <p:spPr>
            <a:xfrm>
              <a:off x="2014803" y="-12696"/>
              <a:ext cx="1865222" cy="563292"/>
            </a:xfrm>
            <a:custGeom>
              <a:rect b="b" l="l" r="r" t="t"/>
              <a:pathLst>
                <a:path extrusionOk="0" h="563292" w="186522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5" name="Google Shape;295;p81"/>
            <p:cNvSpPr/>
            <p:nvPr/>
          </p:nvSpPr>
          <p:spPr>
            <a:xfrm>
              <a:off x="3874057" y="-12696"/>
              <a:ext cx="10538" cy="563600"/>
            </a:xfrm>
            <a:custGeom>
              <a:rect b="b" l="l" r="r" t="t"/>
              <a:pathLst>
                <a:path extrusionOk="0" h="563600" w="10538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6" name="Google Shape;296;p81"/>
            <p:cNvSpPr/>
            <p:nvPr/>
          </p:nvSpPr>
          <p:spPr>
            <a:xfrm>
              <a:off x="7759412" y="1077164"/>
              <a:ext cx="54898" cy="40007"/>
            </a:xfrm>
            <a:custGeom>
              <a:rect b="b" l="l" r="r" t="t"/>
              <a:pathLst>
                <a:path extrusionOk="0" h="40007" w="54898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7" name="Google Shape;297;p81"/>
            <p:cNvSpPr/>
            <p:nvPr/>
          </p:nvSpPr>
          <p:spPr>
            <a:xfrm>
              <a:off x="7050022" y="925959"/>
              <a:ext cx="19" cy="888"/>
            </a:xfrm>
            <a:custGeom>
              <a:rect b="b" l="l" r="r" t="t"/>
              <a:pathLst>
                <a:path extrusionOk="0" h="888" w="19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8" name="Google Shape;298;p81"/>
            <p:cNvSpPr/>
            <p:nvPr/>
          </p:nvSpPr>
          <p:spPr>
            <a:xfrm>
              <a:off x="7050120" y="928371"/>
              <a:ext cx="10966" cy="114143"/>
            </a:xfrm>
            <a:custGeom>
              <a:rect b="b" l="l" r="r" t="t"/>
              <a:pathLst>
                <a:path extrusionOk="0" h="114143" w="10966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9" name="Google Shape;299;p81"/>
            <p:cNvSpPr/>
            <p:nvPr/>
          </p:nvSpPr>
          <p:spPr>
            <a:xfrm>
              <a:off x="7570992" y="1066258"/>
              <a:ext cx="10791" cy="29710"/>
            </a:xfrm>
            <a:custGeom>
              <a:rect b="b" l="l" r="r" t="t"/>
              <a:pathLst>
                <a:path extrusionOk="0" h="29710" w="10791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0" name="Google Shape;300;p81"/>
            <p:cNvSpPr/>
            <p:nvPr/>
          </p:nvSpPr>
          <p:spPr>
            <a:xfrm>
              <a:off x="7049406" y="927102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1" name="Google Shape;301;p81"/>
            <p:cNvSpPr/>
            <p:nvPr/>
          </p:nvSpPr>
          <p:spPr>
            <a:xfrm>
              <a:off x="7050549" y="925324"/>
              <a:ext cx="12696" cy="634"/>
            </a:xfrm>
            <a:custGeom>
              <a:rect b="b" l="l" r="r" t="t"/>
              <a:pathLst>
                <a:path extrusionOk="0" h="634" w="12696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2" name="Google Shape;302;p81"/>
            <p:cNvSpPr/>
            <p:nvPr/>
          </p:nvSpPr>
          <p:spPr>
            <a:xfrm>
              <a:off x="7576070" y="1068289"/>
              <a:ext cx="3428" cy="1142"/>
            </a:xfrm>
            <a:custGeom>
              <a:rect b="b" l="l" r="r" t="t"/>
              <a:pathLst>
                <a:path extrusionOk="0" h="1142" w="3428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3" name="Google Shape;303;p81"/>
            <p:cNvSpPr/>
            <p:nvPr/>
          </p:nvSpPr>
          <p:spPr>
            <a:xfrm>
              <a:off x="7051565" y="926213"/>
              <a:ext cx="525014" cy="143218"/>
            </a:xfrm>
            <a:custGeom>
              <a:rect b="b" l="l" r="r" t="t"/>
              <a:pathLst>
                <a:path extrusionOk="0" h="143218" w="525014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4" name="Google Shape;304;p81"/>
            <p:cNvSpPr/>
            <p:nvPr/>
          </p:nvSpPr>
          <p:spPr>
            <a:xfrm>
              <a:off x="7049251" y="705163"/>
              <a:ext cx="222820" cy="227778"/>
            </a:xfrm>
            <a:custGeom>
              <a:rect b="b" l="l" r="r" t="t"/>
              <a:pathLst>
                <a:path extrusionOk="0" h="227778" w="222820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5" name="Google Shape;305;p81"/>
            <p:cNvSpPr/>
            <p:nvPr/>
          </p:nvSpPr>
          <p:spPr>
            <a:xfrm>
              <a:off x="7571401" y="869319"/>
              <a:ext cx="244415" cy="200366"/>
            </a:xfrm>
            <a:custGeom>
              <a:rect b="b" l="l" r="r" t="t"/>
              <a:pathLst>
                <a:path extrusionOk="0" h="200366" w="244415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6" name="Google Shape;306;p81"/>
            <p:cNvSpPr/>
            <p:nvPr/>
          </p:nvSpPr>
          <p:spPr>
            <a:xfrm>
              <a:off x="8759415" y="1993117"/>
              <a:ext cx="1077579" cy="336335"/>
            </a:xfrm>
            <a:custGeom>
              <a:rect b="b" l="l" r="r" t="t"/>
              <a:pathLst>
                <a:path extrusionOk="0" h="336335" w="1077579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7" name="Google Shape;307;p81"/>
            <p:cNvSpPr/>
            <p:nvPr/>
          </p:nvSpPr>
          <p:spPr>
            <a:xfrm>
              <a:off x="5832288" y="1284895"/>
              <a:ext cx="2872148" cy="449844"/>
            </a:xfrm>
            <a:custGeom>
              <a:rect b="b" l="l" r="r" t="t"/>
              <a:pathLst>
                <a:path extrusionOk="0" h="449844" w="2872148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8" name="Google Shape;308;p81"/>
            <p:cNvSpPr/>
            <p:nvPr/>
          </p:nvSpPr>
          <p:spPr>
            <a:xfrm>
              <a:off x="9832201" y="2121608"/>
              <a:ext cx="10633" cy="203781"/>
            </a:xfrm>
            <a:custGeom>
              <a:rect b="b" l="l" r="r" t="t"/>
              <a:pathLst>
                <a:path extrusionOk="0" h="203781" w="10633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9" name="Google Shape;309;p81"/>
            <p:cNvSpPr/>
            <p:nvPr/>
          </p:nvSpPr>
          <p:spPr>
            <a:xfrm>
              <a:off x="8661202" y="1762418"/>
              <a:ext cx="114" cy="635"/>
            </a:xfrm>
            <a:custGeom>
              <a:rect b="b" l="l" r="r" t="t"/>
              <a:pathLst>
                <a:path extrusionOk="0" h="635" w="114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0" name="Google Shape;310;p81"/>
            <p:cNvSpPr/>
            <p:nvPr/>
          </p:nvSpPr>
          <p:spPr>
            <a:xfrm>
              <a:off x="8672442" y="1763815"/>
              <a:ext cx="1164679" cy="359443"/>
            </a:xfrm>
            <a:custGeom>
              <a:rect b="b" l="l" r="r" t="t"/>
              <a:pathLst>
                <a:path extrusionOk="0" h="359443" w="1164679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1" name="Google Shape;311;p81"/>
            <p:cNvSpPr/>
            <p:nvPr/>
          </p:nvSpPr>
          <p:spPr>
            <a:xfrm>
              <a:off x="9834455" y="1653607"/>
              <a:ext cx="569960" cy="461779"/>
            </a:xfrm>
            <a:custGeom>
              <a:rect b="b" l="l" r="r" t="t"/>
              <a:pathLst>
                <a:path extrusionOk="0" h="461779" w="569960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2" name="Google Shape;312;p81"/>
            <p:cNvSpPr/>
            <p:nvPr/>
          </p:nvSpPr>
          <p:spPr>
            <a:xfrm>
              <a:off x="9833820" y="2121480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3" name="Google Shape;313;p81"/>
            <p:cNvSpPr/>
            <p:nvPr/>
          </p:nvSpPr>
          <p:spPr>
            <a:xfrm>
              <a:off x="5828733" y="1080605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4" name="Google Shape;314;p81"/>
            <p:cNvSpPr/>
            <p:nvPr/>
          </p:nvSpPr>
          <p:spPr>
            <a:xfrm>
              <a:off x="5839272" y="1078192"/>
              <a:ext cx="3082407" cy="482728"/>
            </a:xfrm>
            <a:custGeom>
              <a:rect b="b" l="l" r="r" t="t"/>
              <a:pathLst>
                <a:path extrusionOk="0" h="482728" w="3082407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5" name="Google Shape;315;p81"/>
            <p:cNvSpPr/>
            <p:nvPr/>
          </p:nvSpPr>
          <p:spPr>
            <a:xfrm>
              <a:off x="8925489" y="1558636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6" name="Google Shape;316;p81"/>
            <p:cNvSpPr/>
            <p:nvPr/>
          </p:nvSpPr>
          <p:spPr>
            <a:xfrm>
              <a:off x="11524783" y="1185606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7" name="Google Shape;317;p81"/>
            <p:cNvSpPr/>
            <p:nvPr/>
          </p:nvSpPr>
          <p:spPr>
            <a:xfrm>
              <a:off x="11454950" y="1184845"/>
              <a:ext cx="62849" cy="64245"/>
            </a:xfrm>
            <a:custGeom>
              <a:rect b="b" l="l" r="r" t="t"/>
              <a:pathLst>
                <a:path extrusionOk="0" h="64245" w="62849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8" name="Google Shape;318;p81"/>
            <p:cNvSpPr/>
            <p:nvPr/>
          </p:nvSpPr>
          <p:spPr>
            <a:xfrm>
              <a:off x="11456220" y="1246276"/>
              <a:ext cx="12696" cy="1289"/>
            </a:xfrm>
            <a:custGeom>
              <a:rect b="b" l="l" r="r" t="t"/>
              <a:pathLst>
                <a:path extrusionOk="0" h="1289" w="12696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9" name="Google Shape;319;p81"/>
            <p:cNvSpPr/>
            <p:nvPr/>
          </p:nvSpPr>
          <p:spPr>
            <a:xfrm>
              <a:off x="11314269" y="1198811"/>
              <a:ext cx="136745" cy="51431"/>
            </a:xfrm>
            <a:custGeom>
              <a:rect b="b" l="l" r="r" t="t"/>
              <a:pathLst>
                <a:path extrusionOk="0" h="51431" w="136745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0" name="Google Shape;320;p81"/>
            <p:cNvSpPr/>
            <p:nvPr/>
          </p:nvSpPr>
          <p:spPr>
            <a:xfrm>
              <a:off x="11445809" y="1144215"/>
              <a:ext cx="10537" cy="106404"/>
            </a:xfrm>
            <a:custGeom>
              <a:rect b="b" l="l" r="r" t="t"/>
              <a:pathLst>
                <a:path extrusionOk="0" h="106404" w="10537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1" name="Google Shape;321;p81"/>
            <p:cNvSpPr/>
            <p:nvPr/>
          </p:nvSpPr>
          <p:spPr>
            <a:xfrm>
              <a:off x="11314396" y="1095460"/>
              <a:ext cx="136617" cy="51516"/>
            </a:xfrm>
            <a:custGeom>
              <a:rect b="b" l="l" r="r" t="t"/>
              <a:pathLst>
                <a:path extrusionOk="0" h="51516" w="136617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2" name="Google Shape;322;p81"/>
            <p:cNvSpPr/>
            <p:nvPr/>
          </p:nvSpPr>
          <p:spPr>
            <a:xfrm>
              <a:off x="11451141" y="1145993"/>
              <a:ext cx="3301" cy="1142"/>
            </a:xfrm>
            <a:custGeom>
              <a:rect b="b" l="l" r="r" t="t"/>
              <a:pathLst>
                <a:path extrusionOk="0" h="1142" w="3301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3" name="Google Shape;323;p81"/>
            <p:cNvSpPr/>
            <p:nvPr/>
          </p:nvSpPr>
          <p:spPr>
            <a:xfrm>
              <a:off x="11824682" y="837096"/>
              <a:ext cx="761" cy="112"/>
            </a:xfrm>
            <a:custGeom>
              <a:rect b="b" l="l" r="r" t="t"/>
              <a:pathLst>
                <a:path extrusionOk="0" h="112" w="761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4" name="Google Shape;324;p81"/>
            <p:cNvSpPr/>
            <p:nvPr/>
          </p:nvSpPr>
          <p:spPr>
            <a:xfrm>
              <a:off x="11826460" y="837971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5" name="Google Shape;325;p81"/>
            <p:cNvSpPr/>
            <p:nvPr/>
          </p:nvSpPr>
          <p:spPr>
            <a:xfrm>
              <a:off x="11827221" y="839748"/>
              <a:ext cx="38" cy="761"/>
            </a:xfrm>
            <a:custGeom>
              <a:rect b="b" l="l" r="r" t="t"/>
              <a:pathLst>
                <a:path extrusionOk="0" h="761" w="38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6" name="Google Shape;326;p81"/>
            <p:cNvSpPr/>
            <p:nvPr/>
          </p:nvSpPr>
          <p:spPr>
            <a:xfrm>
              <a:off x="11607441" y="772710"/>
              <a:ext cx="214955" cy="69070"/>
            </a:xfrm>
            <a:custGeom>
              <a:rect b="b" l="l" r="r" t="t"/>
              <a:pathLst>
                <a:path extrusionOk="0" h="69070" w="214955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7" name="Google Shape;327;p81"/>
            <p:cNvSpPr/>
            <p:nvPr/>
          </p:nvSpPr>
          <p:spPr>
            <a:xfrm>
              <a:off x="11823031" y="836320"/>
              <a:ext cx="1015" cy="12696"/>
            </a:xfrm>
            <a:custGeom>
              <a:rect b="b" l="l" r="r" t="t"/>
              <a:pathLst>
                <a:path extrusionOk="0" h="12696" w="1015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8" name="Google Shape;328;p81"/>
            <p:cNvSpPr/>
            <p:nvPr/>
          </p:nvSpPr>
          <p:spPr>
            <a:xfrm>
              <a:off x="11821762" y="835812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9" name="Google Shape;329;p81"/>
            <p:cNvSpPr/>
            <p:nvPr/>
          </p:nvSpPr>
          <p:spPr>
            <a:xfrm>
              <a:off x="11816429" y="840637"/>
              <a:ext cx="10796" cy="57135"/>
            </a:xfrm>
            <a:custGeom>
              <a:rect b="b" l="l" r="r" t="t"/>
              <a:pathLst>
                <a:path extrusionOk="0" h="57135" w="10796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0" name="Google Shape;330;p81"/>
            <p:cNvSpPr/>
            <p:nvPr/>
          </p:nvSpPr>
          <p:spPr>
            <a:xfrm>
              <a:off x="11825698" y="837336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1" name="Google Shape;331;p81"/>
            <p:cNvSpPr/>
            <p:nvPr/>
          </p:nvSpPr>
          <p:spPr>
            <a:xfrm>
              <a:off x="11826460" y="838352"/>
              <a:ext cx="12696" cy="634"/>
            </a:xfrm>
            <a:custGeom>
              <a:rect b="b" l="l" r="r" t="t"/>
              <a:pathLst>
                <a:path extrusionOk="0" h="634" w="12696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2" name="Google Shape;332;p81"/>
            <p:cNvSpPr/>
            <p:nvPr/>
          </p:nvSpPr>
          <p:spPr>
            <a:xfrm>
              <a:off x="11445914" y="835812"/>
              <a:ext cx="381368" cy="311835"/>
            </a:xfrm>
            <a:custGeom>
              <a:rect b="b" l="l" r="r" t="t"/>
              <a:pathLst>
                <a:path extrusionOk="0" h="311835" w="381368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3" name="Google Shape;333;p81"/>
            <p:cNvSpPr/>
            <p:nvPr/>
          </p:nvSpPr>
          <p:spPr>
            <a:xfrm>
              <a:off x="11196570" y="1592028"/>
              <a:ext cx="116049" cy="89765"/>
            </a:xfrm>
            <a:custGeom>
              <a:rect b="b" l="l" r="r" t="t"/>
              <a:pathLst>
                <a:path extrusionOk="0" h="89765" w="116049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4" name="Google Shape;334;p81"/>
            <p:cNvSpPr/>
            <p:nvPr/>
          </p:nvSpPr>
          <p:spPr>
            <a:xfrm>
              <a:off x="11050176" y="1181925"/>
              <a:ext cx="10665" cy="468889"/>
            </a:xfrm>
            <a:custGeom>
              <a:rect b="b" l="l" r="r" t="t"/>
              <a:pathLst>
                <a:path extrusionOk="0" h="468889" w="10665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5" name="Google Shape;335;p81"/>
            <p:cNvSpPr/>
            <p:nvPr/>
          </p:nvSpPr>
          <p:spPr>
            <a:xfrm>
              <a:off x="10633409" y="1048107"/>
              <a:ext cx="422100" cy="135562"/>
            </a:xfrm>
            <a:custGeom>
              <a:rect b="b" l="l" r="r" t="t"/>
              <a:pathLst>
                <a:path extrusionOk="0" h="135562" w="422100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6" name="Google Shape;336;p81"/>
            <p:cNvSpPr/>
            <p:nvPr/>
          </p:nvSpPr>
          <p:spPr>
            <a:xfrm>
              <a:off x="11313889" y="970651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7" name="Google Shape;337;p81"/>
            <p:cNvSpPr/>
            <p:nvPr/>
          </p:nvSpPr>
          <p:spPr>
            <a:xfrm>
              <a:off x="11311984" y="969890"/>
              <a:ext cx="761" cy="12696"/>
            </a:xfrm>
            <a:custGeom>
              <a:rect b="b" l="l" r="r" t="t"/>
              <a:pathLst>
                <a:path extrusionOk="0" h="12696" w="761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8" name="Google Shape;338;p81"/>
            <p:cNvSpPr/>
            <p:nvPr/>
          </p:nvSpPr>
          <p:spPr>
            <a:xfrm>
              <a:off x="11314396" y="972429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9" name="Google Shape;339;p81"/>
            <p:cNvSpPr/>
            <p:nvPr/>
          </p:nvSpPr>
          <p:spPr>
            <a:xfrm>
              <a:off x="10889434" y="843049"/>
              <a:ext cx="420391" cy="132553"/>
            </a:xfrm>
            <a:custGeom>
              <a:rect b="b" l="l" r="r" t="t"/>
              <a:pathLst>
                <a:path extrusionOk="0" h="132553" w="420391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0" name="Google Shape;340;p81"/>
            <p:cNvSpPr/>
            <p:nvPr/>
          </p:nvSpPr>
          <p:spPr>
            <a:xfrm>
              <a:off x="11051043" y="969382"/>
              <a:ext cx="254846" cy="214828"/>
            </a:xfrm>
            <a:custGeom>
              <a:rect b="b" l="l" r="r" t="t"/>
              <a:pathLst>
                <a:path extrusionOk="0" h="214828" w="254846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1" name="Google Shape;341;p81"/>
            <p:cNvSpPr/>
            <p:nvPr/>
          </p:nvSpPr>
          <p:spPr>
            <a:xfrm>
              <a:off x="11314269" y="971413"/>
              <a:ext cx="57" cy="1015"/>
            </a:xfrm>
            <a:custGeom>
              <a:rect b="b" l="l" r="r" t="t"/>
              <a:pathLst>
                <a:path extrusionOk="0" h="1015" w="57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2" name="Google Shape;342;p81"/>
            <p:cNvSpPr/>
            <p:nvPr/>
          </p:nvSpPr>
          <p:spPr>
            <a:xfrm>
              <a:off x="11311222" y="969382"/>
              <a:ext cx="761" cy="12696"/>
            </a:xfrm>
            <a:custGeom>
              <a:rect b="b" l="l" r="r" t="t"/>
              <a:pathLst>
                <a:path extrusionOk="0" h="12696" w="761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3" name="Google Shape;343;p81"/>
            <p:cNvSpPr/>
            <p:nvPr/>
          </p:nvSpPr>
          <p:spPr>
            <a:xfrm>
              <a:off x="11313381" y="970651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4" name="Google Shape;344;p81"/>
            <p:cNvSpPr/>
            <p:nvPr/>
          </p:nvSpPr>
          <p:spPr>
            <a:xfrm>
              <a:off x="12075476" y="495174"/>
              <a:ext cx="115128" cy="42392"/>
            </a:xfrm>
            <a:custGeom>
              <a:rect b="b" l="l" r="r" t="t"/>
              <a:pathLst>
                <a:path extrusionOk="0" h="42392" w="115128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5" name="Google Shape;345;p81"/>
            <p:cNvSpPr/>
            <p:nvPr/>
          </p:nvSpPr>
          <p:spPr>
            <a:xfrm>
              <a:off x="12076276" y="81349"/>
              <a:ext cx="115217" cy="42813"/>
            </a:xfrm>
            <a:custGeom>
              <a:rect b="b" l="l" r="r" t="t"/>
              <a:pathLst>
                <a:path extrusionOk="0" h="42813" w="115217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6" name="Google Shape;346;p81"/>
            <p:cNvSpPr/>
            <p:nvPr/>
          </p:nvSpPr>
          <p:spPr>
            <a:xfrm>
              <a:off x="11518816" y="1372121"/>
              <a:ext cx="672931" cy="224858"/>
            </a:xfrm>
            <a:custGeom>
              <a:rect b="b" l="l" r="r" t="t"/>
              <a:pathLst>
                <a:path extrusionOk="0" h="224858" w="672931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7" name="Google Shape;347;p81"/>
            <p:cNvSpPr/>
            <p:nvPr/>
          </p:nvSpPr>
          <p:spPr>
            <a:xfrm>
              <a:off x="11515642" y="1166689"/>
              <a:ext cx="9" cy="888"/>
            </a:xfrm>
            <a:custGeom>
              <a:rect b="b" l="l" r="r" t="t"/>
              <a:pathLst>
                <a:path extrusionOk="0" h="888" w="9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8" name="Google Shape;348;p81"/>
            <p:cNvSpPr/>
            <p:nvPr/>
          </p:nvSpPr>
          <p:spPr>
            <a:xfrm>
              <a:off x="11518816" y="1166054"/>
              <a:ext cx="672677" cy="223208"/>
            </a:xfrm>
            <a:custGeom>
              <a:rect b="b" l="l" r="r" t="t"/>
              <a:pathLst>
                <a:path extrusionOk="0" h="223208" w="672677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9" name="Google Shape;349;p81"/>
            <p:cNvSpPr/>
            <p:nvPr/>
          </p:nvSpPr>
          <p:spPr>
            <a:xfrm>
              <a:off x="12104139" y="643457"/>
              <a:ext cx="87608" cy="36566"/>
            </a:xfrm>
            <a:custGeom>
              <a:rect b="b" l="l" r="r" t="t"/>
              <a:pathLst>
                <a:path extrusionOk="0" h="36566" w="87608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0" name="Google Shape;350;p81"/>
            <p:cNvSpPr/>
            <p:nvPr/>
          </p:nvSpPr>
          <p:spPr>
            <a:xfrm>
              <a:off x="11997740" y="2095706"/>
              <a:ext cx="189690" cy="251267"/>
            </a:xfrm>
            <a:custGeom>
              <a:rect b="b" l="l" r="r" t="t"/>
              <a:pathLst>
                <a:path extrusionOk="0" h="251267" w="189690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1" name="Google Shape;351;p81"/>
            <p:cNvSpPr/>
            <p:nvPr/>
          </p:nvSpPr>
          <p:spPr>
            <a:xfrm>
              <a:off x="12183621" y="1886338"/>
              <a:ext cx="1015" cy="12696"/>
            </a:xfrm>
            <a:custGeom>
              <a:rect b="b" l="l" r="r" t="t"/>
              <a:pathLst>
                <a:path extrusionOk="0" h="12696" w="1015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2" name="Google Shape;352;p81"/>
            <p:cNvSpPr/>
            <p:nvPr/>
          </p:nvSpPr>
          <p:spPr>
            <a:xfrm>
              <a:off x="12176765" y="1890401"/>
              <a:ext cx="10537" cy="211909"/>
            </a:xfrm>
            <a:custGeom>
              <a:rect b="b" l="l" r="r" t="t"/>
              <a:pathLst>
                <a:path extrusionOk="0" h="211909" w="10537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3" name="Google Shape;353;p81"/>
            <p:cNvSpPr/>
            <p:nvPr/>
          </p:nvSpPr>
          <p:spPr>
            <a:xfrm>
              <a:off x="11987075" y="1888496"/>
              <a:ext cx="197054" cy="247712"/>
            </a:xfrm>
            <a:custGeom>
              <a:rect b="b" l="l" r="r" t="t"/>
              <a:pathLst>
                <a:path extrusionOk="0" h="247712" w="197054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4" name="Google Shape;354;p81"/>
            <p:cNvSpPr/>
            <p:nvPr/>
          </p:nvSpPr>
          <p:spPr>
            <a:xfrm>
              <a:off x="12184256" y="1886300"/>
              <a:ext cx="888" cy="38"/>
            </a:xfrm>
            <a:custGeom>
              <a:rect b="b" l="l" r="r" t="t"/>
              <a:pathLst>
                <a:path extrusionOk="0" h="38" w="88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5" name="Google Shape;355;p81"/>
            <p:cNvSpPr/>
            <p:nvPr/>
          </p:nvSpPr>
          <p:spPr>
            <a:xfrm>
              <a:off x="11994185" y="2133796"/>
              <a:ext cx="761" cy="12696"/>
            </a:xfrm>
            <a:custGeom>
              <a:rect b="b" l="l" r="r" t="t"/>
              <a:pathLst>
                <a:path extrusionOk="0" h="12696" w="761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6" name="Google Shape;356;p81"/>
            <p:cNvSpPr/>
            <p:nvPr/>
          </p:nvSpPr>
          <p:spPr>
            <a:xfrm>
              <a:off x="11987836" y="2137986"/>
              <a:ext cx="10804" cy="207210"/>
            </a:xfrm>
            <a:custGeom>
              <a:rect b="b" l="l" r="r" t="t"/>
              <a:pathLst>
                <a:path extrusionOk="0" h="207210" w="10804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7" name="Google Shape;357;p81"/>
            <p:cNvSpPr/>
            <p:nvPr/>
          </p:nvSpPr>
          <p:spPr>
            <a:xfrm>
              <a:off x="11996470" y="2135066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8" name="Google Shape;358;p81"/>
            <p:cNvSpPr/>
            <p:nvPr/>
          </p:nvSpPr>
          <p:spPr>
            <a:xfrm>
              <a:off x="11997359" y="2136590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9" name="Google Shape;359;p81"/>
            <p:cNvSpPr/>
            <p:nvPr/>
          </p:nvSpPr>
          <p:spPr>
            <a:xfrm>
              <a:off x="10397976" y="1652845"/>
              <a:ext cx="1596716" cy="487426"/>
            </a:xfrm>
            <a:custGeom>
              <a:rect b="b" l="l" r="r" t="t"/>
              <a:pathLst>
                <a:path extrusionOk="0" h="487426" w="159671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0" name="Google Shape;360;p81"/>
            <p:cNvSpPr/>
            <p:nvPr/>
          </p:nvSpPr>
          <p:spPr>
            <a:xfrm>
              <a:off x="11995962" y="2134431"/>
              <a:ext cx="761" cy="761"/>
            </a:xfrm>
            <a:custGeom>
              <a:rect b="b" l="l" r="r" t="t"/>
              <a:pathLst>
                <a:path extrusionOk="0" h="761" w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1" name="Google Shape;361;p81"/>
            <p:cNvSpPr/>
            <p:nvPr/>
          </p:nvSpPr>
          <p:spPr>
            <a:xfrm>
              <a:off x="11997359" y="2139510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2" name="Google Shape;362;p81"/>
            <p:cNvSpPr/>
            <p:nvPr/>
          </p:nvSpPr>
          <p:spPr>
            <a:xfrm>
              <a:off x="11997613" y="2137732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3" name="Google Shape;363;p81"/>
            <p:cNvSpPr/>
            <p:nvPr/>
          </p:nvSpPr>
          <p:spPr>
            <a:xfrm>
              <a:off x="11997105" y="2135955"/>
              <a:ext cx="12696" cy="888"/>
            </a:xfrm>
            <a:custGeom>
              <a:rect b="b" l="l" r="r" t="t"/>
              <a:pathLst>
                <a:path extrusionOk="0" h="888" w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4" name="Google Shape;364;p81"/>
            <p:cNvSpPr/>
            <p:nvPr/>
          </p:nvSpPr>
          <p:spPr>
            <a:xfrm>
              <a:off x="11112136" y="2825894"/>
              <a:ext cx="175470" cy="148932"/>
            </a:xfrm>
            <a:custGeom>
              <a:rect b="b" l="l" r="r" t="t"/>
              <a:pathLst>
                <a:path extrusionOk="0" h="148932" w="175470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5" name="Google Shape;365;p81"/>
            <p:cNvSpPr/>
            <p:nvPr/>
          </p:nvSpPr>
          <p:spPr>
            <a:xfrm>
              <a:off x="9832931" y="2603574"/>
              <a:ext cx="1275650" cy="372013"/>
            </a:xfrm>
            <a:custGeom>
              <a:rect b="b" l="l" r="r" t="t"/>
              <a:pathLst>
                <a:path extrusionOk="0" h="372013" w="1275650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6" name="Google Shape;366;p81"/>
            <p:cNvSpPr/>
            <p:nvPr/>
          </p:nvSpPr>
          <p:spPr>
            <a:xfrm>
              <a:off x="11113914" y="2971398"/>
              <a:ext cx="9" cy="888"/>
            </a:xfrm>
            <a:custGeom>
              <a:rect b="b" l="l" r="r" t="t"/>
              <a:pathLst>
                <a:path extrusionOk="0" h="888" w="9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7" name="Google Shape;367;p81"/>
            <p:cNvSpPr/>
            <p:nvPr/>
          </p:nvSpPr>
          <p:spPr>
            <a:xfrm>
              <a:off x="9829884" y="2501620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8" name="Google Shape;368;p81"/>
            <p:cNvSpPr/>
            <p:nvPr/>
          </p:nvSpPr>
          <p:spPr>
            <a:xfrm>
              <a:off x="9831153" y="2500096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9" name="Google Shape;369;p81"/>
            <p:cNvSpPr/>
            <p:nvPr/>
          </p:nvSpPr>
          <p:spPr>
            <a:xfrm>
              <a:off x="9831106" y="2505302"/>
              <a:ext cx="9069" cy="107160"/>
            </a:xfrm>
            <a:custGeom>
              <a:rect b="b" l="l" r="r" t="t"/>
              <a:pathLst>
                <a:path extrusionOk="0" h="107160" w="9069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0" name="Google Shape;370;p81"/>
            <p:cNvSpPr/>
            <p:nvPr/>
          </p:nvSpPr>
          <p:spPr>
            <a:xfrm>
              <a:off x="11103502" y="2869063"/>
              <a:ext cx="10538" cy="106404"/>
            </a:xfrm>
            <a:custGeom>
              <a:rect b="b" l="l" r="r" t="t"/>
              <a:pathLst>
                <a:path extrusionOk="0" h="106404" w="10538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1" name="Google Shape;371;p81"/>
            <p:cNvSpPr/>
            <p:nvPr/>
          </p:nvSpPr>
          <p:spPr>
            <a:xfrm>
              <a:off x="9830861" y="2500223"/>
              <a:ext cx="673" cy="761"/>
            </a:xfrm>
            <a:custGeom>
              <a:rect b="b" l="l" r="r" t="t"/>
              <a:pathLst>
                <a:path extrusionOk="0" h="761" w="673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2" name="Google Shape;372;p81"/>
            <p:cNvSpPr/>
            <p:nvPr/>
          </p:nvSpPr>
          <p:spPr>
            <a:xfrm>
              <a:off x="9829719" y="2501239"/>
              <a:ext cx="37" cy="761"/>
            </a:xfrm>
            <a:custGeom>
              <a:rect b="b" l="l" r="r" t="t"/>
              <a:pathLst>
                <a:path extrusionOk="0" h="761" w="37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3" name="Google Shape;373;p81"/>
            <p:cNvSpPr/>
            <p:nvPr/>
          </p:nvSpPr>
          <p:spPr>
            <a:xfrm>
              <a:off x="11108835" y="2870840"/>
              <a:ext cx="3301" cy="1142"/>
            </a:xfrm>
            <a:custGeom>
              <a:rect b="b" l="l" r="r" t="t"/>
              <a:pathLst>
                <a:path extrusionOk="0" h="1142" w="3301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4" name="Google Shape;374;p81"/>
            <p:cNvSpPr/>
            <p:nvPr/>
          </p:nvSpPr>
          <p:spPr>
            <a:xfrm>
              <a:off x="9833185" y="2501493"/>
              <a:ext cx="1275649" cy="370594"/>
            </a:xfrm>
            <a:custGeom>
              <a:rect b="b" l="l" r="r" t="t"/>
              <a:pathLst>
                <a:path extrusionOk="0" h="370594" w="1275649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5" name="Google Shape;375;p81"/>
            <p:cNvSpPr/>
            <p:nvPr/>
          </p:nvSpPr>
          <p:spPr>
            <a:xfrm>
              <a:off x="10025123" y="2340343"/>
              <a:ext cx="1261087" cy="385627"/>
            </a:xfrm>
            <a:custGeom>
              <a:rect b="b" l="l" r="r" t="t"/>
              <a:pathLst>
                <a:path extrusionOk="0" h="385627" w="126108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6" name="Google Shape;376;p81"/>
            <p:cNvSpPr/>
            <p:nvPr/>
          </p:nvSpPr>
          <p:spPr>
            <a:xfrm>
              <a:off x="11289384" y="2724955"/>
              <a:ext cx="47" cy="761"/>
            </a:xfrm>
            <a:custGeom>
              <a:rect b="b" l="l" r="r" t="t"/>
              <a:pathLst>
                <a:path extrusionOk="0" h="761" w="47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7" name="Google Shape;377;p81"/>
            <p:cNvSpPr/>
            <p:nvPr/>
          </p:nvSpPr>
          <p:spPr>
            <a:xfrm>
              <a:off x="11104869" y="2721066"/>
              <a:ext cx="184435" cy="152824"/>
            </a:xfrm>
            <a:custGeom>
              <a:rect b="b" l="l" r="r" t="t"/>
              <a:pathLst>
                <a:path extrusionOk="0" h="152824" w="184435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8" name="Google Shape;378;p81"/>
            <p:cNvSpPr/>
            <p:nvPr/>
          </p:nvSpPr>
          <p:spPr>
            <a:xfrm>
              <a:off x="11617470" y="2340221"/>
              <a:ext cx="379901" cy="502813"/>
            </a:xfrm>
            <a:custGeom>
              <a:rect b="b" l="l" r="r" t="t"/>
              <a:pathLst>
                <a:path extrusionOk="0" h="502813" w="379901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9" name="Google Shape;379;p81"/>
            <p:cNvSpPr/>
            <p:nvPr/>
          </p:nvSpPr>
          <p:spPr>
            <a:xfrm>
              <a:off x="11279052" y="2743111"/>
              <a:ext cx="47" cy="1015"/>
            </a:xfrm>
            <a:custGeom>
              <a:rect b="b" l="l" r="r" t="t"/>
              <a:pathLst>
                <a:path extrusionOk="0" h="1015" w="47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0" name="Google Shape;380;p81"/>
            <p:cNvSpPr/>
            <p:nvPr/>
          </p:nvSpPr>
          <p:spPr>
            <a:xfrm>
              <a:off x="11618476" y="2840876"/>
              <a:ext cx="9" cy="888"/>
            </a:xfrm>
            <a:custGeom>
              <a:rect b="b" l="l" r="r" t="t"/>
              <a:pathLst>
                <a:path extrusionOk="0" h="888" w="9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1" name="Google Shape;381;p81"/>
            <p:cNvSpPr/>
            <p:nvPr/>
          </p:nvSpPr>
          <p:spPr>
            <a:xfrm>
              <a:off x="11285067" y="2740191"/>
              <a:ext cx="328213" cy="104754"/>
            </a:xfrm>
            <a:custGeom>
              <a:rect b="b" l="l" r="r" t="t"/>
              <a:pathLst>
                <a:path extrusionOk="0" h="104754" w="328213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2" name="Google Shape;382;p81"/>
            <p:cNvSpPr/>
            <p:nvPr/>
          </p:nvSpPr>
          <p:spPr>
            <a:xfrm>
              <a:off x="9832709" y="2320830"/>
              <a:ext cx="166804" cy="51410"/>
            </a:xfrm>
            <a:custGeom>
              <a:rect b="b" l="l" r="r" t="t"/>
              <a:pathLst>
                <a:path extrusionOk="0" h="51410" w="166804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3" name="Google Shape;383;p81"/>
            <p:cNvSpPr/>
            <p:nvPr/>
          </p:nvSpPr>
          <p:spPr>
            <a:xfrm>
              <a:off x="10002687" y="2372748"/>
              <a:ext cx="47" cy="761"/>
            </a:xfrm>
            <a:custGeom>
              <a:rect b="b" l="l" r="r" t="t"/>
              <a:pathLst>
                <a:path extrusionOk="0" h="761" w="47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4" name="Google Shape;384;p81"/>
            <p:cNvSpPr/>
            <p:nvPr/>
          </p:nvSpPr>
          <p:spPr>
            <a:xfrm>
              <a:off x="11610614" y="2134414"/>
              <a:ext cx="386148" cy="498743"/>
            </a:xfrm>
            <a:custGeom>
              <a:rect b="b" l="l" r="r" t="t"/>
              <a:pathLst>
                <a:path extrusionOk="0" h="498743" w="386148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5" name="Google Shape;385;p81"/>
            <p:cNvSpPr/>
            <p:nvPr/>
          </p:nvSpPr>
          <p:spPr>
            <a:xfrm>
              <a:off x="11608074" y="2632904"/>
              <a:ext cx="10586" cy="212187"/>
            </a:xfrm>
            <a:custGeom>
              <a:rect b="b" l="l" r="r" t="t"/>
              <a:pathLst>
                <a:path extrusionOk="0" h="212187" w="10586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6" name="Google Shape;386;p81"/>
            <p:cNvSpPr/>
            <p:nvPr/>
          </p:nvSpPr>
          <p:spPr>
            <a:xfrm>
              <a:off x="9833010" y="2113154"/>
              <a:ext cx="1785220" cy="523050"/>
            </a:xfrm>
            <a:custGeom>
              <a:rect b="b" l="l" r="r" t="t"/>
              <a:pathLst>
                <a:path extrusionOk="0" h="523050" w="178522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7" name="Google Shape;387;p81"/>
            <p:cNvSpPr/>
            <p:nvPr/>
          </p:nvSpPr>
          <p:spPr>
            <a:xfrm>
              <a:off x="9848167" y="355369"/>
              <a:ext cx="218004" cy="175087"/>
            </a:xfrm>
            <a:custGeom>
              <a:rect b="b" l="l" r="r" t="t"/>
              <a:pathLst>
                <a:path extrusionOk="0" h="175087" w="218004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8" name="Google Shape;388;p81"/>
            <p:cNvSpPr/>
            <p:nvPr/>
          </p:nvSpPr>
          <p:spPr>
            <a:xfrm>
              <a:off x="10056255" y="317787"/>
              <a:ext cx="55909" cy="45835"/>
            </a:xfrm>
            <a:custGeom>
              <a:rect b="b" l="l" r="r" t="t"/>
              <a:pathLst>
                <a:path extrusionOk="0" h="45835" w="55909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9" name="Google Shape;389;p81"/>
            <p:cNvSpPr/>
            <p:nvPr/>
          </p:nvSpPr>
          <p:spPr>
            <a:xfrm>
              <a:off x="9211168" y="515220"/>
              <a:ext cx="133697" cy="111225"/>
            </a:xfrm>
            <a:custGeom>
              <a:rect b="b" l="l" r="r" t="t"/>
              <a:pathLst>
                <a:path extrusionOk="0" h="111225" w="133697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0" name="Google Shape;390;p81"/>
            <p:cNvSpPr/>
            <p:nvPr/>
          </p:nvSpPr>
          <p:spPr>
            <a:xfrm>
              <a:off x="9336337" y="413520"/>
              <a:ext cx="134734" cy="112239"/>
            </a:xfrm>
            <a:custGeom>
              <a:rect b="b" l="l" r="r" t="t"/>
              <a:pathLst>
                <a:path extrusionOk="0" h="112239" w="134734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1" name="Google Shape;391;p81"/>
            <p:cNvSpPr/>
            <p:nvPr/>
          </p:nvSpPr>
          <p:spPr>
            <a:xfrm>
              <a:off x="9847786" y="527155"/>
              <a:ext cx="1048638" cy="324528"/>
            </a:xfrm>
            <a:custGeom>
              <a:rect b="b" l="l" r="r" t="t"/>
              <a:pathLst>
                <a:path extrusionOk="0" h="324528" w="104863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2" name="Google Shape;392;p81"/>
            <p:cNvSpPr/>
            <p:nvPr/>
          </p:nvSpPr>
          <p:spPr>
            <a:xfrm>
              <a:off x="8949740" y="234750"/>
              <a:ext cx="38" cy="888"/>
            </a:xfrm>
            <a:custGeom>
              <a:rect b="b" l="l" r="r" t="t"/>
              <a:pathLst>
                <a:path extrusionOk="0" h="888" w="3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3" name="Google Shape;393;p81"/>
            <p:cNvSpPr/>
            <p:nvPr/>
          </p:nvSpPr>
          <p:spPr>
            <a:xfrm>
              <a:off x="8948598" y="233227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4" name="Google Shape;394;p81"/>
            <p:cNvSpPr/>
            <p:nvPr/>
          </p:nvSpPr>
          <p:spPr>
            <a:xfrm>
              <a:off x="8946820" y="232211"/>
              <a:ext cx="1015" cy="12696"/>
            </a:xfrm>
            <a:custGeom>
              <a:rect b="b" l="l" r="r" t="t"/>
              <a:pathLst>
                <a:path extrusionOk="0" h="12696" w="1015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5" name="Google Shape;395;p81"/>
            <p:cNvSpPr/>
            <p:nvPr/>
          </p:nvSpPr>
          <p:spPr>
            <a:xfrm>
              <a:off x="8939455" y="236782"/>
              <a:ext cx="11014" cy="164041"/>
            </a:xfrm>
            <a:custGeom>
              <a:rect b="b" l="l" r="r" t="t"/>
              <a:pathLst>
                <a:path extrusionOk="0" h="164041" w="11014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6" name="Google Shape;396;p81"/>
            <p:cNvSpPr/>
            <p:nvPr/>
          </p:nvSpPr>
          <p:spPr>
            <a:xfrm>
              <a:off x="8938439" y="395992"/>
              <a:ext cx="10967" cy="466870"/>
            </a:xfrm>
            <a:custGeom>
              <a:rect b="b" l="l" r="r" t="t"/>
              <a:pathLst>
                <a:path extrusionOk="0" h="466870" w="10967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7" name="Google Shape;397;p81"/>
            <p:cNvSpPr/>
            <p:nvPr/>
          </p:nvSpPr>
          <p:spPr>
            <a:xfrm>
              <a:off x="9146541" y="1273975"/>
              <a:ext cx="497461" cy="104494"/>
            </a:xfrm>
            <a:custGeom>
              <a:rect b="b" l="l" r="r" t="t"/>
              <a:pathLst>
                <a:path extrusionOk="0" h="104494" w="497461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8" name="Google Shape;398;p81"/>
            <p:cNvSpPr/>
            <p:nvPr/>
          </p:nvSpPr>
          <p:spPr>
            <a:xfrm>
              <a:off x="9637563" y="1369061"/>
              <a:ext cx="903470" cy="182464"/>
            </a:xfrm>
            <a:custGeom>
              <a:rect b="b" l="l" r="r" t="t"/>
              <a:pathLst>
                <a:path extrusionOk="0" h="182464" w="903470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9" name="Google Shape;399;p81"/>
            <p:cNvSpPr/>
            <p:nvPr/>
          </p:nvSpPr>
          <p:spPr>
            <a:xfrm>
              <a:off x="8747480" y="1997053"/>
              <a:ext cx="9960" cy="48507"/>
            </a:xfrm>
            <a:custGeom>
              <a:rect b="b" l="l" r="r" t="t"/>
              <a:pathLst>
                <a:path extrusionOk="0" h="48507" w="9960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0" name="Google Shape;400;p81"/>
            <p:cNvSpPr/>
            <p:nvPr/>
          </p:nvSpPr>
          <p:spPr>
            <a:xfrm>
              <a:off x="8747734" y="1937124"/>
              <a:ext cx="10791" cy="65070"/>
            </a:xfrm>
            <a:custGeom>
              <a:rect b="b" l="l" r="r" t="t"/>
              <a:pathLst>
                <a:path extrusionOk="0" h="65070" w="10791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1" name="Google Shape;401;p81"/>
            <p:cNvSpPr/>
            <p:nvPr/>
          </p:nvSpPr>
          <p:spPr>
            <a:xfrm>
              <a:off x="8755097" y="1932681"/>
              <a:ext cx="1143" cy="12696"/>
            </a:xfrm>
            <a:custGeom>
              <a:rect b="b" l="l" r="r" t="t"/>
              <a:pathLst>
                <a:path extrusionOk="0" h="12696" w="1143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2" name="Google Shape;402;p81"/>
            <p:cNvSpPr/>
            <p:nvPr/>
          </p:nvSpPr>
          <p:spPr>
            <a:xfrm>
              <a:off x="8757891" y="1935347"/>
              <a:ext cx="85" cy="888"/>
            </a:xfrm>
            <a:custGeom>
              <a:rect b="b" l="l" r="r" t="t"/>
              <a:pathLst>
                <a:path extrusionOk="0" h="888" w="85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3" name="Google Shape;403;p81"/>
            <p:cNvSpPr/>
            <p:nvPr/>
          </p:nvSpPr>
          <p:spPr>
            <a:xfrm>
              <a:off x="8756748" y="1933823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4" name="Google Shape;404;p81"/>
            <p:cNvSpPr/>
            <p:nvPr/>
          </p:nvSpPr>
          <p:spPr>
            <a:xfrm>
              <a:off x="8583389" y="1882920"/>
              <a:ext cx="83084" cy="32493"/>
            </a:xfrm>
            <a:custGeom>
              <a:rect b="b" l="l" r="r" t="t"/>
              <a:pathLst>
                <a:path extrusionOk="0" h="32493" w="83084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5" name="Google Shape;405;p81"/>
            <p:cNvSpPr/>
            <p:nvPr/>
          </p:nvSpPr>
          <p:spPr>
            <a:xfrm>
              <a:off x="8664443" y="1908303"/>
              <a:ext cx="93416" cy="33773"/>
            </a:xfrm>
            <a:custGeom>
              <a:rect b="b" l="l" r="r" t="t"/>
              <a:pathLst>
                <a:path extrusionOk="0" h="33773" w="93416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6" name="Google Shape;406;p81"/>
            <p:cNvSpPr/>
            <p:nvPr/>
          </p:nvSpPr>
          <p:spPr>
            <a:xfrm>
              <a:off x="4270785" y="33761"/>
              <a:ext cx="9951" cy="613971"/>
            </a:xfrm>
            <a:custGeom>
              <a:rect b="b" l="l" r="r" t="t"/>
              <a:pathLst>
                <a:path extrusionOk="0" h="613971" w="995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7" name="Google Shape;407;p81"/>
            <p:cNvSpPr/>
            <p:nvPr/>
          </p:nvSpPr>
          <p:spPr>
            <a:xfrm>
              <a:off x="4127359" y="152730"/>
              <a:ext cx="10459" cy="191726"/>
            </a:xfrm>
            <a:custGeom>
              <a:rect b="b" l="l" r="r" t="t"/>
              <a:pathLst>
                <a:path extrusionOk="0" h="191726" w="10459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8" name="Google Shape;408;p81"/>
            <p:cNvSpPr/>
            <p:nvPr/>
          </p:nvSpPr>
          <p:spPr>
            <a:xfrm>
              <a:off x="8660341" y="1814474"/>
              <a:ext cx="9081" cy="99266"/>
            </a:xfrm>
            <a:custGeom>
              <a:rect b="b" l="l" r="r" t="t"/>
              <a:pathLst>
                <a:path extrusionOk="0" h="99266" w="9081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9" name="Google Shape;409;p81"/>
            <p:cNvSpPr/>
            <p:nvPr/>
          </p:nvSpPr>
          <p:spPr>
            <a:xfrm>
              <a:off x="9064646" y="1248709"/>
              <a:ext cx="89130" cy="35043"/>
            </a:xfrm>
            <a:custGeom>
              <a:rect b="b" l="l" r="r" t="t"/>
              <a:pathLst>
                <a:path extrusionOk="0" h="35043" w="89130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0" name="Google Shape;410;p81"/>
            <p:cNvSpPr/>
            <p:nvPr/>
          </p:nvSpPr>
          <p:spPr>
            <a:xfrm>
              <a:off x="7762587" y="1114886"/>
              <a:ext cx="1307783" cy="143350"/>
            </a:xfrm>
            <a:custGeom>
              <a:rect b="b" l="l" r="r" t="t"/>
              <a:pathLst>
                <a:path extrusionOk="0" h="143350" w="1307783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1" name="Google Shape;411;p81"/>
            <p:cNvSpPr/>
            <p:nvPr/>
          </p:nvSpPr>
          <p:spPr>
            <a:xfrm>
              <a:off x="5828432" y="1114886"/>
              <a:ext cx="10840" cy="178622"/>
            </a:xfrm>
            <a:custGeom>
              <a:rect b="b" l="l" r="r" t="t"/>
              <a:pathLst>
                <a:path extrusionOk="0" h="178622" w="10840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2" name="Google Shape;412;p81"/>
            <p:cNvSpPr/>
            <p:nvPr/>
          </p:nvSpPr>
          <p:spPr>
            <a:xfrm>
              <a:off x="5828804" y="1080097"/>
              <a:ext cx="56" cy="112"/>
            </a:xfrm>
            <a:custGeom>
              <a:rect b="b" l="l" r="r" t="t"/>
              <a:pathLst>
                <a:path extrusionOk="0" h="112" w="56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3" name="Google Shape;413;p81"/>
            <p:cNvSpPr/>
            <p:nvPr/>
          </p:nvSpPr>
          <p:spPr>
            <a:xfrm>
              <a:off x="5828988" y="1082382"/>
              <a:ext cx="10791" cy="37519"/>
            </a:xfrm>
            <a:custGeom>
              <a:rect b="b" l="l" r="r" t="t"/>
              <a:pathLst>
                <a:path extrusionOk="0" h="37519" w="10791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4" name="Google Shape;414;p81"/>
            <p:cNvSpPr/>
            <p:nvPr/>
          </p:nvSpPr>
          <p:spPr>
            <a:xfrm>
              <a:off x="5829368" y="1016613"/>
              <a:ext cx="40502" cy="69927"/>
            </a:xfrm>
            <a:custGeom>
              <a:rect b="b" l="l" r="r" t="t"/>
              <a:pathLst>
                <a:path extrusionOk="0" h="69927" w="40502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5" name="Google Shape;415;p81"/>
            <p:cNvSpPr/>
            <p:nvPr/>
          </p:nvSpPr>
          <p:spPr>
            <a:xfrm>
              <a:off x="5859391" y="927610"/>
              <a:ext cx="50475" cy="94342"/>
            </a:xfrm>
            <a:custGeom>
              <a:rect b="b" l="l" r="r" t="t"/>
              <a:pathLst>
                <a:path extrusionOk="0" h="94342" w="50475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6" name="Google Shape;416;p81"/>
            <p:cNvSpPr/>
            <p:nvPr/>
          </p:nvSpPr>
          <p:spPr>
            <a:xfrm>
              <a:off x="8660976" y="1762926"/>
              <a:ext cx="38" cy="1015"/>
            </a:xfrm>
            <a:custGeom>
              <a:rect b="b" l="l" r="r" t="t"/>
              <a:pathLst>
                <a:path extrusionOk="0" h="1015" w="38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7" name="Google Shape;417;p81"/>
            <p:cNvSpPr/>
            <p:nvPr/>
          </p:nvSpPr>
          <p:spPr>
            <a:xfrm>
              <a:off x="8662284" y="1728391"/>
              <a:ext cx="47486" cy="37836"/>
            </a:xfrm>
            <a:custGeom>
              <a:rect b="b" l="l" r="r" t="t"/>
              <a:pathLst>
                <a:path extrusionOk="0" h="37836" w="4748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8" name="Google Shape;418;p81"/>
            <p:cNvSpPr/>
            <p:nvPr/>
          </p:nvSpPr>
          <p:spPr>
            <a:xfrm>
              <a:off x="8703400" y="1554955"/>
              <a:ext cx="222978" cy="183018"/>
            </a:xfrm>
            <a:custGeom>
              <a:rect b="b" l="l" r="r" t="t"/>
              <a:pathLst>
                <a:path extrusionOk="0" h="183018" w="22297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9" name="Google Shape;419;p81"/>
            <p:cNvSpPr/>
            <p:nvPr/>
          </p:nvSpPr>
          <p:spPr>
            <a:xfrm>
              <a:off x="11305022" y="971413"/>
              <a:ext cx="9432" cy="54849"/>
            </a:xfrm>
            <a:custGeom>
              <a:rect b="b" l="l" r="r" t="t"/>
              <a:pathLst>
                <a:path extrusionOk="0" h="54849" w="9432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0" name="Google Shape;420;p81"/>
            <p:cNvSpPr/>
            <p:nvPr/>
          </p:nvSpPr>
          <p:spPr>
            <a:xfrm>
              <a:off x="11515349" y="1184337"/>
              <a:ext cx="9179" cy="194180"/>
            </a:xfrm>
            <a:custGeom>
              <a:rect b="b" l="l" r="r" t="t"/>
              <a:pathLst>
                <a:path extrusionOk="0" h="194180" w="9179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1" name="Google Shape;421;p81"/>
            <p:cNvSpPr/>
            <p:nvPr/>
          </p:nvSpPr>
          <p:spPr>
            <a:xfrm>
              <a:off x="11516863" y="896376"/>
              <a:ext cx="309342" cy="275010"/>
            </a:xfrm>
            <a:custGeom>
              <a:rect b="b" l="l" r="r" t="t"/>
              <a:pathLst>
                <a:path extrusionOk="0" h="275010" w="309342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2" name="Google Shape;422;p81"/>
            <p:cNvSpPr/>
            <p:nvPr/>
          </p:nvSpPr>
          <p:spPr>
            <a:xfrm>
              <a:off x="11816407" y="643076"/>
              <a:ext cx="292332" cy="261326"/>
            </a:xfrm>
            <a:custGeom>
              <a:rect b="b" l="l" r="r" t="t"/>
              <a:pathLst>
                <a:path extrusionOk="0" h="261326" w="292332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3" name="Google Shape;423;p81"/>
            <p:cNvSpPr/>
            <p:nvPr/>
          </p:nvSpPr>
          <p:spPr>
            <a:xfrm>
              <a:off x="10534210" y="1541601"/>
              <a:ext cx="104208" cy="29604"/>
            </a:xfrm>
            <a:custGeom>
              <a:rect b="b" l="l" r="r" t="t"/>
              <a:pathLst>
                <a:path extrusionOk="0" h="29604" w="104208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4" name="Google Shape;424;p81"/>
            <p:cNvSpPr/>
            <p:nvPr/>
          </p:nvSpPr>
          <p:spPr>
            <a:xfrm>
              <a:off x="9829245" y="2365541"/>
              <a:ext cx="171966" cy="141412"/>
            </a:xfrm>
            <a:custGeom>
              <a:rect b="b" l="l" r="r" t="t"/>
              <a:pathLst>
                <a:path extrusionOk="0" h="141412" w="171966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5" name="Google Shape;425;p81"/>
            <p:cNvSpPr/>
            <p:nvPr/>
          </p:nvSpPr>
          <p:spPr>
            <a:xfrm>
              <a:off x="11280321" y="2740059"/>
              <a:ext cx="9872" cy="91046"/>
            </a:xfrm>
            <a:custGeom>
              <a:rect b="b" l="l" r="r" t="t"/>
              <a:pathLst>
                <a:path extrusionOk="0" h="91046" w="9872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6" name="Google Shape;426;p81"/>
            <p:cNvSpPr/>
            <p:nvPr/>
          </p:nvSpPr>
          <p:spPr>
            <a:xfrm>
              <a:off x="9464449" y="412631"/>
              <a:ext cx="268050" cy="88369"/>
            </a:xfrm>
            <a:custGeom>
              <a:rect b="b" l="l" r="r" t="t"/>
              <a:pathLst>
                <a:path extrusionOk="0" h="88369" w="268050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7" name="Google Shape;427;p81"/>
            <p:cNvSpPr/>
            <p:nvPr/>
          </p:nvSpPr>
          <p:spPr>
            <a:xfrm>
              <a:off x="9725425" y="491227"/>
              <a:ext cx="129435" cy="45579"/>
            </a:xfrm>
            <a:custGeom>
              <a:rect b="b" l="l" r="r" t="t"/>
              <a:pathLst>
                <a:path extrusionOk="0" h="45579" w="129435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8" name="Google Shape;428;p81"/>
            <p:cNvSpPr/>
            <p:nvPr/>
          </p:nvSpPr>
          <p:spPr>
            <a:xfrm>
              <a:off x="8100642" y="-12696"/>
              <a:ext cx="849448" cy="254177"/>
            </a:xfrm>
            <a:custGeom>
              <a:rect b="b" l="l" r="r" t="t"/>
              <a:pathLst>
                <a:path extrusionOk="0" h="254177" w="849448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9" name="Google Shape;429;p81"/>
            <p:cNvSpPr/>
            <p:nvPr/>
          </p:nvSpPr>
          <p:spPr>
            <a:xfrm>
              <a:off x="4127359" y="49251"/>
              <a:ext cx="10792" cy="108112"/>
            </a:xfrm>
            <a:custGeom>
              <a:rect b="b" l="l" r="r" t="t"/>
              <a:pathLst>
                <a:path extrusionOk="0" h="108112" w="1079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0" name="Google Shape;430;p81"/>
            <p:cNvSpPr/>
            <p:nvPr/>
          </p:nvSpPr>
          <p:spPr>
            <a:xfrm>
              <a:off x="8661519" y="1759745"/>
              <a:ext cx="9272" cy="47491"/>
            </a:xfrm>
            <a:custGeom>
              <a:rect b="b" l="l" r="r" t="t"/>
              <a:pathLst>
                <a:path extrusionOk="0" h="47491" w="9272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1" name="Google Shape;431;p81"/>
            <p:cNvSpPr/>
            <p:nvPr/>
          </p:nvSpPr>
          <p:spPr>
            <a:xfrm>
              <a:off x="7576070" y="1096476"/>
              <a:ext cx="191864" cy="28827"/>
            </a:xfrm>
            <a:custGeom>
              <a:rect b="b" l="l" r="r" t="t"/>
              <a:pathLst>
                <a:path extrusionOk="0" h="28827" w="191864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2" name="Google Shape;432;p81"/>
            <p:cNvSpPr/>
            <p:nvPr/>
          </p:nvSpPr>
          <p:spPr>
            <a:xfrm>
              <a:off x="11303604" y="1202620"/>
              <a:ext cx="9989" cy="396524"/>
            </a:xfrm>
            <a:custGeom>
              <a:rect b="b" l="l" r="r" t="t"/>
              <a:pathLst>
                <a:path extrusionOk="0" h="396524" w="9989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3" name="Google Shape;433;p81"/>
            <p:cNvSpPr/>
            <p:nvPr/>
          </p:nvSpPr>
          <p:spPr>
            <a:xfrm>
              <a:off x="11196951" y="1679889"/>
              <a:ext cx="990272" cy="215590"/>
            </a:xfrm>
            <a:custGeom>
              <a:rect b="b" l="l" r="r" t="t"/>
              <a:pathLst>
                <a:path extrusionOk="0" h="215590" w="990272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4" name="Google Shape;434;p81"/>
            <p:cNvSpPr/>
            <p:nvPr/>
          </p:nvSpPr>
          <p:spPr>
            <a:xfrm>
              <a:off x="4127359" y="-12695"/>
              <a:ext cx="10792" cy="66581"/>
            </a:xfrm>
            <a:custGeom>
              <a:rect b="b" l="l" r="r" t="t"/>
              <a:pathLst>
                <a:path extrusionOk="0" h="66581" w="10792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5" name="Google Shape;435;p81"/>
            <p:cNvSpPr/>
            <p:nvPr/>
          </p:nvSpPr>
          <p:spPr>
            <a:xfrm>
              <a:off x="5901841" y="924816"/>
              <a:ext cx="180067" cy="26722"/>
            </a:xfrm>
            <a:custGeom>
              <a:rect b="b" l="l" r="r" t="t"/>
              <a:pathLst>
                <a:path extrusionOk="0" h="26722" w="180067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6" name="Google Shape;436;p81"/>
            <p:cNvSpPr/>
            <p:nvPr/>
          </p:nvSpPr>
          <p:spPr>
            <a:xfrm>
              <a:off x="11303604" y="1019978"/>
              <a:ext cx="10791" cy="79164"/>
            </a:xfrm>
            <a:custGeom>
              <a:rect b="b" l="l" r="r" t="t"/>
              <a:pathLst>
                <a:path extrusionOk="0" h="79164" w="10791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7" name="Google Shape;437;p81"/>
            <p:cNvSpPr/>
            <p:nvPr/>
          </p:nvSpPr>
          <p:spPr>
            <a:xfrm>
              <a:off x="11303604" y="1094507"/>
              <a:ext cx="10791" cy="112874"/>
            </a:xfrm>
            <a:custGeom>
              <a:rect b="b" l="l" r="r" t="t"/>
              <a:pathLst>
                <a:path extrusionOk="0" h="112874" w="10791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8" name="Google Shape;438;p81"/>
            <p:cNvSpPr/>
            <p:nvPr/>
          </p:nvSpPr>
          <p:spPr>
            <a:xfrm>
              <a:off x="10631850" y="1561985"/>
              <a:ext cx="425562" cy="97462"/>
            </a:xfrm>
            <a:custGeom>
              <a:rect b="b" l="l" r="r" t="t"/>
              <a:pathLst>
                <a:path extrusionOk="0" h="97462" w="4255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9" name="Google Shape;439;p81"/>
            <p:cNvSpPr/>
            <p:nvPr/>
          </p:nvSpPr>
          <p:spPr>
            <a:xfrm>
              <a:off x="11050338" y="1649749"/>
              <a:ext cx="153307" cy="39667"/>
            </a:xfrm>
            <a:custGeom>
              <a:rect b="b" l="l" r="r" t="t"/>
              <a:pathLst>
                <a:path extrusionOk="0" h="39667" w="15330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0" name="Google Shape;440;p81"/>
            <p:cNvSpPr/>
            <p:nvPr/>
          </p:nvSpPr>
          <p:spPr>
            <a:xfrm>
              <a:off x="6075914" y="943178"/>
              <a:ext cx="979332" cy="109621"/>
            </a:xfrm>
            <a:custGeom>
              <a:rect b="b" l="l" r="r" t="t"/>
              <a:pathLst>
                <a:path extrusionOk="0" h="109621" w="979332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1" name="Google Shape;441;p81"/>
            <p:cNvSpPr/>
            <p:nvPr/>
          </p:nvSpPr>
          <p:spPr>
            <a:xfrm>
              <a:off x="7049263" y="1042989"/>
              <a:ext cx="532272" cy="63176"/>
            </a:xfrm>
            <a:custGeom>
              <a:rect b="b" l="l" r="r" t="t"/>
              <a:pathLst>
                <a:path extrusionOk="0" h="63176" w="532272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b="1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2" name="Google Shape;12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3" name="Google Shape;13;p67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l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l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l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l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l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l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l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l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840">
          <p15:clr>
            <a:srgbClr val="F26B43"/>
          </p15:clr>
        </p15:guide>
        <p15:guide id="2" pos="1920">
          <p15:clr>
            <a:srgbClr val="F26B43"/>
          </p15:clr>
        </p15:guide>
        <p15:guide id="3" pos="5760">
          <p15:clr>
            <a:srgbClr val="F26B43"/>
          </p15:clr>
        </p15:guide>
        <p15:guide id="4" pos="7104">
          <p15:clr>
            <a:srgbClr val="C35EA4"/>
          </p15:clr>
        </p15:guide>
        <p15:guide id="5" pos="576">
          <p15:clr>
            <a:srgbClr val="C35EA4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hyperlink" Target="http://aprenderinternet.about.com/od/ConceptosBasico/a/La-Nube-En-Internet.htm" TargetMode="External"/><Relationship Id="rId5" Type="http://schemas.openxmlformats.org/officeDocument/2006/relationships/hyperlink" Target="https://creativecommons.org/licenses/by/3.0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jpg"/><Relationship Id="rId4" Type="http://schemas.openxmlformats.org/officeDocument/2006/relationships/hyperlink" Target="https://clavesliderazgoresponsable.blogspot.com/2018/10/la-importancia-de-la-curiosidad.html" TargetMode="External"/><Relationship Id="rId5" Type="http://schemas.openxmlformats.org/officeDocument/2006/relationships/hyperlink" Target="https://creativecommons.org/licenses/by-nc-nd/3.0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6.png"/><Relationship Id="rId4" Type="http://schemas.openxmlformats.org/officeDocument/2006/relationships/hyperlink" Target="https://docente2punto0.blogspot.com/2020/08/google-drive-para-trabajar-en-la.html" TargetMode="External"/><Relationship Id="rId5" Type="http://schemas.openxmlformats.org/officeDocument/2006/relationships/hyperlink" Target="https://creativecommons.org/licenses/by/3.0/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8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1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8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5.jpg"/><Relationship Id="rId4" Type="http://schemas.openxmlformats.org/officeDocument/2006/relationships/hyperlink" Target="https://www.inteldig.com/2019/05/aprendizaje-automatico-potenciado-por-computacion-cuantica/" TargetMode="External"/><Relationship Id="rId5" Type="http://schemas.openxmlformats.org/officeDocument/2006/relationships/hyperlink" Target="https://creativecommons.org/licenses/by/3.0/" TargetMode="Externa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2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5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"/>
          <p:cNvSpPr txBox="1"/>
          <p:nvPr>
            <p:ph type="title"/>
          </p:nvPr>
        </p:nvSpPr>
        <p:spPr>
          <a:xfrm>
            <a:off x="893064" y="72518"/>
            <a:ext cx="8297380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AGENDA </a:t>
            </a:r>
            <a:endParaRPr/>
          </a:p>
        </p:txBody>
      </p:sp>
      <p:sp>
        <p:nvSpPr>
          <p:cNvPr id="448" name="Google Shape;448;p2"/>
          <p:cNvSpPr txBox="1"/>
          <p:nvPr>
            <p:ph idx="1" type="body"/>
          </p:nvPr>
        </p:nvSpPr>
        <p:spPr>
          <a:xfrm>
            <a:off x="865631" y="2072640"/>
            <a:ext cx="8324089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Dudas generales o del proyecto</a:t>
            </a:r>
            <a:endParaRPr b="0" i="0" sz="20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Avisos</a:t>
            </a:r>
            <a:endParaRPr b="0" i="0" sz="20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Tipos de almacenamiento en la nube</a:t>
            </a:r>
            <a:endParaRPr/>
          </a:p>
          <a:p>
            <a:pPr indent="-3429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Ejemplo codigo</a:t>
            </a:r>
            <a:endParaRPr b="0" i="0" sz="20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49" name="Google Shape;449;p2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"/>
          <p:cNvSpPr txBox="1"/>
          <p:nvPr>
            <p:ph type="ctrTitle"/>
          </p:nvPr>
        </p:nvSpPr>
        <p:spPr>
          <a:xfrm>
            <a:off x="6071616" y="960120"/>
            <a:ext cx="5221224" cy="30563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br>
              <a:rPr b="1" i="0" lang="es-MX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-MX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ALMACENAMIENTO EN LA NUBE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"/>
          <p:cNvSpPr txBox="1"/>
          <p:nvPr>
            <p:ph type="title"/>
          </p:nvPr>
        </p:nvSpPr>
        <p:spPr>
          <a:xfrm>
            <a:off x="899160" y="137160"/>
            <a:ext cx="6172200" cy="1249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</a:t>
            </a:r>
            <a:endParaRPr/>
          </a:p>
        </p:txBody>
      </p:sp>
      <p:sp>
        <p:nvSpPr>
          <p:cNvPr id="462" name="Google Shape;462;p4"/>
          <p:cNvSpPr txBox="1"/>
          <p:nvPr>
            <p:ph idx="1" type="body"/>
          </p:nvPr>
        </p:nvSpPr>
        <p:spPr>
          <a:xfrm>
            <a:off x="899160" y="1629964"/>
            <a:ext cx="10210800" cy="195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s-MX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Definir el almacenamiento en la nube</a:t>
            </a:r>
            <a:r>
              <a:rPr b="0" i="0" lang="es-MX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y su función en el manejo de la información.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s-MX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Explorar la historia del almacenamiento en la nube</a:t>
            </a:r>
            <a:r>
              <a:rPr b="0" i="0" lang="es-MX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desde sus inicios hasta su evolución actual.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s-MX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Describir los diferentes tipos de almacenamiento en la nube</a:t>
            </a:r>
            <a:r>
              <a:rPr b="0" i="0" lang="es-MX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incluyendo opciones públicas, privadas e híbridas.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s-MX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Destacar la importancia del almacenamiento en la nube</a:t>
            </a:r>
            <a:r>
              <a:rPr b="0" i="0" lang="es-MX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en la era digital y su impacto en empresas y usuarios individuales.</a:t>
            </a:r>
            <a:endParaRPr b="0" i="0" sz="17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63" name="Google Shape;463;p4"/>
          <p:cNvSpPr txBox="1"/>
          <p:nvPr>
            <p:ph idx="12" type="sldNum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 dibujo de un avión&#10;&#10;Descripción generada automáticamente con confianza baja" id="464" name="Google Shape;464;p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5791" l="0" r="0" t="25791"/>
          <a:stretch/>
        </p:blipFill>
        <p:spPr>
          <a:xfrm>
            <a:off x="2163763" y="3992961"/>
            <a:ext cx="10028237" cy="247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"/>
          <p:cNvSpPr txBox="1"/>
          <p:nvPr>
            <p:ph type="title"/>
          </p:nvPr>
        </p:nvSpPr>
        <p:spPr>
          <a:xfrm>
            <a:off x="902208" y="420624"/>
            <a:ext cx="5864352" cy="36210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ES EL ALMACENAMIENTO EN LA NUBE?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bujo de la cara de una persona&#10;&#10;Descripción generada automáticamente con confianza baja" id="471" name="Google Shape;471;p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9348" r="19808" t="0"/>
          <a:stretch/>
        </p:blipFill>
        <p:spPr>
          <a:xfrm>
            <a:off x="7874000" y="-9144"/>
            <a:ext cx="5029200" cy="6602413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5"/>
          <p:cNvSpPr txBox="1"/>
          <p:nvPr/>
        </p:nvSpPr>
        <p:spPr>
          <a:xfrm>
            <a:off x="7625969" y="6593269"/>
            <a:ext cx="4581525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900" u="sng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Esta foto</a:t>
            </a:r>
            <a:r>
              <a:rPr b="0" i="0" lang="es-MX" sz="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de Autor desconocido está bajo licencia </a:t>
            </a:r>
            <a:r>
              <a:rPr b="0" i="0" lang="es-MX" sz="900" u="sng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 BY</a:t>
            </a:r>
            <a:endParaRPr sz="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ES EL ALMACENAMIENTO EN LA NUBE?</a:t>
            </a:r>
            <a:endParaRPr/>
          </a:p>
        </p:txBody>
      </p:sp>
      <p:sp>
        <p:nvSpPr>
          <p:cNvPr id="479" name="Google Shape;479;p6"/>
          <p:cNvSpPr txBox="1"/>
          <p:nvPr>
            <p:ph idx="2" type="body"/>
          </p:nvPr>
        </p:nvSpPr>
        <p:spPr>
          <a:xfrm>
            <a:off x="7554351" y="2058670"/>
            <a:ext cx="3743887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El </a:t>
            </a:r>
            <a:r>
              <a:rPr b="1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almacenamiento en la nube</a:t>
            </a: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es un modelo de servicio que permite guardar datos en servidores remotos accesibles a través de Internet. En lugar de almacenar archivos en discos duros o dispositivos físicos, los usuarios pueden acceder a su información desde cualquier lugar y en cualquier momento.</a:t>
            </a:r>
            <a:endParaRPr/>
          </a:p>
        </p:txBody>
      </p:sp>
      <p:sp>
        <p:nvSpPr>
          <p:cNvPr id="480" name="Google Shape;480;p6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1" name="Google Shape;481;p6"/>
          <p:cNvGrpSpPr/>
          <p:nvPr/>
        </p:nvGrpSpPr>
        <p:grpSpPr>
          <a:xfrm>
            <a:off x="911352" y="2174010"/>
            <a:ext cx="6192837" cy="3457080"/>
            <a:chOff x="0" y="115341"/>
            <a:chExt cx="6192837" cy="3457080"/>
          </a:xfrm>
        </p:grpSpPr>
        <p:sp>
          <p:nvSpPr>
            <p:cNvPr id="482" name="Google Shape;482;p6"/>
            <p:cNvSpPr/>
            <p:nvPr/>
          </p:nvSpPr>
          <p:spPr>
            <a:xfrm>
              <a:off x="0" y="115341"/>
              <a:ext cx="6192837" cy="575639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46164"/>
                </a:gs>
                <a:gs pos="50000">
                  <a:srgbClr val="F83E42"/>
                </a:gs>
                <a:gs pos="100000">
                  <a:srgbClr val="E32C3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6"/>
            <p:cNvSpPr txBox="1"/>
            <p:nvPr/>
          </p:nvSpPr>
          <p:spPr>
            <a:xfrm>
              <a:off x="28100" y="143441"/>
              <a:ext cx="6136637" cy="519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venir"/>
                <a:buNone/>
              </a:pPr>
              <a:r>
                <a:rPr lang="es-MX" sz="2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Ejemplos cotidianos:</a:t>
              </a:r>
              <a:endParaRPr sz="2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0" y="690981"/>
              <a:ext cx="6192837" cy="2881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6"/>
            <p:cNvSpPr txBox="1"/>
            <p:nvPr/>
          </p:nvSpPr>
          <p:spPr>
            <a:xfrm>
              <a:off x="0" y="690981"/>
              <a:ext cx="6192837" cy="2881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75" lIns="196600" spcFirstLastPara="1" rIns="170675" wrap="square" tIns="304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venir"/>
                <a:buChar char="•"/>
              </a:pPr>
              <a:r>
                <a:rPr b="1" i="0" lang="es-MX" sz="19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Google Drive</a:t>
              </a:r>
              <a:r>
                <a:rPr b="0" i="0" lang="es-MX" sz="19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: Almacena documentos, fotos y videos, permitiendo edición y colaboración en línea.</a:t>
              </a:r>
              <a:endParaRPr b="0" i="0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venir"/>
                <a:buChar char="•"/>
              </a:pPr>
              <a:r>
                <a:rPr b="1" i="0" lang="es-MX" sz="19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Dropbox</a:t>
              </a:r>
              <a:r>
                <a:rPr b="0" i="0" lang="es-MX" sz="19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: Sincroniza archivos entre dispositivos y facilita el acceso compartido.</a:t>
              </a:r>
              <a:endParaRPr b="0" i="0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venir"/>
                <a:buChar char="•"/>
              </a:pPr>
              <a:r>
                <a:rPr b="1" i="0" lang="es-MX" sz="19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OneDrive</a:t>
              </a:r>
              <a:r>
                <a:rPr b="0" i="0" lang="es-MX" sz="19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: Servicio de Microsoft integrado con Windows y Office para almacenar y compartir archivos.</a:t>
              </a:r>
              <a:endParaRPr b="0" i="0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venir"/>
                <a:buChar char="•"/>
              </a:pPr>
              <a:r>
                <a:rPr b="1" i="0" lang="es-MX" sz="19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iCloud</a:t>
              </a:r>
              <a:r>
                <a:rPr b="0" i="0" lang="es-MX" sz="19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: Plataforma de Apple para almacenar fotos, contactos y copias de seguridad de dispositivos.</a:t>
              </a:r>
              <a:endParaRPr b="0" i="0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7"/>
          <p:cNvSpPr txBox="1"/>
          <p:nvPr>
            <p:ph type="title"/>
          </p:nvPr>
        </p:nvSpPr>
        <p:spPr>
          <a:xfrm>
            <a:off x="6096000" y="176784"/>
            <a:ext cx="5864352" cy="36210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IMPORTANCIA DEL ALMACENAMIENTO EN LA NUBE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a persona con una camisa amarilla" id="492" name="Google Shape;492;p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3" r="32" t="0"/>
          <a:stretch/>
        </p:blipFill>
        <p:spPr>
          <a:xfrm>
            <a:off x="-15240" y="-15240"/>
            <a:ext cx="4581525" cy="6602413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7"/>
          <p:cNvSpPr txBox="1"/>
          <p:nvPr>
            <p:ph idx="1" type="body"/>
          </p:nvPr>
        </p:nvSpPr>
        <p:spPr>
          <a:xfrm>
            <a:off x="6096000" y="4084320"/>
            <a:ext cx="5864225" cy="2362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Era digital </a:t>
            </a:r>
            <a:endParaRPr b="0" i="0" sz="2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8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IMPORTANCIA DEL ALMACENAMIENTO EN LA NUBE</a:t>
            </a:r>
            <a:endParaRPr/>
          </a:p>
        </p:txBody>
      </p:sp>
      <p:sp>
        <p:nvSpPr>
          <p:cNvPr id="500" name="Google Shape;500;p8"/>
          <p:cNvSpPr/>
          <p:nvPr/>
        </p:nvSpPr>
        <p:spPr>
          <a:xfrm>
            <a:off x="5539623" y="2199346"/>
            <a:ext cx="6192838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i="0" lang="es-MX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Accesibilidad global</a:t>
            </a:r>
            <a:r>
              <a:rPr b="0" i="0" lang="es-MX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Los datos pueden consultarse desde cualquier dispositivo con Internet. </a:t>
            </a:r>
            <a:endParaRPr/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i="0" lang="es-MX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Respaldo y recuperación</a:t>
            </a:r>
            <a:r>
              <a:rPr b="0" i="0" lang="es-MX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Evita la pérdida de información ante fallos en dispositivos físicos. </a:t>
            </a:r>
            <a:endParaRPr/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i="0" lang="es-MX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Escalabilidad</a:t>
            </a:r>
            <a:r>
              <a:rPr b="0" i="0" lang="es-MX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Empresas y usuarios pueden ampliar su almacenamiento según sus necesidades. </a:t>
            </a:r>
            <a:endParaRPr/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i="0" lang="es-MX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Colaboración en tiempo real</a:t>
            </a:r>
            <a:r>
              <a:rPr b="0" i="0" lang="es-MX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Permite el trabajo simultáneo en documentos sin necesidad de enviarlos por correo. </a:t>
            </a:r>
            <a:endParaRPr/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i="0" lang="es-MX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Reducción de costos</a:t>
            </a:r>
            <a:r>
              <a:rPr b="0" i="0" lang="es-MX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Minimiza la necesidad de hardware físico y mantenimiento. </a:t>
            </a:r>
            <a:endParaRPr/>
          </a:p>
        </p:txBody>
      </p:sp>
      <p:sp>
        <p:nvSpPr>
          <p:cNvPr id="501" name="Google Shape;501;p8"/>
          <p:cNvSpPr txBox="1"/>
          <p:nvPr>
            <p:ph idx="2" type="body"/>
          </p:nvPr>
        </p:nvSpPr>
        <p:spPr>
          <a:xfrm>
            <a:off x="911352" y="2175997"/>
            <a:ext cx="3729821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El almacenamiento en la nube es esencial en la era digital porque permite </a:t>
            </a:r>
            <a:r>
              <a:rPr b="1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acceso flexible, seguridad y eficiencia en la gestión de datos</a:t>
            </a: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 Su relevancia se debe a varios factores clave:</a:t>
            </a:r>
            <a:b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</a:br>
            <a:b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Ejemplo: Empresas como Netflix dependen de la nube para almacenar y distribuir su contenido globalmente sin necesidad de servidores físicos propios.</a:t>
            </a:r>
            <a:endParaRPr b="0" i="0" sz="20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02" name="Google Shape;502;p8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9"/>
          <p:cNvSpPr txBox="1"/>
          <p:nvPr>
            <p:ph type="title"/>
          </p:nvPr>
        </p:nvSpPr>
        <p:spPr>
          <a:xfrm>
            <a:off x="6096000" y="1342293"/>
            <a:ext cx="5423731" cy="33168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br>
              <a:rPr b="1" i="0" lang="es-MX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-MX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HISTORIA Y ORÍGENES</a:t>
            </a:r>
            <a:endParaRPr b="1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0"/>
          <p:cNvSpPr txBox="1"/>
          <p:nvPr>
            <p:ph type="title"/>
          </p:nvPr>
        </p:nvSpPr>
        <p:spPr>
          <a:xfrm>
            <a:off x="899160" y="137160"/>
            <a:ext cx="6172200" cy="1249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PRECURSORES DEL ALMACENAMIENTO EN LA NUBE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0"/>
          <p:cNvSpPr txBox="1"/>
          <p:nvPr>
            <p:ph idx="1" type="body"/>
          </p:nvPr>
        </p:nvSpPr>
        <p:spPr>
          <a:xfrm>
            <a:off x="899159" y="2087880"/>
            <a:ext cx="10535113" cy="195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Conceptos tempranos como el "time-sharing" en los años 60.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John McCarthy y su idea de la computación como servicio.</a:t>
            </a:r>
            <a:endParaRPr/>
          </a:p>
        </p:txBody>
      </p:sp>
      <p:sp>
        <p:nvSpPr>
          <p:cNvPr id="516" name="Google Shape;516;p10"/>
          <p:cNvSpPr txBox="1"/>
          <p:nvPr>
            <p:ph idx="12" type="sldNum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de la pantalla de un videojuego&#10;&#10;Descripción generada automáticamente con confianza baja" id="517" name="Google Shape;517;p1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9082" l="0" r="0" t="29081"/>
          <a:stretch/>
        </p:blipFill>
        <p:spPr>
          <a:xfrm>
            <a:off x="2179320" y="4094802"/>
            <a:ext cx="10027919" cy="246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1"/>
          <p:cNvSpPr txBox="1"/>
          <p:nvPr>
            <p:ph type="title"/>
          </p:nvPr>
        </p:nvSpPr>
        <p:spPr>
          <a:xfrm>
            <a:off x="899160" y="137160"/>
            <a:ext cx="6172200" cy="1249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PRECURSORES DEL ALMACENAMIENTO EN LA NUBE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1"/>
          <p:cNvSpPr txBox="1"/>
          <p:nvPr>
            <p:ph idx="1" type="body"/>
          </p:nvPr>
        </p:nvSpPr>
        <p:spPr>
          <a:xfrm>
            <a:off x="899159" y="2026920"/>
            <a:ext cx="10425333" cy="1096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El almacenamiento en la nube tiene sus raíces en conceptos desarrollados desde los años 60, cuando se comenzó a explorar el uso compartido de recursos computacionales.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25" name="Google Shape;525;p11"/>
          <p:cNvSpPr txBox="1"/>
          <p:nvPr>
            <p:ph idx="12" type="sldNum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1"/>
          <p:cNvSpPr txBox="1"/>
          <p:nvPr/>
        </p:nvSpPr>
        <p:spPr>
          <a:xfrm>
            <a:off x="899159" y="3291840"/>
            <a:ext cx="4741986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Time-Sharing (Años 60)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Concepto que permitía a múltiples usuarios acceder simultáneamente a un mismo sistema informático central.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Redujo costos al distribuir el poder de cómputo entre varios usuarios.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Fue la base para el desarrollo de la computación remota y los servicios en la nube.</a:t>
            </a:r>
            <a:endParaRPr/>
          </a:p>
        </p:txBody>
      </p:sp>
      <p:sp>
        <p:nvSpPr>
          <p:cNvPr id="527" name="Google Shape;527;p11"/>
          <p:cNvSpPr txBox="1"/>
          <p:nvPr/>
        </p:nvSpPr>
        <p:spPr>
          <a:xfrm>
            <a:off x="6096000" y="3151163"/>
            <a:ext cx="5326966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Otros avances clave: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ARPANET (Años 70)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Primera red que permitió el acceso remoto a sistemas.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Virtualización (Años 90)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Creación de máquinas virtuales que facilitó la separación entre hardware y software.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Ejemplo: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IBM y General Electric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fueron pioneros en ofrecer servicios de cómputo compartido en esta época.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Gesto de doble toque contorno" id="528" name="Google Shape;52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1477" y="173502"/>
            <a:ext cx="1591994" cy="1591994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11"/>
          <p:cNvSpPr/>
          <p:nvPr/>
        </p:nvSpPr>
        <p:spPr>
          <a:xfrm>
            <a:off x="407963" y="1386840"/>
            <a:ext cx="6663397" cy="168812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2"/>
          <p:cNvSpPr txBox="1"/>
          <p:nvPr>
            <p:ph type="title"/>
          </p:nvPr>
        </p:nvSpPr>
        <p:spPr>
          <a:xfrm>
            <a:off x="899159" y="137160"/>
            <a:ext cx="9452317" cy="1249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PRECURSORES DEL ALMACENAMIENTO EN LA NUBE</a:t>
            </a:r>
            <a:b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2"/>
          <p:cNvSpPr txBox="1"/>
          <p:nvPr>
            <p:ph idx="1" type="body"/>
          </p:nvPr>
        </p:nvSpPr>
        <p:spPr>
          <a:xfrm>
            <a:off x="899159" y="2026920"/>
            <a:ext cx="10425333" cy="1096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John McCarthy, pionero en inteligencia artificial, propuso en los años 60 la idea de que </a:t>
            </a:r>
            <a:r>
              <a:rPr b="1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la computación podría ofrecerse como un servicio público</a:t>
            </a: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similar a la electricidad o el agua.</a:t>
            </a:r>
            <a:b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Principales ideas de McCarthy:</a:t>
            </a:r>
            <a:endParaRPr b="0" i="0" sz="20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37" name="Google Shape;537;p12"/>
          <p:cNvSpPr txBox="1"/>
          <p:nvPr>
            <p:ph idx="12" type="sldNum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2"/>
          <p:cNvSpPr txBox="1"/>
          <p:nvPr/>
        </p:nvSpPr>
        <p:spPr>
          <a:xfrm>
            <a:off x="899158" y="3291840"/>
            <a:ext cx="5670453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Acceso bajo demanda: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Los usuarios no necesitarían poseer computadoras potentes, solo pagar por el uso de recursos computacionales.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Optimización de costos: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Compartir potencia de cómputo permitiría reducir gastos y mejorar la eficiencia.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Fundamento de la computación en la nube: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Su visión sentó las bases para modelos como </a:t>
            </a:r>
            <a:r>
              <a:rPr i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Software as a Service (SaaS)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y </a:t>
            </a:r>
            <a:r>
              <a:rPr i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Infrastructure as a Service (IaaS)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/>
          </a:p>
        </p:txBody>
      </p:sp>
      <p:sp>
        <p:nvSpPr>
          <p:cNvPr id="539" name="Google Shape;539;p12"/>
          <p:cNvSpPr txBox="1"/>
          <p:nvPr/>
        </p:nvSpPr>
        <p:spPr>
          <a:xfrm>
            <a:off x="7329268" y="3151163"/>
            <a:ext cx="4093698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Ejemplo: Hoy en día, servicios como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Amazon Web Services (AWS)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y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Google Cloud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siguen este principio, ofreciendo almacenamiento y procesamiento en la nube según el consumo del usuario.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Gesto de doble toque contorno" id="540" name="Google Shape;54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1477" y="173502"/>
            <a:ext cx="1591994" cy="1591994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12"/>
          <p:cNvSpPr/>
          <p:nvPr/>
        </p:nvSpPr>
        <p:spPr>
          <a:xfrm>
            <a:off x="407963" y="1386840"/>
            <a:ext cx="6663397" cy="168812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42" name="Google Shape;542;p12"/>
          <p:cNvSpPr txBox="1"/>
          <p:nvPr/>
        </p:nvSpPr>
        <p:spPr>
          <a:xfrm>
            <a:off x="911352" y="966540"/>
            <a:ext cx="51746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John McCarthy y la Computación como Servicio</a:t>
            </a:r>
            <a:endParaRPr b="1"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3"/>
          <p:cNvSpPr txBox="1"/>
          <p:nvPr>
            <p:ph type="title"/>
          </p:nvPr>
        </p:nvSpPr>
        <p:spPr>
          <a:xfrm>
            <a:off x="899160" y="137160"/>
            <a:ext cx="6172200" cy="1249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DÉCADA DE 1990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3"/>
          <p:cNvSpPr txBox="1"/>
          <p:nvPr>
            <p:ph idx="1" type="body"/>
          </p:nvPr>
        </p:nvSpPr>
        <p:spPr>
          <a:xfrm>
            <a:off x="899159" y="2087880"/>
            <a:ext cx="10535113" cy="195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Surgimiento de Internet y su impacto en el almacenamiento remoto.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Empresas como Salesforce pioneras en ofrecer servicios en la nube.</a:t>
            </a:r>
            <a:endParaRPr/>
          </a:p>
          <a:p>
            <a:pPr indent="-171450" lvl="1" marL="7429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50" name="Google Shape;550;p13"/>
          <p:cNvSpPr txBox="1"/>
          <p:nvPr>
            <p:ph idx="12" type="sldNum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interior, azul, juguete, pequeño&#10;&#10;Descripción generada automáticamente" id="551" name="Google Shape;551;p1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2453" l="152" r="-151" t="30420"/>
          <a:stretch/>
        </p:blipFill>
        <p:spPr>
          <a:xfrm>
            <a:off x="2210387" y="3228784"/>
            <a:ext cx="10027919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4"/>
          <p:cNvSpPr txBox="1"/>
          <p:nvPr>
            <p:ph type="title"/>
          </p:nvPr>
        </p:nvSpPr>
        <p:spPr>
          <a:xfrm>
            <a:off x="522379" y="125203"/>
            <a:ext cx="7580611" cy="21396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DÉCADA DE 1990: INTERNET Y EL ALMACENAMIENTO REMOTO</a:t>
            </a:r>
            <a:endParaRPr/>
          </a:p>
        </p:txBody>
      </p:sp>
      <p:sp>
        <p:nvSpPr>
          <p:cNvPr id="557" name="Google Shape;557;p14"/>
          <p:cNvSpPr txBox="1"/>
          <p:nvPr/>
        </p:nvSpPr>
        <p:spPr>
          <a:xfrm>
            <a:off x="717451" y="2302637"/>
            <a:ext cx="1095216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La expansión de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Internet en los años 90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revolucionó la forma en que se accedía y almacenaba la información, allanando el camino para el almacenamiento en la nube.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Impacto del Internet en el almacenamiento remoto: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58" name="Google Shape;558;p14"/>
          <p:cNvSpPr txBox="1"/>
          <p:nvPr/>
        </p:nvSpPr>
        <p:spPr>
          <a:xfrm>
            <a:off x="522379" y="3445637"/>
            <a:ext cx="5428255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Mayor conectividad global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Permitió a los usuarios acceder a servidores remotos desde cualquier lugar.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Servicios de alojamiento web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Empresas comenzaron a ofrecer almacenamiento en línea, eliminando la necesidad de hardware físico propio.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Primeros servicios en la nube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Empresas como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AT&amp;T, Amazon y Microsoft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comenzaron a explorar modelos de almacenamiento remoto.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59" name="Google Shape;559;p14"/>
          <p:cNvSpPr txBox="1"/>
          <p:nvPr/>
        </p:nvSpPr>
        <p:spPr>
          <a:xfrm>
            <a:off x="6241368" y="3445637"/>
            <a:ext cx="5428253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Popularización de la virtualización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Facilitó la separación entre hardware físico y almacenamiento de datos.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Ejemplo: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En 1999,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Salesforce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lanzó su primer servicio basado en la nube, marcando el inicio del </a:t>
            </a:r>
            <a:r>
              <a:rPr i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Software as a Service (SaaS)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Gesto de aguantar con relleno sólido" id="560" name="Google Shape;5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3176" y="373130"/>
            <a:ext cx="1573014" cy="1573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5"/>
          <p:cNvSpPr txBox="1"/>
          <p:nvPr>
            <p:ph type="title"/>
          </p:nvPr>
        </p:nvSpPr>
        <p:spPr>
          <a:xfrm>
            <a:off x="522379" y="125203"/>
            <a:ext cx="7580611" cy="21396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DÉCADA DE 1990: PIONEROS EN SERVICIOS EN LA NUBE</a:t>
            </a:r>
            <a:endParaRPr/>
          </a:p>
        </p:txBody>
      </p:sp>
      <p:sp>
        <p:nvSpPr>
          <p:cNvPr id="566" name="Google Shape;566;p15"/>
          <p:cNvSpPr txBox="1"/>
          <p:nvPr/>
        </p:nvSpPr>
        <p:spPr>
          <a:xfrm>
            <a:off x="717451" y="2302637"/>
            <a:ext cx="1095216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En los años 90, algunas empresas comenzaron a ofrecer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servicios basados en la nube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sentando las bases para el modelo actual de almacenamiento y software como servicio.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67" name="Google Shape;567;p15"/>
          <p:cNvSpPr txBox="1"/>
          <p:nvPr/>
        </p:nvSpPr>
        <p:spPr>
          <a:xfrm>
            <a:off x="395770" y="3164283"/>
            <a:ext cx="5428255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Salesforce (1999): El Inicio del SaaS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Primera empresa en ofrecer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Software as a Service (SaaS)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en lugar de software instalado localmente.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Permitía a las empresas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gestionar clientes y ventas desde Internet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sin necesidad de infraestructura propia.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Modelo basado en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suscripciones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eliminando costos de licencias tradicionales.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68" name="Google Shape;568;p15"/>
          <p:cNvSpPr txBox="1"/>
          <p:nvPr/>
        </p:nvSpPr>
        <p:spPr>
          <a:xfrm>
            <a:off x="6241367" y="2997257"/>
            <a:ext cx="5428253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Otras empresas pioneras: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Amazon (1994)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Inicialmente una tienda en línea, evolucionó hacia el almacenamiento en la nube con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AWS en 2006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Hotmail (1996)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Uno de los primeros servicios de correo basado completamente en la web, demostrando el poder del almacenamiento remoto.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Google (1998)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Aunque inicialmente un motor de búsqueda, más tarde revolucionó la nube con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Google Drive y Google Docs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Gesto de aguantar con relleno sólido" id="569" name="Google Shape;56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3176" y="373130"/>
            <a:ext cx="1573014" cy="1573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6"/>
          <p:cNvSpPr txBox="1"/>
          <p:nvPr>
            <p:ph type="title"/>
          </p:nvPr>
        </p:nvSpPr>
        <p:spPr>
          <a:xfrm>
            <a:off x="911352" y="505016"/>
            <a:ext cx="5775656" cy="32849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AÑOS 2000</a:t>
            </a:r>
            <a:endParaRPr/>
          </a:p>
        </p:txBody>
      </p:sp>
      <p:sp>
        <p:nvSpPr>
          <p:cNvPr id="575" name="Google Shape;575;p16"/>
          <p:cNvSpPr txBox="1"/>
          <p:nvPr>
            <p:ph idx="1" type="body"/>
          </p:nvPr>
        </p:nvSpPr>
        <p:spPr>
          <a:xfrm>
            <a:off x="911353" y="4006024"/>
            <a:ext cx="5794248" cy="2346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/>
              <a:t>Lanzamiento de Amazon Web Services (</a:t>
            </a:r>
            <a:r>
              <a:rPr b="1" lang="es-MX"/>
              <a:t>AWS</a:t>
            </a:r>
            <a:r>
              <a:rPr lang="es-MX"/>
              <a:t>) en 2006.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/>
              <a:t>Google Docs y el inicio del almacenamiento masivo en la nube.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7"/>
          <p:cNvSpPr txBox="1"/>
          <p:nvPr>
            <p:ph type="title"/>
          </p:nvPr>
        </p:nvSpPr>
        <p:spPr>
          <a:xfrm>
            <a:off x="899160" y="137160"/>
            <a:ext cx="7133492" cy="1249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AÑOS 2000: AWS Y LA REVOLUCIÓN DEL ALMACENAMIENTO EN LA NUBE</a:t>
            </a:r>
            <a:endParaRPr/>
          </a:p>
        </p:txBody>
      </p:sp>
      <p:sp>
        <p:nvSpPr>
          <p:cNvPr id="581" name="Google Shape;581;p17"/>
          <p:cNvSpPr txBox="1"/>
          <p:nvPr>
            <p:ph idx="1" type="body"/>
          </p:nvPr>
        </p:nvSpPr>
        <p:spPr>
          <a:xfrm>
            <a:off x="899160" y="1609579"/>
            <a:ext cx="10210800" cy="1249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En </a:t>
            </a:r>
            <a:r>
              <a:rPr b="1" lang="es-MX"/>
              <a:t>2006</a:t>
            </a:r>
            <a:r>
              <a:rPr lang="es-MX"/>
              <a:t>, Amazon lanzó </a:t>
            </a:r>
            <a:r>
              <a:rPr b="1" lang="es-MX"/>
              <a:t>Amazon Web Services (AWS)</a:t>
            </a:r>
            <a:r>
              <a:rPr lang="es-MX"/>
              <a:t>, marcando un hito en la computación en la nube al ofrecer infraestructura como servicio (</a:t>
            </a:r>
            <a:r>
              <a:rPr i="1" lang="es-MX"/>
              <a:t>Infrastructure as a Service - IaaS</a:t>
            </a:r>
            <a:r>
              <a:rPr lang="es-MX"/>
              <a:t>).</a:t>
            </a:r>
            <a:endParaRPr/>
          </a:p>
        </p:txBody>
      </p:sp>
      <p:sp>
        <p:nvSpPr>
          <p:cNvPr id="582" name="Google Shape;582;p17"/>
          <p:cNvSpPr txBox="1"/>
          <p:nvPr>
            <p:ph idx="12" type="sldNum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583" name="Google Shape;583;p17"/>
          <p:cNvSpPr txBox="1"/>
          <p:nvPr/>
        </p:nvSpPr>
        <p:spPr>
          <a:xfrm>
            <a:off x="702212" y="2859258"/>
            <a:ext cx="5393788" cy="3387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¿Por qué fue importante AWS?</a:t>
            </a:r>
            <a:b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Primer servicio en la nube a gran escala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Permitió a empresas y desarrolladores alquilar servidores, almacenamiento y bases de datos en lugar de comprarlos.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Escalabilidad y pago por uso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Los clientes podían ajustar su capacidad según la demanda, reduciendo costos.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Impulso para startups y grandes empresas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Empresas como Netflix, Airbnb y Spotify comenzaron a depender de AWS para su infraestructura.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84" name="Google Shape;584;p17"/>
          <p:cNvSpPr txBox="1"/>
          <p:nvPr/>
        </p:nvSpPr>
        <p:spPr>
          <a:xfrm>
            <a:off x="6763044" y="2754038"/>
            <a:ext cx="4726744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Servicios clave en su lanzamiento: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Amazon S3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(Simple Storage Service): Almacenamiento seguro y escalable en la nube.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Amazon EC2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(Elastic Compute Cloud): Servidores virtuales flexibles para aplicaciones.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Impacto: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AWS demostró que el almacenamiento y la computación en la nube eran viables para cualquier tipo de negocio, impulsando el crecimiento del sector.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8"/>
          <p:cNvSpPr txBox="1"/>
          <p:nvPr>
            <p:ph type="title"/>
          </p:nvPr>
        </p:nvSpPr>
        <p:spPr>
          <a:xfrm>
            <a:off x="899159" y="137160"/>
            <a:ext cx="8821616" cy="1249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AÑOS 2000: GOOGLE DOCS Y EL INICIO DEL ALMACENAMIENTO MASIVO EN LA NUBE</a:t>
            </a:r>
            <a:endParaRPr/>
          </a:p>
        </p:txBody>
      </p:sp>
      <p:sp>
        <p:nvSpPr>
          <p:cNvPr id="590" name="Google Shape;590;p18"/>
          <p:cNvSpPr txBox="1"/>
          <p:nvPr>
            <p:ph idx="1" type="body"/>
          </p:nvPr>
        </p:nvSpPr>
        <p:spPr>
          <a:xfrm>
            <a:off x="899160" y="1609579"/>
            <a:ext cx="10210800" cy="1249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En </a:t>
            </a:r>
            <a:r>
              <a:rPr b="1" lang="es-MX"/>
              <a:t>2006</a:t>
            </a:r>
            <a:r>
              <a:rPr lang="es-MX"/>
              <a:t>, Google lanzó </a:t>
            </a:r>
            <a:r>
              <a:rPr b="1" lang="es-MX"/>
              <a:t>Google Docs</a:t>
            </a:r>
            <a:r>
              <a:rPr lang="es-MX"/>
              <a:t>, una plataforma que permitió la edición y almacenamiento de documentos en la nube, marcando el inicio del almacenamiento masivo accesible para el público en general.</a:t>
            </a:r>
            <a:endParaRPr/>
          </a:p>
        </p:txBody>
      </p:sp>
      <p:sp>
        <p:nvSpPr>
          <p:cNvPr id="591" name="Google Shape;591;p18"/>
          <p:cNvSpPr txBox="1"/>
          <p:nvPr>
            <p:ph idx="12" type="sldNum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592" name="Google Shape;592;p18"/>
          <p:cNvSpPr txBox="1"/>
          <p:nvPr/>
        </p:nvSpPr>
        <p:spPr>
          <a:xfrm>
            <a:off x="702212" y="2859258"/>
            <a:ext cx="4995203" cy="3387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¿Por qué fue revolucionario?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Edición en línea y colaboración en tiempo real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Varias personas podían trabajar simultáneamente en un documento sin necesidad de enviarlo por correo.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Almacenamiento en la nube gratuito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Los usuarios no necesitaban guardar archivos en sus dispositivos, solo en sus cuentas de Google.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Accesibilidad desde cualquier dispositivo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Se podía acceder desde navegadores sin necesidad de instalar software.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93" name="Google Shape;593;p18"/>
          <p:cNvSpPr txBox="1"/>
          <p:nvPr/>
        </p:nvSpPr>
        <p:spPr>
          <a:xfrm>
            <a:off x="6004560" y="2859258"/>
            <a:ext cx="5826369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Otros avances clave en almacenamiento masivo en la nube: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Google Drive (2012):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Expandió la capacidad de almacenamiento en la nube para documentos, imágenes y videos.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Dropbox (2007):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Introdujo la sincronización automática de archivos entre dispositivos.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OneDrive (2007):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Microsoft lanzó su propio servicio de almacenamiento en la nube.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Impacto: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Google Docs demostró que la nube no solo era útil para empresas, sino también para estudiantes y profesionales, facilitando el trabajo colaborativo y la accesibilidad global.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9"/>
          <p:cNvSpPr txBox="1"/>
          <p:nvPr>
            <p:ph type="title"/>
          </p:nvPr>
        </p:nvSpPr>
        <p:spPr>
          <a:xfrm>
            <a:off x="6095999" y="441960"/>
            <a:ext cx="5641897" cy="33168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br>
              <a:rPr lang="es-MX"/>
            </a:br>
            <a:r>
              <a:rPr lang="es-MX"/>
              <a:t>EVOLUCIÓN TECNOLÓGICA</a:t>
            </a:r>
            <a:endParaRPr/>
          </a:p>
        </p:txBody>
      </p:sp>
      <p:sp>
        <p:nvSpPr>
          <p:cNvPr id="599" name="Google Shape;599;p19"/>
          <p:cNvSpPr txBox="1"/>
          <p:nvPr>
            <p:ph idx="1" type="body"/>
          </p:nvPr>
        </p:nvSpPr>
        <p:spPr>
          <a:xfrm>
            <a:off x="6109694" y="4068392"/>
            <a:ext cx="5580586" cy="2197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MX"/>
              <a:t>Mejoras en ancho de banda y reducción de costos de almacenamiento.</a:t>
            </a:r>
            <a:endParaRPr/>
          </a:p>
          <a:p>
            <a:pPr indent="0" lvl="0" marL="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0"/>
          <p:cNvSpPr txBox="1"/>
          <p:nvPr>
            <p:ph type="title"/>
          </p:nvPr>
        </p:nvSpPr>
        <p:spPr>
          <a:xfrm>
            <a:off x="5190978" y="176784"/>
            <a:ext cx="6769374" cy="11174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MX" sz="2000"/>
              <a:t>EVOLUCIÓN TECNOLÓGICA: ANCHO DE BANDA Y REDUCCIÓN DE COSTOS DE ALMACENAMIENTO</a:t>
            </a:r>
            <a:endParaRPr sz="2000"/>
          </a:p>
        </p:txBody>
      </p:sp>
      <p:sp>
        <p:nvSpPr>
          <p:cNvPr id="605" name="Google Shape;605;p20"/>
          <p:cNvSpPr txBox="1"/>
          <p:nvPr>
            <p:ph idx="1" type="body"/>
          </p:nvPr>
        </p:nvSpPr>
        <p:spPr>
          <a:xfrm>
            <a:off x="5190978" y="1448972"/>
            <a:ext cx="676937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/>
              <a:t>La evolución tecnológica en los últimos años ha sido clave para la expansión del almacenamiento en la nube, especialmente en términos de </a:t>
            </a:r>
            <a:r>
              <a:rPr b="1" lang="es-MX" sz="2000"/>
              <a:t>mejoras en el ancho de banda</a:t>
            </a:r>
            <a:r>
              <a:rPr lang="es-MX" sz="2000"/>
              <a:t> y la </a:t>
            </a:r>
            <a:r>
              <a:rPr b="1" lang="es-MX" sz="2000"/>
              <a:t>reducción de los costos de almacenamiento</a:t>
            </a:r>
            <a:r>
              <a:rPr lang="es-MX" sz="2000"/>
              <a:t>.</a:t>
            </a:r>
            <a:endParaRPr sz="2000"/>
          </a:p>
        </p:txBody>
      </p:sp>
      <p:sp>
        <p:nvSpPr>
          <p:cNvPr id="606" name="Google Shape;606;p20"/>
          <p:cNvSpPr txBox="1"/>
          <p:nvPr/>
        </p:nvSpPr>
        <p:spPr>
          <a:xfrm>
            <a:off x="267286" y="534572"/>
            <a:ext cx="4656406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Mejoras en el Ancho de Banda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Mayor velocidad de conexión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El desarrollo de redes de fibra óptica y la expansión de la conectividad 4G y 5G han permitido velocidades de transmisión de datos mucho más rápidas.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Acceso más rápido a los datos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La mejora en el ancho de banda facilita el acceso y la carga de grandes cantidades de datos en tiempo real.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Reducción de la latencia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Las redes más rápidas y estables mejoran la experiencia del usuario, especialmente en aplicaciones de streaming, videoconferencias y videojuegos en la nube.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07" name="Google Shape;607;p20"/>
          <p:cNvSpPr txBox="1"/>
          <p:nvPr/>
        </p:nvSpPr>
        <p:spPr>
          <a:xfrm>
            <a:off x="5190978" y="2982351"/>
            <a:ext cx="6555545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Reducción de Costos de Almacenamiento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Economías de escala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Las grandes empresas de almacenamiento en la nube han podido reducir sus costos a medida que aumentan su infraestructura y clientes.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Tecnologías de almacenamiento más eficientes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Avances en almacenamiento de datos, como el uso de discos duros SSD y almacenamiento en la nube distribuido, han reducido costos y mejorado la eficiencia.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Modelos de pago por uso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Los proveedores de nube permiten a los usuarios pagar solo por el espacio y servicios que consumen, eliminando la necesidad de grandes inversiones iniciales.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08" name="Google Shape;608;p20"/>
          <p:cNvSpPr txBox="1"/>
          <p:nvPr/>
        </p:nvSpPr>
        <p:spPr>
          <a:xfrm>
            <a:off x="267286" y="5150327"/>
            <a:ext cx="465640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Impacto: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Estas mejoras han hecho que el almacenamiento en la nube sea accesible tanto para individuos como para empresas, lo que fomenta su adopción masiva.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1"/>
          <p:cNvSpPr txBox="1"/>
          <p:nvPr>
            <p:ph type="title"/>
          </p:nvPr>
        </p:nvSpPr>
        <p:spPr>
          <a:xfrm>
            <a:off x="911352" y="505016"/>
            <a:ext cx="5775656" cy="32849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br>
              <a:rPr lang="es-MX"/>
            </a:br>
            <a:r>
              <a:rPr lang="es-MX"/>
              <a:t>EVOLUCIÓN TECNOLÓGICA</a:t>
            </a:r>
            <a:endParaRPr/>
          </a:p>
        </p:txBody>
      </p:sp>
      <p:sp>
        <p:nvSpPr>
          <p:cNvPr id="614" name="Google Shape;614;p21"/>
          <p:cNvSpPr txBox="1"/>
          <p:nvPr>
            <p:ph idx="1" type="body"/>
          </p:nvPr>
        </p:nvSpPr>
        <p:spPr>
          <a:xfrm>
            <a:off x="911353" y="4006024"/>
            <a:ext cx="5794248" cy="2346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MX"/>
              <a:t>Mejoras en ancho de banda y reducción de costos de almacenamiento.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2"/>
          <p:cNvSpPr txBox="1"/>
          <p:nvPr>
            <p:ph type="title"/>
          </p:nvPr>
        </p:nvSpPr>
        <p:spPr>
          <a:xfrm>
            <a:off x="536448" y="364354"/>
            <a:ext cx="6398924" cy="8876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-MX" sz="2400"/>
              <a:t>HITOS IMPORTANTES EN EL ALMACENAMIENTO EN LA NUBE</a:t>
            </a:r>
            <a:endParaRPr sz="2400"/>
          </a:p>
        </p:txBody>
      </p:sp>
      <p:sp>
        <p:nvSpPr>
          <p:cNvPr id="620" name="Google Shape;620;p22"/>
          <p:cNvSpPr txBox="1"/>
          <p:nvPr/>
        </p:nvSpPr>
        <p:spPr>
          <a:xfrm>
            <a:off x="536448" y="1406768"/>
            <a:ext cx="652553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En los últimos años, varios lanzamientos han marcado momentos clave en la historia del almacenamiento en la nube, ofreciendo nuevas capacidades y mejorando la experiencia de los usuarios.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21" name="Google Shape;621;p22"/>
          <p:cNvSpPr txBox="1"/>
          <p:nvPr/>
        </p:nvSpPr>
        <p:spPr>
          <a:xfrm>
            <a:off x="7315199" y="703385"/>
            <a:ext cx="4543865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Dropbox (2007)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Revolución en la sincronización de archivos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Permite almacenar archivos y sincronizarlos entre múltiples dispositivos sin esfuerzo.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Acceso a archivos sin conexión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Ofreció la capacidad de trabajar en archivos incluso sin estar conectado a Internet.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Modelo freemium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Ofreció almacenamiento gratuito con opciones de pago para más espacio.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22" name="Google Shape;622;p22"/>
          <p:cNvSpPr txBox="1"/>
          <p:nvPr/>
        </p:nvSpPr>
        <p:spPr>
          <a:xfrm>
            <a:off x="536448" y="2761840"/>
            <a:ext cx="639892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Google Drive (2012)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Integración con los servicios de Google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Permite almacenar no solo documentos, sino también fotos, videos y otros archivos, todo en un solo lugar.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Colaboración en tiempo real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Refuerza la colaboración con herramientas como Google Docs, Sheets y Slides.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Amplio almacenamiento gratuito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Ofreció una gran capacidad de almacenamiento gratuita, lo que lo hizo popular entre usuarios y empresas.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3"/>
          <p:cNvSpPr txBox="1"/>
          <p:nvPr>
            <p:ph type="title"/>
          </p:nvPr>
        </p:nvSpPr>
        <p:spPr>
          <a:xfrm>
            <a:off x="536448" y="364354"/>
            <a:ext cx="6398924" cy="8876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-MX" sz="2400"/>
              <a:t>HITOS IMPORTANTES EN EL ALMACENAMIENTO EN LA NUBE</a:t>
            </a:r>
            <a:endParaRPr sz="2400"/>
          </a:p>
        </p:txBody>
      </p:sp>
      <p:sp>
        <p:nvSpPr>
          <p:cNvPr id="628" name="Google Shape;628;p23"/>
          <p:cNvSpPr txBox="1"/>
          <p:nvPr/>
        </p:nvSpPr>
        <p:spPr>
          <a:xfrm>
            <a:off x="1074770" y="1467613"/>
            <a:ext cx="10042457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Otros Servicios Populares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OneDrive (2007)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Servicio de Microsoft que se integra con Office 365 y permite almacenamiento en la nube accesible desde cualquier dispositivo.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iCloud (2011)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Plataforma de Apple para almacenar y sincronizar fotos, documentos y otros datos entre dispositivos Apple.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Box (2005)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Especializado en soluciones de almacenamiento en la nube para empresas, con énfasis en seguridad y colaboración.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29" name="Google Shape;629;p23"/>
          <p:cNvSpPr txBox="1"/>
          <p:nvPr/>
        </p:nvSpPr>
        <p:spPr>
          <a:xfrm>
            <a:off x="1175119" y="4744056"/>
            <a:ext cx="984175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Impacto: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Estos servicios han popularizado el almacenamiento en la nube al ofrecer soluciones fáciles de usar y accesibles tanto para usuarios individuales como para empresas.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4"/>
          <p:cNvSpPr txBox="1"/>
          <p:nvPr>
            <p:ph type="title"/>
          </p:nvPr>
        </p:nvSpPr>
        <p:spPr>
          <a:xfrm>
            <a:off x="6095999" y="441960"/>
            <a:ext cx="5641897" cy="33168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IMPACTO EN LA SOCIEDAD</a:t>
            </a:r>
            <a:endParaRPr/>
          </a:p>
        </p:txBody>
      </p:sp>
      <p:sp>
        <p:nvSpPr>
          <p:cNvPr id="635" name="Google Shape;635;p24"/>
          <p:cNvSpPr txBox="1"/>
          <p:nvPr>
            <p:ph idx="1" type="body"/>
          </p:nvPr>
        </p:nvSpPr>
        <p:spPr>
          <a:xfrm>
            <a:off x="6109694" y="4068392"/>
            <a:ext cx="5580586" cy="2197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MX"/>
              <a:t>Cómo el Almacenamiento en la Nube Ha Cambiado la Forma de Trabajar y Compartir Información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5"/>
          <p:cNvSpPr txBox="1"/>
          <p:nvPr>
            <p:ph type="title"/>
          </p:nvPr>
        </p:nvSpPr>
        <p:spPr>
          <a:xfrm>
            <a:off x="6096000" y="176784"/>
            <a:ext cx="5864352" cy="13987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IMPACTO EN LA SOCIEDAD</a:t>
            </a:r>
            <a:endParaRPr/>
          </a:p>
        </p:txBody>
      </p:sp>
      <p:sp>
        <p:nvSpPr>
          <p:cNvPr id="641" name="Google Shape;641;p25"/>
          <p:cNvSpPr txBox="1"/>
          <p:nvPr>
            <p:ph idx="1" type="body"/>
          </p:nvPr>
        </p:nvSpPr>
        <p:spPr>
          <a:xfrm>
            <a:off x="6095874" y="1730326"/>
            <a:ext cx="5864351" cy="4716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sz="1800"/>
              <a:t>El almacenamiento en la nube ha transformado profundamente la manera en que las personas y las empresas manejan, comparten y acceden a la información.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sz="1800"/>
              <a:t>Cambio en la forma de trabajar</a:t>
            </a:r>
            <a:endParaRPr/>
          </a:p>
          <a:p>
            <a:pPr indent="-28575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s-MX" sz="1800"/>
              <a:t>Trabajo remoto y flexible </a:t>
            </a:r>
            <a:r>
              <a:rPr lang="es-MX" sz="1800"/>
              <a:t>: La posibilidad de acceder a documentos y herramientas desde cualquier lugar permite a los empleados trabajar desde cualquier parte del mundo, facilitando el teletrabajo.</a:t>
            </a:r>
            <a:endParaRPr/>
          </a:p>
          <a:p>
            <a:pPr indent="-28575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s-MX" sz="1800"/>
              <a:t>Colaboración en tiempo real </a:t>
            </a:r>
            <a:r>
              <a:rPr lang="es-MX" sz="1800"/>
              <a:t>: Plataformas como Google Drive y Microsoft OneDrive permiten que equipos de todo el mundo trabajen juntos en proyectos simultáneamente, mejorando la productividad.</a:t>
            </a:r>
            <a:endParaRPr/>
          </a:p>
          <a:p>
            <a:pPr indent="-28575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s-MX" sz="1800"/>
              <a:t>Mayor eficiencia </a:t>
            </a:r>
            <a:r>
              <a:rPr lang="es-MX" sz="1800"/>
              <a:t>: La automatización de tareas y el acceso instantáneo a datos eliminan las barreras físicas, lo que acelera los procesos y reduce tiempos de espera.</a:t>
            </a:r>
            <a:endParaRPr sz="1800"/>
          </a:p>
        </p:txBody>
      </p:sp>
      <p:sp>
        <p:nvSpPr>
          <p:cNvPr id="642" name="Google Shape;642;p25"/>
          <p:cNvSpPr txBox="1"/>
          <p:nvPr/>
        </p:nvSpPr>
        <p:spPr>
          <a:xfrm>
            <a:off x="355600" y="266700"/>
            <a:ext cx="5130800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Facilidad para compartir información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Acceso desde cualquier dispositivo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📱💻: Los usuarios pueden ver, editar y compartir documentos en la nube desde computadoras, tabletas y teléfonos inteligentes.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Mejora en la comunicación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📧: Los servicios de nube permiten un intercambio rápido de archivos entre colegas, clientes y amigos, sin depender de correos electrónicos o dispositivos físicos.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Reducción de la dependencia de hardware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💾: Ya no es necesario tener servidores o discos duros para almacenar grandes volúmenes de datos, lo que reduce los costos de infraestructura.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Impacto social: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El almacenamiento en la nube ha democratizado el acceso a la tecnología, mejorando la conectividad global y haciendo que la información esté más accesible que nunca.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6"/>
          <p:cNvSpPr txBox="1"/>
          <p:nvPr>
            <p:ph type="title"/>
          </p:nvPr>
        </p:nvSpPr>
        <p:spPr>
          <a:xfrm>
            <a:off x="480178" y="195540"/>
            <a:ext cx="5864352" cy="10564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DATOS CURIOSOS</a:t>
            </a:r>
            <a:endParaRPr/>
          </a:p>
        </p:txBody>
      </p:sp>
      <p:pic>
        <p:nvPicPr>
          <p:cNvPr descr="Forma, Círculo&#10;&#10;Descripción generada automáticamente" id="648" name="Google Shape;648;p2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5303" r="15304" t="0"/>
          <a:stretch/>
        </p:blipFill>
        <p:spPr>
          <a:xfrm>
            <a:off x="7625969" y="-9144"/>
            <a:ext cx="4581525" cy="6602413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26"/>
          <p:cNvSpPr txBox="1"/>
          <p:nvPr/>
        </p:nvSpPr>
        <p:spPr>
          <a:xfrm>
            <a:off x="480178" y="1445402"/>
            <a:ext cx="6778751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Datos Curiosos: Estadísticas sobre el Crecimiento del Almacenamiento en la Nube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El almacenamiento en la nube ha experimentado un crecimiento exponencial en la última década. A continuación, se presentan algunas estadísticas destacadas que reflejan su expansión: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Crecimiento del Tráfico de Datos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Aumento del Tráfico Global: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En 2023, el tráfico mundial de datos alcanzó los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59 exabytes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lo que representa un incremento del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23%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en comparación con los 48 exabytes registrados en 2022. 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7"/>
          <p:cNvSpPr txBox="1"/>
          <p:nvPr>
            <p:ph type="title"/>
          </p:nvPr>
        </p:nvSpPr>
        <p:spPr>
          <a:xfrm>
            <a:off x="480178" y="195540"/>
            <a:ext cx="5864352" cy="10564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DATOS CURIOSOS</a:t>
            </a:r>
            <a:endParaRPr/>
          </a:p>
        </p:txBody>
      </p:sp>
      <p:sp>
        <p:nvSpPr>
          <p:cNvPr id="655" name="Google Shape;655;p27"/>
          <p:cNvSpPr txBox="1"/>
          <p:nvPr/>
        </p:nvSpPr>
        <p:spPr>
          <a:xfrm>
            <a:off x="480178" y="1445402"/>
            <a:ext cx="6778751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Mercado del Almacenamiento en la Nube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Valor del Mercado: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Se estima que el mercado de almacenamiento en la nube alcanzó un valor de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117,12 mil millones de dólares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en 2024, con proyecciones que indican un crecimiento a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343,33 mil millones de dólares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para 2029, reflejando una tasa de crecimiento anual compuesta del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24%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durante el período 2024-2029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Capacidad de Almacenamiento: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En 2023, la capacidad total de almacenamiento en servicios de almacenamiento en la nube ascendió a aproximadamente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2.100 exabytes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con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Amazon Web Services (AWS)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liderando el mercado al representar alrededor del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38%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de la capacidad global consumida.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656" name="Google Shape;656;p2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3978" r="23978" t="0"/>
          <a:stretch/>
        </p:blipFill>
        <p:spPr>
          <a:xfrm>
            <a:off x="7625969" y="-9144"/>
            <a:ext cx="4581525" cy="6602413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27"/>
          <p:cNvSpPr txBox="1"/>
          <p:nvPr/>
        </p:nvSpPr>
        <p:spPr>
          <a:xfrm>
            <a:off x="7625969" y="6593269"/>
            <a:ext cx="4581525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Esta foto</a:t>
            </a:r>
            <a:r>
              <a:rPr lang="es-MX" sz="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de Autor desconocido está bajo licencia </a:t>
            </a:r>
            <a:r>
              <a:rPr lang="es-MX" sz="900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 BY-NC-ND</a:t>
            </a:r>
            <a:endParaRPr sz="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8"/>
          <p:cNvSpPr txBox="1"/>
          <p:nvPr>
            <p:ph type="title"/>
          </p:nvPr>
        </p:nvSpPr>
        <p:spPr>
          <a:xfrm>
            <a:off x="480178" y="195540"/>
            <a:ext cx="5864352" cy="10564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DATOS CURIOSOS</a:t>
            </a:r>
            <a:endParaRPr/>
          </a:p>
        </p:txBody>
      </p:sp>
      <p:pic>
        <p:nvPicPr>
          <p:cNvPr descr="Forma, Círculo&#10;&#10;Descripción generada automáticamente" id="663" name="Google Shape;663;p2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5303" r="15304" t="0"/>
          <a:stretch/>
        </p:blipFill>
        <p:spPr>
          <a:xfrm>
            <a:off x="7625969" y="-9144"/>
            <a:ext cx="4581525" cy="6602413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28"/>
          <p:cNvSpPr txBox="1"/>
          <p:nvPr/>
        </p:nvSpPr>
        <p:spPr>
          <a:xfrm>
            <a:off x="480178" y="1252024"/>
            <a:ext cx="6778751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Tendencias en el Uso de la Nube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Demanda de Infraestructura: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Se proyecta que la demanda de servidores, conmutadores Ethernet y soluciones de almacenamiento empresarial aumente a una tasa del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10,9%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impulsada por la adopción de servicios en la nube pública y privada.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Crecimiento del Almacenamiento de Datos en la Nube: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Se espera que la cuota de mercado del almacenamiento de datos en la nube crezca a una tasa anual compuesta del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27,38%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entre 2022 y 2027, impulsada por la creciente adopción de dispositivos IoT y la necesidad de soluciones de computación en el borde. ​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Estas cifras destacan la rápida adopción y expansión del almacenamiento en la nube, subrayando su papel fundamental en la transformación digital y en la gestión de datos a nivel global.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9"/>
          <p:cNvSpPr txBox="1"/>
          <p:nvPr>
            <p:ph type="ctrTitle"/>
          </p:nvPr>
        </p:nvSpPr>
        <p:spPr>
          <a:xfrm>
            <a:off x="6352970" y="1691640"/>
            <a:ext cx="5221224" cy="30563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s-MX" sz="6000"/>
              <a:t>CONCEPTOS BÁSICOS</a:t>
            </a:r>
            <a:br>
              <a:rPr lang="es-MX"/>
            </a:b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0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i="0" lang="es-MX"/>
              <a:t>¿CÓMO FUNCIONA EL ALMACENAMIENTO EN LA NUBE?</a:t>
            </a:r>
            <a:endParaRPr/>
          </a:p>
        </p:txBody>
      </p:sp>
      <p:sp>
        <p:nvSpPr>
          <p:cNvPr id="675" name="Google Shape;675;p30"/>
          <p:cNvSpPr txBox="1"/>
          <p:nvPr>
            <p:ph idx="2" type="body"/>
          </p:nvPr>
        </p:nvSpPr>
        <p:spPr>
          <a:xfrm>
            <a:off x="8295483" y="2058670"/>
            <a:ext cx="3002755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El almacenamiento en la nube se basa en servidores y centros de datos distribuidos, donde los usuarios pueden guardar y acceder a sus datos de forma remota a través de Internet. A continuación, te explico los componentes clave:</a:t>
            </a:r>
            <a:endParaRPr/>
          </a:p>
        </p:txBody>
      </p:sp>
      <p:sp>
        <p:nvSpPr>
          <p:cNvPr id="676" name="Google Shape;676;p30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grpSp>
        <p:nvGrpSpPr>
          <p:cNvPr id="677" name="Google Shape;677;p30"/>
          <p:cNvGrpSpPr/>
          <p:nvPr/>
        </p:nvGrpSpPr>
        <p:grpSpPr>
          <a:xfrm>
            <a:off x="1290148" y="2059500"/>
            <a:ext cx="5435244" cy="3739686"/>
            <a:chOff x="378796" y="831"/>
            <a:chExt cx="5435244" cy="3739686"/>
          </a:xfrm>
        </p:grpSpPr>
        <p:sp>
          <p:nvSpPr>
            <p:cNvPr id="678" name="Google Shape;678;p30"/>
            <p:cNvSpPr/>
            <p:nvPr/>
          </p:nvSpPr>
          <p:spPr>
            <a:xfrm>
              <a:off x="824973" y="831"/>
              <a:ext cx="730107" cy="73010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0"/>
            <p:cNvSpPr/>
            <p:nvPr/>
          </p:nvSpPr>
          <p:spPr>
            <a:xfrm>
              <a:off x="378796" y="882549"/>
              <a:ext cx="1622460" cy="2828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0"/>
            <p:cNvSpPr txBox="1"/>
            <p:nvPr/>
          </p:nvSpPr>
          <p:spPr>
            <a:xfrm>
              <a:off x="378796" y="882549"/>
              <a:ext cx="1622460" cy="2828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venir"/>
                <a:buNone/>
              </a:pPr>
              <a:r>
                <a:rPr b="1" lang="es-MX"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Servidores</a:t>
              </a:r>
              <a:r>
                <a:rPr lang="es-MX"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: Son computadoras potentes que almacenan grandes cantidades de datos. En la nube, estos servidores están distribuidos en diferentes ubicaciones y gestionados por proveedores de servicios (como AWS, Google Cloud, Microsoft Azure).</a:t>
              </a:r>
              <a:endParaRPr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81" name="Google Shape;681;p30"/>
            <p:cNvSpPr/>
            <p:nvPr/>
          </p:nvSpPr>
          <p:spPr>
            <a:xfrm>
              <a:off x="2731365" y="831"/>
              <a:ext cx="730107" cy="73010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0"/>
            <p:cNvSpPr/>
            <p:nvPr/>
          </p:nvSpPr>
          <p:spPr>
            <a:xfrm>
              <a:off x="2285188" y="912302"/>
              <a:ext cx="1622460" cy="2828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0"/>
            <p:cNvSpPr txBox="1"/>
            <p:nvPr/>
          </p:nvSpPr>
          <p:spPr>
            <a:xfrm>
              <a:off x="2285188" y="912302"/>
              <a:ext cx="1622460" cy="2828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venir"/>
                <a:buNone/>
              </a:pPr>
              <a:r>
                <a:rPr b="1" lang="es-MX"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Centros de Datos</a:t>
              </a:r>
              <a:r>
                <a:rPr lang="es-MX"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: Son grandes instalaciones donde se alojan los servidores. Están diseñados para garantizar la seguridad, disponibilidad y eficiencia del almacenamiento. Los centros de datos suelen estar en múltiples lugares para ofrecer redundancia y alta disponibilidad.</a:t>
              </a:r>
              <a:endParaRPr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84" name="Google Shape;684;p30"/>
            <p:cNvSpPr/>
            <p:nvPr/>
          </p:nvSpPr>
          <p:spPr>
            <a:xfrm>
              <a:off x="4637756" y="831"/>
              <a:ext cx="730107" cy="73010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0"/>
            <p:cNvSpPr/>
            <p:nvPr/>
          </p:nvSpPr>
          <p:spPr>
            <a:xfrm>
              <a:off x="4191580" y="884161"/>
              <a:ext cx="1622460" cy="2828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0"/>
            <p:cNvSpPr txBox="1"/>
            <p:nvPr/>
          </p:nvSpPr>
          <p:spPr>
            <a:xfrm>
              <a:off x="4191580" y="884161"/>
              <a:ext cx="1622460" cy="2828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venir"/>
                <a:buNone/>
              </a:pPr>
              <a:r>
                <a:rPr b="1" lang="es-MX"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Virtualización</a:t>
              </a:r>
              <a:r>
                <a:rPr lang="es-MX"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: Esta tecnología permite que un solo servidor físico se divida en múltiples servidores virtuales. Cada servidor virtual tiene su propio sistema operativo y recursos dedicados, lo que optimiza el uso del hardware y permite escalar de manera eficiente según las necesidades de almacenamiento</a:t>
              </a:r>
              <a:r>
                <a:rPr lang="es-MX" sz="12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.</a:t>
              </a:r>
              <a:endPara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1"/>
          <p:cNvSpPr txBox="1"/>
          <p:nvPr>
            <p:ph type="title"/>
          </p:nvPr>
        </p:nvSpPr>
        <p:spPr>
          <a:xfrm>
            <a:off x="911352" y="505016"/>
            <a:ext cx="5775656" cy="32849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MODELOS DE SERVICIO</a:t>
            </a:r>
            <a:endParaRPr/>
          </a:p>
        </p:txBody>
      </p:sp>
      <p:sp>
        <p:nvSpPr>
          <p:cNvPr id="692" name="Google Shape;692;p31"/>
          <p:cNvSpPr txBox="1"/>
          <p:nvPr>
            <p:ph idx="1" type="body"/>
          </p:nvPr>
        </p:nvSpPr>
        <p:spPr>
          <a:xfrm>
            <a:off x="911353" y="4006024"/>
            <a:ext cx="5794248" cy="2346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MX"/>
              <a:t>IaaS (Infraestructura como Servicio), PaaS (Plataforma como Servicio), SaaS (Software como Servicio).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2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MODELOS DE SERVICIO EN LA NUBE</a:t>
            </a:r>
            <a:endParaRPr/>
          </a:p>
        </p:txBody>
      </p:sp>
      <p:sp>
        <p:nvSpPr>
          <p:cNvPr id="698" name="Google Shape;698;p32"/>
          <p:cNvSpPr txBox="1"/>
          <p:nvPr>
            <p:ph idx="1" type="body"/>
          </p:nvPr>
        </p:nvSpPr>
        <p:spPr>
          <a:xfrm>
            <a:off x="893064" y="2073275"/>
            <a:ext cx="3354680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IaaS (Infraestructura como Servicio)</a:t>
            </a:r>
            <a:r>
              <a:rPr lang="es-MX"/>
              <a:t>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Qué es</a:t>
            </a:r>
            <a:r>
              <a:rPr lang="es-MX"/>
              <a:t>: Proporciona infraestructura básica como servidores, redes, almacenamiento y otros recursos. Los usuarios gestionan el sistema operativo, aplicaciones y datos.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Ejemplo</a:t>
            </a:r>
            <a:r>
              <a:rPr lang="es-MX"/>
              <a:t>: AWS EC2, Google Compute Engine, Microsoft Azure.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Ventaja</a:t>
            </a:r>
            <a:r>
              <a:rPr lang="es-MX"/>
              <a:t>: Flexibilidad y control sobre la infraestructura, pagando solo por los recursos que se usan.</a:t>
            </a:r>
            <a:endParaRPr/>
          </a:p>
        </p:txBody>
      </p:sp>
      <p:sp>
        <p:nvSpPr>
          <p:cNvPr id="699" name="Google Shape;699;p32"/>
          <p:cNvSpPr txBox="1"/>
          <p:nvPr>
            <p:ph idx="2" type="body"/>
          </p:nvPr>
        </p:nvSpPr>
        <p:spPr>
          <a:xfrm>
            <a:off x="4589578" y="2056544"/>
            <a:ext cx="3354680" cy="37212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PaaS (Plataforma como Servicio)</a:t>
            </a:r>
            <a:r>
              <a:rPr lang="es-MX"/>
              <a:t>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Qué es</a:t>
            </a:r>
            <a:r>
              <a:rPr lang="es-MX"/>
              <a:t>: Ofrece una plataforma para desarrollar, ejecutar y gestionar aplicaciones sin preocuparse por la infraestructura subyacente (servidores, almacenamiento, redes).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Ejemplo</a:t>
            </a:r>
            <a:r>
              <a:rPr lang="es-MX"/>
              <a:t>: Google App Engine, Microsoft Azure App Service, Heroku.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Ventaja</a:t>
            </a:r>
            <a:r>
              <a:rPr lang="es-MX"/>
              <a:t>: Simplifica el desarrollo de aplicaciones, ya que maneja la infraestructura y el middleware, permitiendo que los desarrolladores se concentren solo en el código.</a:t>
            </a:r>
            <a:endParaRPr/>
          </a:p>
        </p:txBody>
      </p:sp>
      <p:sp>
        <p:nvSpPr>
          <p:cNvPr id="700" name="Google Shape;700;p32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701" name="Google Shape;701;p32"/>
          <p:cNvSpPr txBox="1"/>
          <p:nvPr/>
        </p:nvSpPr>
        <p:spPr>
          <a:xfrm>
            <a:off x="8286092" y="2056544"/>
            <a:ext cx="3354680" cy="37212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SaaS (Software como Servicio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Qué es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Proporciona aplicaciones completas que se acceden y utilizan a través de Internet. Los usuarios no tienen que gestionar ni la infraestructura ni el software subyacente.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Ejemplo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Google Workspace, Microsoft Office 365, Dropbox.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Ventaja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Acceso fácil y rápido a aplicaciones listas para usar, sin necesidad de instalación ni mantenimiento.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02" name="Google Shape;702;p32"/>
          <p:cNvSpPr/>
          <p:nvPr/>
        </p:nvSpPr>
        <p:spPr>
          <a:xfrm>
            <a:off x="304800" y="1399032"/>
            <a:ext cx="8432800" cy="18865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9470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03" name="Google Shape;703;p32"/>
          <p:cNvSpPr/>
          <p:nvPr/>
        </p:nvSpPr>
        <p:spPr>
          <a:xfrm>
            <a:off x="3207972" y="5882166"/>
            <a:ext cx="8432800" cy="18865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9470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3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MODELOS DE SERVICIO EN LA NUBE</a:t>
            </a:r>
            <a:endParaRPr/>
          </a:p>
        </p:txBody>
      </p:sp>
      <p:sp>
        <p:nvSpPr>
          <p:cNvPr id="709" name="Google Shape;709;p33"/>
          <p:cNvSpPr txBox="1"/>
          <p:nvPr>
            <p:ph idx="1" type="body"/>
          </p:nvPr>
        </p:nvSpPr>
        <p:spPr>
          <a:xfrm>
            <a:off x="893064" y="2073275"/>
            <a:ext cx="3354680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Escalabilidad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Qué es</a:t>
            </a:r>
            <a:r>
              <a:rPr lang="es-MX"/>
              <a:t>: La capacidad de ajustar el almacenamiento según las necesidades. Puedes aumentar o reducir los recursos (espacio, capacidad de procesamiento) sin problemas.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Ventaja</a:t>
            </a:r>
            <a:r>
              <a:rPr lang="es-MX"/>
              <a:t>: Permite adaptarse al crecimiento de los datos y a los cambios en la demanda sin invertir en infraestructura adicional.</a:t>
            </a:r>
            <a:endParaRPr/>
          </a:p>
        </p:txBody>
      </p:sp>
      <p:sp>
        <p:nvSpPr>
          <p:cNvPr id="710" name="Google Shape;710;p33"/>
          <p:cNvSpPr txBox="1"/>
          <p:nvPr>
            <p:ph idx="2" type="body"/>
          </p:nvPr>
        </p:nvSpPr>
        <p:spPr>
          <a:xfrm>
            <a:off x="4589578" y="2056544"/>
            <a:ext cx="3354680" cy="37212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s-MX" sz="1800"/>
              <a:t>Accesibilidad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s-MX" sz="1800"/>
              <a:t>Qué es</a:t>
            </a:r>
            <a:r>
              <a:rPr lang="es-MX" sz="1800"/>
              <a:t>: Los datos están disponibles desde cualquier lugar con acceso a Internet, en cualquier momento y desde cualquier dispositivo.</a:t>
            </a:r>
            <a:endParaRPr sz="1800"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s-MX" sz="1800"/>
              <a:t>Ventaja</a:t>
            </a:r>
            <a:r>
              <a:rPr lang="es-MX" sz="1800"/>
              <a:t>: Facilita el trabajo remoto y la colaboración entre equipos distribuidos.</a:t>
            </a:r>
            <a:endParaRPr sz="1800"/>
          </a:p>
        </p:txBody>
      </p:sp>
      <p:sp>
        <p:nvSpPr>
          <p:cNvPr id="711" name="Google Shape;711;p33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712" name="Google Shape;712;p33"/>
          <p:cNvSpPr txBox="1"/>
          <p:nvPr/>
        </p:nvSpPr>
        <p:spPr>
          <a:xfrm>
            <a:off x="8286092" y="2056544"/>
            <a:ext cx="3354680" cy="37212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Seguridad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Qué es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Los proveedores de la nube implementan medidas avanzadas de protección, como cifrado de datos, autenticación de usuarios, y monitoreo constante para prevenir accesos no autorizados.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Ventaja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Asegura que los datos estén protegidos frente a ataques y accesos no deseados, garantizando su integridad y confidencialidad.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13" name="Google Shape;713;p33"/>
          <p:cNvSpPr/>
          <p:nvPr/>
        </p:nvSpPr>
        <p:spPr>
          <a:xfrm>
            <a:off x="304800" y="1399032"/>
            <a:ext cx="8432800" cy="188659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14" name="Google Shape;714;p33"/>
          <p:cNvSpPr/>
          <p:nvPr/>
        </p:nvSpPr>
        <p:spPr>
          <a:xfrm>
            <a:off x="3207972" y="5882166"/>
            <a:ext cx="8432800" cy="18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661E2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4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BENEFICIOS GENERALES </a:t>
            </a:r>
            <a:r>
              <a:rPr lang="es-MX" sz="1800"/>
              <a:t>(AHORRO DE COSTOS, FLEXIBILIDAD, Y COLABORACIÓN EN TIEMPO REAL)</a:t>
            </a:r>
            <a:endParaRPr/>
          </a:p>
        </p:txBody>
      </p:sp>
      <p:sp>
        <p:nvSpPr>
          <p:cNvPr id="720" name="Google Shape;720;p34"/>
          <p:cNvSpPr txBox="1"/>
          <p:nvPr>
            <p:ph idx="1" type="body"/>
          </p:nvPr>
        </p:nvSpPr>
        <p:spPr>
          <a:xfrm>
            <a:off x="893064" y="2073275"/>
            <a:ext cx="3354680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Ahorro de Costos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Qué es</a:t>
            </a:r>
            <a:r>
              <a:rPr lang="es-MX"/>
              <a:t>: No es necesario invertir en infraestructura costosa (servidores, hardware) ni en mantenimiento. Los usuarios solo pagan por los recursos que realmente utilizan.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Ventaja</a:t>
            </a:r>
            <a:r>
              <a:rPr lang="es-MX"/>
              <a:t>: Permite adaptarse al crecimiento de los datos y a los cambios en la demanda sin invertir en infraestructura adicional.</a:t>
            </a:r>
            <a:endParaRPr/>
          </a:p>
        </p:txBody>
      </p:sp>
      <p:sp>
        <p:nvSpPr>
          <p:cNvPr id="721" name="Google Shape;721;p34"/>
          <p:cNvSpPr txBox="1"/>
          <p:nvPr>
            <p:ph idx="2" type="body"/>
          </p:nvPr>
        </p:nvSpPr>
        <p:spPr>
          <a:xfrm>
            <a:off x="4589578" y="2056544"/>
            <a:ext cx="3354680" cy="37212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s-MX" sz="1800"/>
              <a:t>Flexibilidad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s-MX" sz="1800"/>
              <a:t>Qué es</a:t>
            </a:r>
            <a:r>
              <a:rPr lang="es-MX" sz="1800"/>
              <a:t>: La nube permite ajustar los recursos a medida que cambian las necesidades. Se puede aumentar o reducir almacenamiento y procesamiento de forma rápida y sencilla.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s-MX" sz="1800"/>
              <a:t>Ventaja</a:t>
            </a:r>
            <a:r>
              <a:rPr lang="es-MX" sz="1800"/>
              <a:t>: Adapta los recursos a la demanda sin compromiso a largo plazo, optimizando costos y capacidades según sea necesario</a:t>
            </a:r>
            <a:r>
              <a:rPr lang="es-MX" sz="1600"/>
              <a:t>.</a:t>
            </a:r>
            <a:endParaRPr sz="1800"/>
          </a:p>
        </p:txBody>
      </p:sp>
      <p:sp>
        <p:nvSpPr>
          <p:cNvPr id="722" name="Google Shape;722;p34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723" name="Google Shape;723;p34"/>
          <p:cNvSpPr txBox="1"/>
          <p:nvPr/>
        </p:nvSpPr>
        <p:spPr>
          <a:xfrm>
            <a:off x="8286092" y="2056544"/>
            <a:ext cx="3354680" cy="419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Colaboración en Tiempo Real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Qué es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Varias personas pueden acceder y trabajar sobre los mismos archivos o aplicaciones simultáneamente, independientemente de su ubicación.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Ventaja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Mejora la productividad y comunicación en equipos distribuidos, facilitando la toma de decisiones y la ejecución de tareas en tiempo real.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24" name="Google Shape;724;p34"/>
          <p:cNvSpPr/>
          <p:nvPr/>
        </p:nvSpPr>
        <p:spPr>
          <a:xfrm>
            <a:off x="373178" y="1605088"/>
            <a:ext cx="8432800" cy="188659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25" name="Google Shape;725;p34"/>
          <p:cNvSpPr/>
          <p:nvPr/>
        </p:nvSpPr>
        <p:spPr>
          <a:xfrm>
            <a:off x="3207972" y="6334854"/>
            <a:ext cx="8432800" cy="188659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5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DESAFÍOS COMUNES</a:t>
            </a:r>
            <a:endParaRPr/>
          </a:p>
        </p:txBody>
      </p:sp>
      <p:sp>
        <p:nvSpPr>
          <p:cNvPr id="731" name="Google Shape;731;p35"/>
          <p:cNvSpPr txBox="1"/>
          <p:nvPr>
            <p:ph idx="1" type="body"/>
          </p:nvPr>
        </p:nvSpPr>
        <p:spPr>
          <a:xfrm>
            <a:off x="893064" y="2073275"/>
            <a:ext cx="3354680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Seguridad de Datos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Qué es</a:t>
            </a:r>
            <a:r>
              <a:rPr lang="es-MX"/>
              <a:t>: Aunque los proveedores de la nube implementan medidas de seguridad, la protección de los datos depende también de la correcta configuración por parte del usuario y del cumplimiento de las regulaciones de privacidad.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Desafío</a:t>
            </a:r>
            <a:r>
              <a:rPr lang="es-MX"/>
              <a:t>: Los datos almacenados en la nube pueden ser vulnerables a ataques cibernéticos, acceso no autorizado o pérdida de datos si no se implementan adecuadas prácticas de seguridad.</a:t>
            </a:r>
            <a:endParaRPr/>
          </a:p>
        </p:txBody>
      </p:sp>
      <p:sp>
        <p:nvSpPr>
          <p:cNvPr id="732" name="Google Shape;732;p35"/>
          <p:cNvSpPr txBox="1"/>
          <p:nvPr>
            <p:ph idx="2" type="body"/>
          </p:nvPr>
        </p:nvSpPr>
        <p:spPr>
          <a:xfrm>
            <a:off x="4589578" y="2056544"/>
            <a:ext cx="3354680" cy="37212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s-MX" sz="1600"/>
              <a:t>Latencia</a:t>
            </a:r>
            <a:endParaRPr b="1" sz="1800"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s-MX" sz="1600"/>
              <a:t>Qué es</a:t>
            </a:r>
            <a:r>
              <a:rPr lang="es-MX" sz="1600"/>
              <a:t>: La latencia se refiere al tiempo que tarda en enviarse y recibirse información desde los servidores de la nube hasta el usuario final.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s-MX" sz="1600"/>
              <a:t>Desafío</a:t>
            </a:r>
            <a:r>
              <a:rPr lang="es-MX" sz="1600"/>
              <a:t>: Si la latencia es alta, puede afectar el rendimiento de aplicaciones, especialmente en tareas que requieren procesamiento en tiempo real, como videoconferencias o videojuegos en línea.</a:t>
            </a:r>
            <a:endParaRPr sz="1800"/>
          </a:p>
        </p:txBody>
      </p:sp>
      <p:sp>
        <p:nvSpPr>
          <p:cNvPr id="733" name="Google Shape;733;p35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734" name="Google Shape;734;p35"/>
          <p:cNvSpPr txBox="1"/>
          <p:nvPr/>
        </p:nvSpPr>
        <p:spPr>
          <a:xfrm>
            <a:off x="8286092" y="2056544"/>
            <a:ext cx="3354680" cy="419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Dependencia de la Conexión a Internet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Qué es</a:t>
            </a:r>
            <a:r>
              <a:rPr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El acceso a los datos almacenados en la nube depende de tener una conexión estable y de alta velocidad a Internet.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Desafío</a:t>
            </a:r>
            <a:r>
              <a:rPr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Si hay problemas de conectividad o interrupciones en el servicio de Internet, se puede perder el acceso a los datos o aplicaciones, lo que afecta la productividad.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35" name="Google Shape;735;p35"/>
          <p:cNvSpPr/>
          <p:nvPr/>
        </p:nvSpPr>
        <p:spPr>
          <a:xfrm>
            <a:off x="373178" y="1489899"/>
            <a:ext cx="8432800" cy="188659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36" name="Google Shape;736;p35"/>
          <p:cNvSpPr/>
          <p:nvPr/>
        </p:nvSpPr>
        <p:spPr>
          <a:xfrm>
            <a:off x="3207972" y="6040564"/>
            <a:ext cx="8432800" cy="188659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6"/>
          <p:cNvSpPr txBox="1"/>
          <p:nvPr>
            <p:ph type="ctrTitle"/>
          </p:nvPr>
        </p:nvSpPr>
        <p:spPr>
          <a:xfrm>
            <a:off x="6071616" y="960120"/>
            <a:ext cx="5221224" cy="30563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TIPOS DE ALMACENAMIENTO EN LA NUBE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7"/>
          <p:cNvSpPr txBox="1"/>
          <p:nvPr>
            <p:ph type="title"/>
          </p:nvPr>
        </p:nvSpPr>
        <p:spPr>
          <a:xfrm>
            <a:off x="6096000" y="176784"/>
            <a:ext cx="5864352" cy="22616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TIPOS DE ALMACENAMIENTO EN LA NUBE</a:t>
            </a:r>
            <a:endParaRPr/>
          </a:p>
        </p:txBody>
      </p:sp>
      <p:sp>
        <p:nvSpPr>
          <p:cNvPr id="747" name="Google Shape;747;p37"/>
          <p:cNvSpPr/>
          <p:nvPr>
            <p:ph idx="2" type="pic"/>
          </p:nvPr>
        </p:nvSpPr>
        <p:spPr>
          <a:xfrm>
            <a:off x="231648" y="176784"/>
            <a:ext cx="5240238" cy="6410389"/>
          </a:xfrm>
          <a:prstGeom prst="rect">
            <a:avLst/>
          </a:prstGeom>
          <a:noFill/>
          <a:ln>
            <a:noFill/>
          </a:ln>
        </p:spPr>
      </p:sp>
      <p:pic>
        <p:nvPicPr>
          <p:cNvPr descr="Imagen que contiene Aplicación&#10;&#10;Descripción generada automáticamente" id="748" name="Google Shape;74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2999522"/>
            <a:ext cx="5537392" cy="3110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8"/>
          <p:cNvSpPr txBox="1"/>
          <p:nvPr>
            <p:ph type="title"/>
          </p:nvPr>
        </p:nvSpPr>
        <p:spPr>
          <a:xfrm>
            <a:off x="373178" y="224971"/>
            <a:ext cx="10405174" cy="682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ALMACENAMIENTO PÚBLICO EN LA NUBE</a:t>
            </a:r>
            <a:endParaRPr/>
          </a:p>
        </p:txBody>
      </p:sp>
      <p:sp>
        <p:nvSpPr>
          <p:cNvPr id="754" name="Google Shape;754;p38"/>
          <p:cNvSpPr txBox="1"/>
          <p:nvPr>
            <p:ph idx="1" type="body"/>
          </p:nvPr>
        </p:nvSpPr>
        <p:spPr>
          <a:xfrm>
            <a:off x="551229" y="1253269"/>
            <a:ext cx="11052193" cy="1415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 sz="3400"/>
              <a:t>Definición</a:t>
            </a:r>
            <a:endParaRPr/>
          </a:p>
          <a:p>
            <a:pPr indent="-342931" lvl="0" marL="3429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MX" sz="2900"/>
              <a:t>El almacenamiento público en la nube es un modelo donde los datos son almacenados en servidores gestionados por proveedores de la nube, como AWS o Google Cloud, y son accesibles desde cualquier lugar a través de Internet.</a:t>
            </a:r>
            <a:endParaRPr/>
          </a:p>
          <a:p>
            <a:pPr indent="-342931" lvl="0" marL="3429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MX" sz="2900"/>
              <a:t>Los datos pueden ser compartidos públicamente o con permisos específicos, y generalmente se utiliza para almacenar grandes volúmenes de datos no sensibles o accesibles por una amplia audiencia.</a:t>
            </a:r>
            <a:endParaRPr sz="2900"/>
          </a:p>
        </p:txBody>
      </p:sp>
      <p:sp>
        <p:nvSpPr>
          <p:cNvPr id="755" name="Google Shape;755;p38"/>
          <p:cNvSpPr txBox="1"/>
          <p:nvPr>
            <p:ph idx="2" type="body"/>
          </p:nvPr>
        </p:nvSpPr>
        <p:spPr>
          <a:xfrm>
            <a:off x="301468" y="2891538"/>
            <a:ext cx="3514337" cy="3131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s-MX" sz="1600"/>
              <a:t>Ejemplos</a:t>
            </a:r>
            <a:endParaRPr/>
          </a:p>
          <a:p>
            <a:pPr indent="-285750" lvl="0" marL="2857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MX" sz="1600"/>
              <a:t>AWS S3 (Amazon Simple Storage Service)</a:t>
            </a:r>
            <a:r>
              <a:rPr lang="es-MX" sz="1600"/>
              <a:t>: Ofrece almacenamiento escalable y seguro para grandes cantidades de datos no estructurados.</a:t>
            </a:r>
            <a:endParaRPr b="1" sz="1400"/>
          </a:p>
          <a:p>
            <a:pPr indent="-285750" lvl="0" marL="2857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MX" sz="1600"/>
              <a:t>Google Cloud Storage</a:t>
            </a:r>
            <a:r>
              <a:rPr lang="es-MX" sz="1600"/>
              <a:t>: Proporciona almacenamiento flexible y escalable para todo tipo de datos, con diferentes niveles de acceso y seguridad.</a:t>
            </a:r>
            <a:endParaRPr b="1" sz="1800"/>
          </a:p>
        </p:txBody>
      </p:sp>
      <p:sp>
        <p:nvSpPr>
          <p:cNvPr id="756" name="Google Shape;756;p38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757" name="Google Shape;757;p38"/>
          <p:cNvSpPr txBox="1"/>
          <p:nvPr/>
        </p:nvSpPr>
        <p:spPr>
          <a:xfrm>
            <a:off x="4199890" y="2624172"/>
            <a:ext cx="3754870" cy="393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Ventajas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Escalabilidad</a:t>
            </a:r>
            <a:r>
              <a:rPr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Puedes aumentar o reducir fácilmente el almacenamiento según las necesidades, sin preocuparte por la infraestructura.</a:t>
            </a:r>
            <a:endParaRPr sz="14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Accesibilidad</a:t>
            </a:r>
            <a:r>
              <a:rPr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Los datos son accesibles desde cualquier lugar con conexión a Internet.</a:t>
            </a:r>
            <a:endParaRPr sz="14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Bajo costo</a:t>
            </a:r>
            <a:r>
              <a:rPr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No es necesario invertir en infraestructura física. Pagas solo por lo que usas.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58" name="Google Shape;758;p38"/>
          <p:cNvSpPr/>
          <p:nvPr/>
        </p:nvSpPr>
        <p:spPr>
          <a:xfrm>
            <a:off x="373178" y="985903"/>
            <a:ext cx="8432800" cy="188659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59" name="Google Shape;759;p38"/>
          <p:cNvSpPr/>
          <p:nvPr/>
        </p:nvSpPr>
        <p:spPr>
          <a:xfrm>
            <a:off x="3228679" y="6547341"/>
            <a:ext cx="8432800" cy="188659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60" name="Google Shape;760;p38"/>
          <p:cNvSpPr txBox="1"/>
          <p:nvPr/>
        </p:nvSpPr>
        <p:spPr>
          <a:xfrm>
            <a:off x="8135663" y="2624172"/>
            <a:ext cx="3754869" cy="3876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Desventajas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Dependencia de Internet</a:t>
            </a:r>
            <a:r>
              <a:rPr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El acceso depende de tener una conexión a Internet estable y de alta velocidad.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Privacidad y control</a:t>
            </a:r>
            <a:r>
              <a:rPr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Aunque los datos se almacenan de manera segura, no tienes el mismo control directo sobre la infraestructura y la seguridad que en un entorno local.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Costos variables</a:t>
            </a:r>
            <a:r>
              <a:rPr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Si no se gestiona adecuadamente, los costos pueden aumentar debido a la cantidad de datos almacenados y el tráfico de acceso.</a:t>
            </a:r>
            <a:endParaRPr sz="1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9"/>
          <p:cNvSpPr txBox="1"/>
          <p:nvPr>
            <p:ph type="title"/>
          </p:nvPr>
        </p:nvSpPr>
        <p:spPr>
          <a:xfrm>
            <a:off x="373178" y="224971"/>
            <a:ext cx="10405174" cy="682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ALMACENAMIENTO PRIVADO EN LA NUBE</a:t>
            </a:r>
            <a:endParaRPr/>
          </a:p>
        </p:txBody>
      </p:sp>
      <p:sp>
        <p:nvSpPr>
          <p:cNvPr id="766" name="Google Shape;766;p39"/>
          <p:cNvSpPr txBox="1"/>
          <p:nvPr>
            <p:ph idx="1" type="body"/>
          </p:nvPr>
        </p:nvSpPr>
        <p:spPr>
          <a:xfrm>
            <a:off x="551229" y="1253269"/>
            <a:ext cx="11052193" cy="1415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 sz="3400"/>
              <a:t>Definición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MX" sz="2800"/>
              <a:t>El almacenamiento privado en la nube se refiere a la infraestructura de almacenamiento que es utilizada exclusivamente por una organización o individuo. Los recursos (servidores, redes, almacenamiento) están dedicados a ese único cliente, lo que garantiza un mayor control y privacidad.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MX" sz="2800"/>
              <a:t>A diferencia del almacenamiento público, los datos no se comparten con otros usuarios. Este tipo de almacenamiento puede estar ubicado en las instalaciones del cliente o en un centro de datos dedicado, y es gestionado internamente o por un proveedor de servicios.</a:t>
            </a:r>
            <a:endParaRPr sz="2900"/>
          </a:p>
        </p:txBody>
      </p:sp>
      <p:sp>
        <p:nvSpPr>
          <p:cNvPr id="767" name="Google Shape;767;p39"/>
          <p:cNvSpPr txBox="1"/>
          <p:nvPr>
            <p:ph idx="2" type="body"/>
          </p:nvPr>
        </p:nvSpPr>
        <p:spPr>
          <a:xfrm>
            <a:off x="301468" y="2891538"/>
            <a:ext cx="3514337" cy="3131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s-MX" sz="1600"/>
              <a:t>Ejemplos</a:t>
            </a:r>
            <a:endParaRPr/>
          </a:p>
          <a:p>
            <a:pPr indent="-285750" lvl="0" marL="2857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s-MX" sz="1400"/>
              <a:t>OpenStack</a:t>
            </a:r>
            <a:r>
              <a:rPr lang="es-MX" sz="1400"/>
              <a:t>: Una plataforma de código abierto que permite crear y gestionar infraestructuras de nube privadas. Ofrece almacenamiento de bloques, objetos y archivos.</a:t>
            </a:r>
            <a:endParaRPr/>
          </a:p>
          <a:p>
            <a:pPr indent="-285750" lvl="0" marL="2857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s-MX" sz="1400"/>
              <a:t>VMware</a:t>
            </a:r>
            <a:r>
              <a:rPr lang="es-MX" sz="1400"/>
              <a:t>: Proporciona soluciones de virtualización y almacenamiento privado en la nube, ofreciendo control total sobre los recursos y mayor flexibilidad en la gestión de datos.</a:t>
            </a:r>
            <a:endParaRPr b="1" sz="1800"/>
          </a:p>
        </p:txBody>
      </p:sp>
      <p:sp>
        <p:nvSpPr>
          <p:cNvPr id="768" name="Google Shape;768;p39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769" name="Google Shape;769;p39"/>
          <p:cNvSpPr txBox="1"/>
          <p:nvPr/>
        </p:nvSpPr>
        <p:spPr>
          <a:xfrm>
            <a:off x="4199890" y="2624172"/>
            <a:ext cx="3754870" cy="393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Ventajas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Control total</a:t>
            </a:r>
            <a:r>
              <a:rPr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La organización tiene control completo sobre la infraestructura, la seguridad y la configuración del almacenamiento.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Seguridad mejorada</a:t>
            </a:r>
            <a:r>
              <a:rPr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Los datos están aislados y no comparten infraestructura con otros clientes, lo que reduce los riesgos de seguridad.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Cumplimiento de normativas</a:t>
            </a:r>
            <a:r>
              <a:rPr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Ideal para organizaciones que necesitan cumplir con regulaciones estrictas de privacidad y seguridad de datos, ya que los datos están bajo control exclusivo.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70" name="Google Shape;770;p39"/>
          <p:cNvSpPr/>
          <p:nvPr/>
        </p:nvSpPr>
        <p:spPr>
          <a:xfrm>
            <a:off x="373178" y="985903"/>
            <a:ext cx="8432800" cy="188659"/>
          </a:xfrm>
          <a:prstGeom prst="rect">
            <a:avLst/>
          </a:prstGeom>
          <a:solidFill>
            <a:schemeClr val="accent5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71" name="Google Shape;771;p39"/>
          <p:cNvSpPr/>
          <p:nvPr/>
        </p:nvSpPr>
        <p:spPr>
          <a:xfrm>
            <a:off x="3228679" y="6547341"/>
            <a:ext cx="8432800" cy="188659"/>
          </a:xfrm>
          <a:prstGeom prst="rect">
            <a:avLst/>
          </a:prstGeom>
          <a:solidFill>
            <a:schemeClr val="accent5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72" name="Google Shape;772;p39"/>
          <p:cNvSpPr txBox="1"/>
          <p:nvPr/>
        </p:nvSpPr>
        <p:spPr>
          <a:xfrm>
            <a:off x="8135663" y="2624172"/>
            <a:ext cx="3754869" cy="3876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Desventajas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Costo más alto</a:t>
            </a:r>
            <a:r>
              <a:rPr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Requiere una mayor inversión en hardware y personal para administrar la infraestructura, lo que puede ser más caro que las soluciones públicas.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Escalabilidad limitada</a:t>
            </a:r>
            <a:r>
              <a:rPr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Aunque se puede escalar, el almacenamiento privado no es tan flexible como el público, ya que depende de la infraestructura física disponible.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Mantenimiento y gestión</a:t>
            </a:r>
            <a:r>
              <a:rPr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Requiere una mayor carga de trabajo en términos de administración y mantenimiento de la infraestructura.</a:t>
            </a:r>
            <a:endParaRPr sz="1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40"/>
          <p:cNvSpPr txBox="1"/>
          <p:nvPr>
            <p:ph type="title"/>
          </p:nvPr>
        </p:nvSpPr>
        <p:spPr>
          <a:xfrm>
            <a:off x="373178" y="224971"/>
            <a:ext cx="10405174" cy="682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ALMACENAMIENTO HÍBRIDO EN LA NUBE</a:t>
            </a:r>
            <a:endParaRPr/>
          </a:p>
        </p:txBody>
      </p:sp>
      <p:sp>
        <p:nvSpPr>
          <p:cNvPr id="778" name="Google Shape;778;p40"/>
          <p:cNvSpPr txBox="1"/>
          <p:nvPr>
            <p:ph idx="1" type="body"/>
          </p:nvPr>
        </p:nvSpPr>
        <p:spPr>
          <a:xfrm>
            <a:off x="551229" y="1253269"/>
            <a:ext cx="11052193" cy="119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 sz="2300"/>
              <a:t>Definición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sz="2300"/>
              <a:t>El almacenamiento híbrido en la nube es una combinación de almacenamiento privado y público, donde los datos y las aplicaciones se distribuyen entre una infraestructura local (privada) y una nube pública. Esto permite que las organizaciones aprovechen los beneficios de ambos modelos, equilibrando el control y la flexibilidad.</a:t>
            </a:r>
            <a:endParaRPr sz="2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300"/>
          </a:p>
        </p:txBody>
      </p:sp>
      <p:sp>
        <p:nvSpPr>
          <p:cNvPr id="779" name="Google Shape;779;p40"/>
          <p:cNvSpPr txBox="1"/>
          <p:nvPr>
            <p:ph idx="2" type="body"/>
          </p:nvPr>
        </p:nvSpPr>
        <p:spPr>
          <a:xfrm>
            <a:off x="301468" y="2891538"/>
            <a:ext cx="3514337" cy="3131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 sz="1600"/>
              <a:t>Ejemplos</a:t>
            </a:r>
            <a:endParaRPr/>
          </a:p>
          <a:p>
            <a:pPr indent="-285750" lvl="0" marL="2857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s-MX" sz="1700"/>
              <a:t>Microsoft Azure</a:t>
            </a:r>
            <a:r>
              <a:rPr lang="es-MX" sz="1700"/>
              <a:t>: Ofrece soluciones híbridas como Azure Stack, que permite a las empresas extender los servicios de Azure a sus centros de datos locales, creando un entorno híbrido.</a:t>
            </a:r>
            <a:endParaRPr/>
          </a:p>
          <a:p>
            <a:pPr indent="-285750" lvl="0" marL="2857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s-MX" sz="1700"/>
              <a:t>IBM Cloud</a:t>
            </a:r>
            <a:r>
              <a:rPr lang="es-MX" sz="1700"/>
              <a:t>: Proporciona soluciones híbridas que permiten a las empresas integrar sus aplicaciones en la nube pública con los recursos de la nube privada para mejorar la flexibilidad y el control.</a:t>
            </a:r>
            <a:endParaRPr b="1" sz="1700"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1600"/>
          </a:p>
        </p:txBody>
      </p:sp>
      <p:sp>
        <p:nvSpPr>
          <p:cNvPr id="780" name="Google Shape;780;p40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781" name="Google Shape;781;p40"/>
          <p:cNvSpPr txBox="1"/>
          <p:nvPr/>
        </p:nvSpPr>
        <p:spPr>
          <a:xfrm>
            <a:off x="4199889" y="2445350"/>
            <a:ext cx="7690643" cy="393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Ventajas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Flexibilidad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Permite a las organizaciones elegir qué datos almacenar en la nube pública y cuáles mantener en la infraestructura privada, según la seguridad, el rendimiento y el costo.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Optimización de costos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Puedes almacenar datos sensibles en la nube privada para mayor seguridad, mientras aprovechas el almacenamiento público más económico para datos menos sensibles.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Escalabilidad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Ofrece la posibilidad de escalar rápidamente los recursos de almacenamiento según sea necesario en la nube pública, manteniendo un control completo sobre datos críticos en la infraestructura privada.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82" name="Google Shape;782;p40"/>
          <p:cNvSpPr/>
          <p:nvPr/>
        </p:nvSpPr>
        <p:spPr>
          <a:xfrm>
            <a:off x="373178" y="985903"/>
            <a:ext cx="8432800" cy="188659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83" name="Google Shape;783;p40"/>
          <p:cNvSpPr/>
          <p:nvPr/>
        </p:nvSpPr>
        <p:spPr>
          <a:xfrm>
            <a:off x="3228679" y="6547341"/>
            <a:ext cx="8432800" cy="188659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41"/>
          <p:cNvSpPr txBox="1"/>
          <p:nvPr>
            <p:ph type="title"/>
          </p:nvPr>
        </p:nvSpPr>
        <p:spPr>
          <a:xfrm>
            <a:off x="373178" y="224971"/>
            <a:ext cx="10405174" cy="682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COMPARATIVA ENTRE LOS TRES TIPOS</a:t>
            </a:r>
            <a:endParaRPr/>
          </a:p>
        </p:txBody>
      </p:sp>
      <p:sp>
        <p:nvSpPr>
          <p:cNvPr id="789" name="Google Shape;789;p41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790" name="Google Shape;790;p41"/>
          <p:cNvSpPr/>
          <p:nvPr/>
        </p:nvSpPr>
        <p:spPr>
          <a:xfrm>
            <a:off x="373178" y="985903"/>
            <a:ext cx="8432800" cy="188659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91" name="Google Shape;791;p41"/>
          <p:cNvSpPr/>
          <p:nvPr/>
        </p:nvSpPr>
        <p:spPr>
          <a:xfrm>
            <a:off x="3228679" y="6547341"/>
            <a:ext cx="8432800" cy="188659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aphicFrame>
        <p:nvGraphicFramePr>
          <p:cNvPr id="792" name="Google Shape;792;p41"/>
          <p:cNvGraphicFramePr/>
          <p:nvPr/>
        </p:nvGraphicFramePr>
        <p:xfrm>
          <a:off x="728344" y="13938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{8482A243-C910-40E5-833B-2A529E762398}</a:tableStyleId>
              </a:tblPr>
              <a:tblGrid>
                <a:gridCol w="2512500"/>
                <a:gridCol w="2512500"/>
                <a:gridCol w="2512500"/>
                <a:gridCol w="2512500"/>
              </a:tblGrid>
              <a:tr h="407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cap="none" strike="noStrike"/>
                        <a:t>Característica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Almacenamiento Público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Almacenamiento Privado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Almacenamiento Híbrido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93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Costos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Bajo costo: pagas solo por lo que usas, sin necesidad de inversión en infraestructura.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Alto costo: requiere inversión en infraestructura, mantenimiento y personal.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Costo intermedio: combina los costos de almacenamiento público y privado. 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93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Seguridad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Seguridad avanzada proporcionada por el proveedor de la nube, pero el control está limitado.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Alta seguridad: control total sobre los datos y la infraestructura, ideal para datos sensibles.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Seguridad combinada: se puede almacenar datos sensibles en la infraestructura privada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93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Escalabilidad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Alta escalabilidad: puedes aumentar o reducir los recursos rápidamente según las necesidades.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Escalabilidad limitada: depende de la infraestructura física disponible.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Escalabilidad flexible: combina la capacidad de la nube pública para escalar rápidamente 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2"/>
          <p:cNvSpPr txBox="1"/>
          <p:nvPr>
            <p:ph type="title"/>
          </p:nvPr>
        </p:nvSpPr>
        <p:spPr>
          <a:xfrm>
            <a:off x="911352" y="505016"/>
            <a:ext cx="5775656" cy="32849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ALMACENAMIENTO EN LA NUBE PARA EMPRESAS</a:t>
            </a:r>
            <a:endParaRPr/>
          </a:p>
        </p:txBody>
      </p:sp>
      <p:sp>
        <p:nvSpPr>
          <p:cNvPr id="798" name="Google Shape;798;p42"/>
          <p:cNvSpPr txBox="1"/>
          <p:nvPr>
            <p:ph idx="1" type="body"/>
          </p:nvPr>
        </p:nvSpPr>
        <p:spPr>
          <a:xfrm>
            <a:off x="911353" y="4006024"/>
            <a:ext cx="5794248" cy="2346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MX"/>
              <a:t>Soluciones empresariale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43"/>
          <p:cNvSpPr txBox="1"/>
          <p:nvPr>
            <p:ph type="title"/>
          </p:nvPr>
        </p:nvSpPr>
        <p:spPr>
          <a:xfrm>
            <a:off x="6096000" y="0"/>
            <a:ext cx="5864352" cy="14949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ORACLE CLOUD</a:t>
            </a:r>
            <a:endParaRPr/>
          </a:p>
        </p:txBody>
      </p:sp>
      <p:sp>
        <p:nvSpPr>
          <p:cNvPr id="804" name="Google Shape;804;p43"/>
          <p:cNvSpPr/>
          <p:nvPr>
            <p:ph idx="2" type="pic"/>
          </p:nvPr>
        </p:nvSpPr>
        <p:spPr>
          <a:xfrm>
            <a:off x="231648" y="199208"/>
            <a:ext cx="4384040" cy="6459583"/>
          </a:xfrm>
          <a:prstGeom prst="rect">
            <a:avLst/>
          </a:prstGeom>
          <a:noFill/>
          <a:ln>
            <a:noFill/>
          </a:ln>
        </p:spPr>
      </p:sp>
      <p:sp>
        <p:nvSpPr>
          <p:cNvPr id="805" name="Google Shape;805;p43"/>
          <p:cNvSpPr txBox="1"/>
          <p:nvPr>
            <p:ph idx="1" type="body"/>
          </p:nvPr>
        </p:nvSpPr>
        <p:spPr>
          <a:xfrm>
            <a:off x="4746317" y="1775749"/>
            <a:ext cx="7010255" cy="1855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Qué es</a:t>
            </a:r>
            <a:r>
              <a:rPr lang="es-MX"/>
              <a:t>: Ofrece una plataforma completa para almacenamiento, bases de datos, análisis y aplicaciones empresariales. Es conocida por su enfoque en proporcionar servicios de infraestructura y aplicaciones empresariales escalables.</a:t>
            </a:r>
            <a:endParaRPr/>
          </a:p>
        </p:txBody>
      </p:sp>
      <p:pic>
        <p:nvPicPr>
          <p:cNvPr descr="Logotipo, nombre de la empresa&#10;&#10;Descripción generada automáticamente" id="806" name="Google Shape;8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3006" y="3737970"/>
            <a:ext cx="5036876" cy="2647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44"/>
          <p:cNvSpPr txBox="1"/>
          <p:nvPr>
            <p:ph type="title"/>
          </p:nvPr>
        </p:nvSpPr>
        <p:spPr>
          <a:xfrm>
            <a:off x="246742" y="143256"/>
            <a:ext cx="5864352" cy="1321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SALESFORCE</a:t>
            </a:r>
            <a:endParaRPr/>
          </a:p>
        </p:txBody>
      </p:sp>
      <p:sp>
        <p:nvSpPr>
          <p:cNvPr id="812" name="Google Shape;812;p44"/>
          <p:cNvSpPr/>
          <p:nvPr>
            <p:ph idx="2" type="pic"/>
          </p:nvPr>
        </p:nvSpPr>
        <p:spPr>
          <a:xfrm>
            <a:off x="486518" y="1758132"/>
            <a:ext cx="6814168" cy="2247811"/>
          </a:xfrm>
          <a:prstGeom prst="rect">
            <a:avLst/>
          </a:prstGeom>
          <a:noFill/>
          <a:ln>
            <a:noFill/>
          </a:ln>
        </p:spPr>
      </p:sp>
      <p:sp>
        <p:nvSpPr>
          <p:cNvPr id="813" name="Google Shape;813;p44"/>
          <p:cNvSpPr txBox="1"/>
          <p:nvPr/>
        </p:nvSpPr>
        <p:spPr>
          <a:xfrm>
            <a:off x="902208" y="1970971"/>
            <a:ext cx="5864352" cy="27606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0" sz="40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4"/>
          <p:cNvSpPr txBox="1"/>
          <p:nvPr/>
        </p:nvSpPr>
        <p:spPr>
          <a:xfrm>
            <a:off x="711200" y="262708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15" name="Google Shape;815;p44"/>
          <p:cNvSpPr txBox="1"/>
          <p:nvPr/>
        </p:nvSpPr>
        <p:spPr>
          <a:xfrm>
            <a:off x="7778370" y="348343"/>
            <a:ext cx="4166888" cy="6008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Soluciones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2900" lvl="0" marL="3429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Salesforce Customer 360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Unifica todos los datos de clientes en una sola plataforma, proporcionando almacenamiento para las interacciones, el historial de compras, el servicio al cliente y más.</a:t>
            </a:r>
            <a:endParaRPr b="1"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2900" lvl="0" marL="3429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Salesforce Data Cloud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Proporciona almacenamiento de datos estructurados y no estructurados para un análisis de datos avanzado.</a:t>
            </a:r>
            <a:endParaRPr b="1"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15900" lvl="0" marL="3429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Ventajas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Permite una visión integral del cliente, mejorando la colaboración entre equipos de ventas, marketing y servicio al cliente.</a:t>
            </a:r>
            <a:endParaRPr b="1"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Imagen que contiene Logotipo&#10;&#10;Descripción generada automáticamente" id="816" name="Google Shape;81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5795" y="3742327"/>
            <a:ext cx="3735614" cy="2614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5"/>
          <p:cNvSpPr txBox="1"/>
          <p:nvPr>
            <p:ph type="title"/>
          </p:nvPr>
        </p:nvSpPr>
        <p:spPr>
          <a:xfrm>
            <a:off x="5486400" y="0"/>
            <a:ext cx="5864352" cy="14949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MICROSOFT AZURE</a:t>
            </a:r>
            <a:endParaRPr/>
          </a:p>
        </p:txBody>
      </p:sp>
      <p:sp>
        <p:nvSpPr>
          <p:cNvPr id="822" name="Google Shape;822;p45"/>
          <p:cNvSpPr/>
          <p:nvPr>
            <p:ph idx="2" type="pic"/>
          </p:nvPr>
        </p:nvSpPr>
        <p:spPr>
          <a:xfrm>
            <a:off x="231648" y="199208"/>
            <a:ext cx="4384040" cy="6459583"/>
          </a:xfrm>
          <a:prstGeom prst="rect">
            <a:avLst/>
          </a:prstGeom>
          <a:noFill/>
          <a:ln>
            <a:noFill/>
          </a:ln>
        </p:spPr>
      </p:sp>
      <p:sp>
        <p:nvSpPr>
          <p:cNvPr id="823" name="Google Shape;823;p45"/>
          <p:cNvSpPr txBox="1"/>
          <p:nvPr>
            <p:ph idx="1" type="body"/>
          </p:nvPr>
        </p:nvSpPr>
        <p:spPr>
          <a:xfrm>
            <a:off x="4746317" y="1775749"/>
            <a:ext cx="7010255" cy="1653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Qué es</a:t>
            </a:r>
            <a:r>
              <a:rPr lang="es-MX"/>
              <a:t>: Ofrece soluciones de almacenamiento en la nube empresarial, con opciones de almacenamiento de objetos, archivos y bloques, así como herramientas de computación y análisis integradas.</a:t>
            </a:r>
            <a:endParaRPr/>
          </a:p>
        </p:txBody>
      </p:sp>
      <p:pic>
        <p:nvPicPr>
          <p:cNvPr descr="Logotipo&#10;&#10;Descripción generada automáticamente" id="824" name="Google Shape;82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6317" y="2920821"/>
            <a:ext cx="6645280" cy="3737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6"/>
          <p:cNvSpPr txBox="1"/>
          <p:nvPr>
            <p:ph type="title"/>
          </p:nvPr>
        </p:nvSpPr>
        <p:spPr>
          <a:xfrm>
            <a:off x="246742" y="143256"/>
            <a:ext cx="5864352" cy="1321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AMAZON WEB SERVICES (AWS)</a:t>
            </a:r>
            <a:endParaRPr/>
          </a:p>
        </p:txBody>
      </p:sp>
      <p:sp>
        <p:nvSpPr>
          <p:cNvPr id="830" name="Google Shape;830;p46"/>
          <p:cNvSpPr/>
          <p:nvPr>
            <p:ph idx="2" type="pic"/>
          </p:nvPr>
        </p:nvSpPr>
        <p:spPr>
          <a:xfrm>
            <a:off x="486518" y="1758132"/>
            <a:ext cx="6814168" cy="2247811"/>
          </a:xfrm>
          <a:prstGeom prst="rect">
            <a:avLst/>
          </a:prstGeom>
          <a:noFill/>
          <a:ln>
            <a:noFill/>
          </a:ln>
        </p:spPr>
      </p:sp>
      <p:sp>
        <p:nvSpPr>
          <p:cNvPr id="831" name="Google Shape;831;p46"/>
          <p:cNvSpPr txBox="1"/>
          <p:nvPr/>
        </p:nvSpPr>
        <p:spPr>
          <a:xfrm>
            <a:off x="902208" y="1970971"/>
            <a:ext cx="5864352" cy="27606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0" sz="40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46"/>
          <p:cNvSpPr txBox="1"/>
          <p:nvPr/>
        </p:nvSpPr>
        <p:spPr>
          <a:xfrm>
            <a:off x="711200" y="262708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33" name="Google Shape;833;p46"/>
          <p:cNvSpPr txBox="1"/>
          <p:nvPr/>
        </p:nvSpPr>
        <p:spPr>
          <a:xfrm>
            <a:off x="7778370" y="348343"/>
            <a:ext cx="4166888" cy="6008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Soluciones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2900" lvl="0" marL="3429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Amazon S3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Para almacenar grandes volúmenes de datos no estructurados, como copias de seguridad, registros y archivos multimedia.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Amazon EBS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Almacenamiento en bloque que permite a las empresas gestionar sus bases de datos y aplicaciones de manera eficiente.</a:t>
            </a:r>
            <a:endParaRPr/>
          </a:p>
          <a:p>
            <a:pPr indent="-215900" lvl="0" marL="3429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Ventajas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Gran flexibilidad y escalabilidad, con una infraestructura global robusta que garantiza alta disponibilidad y fiabilidad.</a:t>
            </a:r>
            <a:endParaRPr b="1"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Imagen que contiene Logotipo&#10;&#10;Descripción generada automáticamente" id="834" name="Google Shape;83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5795" y="3742327"/>
            <a:ext cx="3735614" cy="2614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7"/>
          <p:cNvSpPr txBox="1"/>
          <p:nvPr>
            <p:ph type="title"/>
          </p:nvPr>
        </p:nvSpPr>
        <p:spPr>
          <a:xfrm>
            <a:off x="5486400" y="0"/>
            <a:ext cx="5864352" cy="14949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GOOGLE CLOUD</a:t>
            </a:r>
            <a:endParaRPr/>
          </a:p>
        </p:txBody>
      </p:sp>
      <p:sp>
        <p:nvSpPr>
          <p:cNvPr id="840" name="Google Shape;840;p47"/>
          <p:cNvSpPr/>
          <p:nvPr>
            <p:ph idx="2" type="pic"/>
          </p:nvPr>
        </p:nvSpPr>
        <p:spPr>
          <a:xfrm>
            <a:off x="179789" y="1128124"/>
            <a:ext cx="4384040" cy="5185592"/>
          </a:xfrm>
          <a:prstGeom prst="rect">
            <a:avLst/>
          </a:prstGeom>
          <a:noFill/>
          <a:ln>
            <a:noFill/>
          </a:ln>
        </p:spPr>
      </p:sp>
      <p:sp>
        <p:nvSpPr>
          <p:cNvPr id="841" name="Google Shape;841;p47"/>
          <p:cNvSpPr txBox="1"/>
          <p:nvPr>
            <p:ph idx="1" type="body"/>
          </p:nvPr>
        </p:nvSpPr>
        <p:spPr>
          <a:xfrm>
            <a:off x="4746317" y="1775749"/>
            <a:ext cx="7010255" cy="1653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Qué es</a:t>
            </a:r>
            <a:r>
              <a:rPr lang="es-MX"/>
              <a:t>: Ofrece soluciones de almacenamiento en la nube para empresas que incluyen almacenamiento de objetos, archivos y bloques, así como integración con herramientas de análisis y machine learning.</a:t>
            </a:r>
            <a:endParaRPr/>
          </a:p>
        </p:txBody>
      </p:sp>
      <p:pic>
        <p:nvPicPr>
          <p:cNvPr descr="Logotipo&#10;&#10;Descripción generada automáticamente" id="842" name="Google Shape;84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8804" y="3120030"/>
            <a:ext cx="6645280" cy="3737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6095999" y="441960"/>
            <a:ext cx="5641897" cy="33168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ALMACENAMIENTO EN LA NUBE PARA USUARIOS FINALES</a:t>
            </a:r>
            <a:endParaRPr/>
          </a:p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6109694" y="4068392"/>
            <a:ext cx="5580586" cy="2197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MX"/>
              <a:t>Servicios populares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9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GOOGLE DRIVE</a:t>
            </a:r>
            <a:endParaRPr/>
          </a:p>
        </p:txBody>
      </p:sp>
      <p:sp>
        <p:nvSpPr>
          <p:cNvPr id="854" name="Google Shape;854;p49"/>
          <p:cNvSpPr txBox="1"/>
          <p:nvPr>
            <p:ph idx="1" type="body"/>
          </p:nvPr>
        </p:nvSpPr>
        <p:spPr>
          <a:xfrm>
            <a:off x="763132" y="1836468"/>
            <a:ext cx="3591151" cy="4072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Un servicio de almacenamiento en la nube que permite a los usuarios almacenar archivos, fotos, videos y documentos en línea. Ofrece integración con las aplicaciones de Google, como Google Docs, Sheets y Slides, lo que facilita la colaboración.</a:t>
            </a:r>
            <a:endParaRPr/>
          </a:p>
        </p:txBody>
      </p:sp>
      <p:sp>
        <p:nvSpPr>
          <p:cNvPr id="855" name="Google Shape;855;p49"/>
          <p:cNvSpPr txBox="1"/>
          <p:nvPr>
            <p:ph idx="2" type="body"/>
          </p:nvPr>
        </p:nvSpPr>
        <p:spPr>
          <a:xfrm>
            <a:off x="4818739" y="1782780"/>
            <a:ext cx="6908804" cy="4284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Soluciones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Almacenamiento gratuito</a:t>
            </a:r>
            <a:r>
              <a:rPr lang="es-MX"/>
              <a:t>: Ofrece 15 GB de almacenamiento gratuito, con opciones de pago para más espacio.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Sincronización multiplataforma</a:t>
            </a:r>
            <a:r>
              <a:rPr lang="es-MX"/>
              <a:t>: Los usuarios pueden acceder a sus archivos desde cualquier dispositivo (PC, móvil, tablet).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Ventajas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Integración perfecta con otros servicios de Google.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Fácil de usar y accesible desde cualquier dispositivo con conexión a Internet.</a:t>
            </a:r>
            <a:endParaRPr/>
          </a:p>
        </p:txBody>
      </p:sp>
      <p:sp>
        <p:nvSpPr>
          <p:cNvPr id="856" name="Google Shape;856;p49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pic>
        <p:nvPicPr>
          <p:cNvPr id="857" name="Google Shape;85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3770" y="72518"/>
            <a:ext cx="3788229" cy="213087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49"/>
          <p:cNvSpPr txBox="1"/>
          <p:nvPr/>
        </p:nvSpPr>
        <p:spPr>
          <a:xfrm>
            <a:off x="7170056" y="6997232"/>
            <a:ext cx="502194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Esta foto</a:t>
            </a:r>
            <a:r>
              <a:rPr lang="es-MX" sz="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de Autor desconocido está bajo licencia </a:t>
            </a:r>
            <a:r>
              <a:rPr lang="es-MX" sz="900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 BY</a:t>
            </a:r>
            <a:endParaRPr sz="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59" name="Google Shape;859;p49"/>
          <p:cNvSpPr/>
          <p:nvPr/>
        </p:nvSpPr>
        <p:spPr>
          <a:xfrm>
            <a:off x="4238171" y="6346239"/>
            <a:ext cx="7953828" cy="51176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B4B4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60" name="Google Shape;860;p49"/>
          <p:cNvSpPr/>
          <p:nvPr/>
        </p:nvSpPr>
        <p:spPr>
          <a:xfrm>
            <a:off x="-697" y="-9628"/>
            <a:ext cx="7953828" cy="51176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B4B4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50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ICLOUD</a:t>
            </a:r>
            <a:endParaRPr/>
          </a:p>
        </p:txBody>
      </p:sp>
      <p:sp>
        <p:nvSpPr>
          <p:cNvPr id="866" name="Google Shape;866;p50"/>
          <p:cNvSpPr txBox="1"/>
          <p:nvPr>
            <p:ph idx="1" type="body"/>
          </p:nvPr>
        </p:nvSpPr>
        <p:spPr>
          <a:xfrm>
            <a:off x="763132" y="1836468"/>
            <a:ext cx="3591151" cy="4072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El servicio de almacenamiento en la nube de Apple, diseñado para respaldar fotos, documentos y otros archivos en todos los dispositivos Apple (iPhone, iPad, Mac).</a:t>
            </a:r>
            <a:endParaRPr/>
          </a:p>
        </p:txBody>
      </p:sp>
      <p:sp>
        <p:nvSpPr>
          <p:cNvPr id="867" name="Google Shape;867;p50"/>
          <p:cNvSpPr txBox="1"/>
          <p:nvPr>
            <p:ph idx="2" type="body"/>
          </p:nvPr>
        </p:nvSpPr>
        <p:spPr>
          <a:xfrm>
            <a:off x="4818739" y="1782780"/>
            <a:ext cx="6908804" cy="4284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Soluciones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Sincronización automática</a:t>
            </a:r>
            <a:r>
              <a:rPr lang="es-MX"/>
              <a:t>: Los archivos se sincronizan automáticamente entre todos los dispositivos Apple del usuario.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Almacenamiento de fotos y videos</a:t>
            </a:r>
            <a:r>
              <a:rPr lang="es-MX"/>
              <a:t>: iCloud también permite hacer copias de seguridad de fotos y videos a través de iCloud Photos.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Ventajas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Integración fluida con dispositivos Apple, ideal para usuarios dentro del ecosistema Apple.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Fácil gestión de archivos y copias de seguridad.</a:t>
            </a:r>
            <a:endParaRPr/>
          </a:p>
        </p:txBody>
      </p:sp>
      <p:sp>
        <p:nvSpPr>
          <p:cNvPr id="868" name="Google Shape;868;p50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869" name="Google Shape;869;p50"/>
          <p:cNvSpPr/>
          <p:nvPr/>
        </p:nvSpPr>
        <p:spPr>
          <a:xfrm>
            <a:off x="4238171" y="6346239"/>
            <a:ext cx="7953828" cy="511761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9470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70" name="Google Shape;870;p50"/>
          <p:cNvSpPr/>
          <p:nvPr/>
        </p:nvSpPr>
        <p:spPr>
          <a:xfrm>
            <a:off x="-697" y="-9628"/>
            <a:ext cx="7953828" cy="511761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9470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Logotipo&#10;&#10;Descripción generada automáticamente" id="871" name="Google Shape;87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7092" y="278909"/>
            <a:ext cx="5845629" cy="2016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51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DROPBOX</a:t>
            </a:r>
            <a:endParaRPr/>
          </a:p>
        </p:txBody>
      </p:sp>
      <p:sp>
        <p:nvSpPr>
          <p:cNvPr id="877" name="Google Shape;877;p51"/>
          <p:cNvSpPr txBox="1"/>
          <p:nvPr>
            <p:ph idx="1" type="body"/>
          </p:nvPr>
        </p:nvSpPr>
        <p:spPr>
          <a:xfrm>
            <a:off x="763132" y="1836468"/>
            <a:ext cx="3591151" cy="4072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Una plataforma de almacenamiento en la nube que permite a los usuarios guardar, sincronizar y compartir archivos en línea. Es ampliamente utilizado para la colaboración en archivos y carpetas.</a:t>
            </a:r>
            <a:endParaRPr/>
          </a:p>
        </p:txBody>
      </p:sp>
      <p:sp>
        <p:nvSpPr>
          <p:cNvPr id="878" name="Google Shape;878;p51"/>
          <p:cNvSpPr txBox="1"/>
          <p:nvPr>
            <p:ph idx="2" type="body"/>
          </p:nvPr>
        </p:nvSpPr>
        <p:spPr>
          <a:xfrm>
            <a:off x="4818739" y="1782780"/>
            <a:ext cx="6908804" cy="4284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Soluciones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Planes gratuitos y de pago</a:t>
            </a:r>
            <a:r>
              <a:rPr lang="es-MX"/>
              <a:t>: Ofrece 2 GB de almacenamiento gratuito, con opciones de pago para más espacio y características adicionales.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Sincronización en tiempo real</a:t>
            </a:r>
            <a:r>
              <a:rPr lang="es-MX"/>
              <a:t>: Los archivos se sincronizan instantáneamente en todos los dispositivos vinculados.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Ventajas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Fuerte enfoque en la colaboración, permitiendo compartir y trabajar en documentos en tiempo real.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Compatible con una amplia gama de dispositivos y sistemas operativos.</a:t>
            </a:r>
            <a:endParaRPr/>
          </a:p>
        </p:txBody>
      </p:sp>
      <p:sp>
        <p:nvSpPr>
          <p:cNvPr id="879" name="Google Shape;879;p51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880" name="Google Shape;880;p51"/>
          <p:cNvSpPr/>
          <p:nvPr/>
        </p:nvSpPr>
        <p:spPr>
          <a:xfrm>
            <a:off x="4238171" y="6346239"/>
            <a:ext cx="7953828" cy="51176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B4B4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81" name="Google Shape;881;p51"/>
          <p:cNvSpPr/>
          <p:nvPr/>
        </p:nvSpPr>
        <p:spPr>
          <a:xfrm>
            <a:off x="-697" y="-9628"/>
            <a:ext cx="7953828" cy="51176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B4B4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Logotipo&#10;&#10;Descripción generada automáticamente" id="882" name="Google Shape;88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42714" y="72518"/>
            <a:ext cx="2249714" cy="2249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2"/>
          <p:cNvSpPr txBox="1"/>
          <p:nvPr>
            <p:ph type="title"/>
          </p:nvPr>
        </p:nvSpPr>
        <p:spPr>
          <a:xfrm>
            <a:off x="911352" y="505016"/>
            <a:ext cx="5775656" cy="32849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ALMACENAMIENTO EN LA NUBE PARA DESARROLLADORES</a:t>
            </a:r>
            <a:endParaRPr/>
          </a:p>
        </p:txBody>
      </p:sp>
      <p:sp>
        <p:nvSpPr>
          <p:cNvPr id="888" name="Google Shape;888;p52"/>
          <p:cNvSpPr txBox="1"/>
          <p:nvPr>
            <p:ph idx="1" type="body"/>
          </p:nvPr>
        </p:nvSpPr>
        <p:spPr>
          <a:xfrm>
            <a:off x="911353" y="4006024"/>
            <a:ext cx="5794248" cy="2346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MX"/>
              <a:t>Herramientas como GitHub y Bitbucket.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53"/>
          <p:cNvSpPr txBox="1"/>
          <p:nvPr>
            <p:ph type="title"/>
          </p:nvPr>
        </p:nvSpPr>
        <p:spPr>
          <a:xfrm>
            <a:off x="521226" y="406556"/>
            <a:ext cx="5864352" cy="987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GITHUB</a:t>
            </a:r>
            <a:endParaRPr/>
          </a:p>
        </p:txBody>
      </p:sp>
      <p:pic>
        <p:nvPicPr>
          <p:cNvPr descr="Logotipo&#10;&#10;Descripción generada automáticamente" id="894" name="Google Shape;894;p5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0179" r="30180" t="0"/>
          <a:stretch/>
        </p:blipFill>
        <p:spPr>
          <a:xfrm>
            <a:off x="7625969" y="-9144"/>
            <a:ext cx="4581525" cy="6602413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53"/>
          <p:cNvSpPr txBox="1"/>
          <p:nvPr/>
        </p:nvSpPr>
        <p:spPr>
          <a:xfrm>
            <a:off x="521226" y="1551143"/>
            <a:ext cx="6386011" cy="4621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GitHub es una plataforma de almacenamiento en la nube orientada a desarrolladores que permite gestionar proyectos de software usando Git. Ofrece funcionalidades para control de versiones, colaboración, y almacenamiento de código fuente.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Soluciones</a:t>
            </a:r>
            <a:endParaRPr b="1"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Repositorios Git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Los desarrolladores pueden crear repositorios para almacenar su código fuente y hacer un seguimiento de las versiones de manera eficiente.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GitHub Actions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Permite la automatización de flujos de trabajo para integración continua y despliegue continuo (CI/CD).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GitHub Pages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Facilita el despliegue de sitios web estáticos directamente desde un repositorio de GitHub.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54"/>
          <p:cNvSpPr txBox="1"/>
          <p:nvPr>
            <p:ph type="title"/>
          </p:nvPr>
        </p:nvSpPr>
        <p:spPr>
          <a:xfrm>
            <a:off x="4951829" y="176784"/>
            <a:ext cx="5864352" cy="11455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BITBUCKET</a:t>
            </a:r>
            <a:endParaRPr/>
          </a:p>
        </p:txBody>
      </p:sp>
      <p:pic>
        <p:nvPicPr>
          <p:cNvPr descr="Icono&#10;&#10;Descripción generada automáticamente" id="901" name="Google Shape;901;p5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0026" r="10026" t="0"/>
          <a:stretch/>
        </p:blipFill>
        <p:spPr>
          <a:xfrm>
            <a:off x="-15240" y="-15240"/>
            <a:ext cx="4581525" cy="6602413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54"/>
          <p:cNvSpPr txBox="1"/>
          <p:nvPr>
            <p:ph idx="1" type="body"/>
          </p:nvPr>
        </p:nvSpPr>
        <p:spPr>
          <a:xfrm>
            <a:off x="4951829" y="1594339"/>
            <a:ext cx="6850966" cy="4285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/>
              <a:t>Bitbucket es otra plataforma de almacenamiento en la nube para desarrolladores, propiedad de Atlassian. Ofrece repositorios Git y Mercurial, junto con herramientas de colaboración y gestión de proyectos.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/>
              <a:t>Soluciones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s-MX"/>
              <a:t>Repositorios privados y públicos</a:t>
            </a:r>
            <a:r>
              <a:rPr lang="es-MX"/>
              <a:t>: Bitbucket permite crear repositorios privados de forma gratuita (para equipos pequeños) y públicos para compartir código con la comunidad.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s-MX"/>
              <a:t>Pipelines de Bitbucket</a:t>
            </a:r>
            <a:r>
              <a:rPr lang="es-MX"/>
              <a:t>: Herramienta de integración continua (CI) y despliegue continuo (CD), lo que facilita la automatización de las pruebas y el despliegue del código.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s-MX"/>
              <a:t>Integración con Jira y Trello</a:t>
            </a:r>
            <a:r>
              <a:rPr lang="es-MX"/>
              <a:t>: Permite gestionar tareas, bugs y sprints en conjunto con otras herramientas de Atlassian, ideal para equipos ágiles.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55"/>
          <p:cNvSpPr txBox="1"/>
          <p:nvPr>
            <p:ph type="title"/>
          </p:nvPr>
        </p:nvSpPr>
        <p:spPr>
          <a:xfrm>
            <a:off x="6095999" y="441960"/>
            <a:ext cx="5641897" cy="39893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ALMACENAMIENTO EN LA NUBE PARA BIG DATA</a:t>
            </a:r>
            <a:endParaRPr/>
          </a:p>
        </p:txBody>
      </p:sp>
      <p:sp>
        <p:nvSpPr>
          <p:cNvPr id="908" name="Google Shape;908;p55"/>
          <p:cNvSpPr txBox="1"/>
          <p:nvPr>
            <p:ph idx="1" type="body"/>
          </p:nvPr>
        </p:nvSpPr>
        <p:spPr>
          <a:xfrm>
            <a:off x="6095999" y="4982792"/>
            <a:ext cx="5580586" cy="1150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MX"/>
              <a:t>Soluciones como Hadoop y Spark.</a:t>
            </a:r>
            <a:endParaRPr/>
          </a:p>
          <a:p>
            <a:pPr indent="0" lvl="0" marL="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56"/>
          <p:cNvSpPr txBox="1"/>
          <p:nvPr>
            <p:ph type="title"/>
          </p:nvPr>
        </p:nvSpPr>
        <p:spPr>
          <a:xfrm>
            <a:off x="521226" y="406556"/>
            <a:ext cx="5864352" cy="987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HADOOP</a:t>
            </a:r>
            <a:endParaRPr/>
          </a:p>
        </p:txBody>
      </p:sp>
      <p:sp>
        <p:nvSpPr>
          <p:cNvPr id="914" name="Google Shape;914;p56"/>
          <p:cNvSpPr txBox="1"/>
          <p:nvPr/>
        </p:nvSpPr>
        <p:spPr>
          <a:xfrm>
            <a:off x="521226" y="1551143"/>
            <a:ext cx="6386011" cy="4621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Hadoop es un framework de software de código abierto que facilita el procesamiento y almacenamiento de grandes volúmenes de datos de manera distribuida en un clúster de servidores. Se utiliza principalmente para procesar grandes conjuntos de datos en paralelo de forma eficiente. 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Soluciones</a:t>
            </a:r>
            <a:endParaRPr b="1"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Hadoop Distributed File System (HDFS)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Es el sistema de archivos distribuido que permite almacenar grandes cantidades de datos de forma escalable y redundante, distribuyendo los datos entre múltiples nodos de un clúster.</a:t>
            </a: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MapReduce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Es un modelo de programación utilizado en Hadoop para procesar datos en paralelo a través de un clúster de computadoras.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Imagen que contiene Texto&#10;&#10;Descripción generada automáticamente" id="915" name="Google Shape;915;p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7" l="20776" r="40191" t="-138"/>
          <a:stretch/>
        </p:blipFill>
        <p:spPr>
          <a:xfrm>
            <a:off x="7625969" y="-9144"/>
            <a:ext cx="4581525" cy="6602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7"/>
          <p:cNvSpPr txBox="1"/>
          <p:nvPr>
            <p:ph type="title"/>
          </p:nvPr>
        </p:nvSpPr>
        <p:spPr>
          <a:xfrm>
            <a:off x="4951829" y="176784"/>
            <a:ext cx="5864352" cy="11455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APACHE SPARK</a:t>
            </a:r>
            <a:endParaRPr/>
          </a:p>
        </p:txBody>
      </p:sp>
      <p:sp>
        <p:nvSpPr>
          <p:cNvPr id="921" name="Google Shape;921;p57"/>
          <p:cNvSpPr txBox="1"/>
          <p:nvPr>
            <p:ph idx="1" type="body"/>
          </p:nvPr>
        </p:nvSpPr>
        <p:spPr>
          <a:xfrm>
            <a:off x="4951829" y="1594339"/>
            <a:ext cx="6850966" cy="4285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/>
              <a:t>Apache Spark es un motor de procesamiento de datos en memoria de código abierto que permite realizar análisis de Big Data a gran velocidad. Es conocido por ser mucho más rápido que Hadoop MapReduce, especialmente para trabajos de procesamiento iterativo y en tiempo real.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/>
              <a:t>Soluciones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s-MX"/>
              <a:t>Spark SQL</a:t>
            </a:r>
            <a:r>
              <a:rPr lang="es-MX"/>
              <a:t>: Permite ejecutar consultas SQL sobre grandes volúmenes de datos y es compatible con múltiples fuentes de datos (HDFS, bases de datos, etc.).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s-MX"/>
              <a:t>Spark Streaming</a:t>
            </a:r>
            <a:r>
              <a:rPr lang="es-MX"/>
              <a:t>: Permite el procesamiento en tiempo real de flujos de datos, lo que es ideal para aplicaciones como análisis en vivo de datos.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s-MX"/>
              <a:t>MLlib</a:t>
            </a:r>
            <a:r>
              <a:rPr lang="es-MX"/>
              <a:t>: Biblioteca de aprendizaje automático (machine learning) para la creación de modelos predictivos utilizando Big Data.</a:t>
            </a:r>
            <a:endParaRPr/>
          </a:p>
        </p:txBody>
      </p:sp>
      <p:pic>
        <p:nvPicPr>
          <p:cNvPr descr="Logotipo&#10;&#10;Descripción generada automáticamente" id="922" name="Google Shape;922;p5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0471" r="30471" t="0"/>
          <a:stretch/>
        </p:blipFill>
        <p:spPr>
          <a:xfrm>
            <a:off x="0" y="0"/>
            <a:ext cx="4581525" cy="6602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58"/>
          <p:cNvSpPr txBox="1"/>
          <p:nvPr>
            <p:ph type="title"/>
          </p:nvPr>
        </p:nvSpPr>
        <p:spPr>
          <a:xfrm>
            <a:off x="911352" y="505016"/>
            <a:ext cx="5775656" cy="32849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OTROS TIPOS DE ALMACENAMIENTO</a:t>
            </a:r>
            <a:endParaRPr/>
          </a:p>
        </p:txBody>
      </p:sp>
      <p:sp>
        <p:nvSpPr>
          <p:cNvPr id="928" name="Google Shape;928;p58"/>
          <p:cNvSpPr txBox="1"/>
          <p:nvPr>
            <p:ph idx="1" type="body"/>
          </p:nvPr>
        </p:nvSpPr>
        <p:spPr>
          <a:xfrm>
            <a:off x="911353" y="4006024"/>
            <a:ext cx="5794248" cy="2346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9"/>
          <p:cNvSpPr txBox="1"/>
          <p:nvPr>
            <p:ph idx="2" type="body"/>
          </p:nvPr>
        </p:nvSpPr>
        <p:spPr>
          <a:xfrm>
            <a:off x="1113291" y="2000614"/>
            <a:ext cx="10323966" cy="251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s-MX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Almacenamiento en la nube para IA y machine learning</a:t>
            </a:r>
            <a:endParaRPr b="1" i="0" sz="2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s-MX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Almacenamiento en la nube para gaming</a:t>
            </a:r>
            <a:endParaRPr b="1" i="0" sz="2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s-MX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Almacenamiento en la nube para IoT</a:t>
            </a:r>
            <a:endParaRPr b="1" i="0" sz="2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s-MX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Almacenamiento en la nube para blockchain</a:t>
            </a:r>
            <a:endParaRPr b="1" i="0" sz="2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35" name="Google Shape;935;p59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60"/>
          <p:cNvSpPr txBox="1"/>
          <p:nvPr>
            <p:ph type="title"/>
          </p:nvPr>
        </p:nvSpPr>
        <p:spPr>
          <a:xfrm>
            <a:off x="6095999" y="441960"/>
            <a:ext cx="5641897" cy="33168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TENDENCIAS FUTURAS</a:t>
            </a:r>
            <a:endParaRPr/>
          </a:p>
        </p:txBody>
      </p:sp>
      <p:sp>
        <p:nvSpPr>
          <p:cNvPr id="941" name="Google Shape;941;p60"/>
          <p:cNvSpPr txBox="1"/>
          <p:nvPr>
            <p:ph idx="1" type="body"/>
          </p:nvPr>
        </p:nvSpPr>
        <p:spPr>
          <a:xfrm>
            <a:off x="6109694" y="4068392"/>
            <a:ext cx="5580586" cy="2197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61"/>
          <p:cNvSpPr txBox="1"/>
          <p:nvPr>
            <p:ph type="title"/>
          </p:nvPr>
        </p:nvSpPr>
        <p:spPr>
          <a:xfrm>
            <a:off x="521226" y="406556"/>
            <a:ext cx="5864352" cy="987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EDGE COMPUTING</a:t>
            </a:r>
            <a:endParaRPr/>
          </a:p>
        </p:txBody>
      </p:sp>
      <p:sp>
        <p:nvSpPr>
          <p:cNvPr id="947" name="Google Shape;947;p61"/>
          <p:cNvSpPr txBox="1"/>
          <p:nvPr/>
        </p:nvSpPr>
        <p:spPr>
          <a:xfrm>
            <a:off x="521226" y="1551143"/>
            <a:ext cx="6386011" cy="4621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El </a:t>
            </a: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Edge Computing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se refiere a la práctica de procesar datos cerca del lugar donde se generan, es decir, en el "borde" de la red, en lugar de enviarlos a servidores o centros de datos remotos (como en el caso del almacenamiento en la nube). Esto se hace para reducir la latencia, mejorar la velocidad de respuesta y disminuir la carga en la infraestructura centralizada de la nube. 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Beneficios combinados de Edge Computing y almacenamiento en la nube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Mayor eficiencia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La combinación de ambos enfoques permite una solución más eficiente que aprovecha lo mejor de la computación local y la nube. Edge Computing maneja el procesamiento en tiempo real, mientras que la nube ofrece almacenamiento, análisis y recuperación de datos a largo plazo.</a:t>
            </a:r>
            <a:endParaRPr/>
          </a:p>
        </p:txBody>
      </p:sp>
      <p:pic>
        <p:nvPicPr>
          <p:cNvPr descr="Diagrama&#10;&#10;Descripción generada automáticamente" id="948" name="Google Shape;948;p6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7" l="42145" r="11579" t="-138"/>
          <a:stretch/>
        </p:blipFill>
        <p:spPr>
          <a:xfrm>
            <a:off x="7625969" y="-9144"/>
            <a:ext cx="4581525" cy="6602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62"/>
          <p:cNvSpPr txBox="1"/>
          <p:nvPr>
            <p:ph type="title"/>
          </p:nvPr>
        </p:nvSpPr>
        <p:spPr>
          <a:xfrm>
            <a:off x="5098312" y="176784"/>
            <a:ext cx="6558000" cy="11455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s-MX" sz="3600"/>
              <a:t>INTELIGENCIA ARTIFICIAL Y MACHINE LEARNING</a:t>
            </a:r>
            <a:endParaRPr sz="3600"/>
          </a:p>
        </p:txBody>
      </p:sp>
      <p:sp>
        <p:nvSpPr>
          <p:cNvPr id="954" name="Google Shape;954;p62"/>
          <p:cNvSpPr txBox="1"/>
          <p:nvPr>
            <p:ph idx="1" type="body"/>
          </p:nvPr>
        </p:nvSpPr>
        <p:spPr>
          <a:xfrm>
            <a:off x="4951829" y="1594339"/>
            <a:ext cx="6850966" cy="4285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La nube</a:t>
            </a:r>
            <a:r>
              <a:rPr lang="es-MX"/>
              <a:t> proporciona recursos de computación a gran escala y capacidad de almacenamiento que permiten a los desarrolladores e investigadores entrenar modelos de </a:t>
            </a:r>
            <a:r>
              <a:rPr b="1" lang="es-MX"/>
              <a:t>Inteligencia Artificial (IA)</a:t>
            </a:r>
            <a:r>
              <a:rPr lang="es-MX"/>
              <a:t> y </a:t>
            </a:r>
            <a:r>
              <a:rPr b="1" lang="es-MX"/>
              <a:t>Machine Learning (ML)</a:t>
            </a:r>
            <a:r>
              <a:rPr lang="es-MX"/>
              <a:t> sin necesidad de invertir en infraestructura costosa.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/>
              <a:t>Casos de uso en IA y ML en la nube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Análisis de imágenes</a:t>
            </a:r>
            <a:r>
              <a:rPr lang="es-MX"/>
              <a:t>: Entrenamiento de modelos de visión por computadora para identificar objetos o patrones en imágenes, utilizado en sectores como la seguridad, el comercio electrónico y la salud.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Procesamiento de lenguaje natural</a:t>
            </a:r>
            <a:r>
              <a:rPr lang="es-MX"/>
              <a:t>: Creación de modelos que entienden y generan texto, utilizado en aplicaciones como chatbots, análisis de sentimientos y asistentes virtuales.</a:t>
            </a:r>
            <a:endParaRPr/>
          </a:p>
        </p:txBody>
      </p:sp>
      <p:pic>
        <p:nvPicPr>
          <p:cNvPr descr="Interfaz de usuario gráfica&#10;&#10;Descripción generada automáticamente" id="955" name="Google Shape;955;p6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31" l="4864" r="48852" t="-231"/>
          <a:stretch/>
        </p:blipFill>
        <p:spPr>
          <a:xfrm>
            <a:off x="-15240" y="-15240"/>
            <a:ext cx="4581525" cy="6602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63"/>
          <p:cNvSpPr txBox="1"/>
          <p:nvPr>
            <p:ph type="title"/>
          </p:nvPr>
        </p:nvSpPr>
        <p:spPr>
          <a:xfrm>
            <a:off x="521226" y="406556"/>
            <a:ext cx="5864352" cy="987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3600"/>
              <a:t>COMPUTACIÓN CUÁNTICA</a:t>
            </a:r>
            <a:endParaRPr/>
          </a:p>
        </p:txBody>
      </p:sp>
      <p:sp>
        <p:nvSpPr>
          <p:cNvPr id="961" name="Google Shape;961;p63"/>
          <p:cNvSpPr txBox="1"/>
          <p:nvPr/>
        </p:nvSpPr>
        <p:spPr>
          <a:xfrm>
            <a:off x="521226" y="1551143"/>
            <a:ext cx="6386011" cy="4621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La </a:t>
            </a: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computación cuántica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es un área emergente de la informática que utiliza principios de la física cuántica, como la superposición y el entrelazamiento cuántico, para realizar cálculos mucho más rápido que las computadoras clásicas en ciertas tareas. En lugar de usar bits tradicionales (que pueden estar en uno de dos estados: 0 o 1), la computación cuántica utiliza </a:t>
            </a: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qubits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que pueden estar en múltiples estados simultáneamente gracias a la superposición cuántica.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Colaboración entre Computación Cuántica y Computación Clásica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Aunque la computación cuántica no reemplazará por completo a la computación clásica, se espera que funcione en conjunto con ella, mejorando ciertas áreas específicas del almacenamiento en la nube, como el </a:t>
            </a: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análisis de datos complejos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o el </a:t>
            </a: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procesamiento de grandes volúmenes de información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La combinación de la computación cuántica con la infraestructura de nube clásica podría dar lugar a un sistema híbrido que aproveche lo mejor de ambos mundos: la rapidez y eficiencia de la computación cuántica y la capacidad de almacenamiento escalable y asequible de la nube clásica.</a:t>
            </a:r>
            <a:endParaRPr/>
          </a:p>
        </p:txBody>
      </p:sp>
      <p:pic>
        <p:nvPicPr>
          <p:cNvPr descr="Imagen que contiene electrónica, circuito&#10;&#10;Descripción generada automáticamente" id="962" name="Google Shape;962;p6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0484" r="30484" t="0"/>
          <a:stretch/>
        </p:blipFill>
        <p:spPr>
          <a:xfrm>
            <a:off x="7625969" y="-9144"/>
            <a:ext cx="4581525" cy="6602413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63"/>
          <p:cNvSpPr txBox="1"/>
          <p:nvPr/>
        </p:nvSpPr>
        <p:spPr>
          <a:xfrm>
            <a:off x="7625969" y="6593269"/>
            <a:ext cx="4581525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Esta foto</a:t>
            </a:r>
            <a:r>
              <a:rPr lang="es-MX" sz="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de Autor desconocido está bajo licencia </a:t>
            </a:r>
            <a:r>
              <a:rPr lang="es-MX" sz="900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 BY</a:t>
            </a:r>
            <a:endParaRPr sz="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64"/>
          <p:cNvSpPr txBox="1"/>
          <p:nvPr>
            <p:ph type="title"/>
          </p:nvPr>
        </p:nvSpPr>
        <p:spPr>
          <a:xfrm>
            <a:off x="5098312" y="176784"/>
            <a:ext cx="6558000" cy="11455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-MX" sz="2400"/>
              <a:t>EL FUTURO DEL ALMACENAMIENTO EN LA NUBE: PREDICCIONES PARA 2030</a:t>
            </a:r>
            <a:endParaRPr sz="2400"/>
          </a:p>
        </p:txBody>
      </p:sp>
      <p:sp>
        <p:nvSpPr>
          <p:cNvPr id="969" name="Google Shape;969;p64"/>
          <p:cNvSpPr txBox="1"/>
          <p:nvPr>
            <p:ph idx="1" type="body"/>
          </p:nvPr>
        </p:nvSpPr>
        <p:spPr>
          <a:xfrm>
            <a:off x="4951829" y="1594339"/>
            <a:ext cx="6850966" cy="4285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/>
              <a:t>Para 2030, </a:t>
            </a:r>
            <a:r>
              <a:rPr b="1" lang="es-MX"/>
              <a:t>la inteligencia artificial</a:t>
            </a:r>
            <a:r>
              <a:rPr lang="es-MX"/>
              <a:t> y </a:t>
            </a:r>
            <a:r>
              <a:rPr b="1" lang="es-MX"/>
              <a:t>el machine learning</a:t>
            </a:r>
            <a:r>
              <a:rPr lang="es-MX"/>
              <a:t> estarán profundamente integrados en las soluciones de almacenamiento en la nube. Los sistemas de almacenamiento no solo gestionarán datos, sino que también utilizarán IA y ML para </a:t>
            </a:r>
            <a:r>
              <a:rPr b="1" lang="es-MX"/>
              <a:t>optimizar el acceso, la organización y la protección de los datos</a:t>
            </a:r>
            <a:r>
              <a:rPr lang="es-MX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Almacenamiento Híbrido y Multi-Nube Predominarán</a:t>
            </a:r>
            <a:r>
              <a:rPr lang="es-MX"/>
              <a:t>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MX"/>
              <a:t>La adopción de </a:t>
            </a:r>
            <a:r>
              <a:rPr b="1" lang="es-MX"/>
              <a:t>soluciones de almacenamiento híbrido</a:t>
            </a:r>
            <a:r>
              <a:rPr lang="es-MX"/>
              <a:t> y </a:t>
            </a:r>
            <a:r>
              <a:rPr b="1" lang="es-MX"/>
              <a:t>multi-nube</a:t>
            </a:r>
            <a:r>
              <a:rPr lang="es-MX"/>
              <a:t> se expandirá, permitiendo a las empresas combinar las mejores características de distintos proveedores de servicios en la nube, como </a:t>
            </a:r>
            <a:r>
              <a:rPr b="1" lang="es-MX"/>
              <a:t>AWS</a:t>
            </a:r>
            <a:r>
              <a:rPr lang="es-MX"/>
              <a:t>, </a:t>
            </a:r>
            <a:r>
              <a:rPr b="1" lang="es-MX"/>
              <a:t>Google Cloud</a:t>
            </a:r>
            <a:r>
              <a:rPr lang="es-MX"/>
              <a:t>, </a:t>
            </a:r>
            <a:r>
              <a:rPr b="1" lang="es-MX"/>
              <a:t>Microsoft Azure</a:t>
            </a:r>
            <a:r>
              <a:rPr lang="es-MX"/>
              <a:t> y otros. Los usuarios podrán almacenar datos en varias nubes, adaptándose a </a:t>
            </a:r>
            <a:r>
              <a:rPr b="1" lang="es-MX"/>
              <a:t>necesidades específicas de rendimiento, costos y cumplimiento</a:t>
            </a:r>
            <a:r>
              <a:rPr lang="es-MX"/>
              <a:t>.</a:t>
            </a:r>
            <a:endParaRPr/>
          </a:p>
        </p:txBody>
      </p:sp>
      <p:pic>
        <p:nvPicPr>
          <p:cNvPr descr="Imagen que contiene persona, tabla, hombre, viendo&#10;&#10;Descripción generada automáticamente" id="970" name="Google Shape;970;p6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0501" r="30501" t="0"/>
          <a:stretch/>
        </p:blipFill>
        <p:spPr>
          <a:xfrm>
            <a:off x="-15240" y="-15240"/>
            <a:ext cx="4581525" cy="6602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65"/>
          <p:cNvSpPr txBox="1"/>
          <p:nvPr>
            <p:ph type="title"/>
          </p:nvPr>
        </p:nvSpPr>
        <p:spPr>
          <a:xfrm>
            <a:off x="899160" y="137160"/>
            <a:ext cx="6172200" cy="1249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IMPORTANCIA DEL ALMACENAMIENTO EN LA NUBE</a:t>
            </a:r>
            <a:endParaRPr/>
          </a:p>
        </p:txBody>
      </p:sp>
      <p:sp>
        <p:nvSpPr>
          <p:cNvPr id="976" name="Google Shape;976;p65"/>
          <p:cNvSpPr txBox="1"/>
          <p:nvPr>
            <p:ph idx="1" type="body"/>
          </p:nvPr>
        </p:nvSpPr>
        <p:spPr>
          <a:xfrm>
            <a:off x="899160" y="2087880"/>
            <a:ext cx="10210800" cy="195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s-MX" sz="1900"/>
              <a:t>El almacenamiento en la nube ha transformado profundamente tanto a la sociedad como a los negocios. Ha abierto nuevas posibilidades para </a:t>
            </a:r>
            <a:r>
              <a:rPr b="1" lang="es-MX" sz="1900"/>
              <a:t>colaborar, innovar</a:t>
            </a:r>
            <a:r>
              <a:rPr lang="es-MX" sz="1900"/>
              <a:t> y </a:t>
            </a:r>
            <a:r>
              <a:rPr b="1" lang="es-MX" sz="1900"/>
              <a:t>competir globalmente</a:t>
            </a:r>
            <a:r>
              <a:rPr lang="es-MX" sz="1900"/>
              <a:t>, mientras optimiza costos y mejora la </a:t>
            </a:r>
            <a:r>
              <a:rPr b="1" lang="es-MX" sz="1900"/>
              <a:t>seguridad</a:t>
            </a:r>
            <a:r>
              <a:rPr lang="es-MX" sz="1900"/>
              <a:t>. A medida que la tecnología sigue evolucionando, el almacenamiento en la nube seguirá desempeñando un papel central en la </a:t>
            </a:r>
            <a:r>
              <a:rPr b="1" lang="es-MX" sz="1900"/>
              <a:t>transformación digital</a:t>
            </a:r>
            <a:r>
              <a:rPr lang="es-MX" sz="1900"/>
              <a:t>, con un impacto significativo en la forma en que trabajamos, nos conectamos y gestionamos nuestros recursos.</a:t>
            </a:r>
            <a:endParaRPr sz="1900"/>
          </a:p>
        </p:txBody>
      </p:sp>
      <p:sp>
        <p:nvSpPr>
          <p:cNvPr id="977" name="Google Shape;977;p65"/>
          <p:cNvSpPr txBox="1"/>
          <p:nvPr>
            <p:ph idx="12" type="sldNum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pic>
        <p:nvPicPr>
          <p:cNvPr descr="Icono&#10;&#10;Descripción generada automáticamente" id="978" name="Google Shape;978;p65"/>
          <p:cNvPicPr preferRelativeResize="0"/>
          <p:nvPr/>
        </p:nvPicPr>
        <p:blipFill rotWithShape="1">
          <a:blip r:embed="rId3">
            <a:alphaModFix/>
          </a:blip>
          <a:srcRect b="15069" l="0" r="1" t="41161"/>
          <a:stretch/>
        </p:blipFill>
        <p:spPr>
          <a:xfrm>
            <a:off x="2179320" y="4094802"/>
            <a:ext cx="10027919" cy="246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licación&#10;&#10;Descripción generada automáticamente" id="984" name="Google Shape;98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943" y="1639482"/>
            <a:ext cx="6090811" cy="4981621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66"/>
          <p:cNvSpPr txBox="1"/>
          <p:nvPr/>
        </p:nvSpPr>
        <p:spPr>
          <a:xfrm>
            <a:off x="421943" y="-423899"/>
            <a:ext cx="5775656" cy="1904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s-MX" sz="40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GRACIAS!!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sonalizar">
  <a:themeElements>
    <a:clrScheme name="Custom 82">
      <a:dk1>
        <a:srgbClr val="000000"/>
      </a:dk1>
      <a:lt1>
        <a:srgbClr val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2025-03-17T02:37:24Z</dcterms:created>
  <dc:creator>Saul Andre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0x010100B1ECE7E405C86F4AAC9D57B5C1A0129E</vt:lpwstr>
  </property>
</Properties>
</file>