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10287000" cx="18288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Libre Baskerville"/>
      <p:regular r:id="rId21"/>
      <p:bold r:id="rId22"/>
      <p: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hkJhpTYXGJoo7PrhXndmxwBpZS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6BC831-90CA-4A7A-A086-2E5E4E8C4AD1}">
  <a:tblStyle styleId="{3C6BC831-90CA-4A7A-A086-2E5E4E8C4AD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5.xml"/><Relationship Id="rId22" Type="http://schemas.openxmlformats.org/officeDocument/2006/relationships/font" Target="fonts/LibreBaskerville-bold.fntdata"/><Relationship Id="rId10" Type="http://schemas.openxmlformats.org/officeDocument/2006/relationships/slide" Target="slides/slide4.xml"/><Relationship Id="rId21" Type="http://schemas.openxmlformats.org/officeDocument/2006/relationships/font" Target="fonts/LibreBaskerville-regular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LibreBaskerville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Inter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1988c4f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11988c4fd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1988c4fd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11988c4fd5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1988c4fd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11988c4fd5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1988c4fd5_0_0"/>
          <p:cNvSpPr/>
          <p:nvPr/>
        </p:nvSpPr>
        <p:spPr>
          <a:xfrm>
            <a:off x="0" y="-2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g311988c4fd5_0_0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{3C6BC831-90CA-4A7A-A086-2E5E4E8C4AD1}</a:tableStyleId>
              </a:tblPr>
              <a:tblGrid>
                <a:gridCol w="3030175"/>
                <a:gridCol w="43358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XX:XX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g311988c4fd5_0_0"/>
          <p:cNvSpPr txBox="1"/>
          <p:nvPr/>
        </p:nvSpPr>
        <p:spPr>
          <a:xfrm>
            <a:off x="2971775" y="4512775"/>
            <a:ext cx="13401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Manejo e Implementación de Archivos C</a:t>
            </a:r>
            <a:endParaRPr/>
          </a:p>
        </p:txBody>
      </p:sp>
      <p:sp>
        <p:nvSpPr>
          <p:cNvPr id="87" name="Google Shape;87;g311988c4fd5_0_0"/>
          <p:cNvSpPr txBox="1"/>
          <p:nvPr/>
        </p:nvSpPr>
        <p:spPr>
          <a:xfrm>
            <a:off x="3648825" y="5807200"/>
            <a:ext cx="1234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Completo Tutor - Carnet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11988c4fd5_0_7"/>
          <p:cNvGrpSpPr/>
          <p:nvPr/>
        </p:nvGrpSpPr>
        <p:grpSpPr>
          <a:xfrm>
            <a:off x="-12700" y="3383457"/>
            <a:ext cx="18300823" cy="6903903"/>
            <a:chOff x="0" y="-57150"/>
            <a:chExt cx="4819938" cy="1818300"/>
          </a:xfrm>
        </p:grpSpPr>
        <p:sp>
          <p:nvSpPr>
            <p:cNvPr id="93" name="Google Shape;93;g311988c4fd5_0_7"/>
            <p:cNvSpPr/>
            <p:nvPr/>
          </p:nvSpPr>
          <p:spPr>
            <a:xfrm>
              <a:off x="0" y="0"/>
              <a:ext cx="4819938" cy="1761067"/>
            </a:xfrm>
            <a:custGeom>
              <a:rect b="b" l="l" r="r" t="t"/>
              <a:pathLst>
                <a:path extrusionOk="0" h="1761067" w="4819938">
                  <a:moveTo>
                    <a:pt x="0" y="0"/>
                  </a:moveTo>
                  <a:lnTo>
                    <a:pt x="4819938" y="0"/>
                  </a:lnTo>
                  <a:lnTo>
                    <a:pt x="4819938" y="1761067"/>
                  </a:lnTo>
                  <a:lnTo>
                    <a:pt x="0" y="1761067"/>
                  </a:lnTo>
                  <a:close/>
                </a:path>
              </a:pathLst>
            </a:custGeom>
            <a:solidFill>
              <a:srgbClr val="ACB6A6"/>
            </a:solidFill>
            <a:ln>
              <a:noFill/>
            </a:ln>
          </p:spPr>
        </p:sp>
        <p:sp>
          <p:nvSpPr>
            <p:cNvPr id="94" name="Google Shape;94;g311988c4fd5_0_7"/>
            <p:cNvSpPr txBox="1"/>
            <p:nvPr/>
          </p:nvSpPr>
          <p:spPr>
            <a:xfrm>
              <a:off x="0" y="-57150"/>
              <a:ext cx="4819800" cy="18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g311988c4fd5_0_7"/>
          <p:cNvSpPr txBox="1"/>
          <p:nvPr/>
        </p:nvSpPr>
        <p:spPr>
          <a:xfrm>
            <a:off x="1549263" y="1114466"/>
            <a:ext cx="13844100" cy="18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58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Manejo e Implementación de Archivos</a:t>
            </a:r>
            <a:endParaRPr/>
          </a:p>
        </p:txBody>
      </p:sp>
      <p:sp>
        <p:nvSpPr>
          <p:cNvPr id="96" name="Google Shape;96;g311988c4fd5_0_7"/>
          <p:cNvSpPr txBox="1"/>
          <p:nvPr/>
        </p:nvSpPr>
        <p:spPr>
          <a:xfrm>
            <a:off x="9907075" y="7583800"/>
            <a:ext cx="7352100" cy="15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25" u="none" cap="none" strike="noStrike">
                <a:solidFill>
                  <a:srgbClr val="E4D8B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Semana </a:t>
            </a:r>
            <a:r>
              <a:rPr lang="en-US" sz="9825">
                <a:solidFill>
                  <a:srgbClr val="E4D8B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1988c4fd5_0_15"/>
          <p:cNvSpPr txBox="1"/>
          <p:nvPr/>
        </p:nvSpPr>
        <p:spPr>
          <a:xfrm>
            <a:off x="1893341" y="2507469"/>
            <a:ext cx="145014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AGENDA</a:t>
            </a:r>
            <a:endParaRPr/>
          </a:p>
        </p:txBody>
      </p:sp>
      <p:sp>
        <p:nvSpPr>
          <p:cNvPr id="102" name="Google Shape;102;g311988c4fd5_0_15"/>
          <p:cNvSpPr txBox="1"/>
          <p:nvPr/>
        </p:nvSpPr>
        <p:spPr>
          <a:xfrm>
            <a:off x="1893341" y="5408357"/>
            <a:ext cx="6770100" cy="13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8616" lvl="1" marL="777233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9"/>
              <a:buFont typeface="Arial"/>
              <a:buChar char="•"/>
            </a:pPr>
            <a:r>
              <a:rPr b="0" i="0" lang="en-US" sz="35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Dudas</a:t>
            </a:r>
            <a:endParaRPr/>
          </a:p>
          <a:p>
            <a:pPr indent="-388616" lvl="1" marL="777233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9"/>
              <a:buFont typeface="Arial"/>
              <a:buChar char="•"/>
            </a:pPr>
            <a:r>
              <a:rPr b="0" i="0" lang="en-US" sz="35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XXXX</a:t>
            </a:r>
            <a:endParaRPr/>
          </a:p>
        </p:txBody>
      </p:sp>
      <p:cxnSp>
        <p:nvCxnSpPr>
          <p:cNvPr id="103" name="Google Shape;103;g311988c4fd5_0_15"/>
          <p:cNvCxnSpPr/>
          <p:nvPr/>
        </p:nvCxnSpPr>
        <p:spPr>
          <a:xfrm>
            <a:off x="1893341" y="4532057"/>
            <a:ext cx="145014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/>
        </p:nvSpPr>
        <p:spPr>
          <a:xfrm>
            <a:off x="288725" y="2923550"/>
            <a:ext cx="9074100" cy="3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68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Introducción al Almacenamiento en la Nube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9362827" y="2047500"/>
            <a:ext cx="8361900" cy="6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4815" lvl="1" marL="529629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3"/>
              <a:buFont typeface="Arial"/>
              <a:buChar char="•"/>
            </a:pPr>
            <a:r>
              <a:rPr b="0" i="0" lang="en-US" sz="2453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Definición: Explicación de qué es el almacenamiento en la nube y cómo permite a los usuarios almacenar datos en servidores remotos accesibles a través de internet.</a:t>
            </a:r>
            <a:endParaRPr/>
          </a:p>
          <a:p>
            <a:pPr indent="-264815" lvl="1" marL="529629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3"/>
              <a:buFont typeface="Arial"/>
              <a:buChar char="•"/>
            </a:pPr>
            <a:r>
              <a:rPr b="0" i="0" lang="en-US" sz="2453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Historia y Evolución: Breve recorrido sobre la evolución del almacenamiento en la nube desde sus inicios hasta la actualidad.</a:t>
            </a:r>
            <a:endParaRPr/>
          </a:p>
          <a:p>
            <a:pPr indent="-264815" lvl="1" marL="529629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3"/>
              <a:buFont typeface="Arial"/>
              <a:buChar char="•"/>
            </a:pPr>
            <a:r>
              <a:rPr b="0" i="0" lang="en-US" sz="2453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Ventajas Generales:</a:t>
            </a:r>
            <a:endParaRPr/>
          </a:p>
          <a:p>
            <a:pPr indent="-353086" lvl="2" marL="1059258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3"/>
              <a:buFont typeface="Arial"/>
              <a:buChar char="⚬"/>
            </a:pPr>
            <a:r>
              <a:rPr b="0" i="0" lang="en-US" sz="2453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Accesibilidad: Acceso a datos desde cualquier lugar con conexión a internet.</a:t>
            </a:r>
            <a:endParaRPr/>
          </a:p>
          <a:p>
            <a:pPr indent="-353086" lvl="2" marL="1059258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3"/>
              <a:buFont typeface="Arial"/>
              <a:buChar char="⚬"/>
            </a:pPr>
            <a:r>
              <a:rPr b="0" i="0" lang="en-US" sz="2453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Reducción de Costos: Eliminación de la necesidad de infraestructura física local.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2"/>
          <p:cNvGrpSpPr/>
          <p:nvPr/>
        </p:nvGrpSpPr>
        <p:grpSpPr>
          <a:xfrm>
            <a:off x="1282700" y="5860976"/>
            <a:ext cx="4610100" cy="2715259"/>
            <a:chOff x="0" y="-38100"/>
            <a:chExt cx="6146800" cy="3620346"/>
          </a:xfrm>
        </p:grpSpPr>
        <p:sp>
          <p:nvSpPr>
            <p:cNvPr id="115" name="Google Shape;115;p2"/>
            <p:cNvSpPr txBox="1"/>
            <p:nvPr/>
          </p:nvSpPr>
          <p:spPr>
            <a:xfrm>
              <a:off x="0" y="-38100"/>
              <a:ext cx="6146800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Nube Pública:</a:t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0" y="867833"/>
              <a:ext cx="6146800" cy="27144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4268" lvl="2" marL="852806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1975"/>
                <a:buFont typeface="Arial"/>
                <a:buChar char="⚬"/>
              </a:pPr>
              <a:r>
                <a:rPr b="0" i="0" lang="en-US" sz="1975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Proveedores: Ejemplos como Amazon Web Services (AWS), Microsoft Azure, y Google Cloud.</a:t>
              </a:r>
              <a:endParaRPr/>
            </a:p>
            <a:p>
              <a:pPr indent="-284268" lvl="2" marL="852806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1975"/>
                <a:buFont typeface="Arial"/>
                <a:buChar char="⚬"/>
              </a:pPr>
              <a:r>
                <a:rPr b="0" i="0" lang="en-US" sz="1975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Ventajas: Escalabilidad y costos reducidos.</a:t>
              </a: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6539951" y="5860976"/>
            <a:ext cx="4909075" cy="2576899"/>
            <a:chOff x="0" y="-495300"/>
            <a:chExt cx="6545433" cy="3435866"/>
          </a:xfrm>
        </p:grpSpPr>
        <p:sp>
          <p:nvSpPr>
            <p:cNvPr id="118" name="Google Shape;118;p2"/>
            <p:cNvSpPr txBox="1"/>
            <p:nvPr/>
          </p:nvSpPr>
          <p:spPr>
            <a:xfrm>
              <a:off x="0" y="-495300"/>
              <a:ext cx="65454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Nube Privada:</a:t>
              </a:r>
              <a:endParaRPr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33" y="265466"/>
              <a:ext cx="6545400" cy="26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4268" lvl="2" marL="852806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1975"/>
                <a:buFont typeface="Arial"/>
                <a:buChar char="⚬"/>
              </a:pPr>
              <a:r>
                <a:rPr b="0" i="0" lang="en-US" sz="1975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Implementación: Infraestructura dedicada para una sola organización.</a:t>
              </a:r>
              <a:endParaRPr/>
            </a:p>
            <a:p>
              <a:pPr indent="-284268" lvl="2" marL="852806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1975"/>
                <a:buFont typeface="Arial"/>
                <a:buChar char="⚬"/>
              </a:pPr>
              <a:r>
                <a:rPr b="0" i="0" lang="en-US" sz="1975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Ventajas: Mayor control y seguridad.</a:t>
              </a:r>
              <a:endParaRPr/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12096176" y="5860976"/>
            <a:ext cx="4909075" cy="2078874"/>
            <a:chOff x="-33" y="-952500"/>
            <a:chExt cx="6545433" cy="2771833"/>
          </a:xfrm>
        </p:grpSpPr>
        <p:sp>
          <p:nvSpPr>
            <p:cNvPr id="121" name="Google Shape;121;p2"/>
            <p:cNvSpPr txBox="1"/>
            <p:nvPr/>
          </p:nvSpPr>
          <p:spPr>
            <a:xfrm>
              <a:off x="0" y="-952500"/>
              <a:ext cx="6545400" cy="51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Nube Híbrida:</a:t>
              </a:r>
              <a:endParaRPr/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-33" y="-288467"/>
              <a:ext cx="6545400" cy="21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4268" lvl="2" marL="852806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1975"/>
                <a:buFont typeface="Arial"/>
                <a:buChar char="⚬"/>
              </a:pPr>
              <a:r>
                <a:rPr b="0" i="0" lang="en-US" sz="1975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Combinación: Integración de nubes públicas y privadas.</a:t>
              </a:r>
              <a:endParaRPr/>
            </a:p>
            <a:p>
              <a:pPr indent="-284268" lvl="2" marL="852806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1975"/>
                <a:buFont typeface="Arial"/>
                <a:buChar char="⚬"/>
              </a:pPr>
              <a:r>
                <a:rPr b="0" i="0" lang="en-US" sz="1975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Ventajas: Flexibilidad y optimización de recursos.</a:t>
              </a:r>
              <a:endParaRPr/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1282700" y="745568"/>
            <a:ext cx="10604400" cy="4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93" u="none" cap="none" strike="noStrike">
                <a:solidFill>
                  <a:srgbClr val="263D2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Modelos de Almacenamiento en la Nube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1282700" y="6649972"/>
            <a:ext cx="4610100" cy="1926264"/>
            <a:chOff x="0" y="-476250"/>
            <a:chExt cx="6146800" cy="2568353"/>
          </a:xfrm>
        </p:grpSpPr>
        <p:sp>
          <p:nvSpPr>
            <p:cNvPr id="129" name="Google Shape;129;p3"/>
            <p:cNvSpPr txBox="1"/>
            <p:nvPr/>
          </p:nvSpPr>
          <p:spPr>
            <a:xfrm>
              <a:off x="0" y="-476250"/>
              <a:ext cx="6146700" cy="50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53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Almacenamiento de Archivos:</a:t>
              </a:r>
              <a:endParaRPr/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0" y="866246"/>
              <a:ext cx="6146800" cy="12258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55077" lvl="2" marL="765232" marR="0" rtl="0" algn="l">
                <a:lnSpc>
                  <a:spcPct val="1400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1771"/>
                <a:buFont typeface="Arial"/>
                <a:buChar char="⚬"/>
              </a:pPr>
              <a:r>
                <a:rPr b="0" i="0" lang="en-US" sz="1771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Ejemplos: Google Drive, Dropbox.</a:t>
              </a:r>
              <a:endParaRPr/>
            </a:p>
            <a:p>
              <a:pPr indent="-255077" lvl="2" marL="765232" marR="0" rtl="0" algn="l">
                <a:lnSpc>
                  <a:spcPct val="1400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1771"/>
                <a:buFont typeface="Arial"/>
                <a:buChar char="⚬"/>
              </a:pPr>
              <a:r>
                <a:rPr b="0" i="0" lang="en-US" sz="1771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Uso: Compartición y colaboración de documentos.</a:t>
              </a:r>
              <a:endParaRPr/>
            </a:p>
          </p:txBody>
        </p:sp>
      </p:grpSp>
      <p:grpSp>
        <p:nvGrpSpPr>
          <p:cNvPr id="131" name="Google Shape;131;p3"/>
          <p:cNvGrpSpPr/>
          <p:nvPr/>
        </p:nvGrpSpPr>
        <p:grpSpPr>
          <a:xfrm>
            <a:off x="6539951" y="6649972"/>
            <a:ext cx="4909099" cy="2330822"/>
            <a:chOff x="0" y="-57150"/>
            <a:chExt cx="6545465" cy="3107763"/>
          </a:xfrm>
        </p:grpSpPr>
        <p:sp>
          <p:nvSpPr>
            <p:cNvPr id="132" name="Google Shape;132;p3"/>
            <p:cNvSpPr txBox="1"/>
            <p:nvPr/>
          </p:nvSpPr>
          <p:spPr>
            <a:xfrm>
              <a:off x="0" y="-57150"/>
              <a:ext cx="6545465" cy="545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53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Almacenamiento de Bloques:</a:t>
              </a:r>
              <a:endParaRPr/>
            </a:p>
          </p:txBody>
        </p:sp>
        <p:sp>
          <p:nvSpPr>
            <p:cNvPr id="133" name="Google Shape;133;p3"/>
            <p:cNvSpPr txBox="1"/>
            <p:nvPr/>
          </p:nvSpPr>
          <p:spPr>
            <a:xfrm>
              <a:off x="0" y="1158513"/>
              <a:ext cx="6545400" cy="18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55077" lvl="2" marL="765232" marR="0" rtl="0" algn="l">
                <a:lnSpc>
                  <a:spcPct val="1400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1771"/>
                <a:buFont typeface="Arial"/>
                <a:buChar char="⚬"/>
              </a:pPr>
              <a:r>
                <a:rPr b="0" i="0" lang="en-US" sz="1771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Ejemplos: Amazon EBS, Azure Disk Storage.</a:t>
              </a:r>
              <a:endParaRPr/>
            </a:p>
            <a:p>
              <a:pPr indent="-255077" lvl="2" marL="765232" marR="0" rtl="0" algn="l">
                <a:lnSpc>
                  <a:spcPct val="1400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1771"/>
                <a:buFont typeface="Arial"/>
                <a:buChar char="⚬"/>
              </a:pPr>
              <a:r>
                <a:rPr b="0" i="0" lang="en-US" sz="1771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Uso: Aplicaciones que requieren acceso rápido a datos.</a:t>
              </a:r>
              <a:endParaRPr/>
            </a:p>
          </p:txBody>
        </p:sp>
      </p:grpSp>
      <p:grpSp>
        <p:nvGrpSpPr>
          <p:cNvPr id="134" name="Google Shape;134;p3"/>
          <p:cNvGrpSpPr/>
          <p:nvPr/>
        </p:nvGrpSpPr>
        <p:grpSpPr>
          <a:xfrm>
            <a:off x="12096201" y="6649972"/>
            <a:ext cx="4909099" cy="2360022"/>
            <a:chOff x="0" y="-57150"/>
            <a:chExt cx="6545465" cy="3146696"/>
          </a:xfrm>
        </p:grpSpPr>
        <p:sp>
          <p:nvSpPr>
            <p:cNvPr id="135" name="Google Shape;135;p3"/>
            <p:cNvSpPr txBox="1"/>
            <p:nvPr/>
          </p:nvSpPr>
          <p:spPr>
            <a:xfrm>
              <a:off x="0" y="-57150"/>
              <a:ext cx="6545465" cy="545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53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Almacenamiento de Objetos:</a:t>
              </a:r>
              <a:endParaRPr/>
            </a:p>
          </p:txBody>
        </p:sp>
        <p:sp>
          <p:nvSpPr>
            <p:cNvPr id="136" name="Google Shape;136;p3"/>
            <p:cNvSpPr txBox="1"/>
            <p:nvPr/>
          </p:nvSpPr>
          <p:spPr>
            <a:xfrm>
              <a:off x="0" y="1197446"/>
              <a:ext cx="6545400" cy="18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55077" lvl="2" marL="765232" marR="0" rtl="0" algn="l">
                <a:lnSpc>
                  <a:spcPct val="1400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1771"/>
                <a:buFont typeface="Arial"/>
                <a:buChar char="⚬"/>
              </a:pPr>
              <a:r>
                <a:rPr b="0" i="0" lang="en-US" sz="1771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Ejemplos: Amazon S3, Azure Blob Storage.</a:t>
              </a:r>
              <a:endParaRPr/>
            </a:p>
            <a:p>
              <a:pPr indent="-255077" lvl="2" marL="765232" marR="0" rtl="0" algn="l">
                <a:lnSpc>
                  <a:spcPct val="14009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1771"/>
                <a:buFont typeface="Arial"/>
                <a:buChar char="⚬"/>
              </a:pPr>
              <a:r>
                <a:rPr b="0" i="0" lang="en-US" sz="1771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Uso: Almacenamiento de grandes cantidades de datos no estructurados.</a:t>
              </a:r>
              <a:endParaRPr/>
            </a:p>
          </p:txBody>
        </p:sp>
      </p:grpSp>
      <p:sp>
        <p:nvSpPr>
          <p:cNvPr id="137" name="Google Shape;137;p3"/>
          <p:cNvSpPr txBox="1"/>
          <p:nvPr/>
        </p:nvSpPr>
        <p:spPr>
          <a:xfrm>
            <a:off x="1282700" y="1929175"/>
            <a:ext cx="15722700" cy="26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93" u="none" cap="none" strike="noStrike">
                <a:solidFill>
                  <a:srgbClr val="263D2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Tipos de Servicios de Almacenamiento en la Nube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4"/>
          <p:cNvGrpSpPr/>
          <p:nvPr/>
        </p:nvGrpSpPr>
        <p:grpSpPr>
          <a:xfrm>
            <a:off x="1282700" y="6861736"/>
            <a:ext cx="4610100" cy="1714500"/>
            <a:chOff x="0" y="-38100"/>
            <a:chExt cx="6146800" cy="2286000"/>
          </a:xfrm>
        </p:grpSpPr>
        <p:sp>
          <p:nvSpPr>
            <p:cNvPr id="143" name="Google Shape;143;p4"/>
            <p:cNvSpPr txBox="1"/>
            <p:nvPr/>
          </p:nvSpPr>
          <p:spPr>
            <a:xfrm>
              <a:off x="0" y="-38100"/>
              <a:ext cx="6146800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Cifrado de Datos:</a:t>
              </a:r>
              <a:endParaRPr/>
            </a:p>
          </p:txBody>
        </p:sp>
        <p:sp>
          <p:nvSpPr>
            <p:cNvPr id="144" name="Google Shape;144;p4"/>
            <p:cNvSpPr txBox="1"/>
            <p:nvPr/>
          </p:nvSpPr>
          <p:spPr>
            <a:xfrm>
              <a:off x="0" y="858308"/>
              <a:ext cx="6146800" cy="1389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En Tránsito y en Reposo: Importancia de cifrar datos para protegerlos de accesos no autorizados.</a:t>
              </a:r>
              <a:endParaRPr/>
            </a:p>
          </p:txBody>
        </p:sp>
      </p:grpSp>
      <p:grpSp>
        <p:nvGrpSpPr>
          <p:cNvPr id="145" name="Google Shape;145;p4"/>
          <p:cNvGrpSpPr/>
          <p:nvPr/>
        </p:nvGrpSpPr>
        <p:grpSpPr>
          <a:xfrm>
            <a:off x="6539951" y="6509311"/>
            <a:ext cx="4909099" cy="2066925"/>
            <a:chOff x="0" y="-38100"/>
            <a:chExt cx="6545465" cy="2755900"/>
          </a:xfrm>
        </p:grpSpPr>
        <p:sp>
          <p:nvSpPr>
            <p:cNvPr id="146" name="Google Shape;146;p4"/>
            <p:cNvSpPr txBox="1"/>
            <p:nvPr/>
          </p:nvSpPr>
          <p:spPr>
            <a:xfrm>
              <a:off x="0" y="-38100"/>
              <a:ext cx="6545465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Control de Acceso:</a:t>
              </a:r>
              <a:endParaRPr/>
            </a:p>
          </p:txBody>
        </p:sp>
        <p:sp>
          <p:nvSpPr>
            <p:cNvPr id="147" name="Google Shape;147;p4"/>
            <p:cNvSpPr txBox="1"/>
            <p:nvPr/>
          </p:nvSpPr>
          <p:spPr>
            <a:xfrm>
              <a:off x="0" y="858308"/>
              <a:ext cx="6545465" cy="1859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Autenticación y Autorización: Implementación de políticas de acceso para asegurar que solo usuarios autorizados puedan acceder a los datos.</a:t>
              </a:r>
              <a:endParaRPr/>
            </a:p>
          </p:txBody>
        </p:sp>
      </p:grpSp>
      <p:grpSp>
        <p:nvGrpSpPr>
          <p:cNvPr id="148" name="Google Shape;148;p4"/>
          <p:cNvGrpSpPr/>
          <p:nvPr/>
        </p:nvGrpSpPr>
        <p:grpSpPr>
          <a:xfrm>
            <a:off x="12096201" y="6861736"/>
            <a:ext cx="4909099" cy="1714500"/>
            <a:chOff x="0" y="-38100"/>
            <a:chExt cx="6545465" cy="2286000"/>
          </a:xfrm>
        </p:grpSpPr>
        <p:sp>
          <p:nvSpPr>
            <p:cNvPr id="149" name="Google Shape;149;p4"/>
            <p:cNvSpPr txBox="1"/>
            <p:nvPr/>
          </p:nvSpPr>
          <p:spPr>
            <a:xfrm>
              <a:off x="0" y="-38100"/>
              <a:ext cx="6545465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Cumplimiento Normativo:</a:t>
              </a:r>
              <a:endParaRPr/>
            </a:p>
          </p:txBody>
        </p:sp>
        <p:sp>
          <p:nvSpPr>
            <p:cNvPr id="150" name="Google Shape;150;p4"/>
            <p:cNvSpPr txBox="1"/>
            <p:nvPr/>
          </p:nvSpPr>
          <p:spPr>
            <a:xfrm>
              <a:off x="0" y="858308"/>
              <a:ext cx="6545465" cy="1389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Regulaciones: Consideraciones sobre GDPR, HIPAA, y otras normativas de protección de datos.</a:t>
              </a:r>
              <a:endParaRPr/>
            </a:p>
          </p:txBody>
        </p:sp>
      </p:grpSp>
      <p:sp>
        <p:nvSpPr>
          <p:cNvPr id="151" name="Google Shape;151;p4"/>
          <p:cNvSpPr txBox="1"/>
          <p:nvPr/>
        </p:nvSpPr>
        <p:spPr>
          <a:xfrm>
            <a:off x="1282700" y="1929168"/>
            <a:ext cx="10604500" cy="3448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263D2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Seguridad en el Almacenamiento en la Nube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5"/>
          <p:cNvGrpSpPr/>
          <p:nvPr/>
        </p:nvGrpSpPr>
        <p:grpSpPr>
          <a:xfrm>
            <a:off x="1282700" y="6582336"/>
            <a:ext cx="4610100" cy="1993900"/>
            <a:chOff x="0" y="-38100"/>
            <a:chExt cx="6146800" cy="2658533"/>
          </a:xfrm>
        </p:grpSpPr>
        <p:sp>
          <p:nvSpPr>
            <p:cNvPr id="157" name="Google Shape;157;p5"/>
            <p:cNvSpPr txBox="1"/>
            <p:nvPr/>
          </p:nvSpPr>
          <p:spPr>
            <a:xfrm>
              <a:off x="0" y="-38100"/>
              <a:ext cx="6146800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Escalabilidad:</a:t>
              </a:r>
              <a:endParaRPr/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0" y="867833"/>
              <a:ext cx="61468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Automática vs. Manual: Cómo los servicios en la nube permiten escalar recursos automáticamente según la demanda.</a:t>
              </a:r>
              <a:endParaRPr/>
            </a:p>
          </p:txBody>
        </p:sp>
      </p:grpSp>
      <p:grpSp>
        <p:nvGrpSpPr>
          <p:cNvPr id="159" name="Google Shape;159;p5"/>
          <p:cNvGrpSpPr/>
          <p:nvPr/>
        </p:nvGrpSpPr>
        <p:grpSpPr>
          <a:xfrm>
            <a:off x="6539951" y="6915711"/>
            <a:ext cx="4909099" cy="1660525"/>
            <a:chOff x="0" y="-38100"/>
            <a:chExt cx="6545465" cy="2214033"/>
          </a:xfrm>
        </p:grpSpPr>
        <p:sp>
          <p:nvSpPr>
            <p:cNvPr id="160" name="Google Shape;160;p5"/>
            <p:cNvSpPr txBox="1"/>
            <p:nvPr/>
          </p:nvSpPr>
          <p:spPr>
            <a:xfrm>
              <a:off x="0" y="-38100"/>
              <a:ext cx="6545465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Rendimiento:</a:t>
              </a:r>
              <a:endParaRPr/>
            </a:p>
          </p:txBody>
        </p:sp>
        <p:sp>
          <p:nvSpPr>
            <p:cNvPr id="161" name="Google Shape;161;p5"/>
            <p:cNvSpPr txBox="1"/>
            <p:nvPr/>
          </p:nvSpPr>
          <p:spPr>
            <a:xfrm>
              <a:off x="0" y="867833"/>
              <a:ext cx="6545465" cy="1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Optimización: Técnicas para optimizar el rendimiento, como el uso de redes de entrega de contenido (CDN).</a:t>
              </a:r>
              <a:endParaRPr/>
            </a:p>
          </p:txBody>
        </p:sp>
      </p:grpSp>
      <p:grpSp>
        <p:nvGrpSpPr>
          <p:cNvPr id="162" name="Google Shape;162;p5"/>
          <p:cNvGrpSpPr/>
          <p:nvPr/>
        </p:nvGrpSpPr>
        <p:grpSpPr>
          <a:xfrm>
            <a:off x="12096201" y="6915711"/>
            <a:ext cx="4909099" cy="1660525"/>
            <a:chOff x="0" y="-38100"/>
            <a:chExt cx="6545465" cy="2214033"/>
          </a:xfrm>
        </p:grpSpPr>
        <p:sp>
          <p:nvSpPr>
            <p:cNvPr id="163" name="Google Shape;163;p5"/>
            <p:cNvSpPr txBox="1"/>
            <p:nvPr/>
          </p:nvSpPr>
          <p:spPr>
            <a:xfrm>
              <a:off x="0" y="-38100"/>
              <a:ext cx="6545465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Latencia y Disponibilidad:</a:t>
              </a:r>
              <a:endParaRPr/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0" y="867833"/>
              <a:ext cx="6545465" cy="1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5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Redundancia: Uso de múltiples centros de datos para asegurar alta disponibilidad y baja latencia.</a:t>
              </a:r>
              <a:endParaRPr/>
            </a:p>
          </p:txBody>
        </p:sp>
      </p:grpSp>
      <p:sp>
        <p:nvSpPr>
          <p:cNvPr id="165" name="Google Shape;165;p5"/>
          <p:cNvSpPr txBox="1"/>
          <p:nvPr/>
        </p:nvSpPr>
        <p:spPr>
          <a:xfrm>
            <a:off x="1282700" y="1919643"/>
            <a:ext cx="10604500" cy="4157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56" u="none" cap="none" strike="noStrike">
                <a:solidFill>
                  <a:srgbClr val="263D2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Escalabilidad y Rendimiento del Almacenamiento en la Nube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/>
        </p:nvSpPr>
        <p:spPr>
          <a:xfrm>
            <a:off x="396025" y="2870200"/>
            <a:ext cx="8064300" cy="56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58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Costos y Modelos de Precios del Almacenamiento en la Nube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9245926" y="2717800"/>
            <a:ext cx="8064300" cy="6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Modelos de Precios:</a:t>
            </a:r>
            <a:endParaRPr/>
          </a:p>
          <a:p>
            <a:pPr indent="0" lvl="0" marL="0" marR="0" rtl="0" algn="l">
              <a:lnSpc>
                <a:spcPct val="6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5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42888" lvl="1" marL="485775" marR="0" rtl="0" algn="l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Char char="•"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Pago por Uso: Costos basados en el almacenamiento y el ancho de banda utilizados.</a:t>
            </a:r>
            <a:endParaRPr/>
          </a:p>
          <a:p>
            <a:pPr indent="-242888" lvl="1" marL="485775" marR="0" rtl="0" algn="l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Char char="•"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Suscripciones: Tarifas fijas por un conjunto de servicios.</a:t>
            </a:r>
            <a:endParaRPr/>
          </a:p>
          <a:p>
            <a:pPr indent="0" lvl="0" marL="0" marR="0" rtl="0" algn="l">
              <a:lnSpc>
                <a:spcPct val="6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5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Factores de Costo:</a:t>
            </a:r>
            <a:endParaRPr/>
          </a:p>
          <a:p>
            <a:pPr indent="0" lvl="0" marL="0" marR="0" rtl="0" algn="l">
              <a:lnSpc>
                <a:spcPct val="6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5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42888" lvl="1" marL="485775" marR="0" rtl="0" algn="l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Char char="•"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Almacenamiento, Transferencia de Datos, y Operaciones: Cómo cada uno de estos factores influye en el costo total.</a:t>
            </a:r>
            <a:endParaRPr/>
          </a:p>
          <a:p>
            <a:pPr indent="0" lvl="0" marL="0" marR="0" rtl="0" algn="l">
              <a:lnSpc>
                <a:spcPct val="6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5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Optimización de Costos:</a:t>
            </a:r>
            <a:endParaRPr/>
          </a:p>
          <a:p>
            <a:pPr indent="0" lvl="0" marL="0" marR="0" rtl="0" algn="l">
              <a:lnSpc>
                <a:spcPct val="6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5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42888" lvl="1" marL="485775" marR="0" rtl="0" algn="l">
              <a:lnSpc>
                <a:spcPct val="1399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Char char="•"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Estrategias: Uso de almacenamiento en frío para datos menos utilizados, y políticas de retención de datos.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7"/>
          <p:cNvGrpSpPr/>
          <p:nvPr/>
        </p:nvGrpSpPr>
        <p:grpSpPr>
          <a:xfrm>
            <a:off x="1282700" y="6523440"/>
            <a:ext cx="4610100" cy="2052795"/>
            <a:chOff x="0" y="-47625"/>
            <a:chExt cx="6146800" cy="2737061"/>
          </a:xfrm>
        </p:grpSpPr>
        <p:sp>
          <p:nvSpPr>
            <p:cNvPr id="177" name="Google Shape;177;p7"/>
            <p:cNvSpPr txBox="1"/>
            <p:nvPr/>
          </p:nvSpPr>
          <p:spPr>
            <a:xfrm>
              <a:off x="0" y="-47625"/>
              <a:ext cx="6146800" cy="1061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12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Inteligencia Artificial y Machine Learning:</a:t>
              </a:r>
              <a:endParaRPr/>
            </a:p>
          </p:txBody>
        </p:sp>
        <p:sp>
          <p:nvSpPr>
            <p:cNvPr id="178" name="Google Shape;178;p7"/>
            <p:cNvSpPr txBox="1"/>
            <p:nvPr/>
          </p:nvSpPr>
          <p:spPr>
            <a:xfrm>
              <a:off x="0" y="1382183"/>
              <a:ext cx="6146800" cy="13072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Integración: Uso de IA para mejorar la gestión y seguridad de los datos en la nube.</a:t>
              </a:r>
              <a:endParaRPr/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6539951" y="6523440"/>
            <a:ext cx="4909099" cy="2052795"/>
            <a:chOff x="0" y="-47625"/>
            <a:chExt cx="6545465" cy="2737061"/>
          </a:xfrm>
        </p:grpSpPr>
        <p:sp>
          <p:nvSpPr>
            <p:cNvPr id="180" name="Google Shape;180;p7"/>
            <p:cNvSpPr txBox="1"/>
            <p:nvPr/>
          </p:nvSpPr>
          <p:spPr>
            <a:xfrm>
              <a:off x="0" y="-47625"/>
              <a:ext cx="6545465" cy="1061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12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Computación en el Borde (Edge Computing):</a:t>
              </a:r>
              <a:endParaRPr/>
            </a:p>
          </p:txBody>
        </p:sp>
        <p:sp>
          <p:nvSpPr>
            <p:cNvPr id="181" name="Google Shape;181;p7"/>
            <p:cNvSpPr txBox="1"/>
            <p:nvPr/>
          </p:nvSpPr>
          <p:spPr>
            <a:xfrm>
              <a:off x="0" y="1382183"/>
              <a:ext cx="6545465" cy="13072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Descentralización: Procesamiento de datos más cerca de la fuente para reducir latencia.</a:t>
              </a:r>
              <a:endParaRPr/>
            </a:p>
          </p:txBody>
        </p:sp>
      </p:grpSp>
      <p:grpSp>
        <p:nvGrpSpPr>
          <p:cNvPr id="182" name="Google Shape;182;p7"/>
          <p:cNvGrpSpPr/>
          <p:nvPr/>
        </p:nvGrpSpPr>
        <p:grpSpPr>
          <a:xfrm>
            <a:off x="12096201" y="6933015"/>
            <a:ext cx="4909099" cy="1643220"/>
            <a:chOff x="0" y="-47625"/>
            <a:chExt cx="6545465" cy="2190961"/>
          </a:xfrm>
        </p:grpSpPr>
        <p:sp>
          <p:nvSpPr>
            <p:cNvPr id="183" name="Google Shape;183;p7"/>
            <p:cNvSpPr txBox="1"/>
            <p:nvPr/>
          </p:nvSpPr>
          <p:spPr>
            <a:xfrm>
              <a:off x="0" y="-47625"/>
              <a:ext cx="6545465" cy="5154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12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Sostenibilidad:</a:t>
              </a:r>
              <a:endParaRPr/>
            </a:p>
          </p:txBody>
        </p:sp>
        <p:sp>
          <p:nvSpPr>
            <p:cNvPr id="184" name="Google Shape;184;p7"/>
            <p:cNvSpPr txBox="1"/>
            <p:nvPr/>
          </p:nvSpPr>
          <p:spPr>
            <a:xfrm>
              <a:off x="0" y="836083"/>
              <a:ext cx="6545465" cy="13072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Eficiencia Energética: Iniciativas para reducir el impacto ambiental de los centros de datos.</a:t>
              </a:r>
              <a:endParaRPr/>
            </a:p>
          </p:txBody>
        </p:sp>
      </p:grpSp>
      <p:sp>
        <p:nvSpPr>
          <p:cNvPr id="185" name="Google Shape;185;p7"/>
          <p:cNvSpPr txBox="1"/>
          <p:nvPr/>
        </p:nvSpPr>
        <p:spPr>
          <a:xfrm>
            <a:off x="1282700" y="1919650"/>
            <a:ext cx="15722700" cy="24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650" u="none" cap="none" strike="noStrike">
                <a:solidFill>
                  <a:srgbClr val="263D2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Tendencias Futuras en el Almacenamiento en la Nube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