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Inter"/>
      <p:regular r:id="rId24"/>
      <p:bold r:id="rId25"/>
      <p:italic r:id="rId26"/>
      <p:boldItalic r:id="rId27"/>
    </p:embeddedFont>
    <p:embeddedFont>
      <p:font typeface="Libre Baskerville"/>
      <p:regular r:id="rId28"/>
      <p:bold r:id="rId29"/>
      <p: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gMxOuncn3bn4oc/hsSgDQ+0VXh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9BAD5B-5973-455E-BE4D-224AD3D85C28}">
  <a:tblStyle styleId="{899BAD5B-5973-455E-BE4D-224AD3D85C2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Inter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LibreBaskerville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ibreBaskerville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LibreBaskerville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1989ed9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11989ed97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1989ed97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11989ed975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1989ed97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11989ed975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1989ed975_0_0"/>
          <p:cNvSpPr/>
          <p:nvPr/>
        </p:nvSpPr>
        <p:spPr>
          <a:xfrm>
            <a:off x="0" y="-2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g311989ed975_0_0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{899BAD5B-5973-455E-BE4D-224AD3D85C28}</a:tableStyleId>
              </a:tblPr>
              <a:tblGrid>
                <a:gridCol w="3030175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XX:XX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g311989ed975_0_0"/>
          <p:cNvSpPr txBox="1"/>
          <p:nvPr/>
        </p:nvSpPr>
        <p:spPr>
          <a:xfrm>
            <a:off x="2971775" y="4512775"/>
            <a:ext cx="13401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Manejo e Implementación de Archivos C</a:t>
            </a:r>
            <a:endParaRPr/>
          </a:p>
        </p:txBody>
      </p:sp>
      <p:sp>
        <p:nvSpPr>
          <p:cNvPr id="87" name="Google Shape;87;g311989ed975_0_0"/>
          <p:cNvSpPr txBox="1"/>
          <p:nvPr/>
        </p:nvSpPr>
        <p:spPr>
          <a:xfrm>
            <a:off x="3648825" y="5807200"/>
            <a:ext cx="1234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Completo Tutor - Carnet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11989ed975_0_7"/>
          <p:cNvGrpSpPr/>
          <p:nvPr/>
        </p:nvGrpSpPr>
        <p:grpSpPr>
          <a:xfrm>
            <a:off x="-12700" y="3383457"/>
            <a:ext cx="18300823" cy="6903903"/>
            <a:chOff x="0" y="-57150"/>
            <a:chExt cx="4819938" cy="1818300"/>
          </a:xfrm>
        </p:grpSpPr>
        <p:sp>
          <p:nvSpPr>
            <p:cNvPr id="93" name="Google Shape;93;g311989ed975_0_7"/>
            <p:cNvSpPr/>
            <p:nvPr/>
          </p:nvSpPr>
          <p:spPr>
            <a:xfrm>
              <a:off x="0" y="0"/>
              <a:ext cx="4819938" cy="1761067"/>
            </a:xfrm>
            <a:custGeom>
              <a:rect b="b" l="l" r="r" t="t"/>
              <a:pathLst>
                <a:path extrusionOk="0" h="1761067" w="4819938">
                  <a:moveTo>
                    <a:pt x="0" y="0"/>
                  </a:moveTo>
                  <a:lnTo>
                    <a:pt x="4819938" y="0"/>
                  </a:lnTo>
                  <a:lnTo>
                    <a:pt x="4819938" y="1761067"/>
                  </a:lnTo>
                  <a:lnTo>
                    <a:pt x="0" y="1761067"/>
                  </a:lnTo>
                  <a:close/>
                </a:path>
              </a:pathLst>
            </a:custGeom>
            <a:solidFill>
              <a:srgbClr val="ACB6A6"/>
            </a:solidFill>
            <a:ln>
              <a:noFill/>
            </a:ln>
          </p:spPr>
        </p:sp>
        <p:sp>
          <p:nvSpPr>
            <p:cNvPr id="94" name="Google Shape;94;g311989ed975_0_7"/>
            <p:cNvSpPr txBox="1"/>
            <p:nvPr/>
          </p:nvSpPr>
          <p:spPr>
            <a:xfrm>
              <a:off x="0" y="-57150"/>
              <a:ext cx="4819800" cy="18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g311989ed975_0_7"/>
          <p:cNvSpPr txBox="1"/>
          <p:nvPr/>
        </p:nvSpPr>
        <p:spPr>
          <a:xfrm>
            <a:off x="1549263" y="1114466"/>
            <a:ext cx="13844100" cy="18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58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Manejo e Implementación de Archivos</a:t>
            </a:r>
            <a:endParaRPr/>
          </a:p>
        </p:txBody>
      </p:sp>
      <p:sp>
        <p:nvSpPr>
          <p:cNvPr id="96" name="Google Shape;96;g311989ed975_0_7"/>
          <p:cNvSpPr txBox="1"/>
          <p:nvPr/>
        </p:nvSpPr>
        <p:spPr>
          <a:xfrm>
            <a:off x="9907075" y="7583800"/>
            <a:ext cx="7352100" cy="15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25" u="none" cap="none" strike="noStrike">
                <a:solidFill>
                  <a:srgbClr val="E4D8B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Semana </a:t>
            </a:r>
            <a:r>
              <a:rPr lang="en-US" sz="9825">
                <a:solidFill>
                  <a:srgbClr val="E4D8B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1989ed975_0_15"/>
          <p:cNvSpPr txBox="1"/>
          <p:nvPr/>
        </p:nvSpPr>
        <p:spPr>
          <a:xfrm>
            <a:off x="1893341" y="2507469"/>
            <a:ext cx="145014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AGENDA</a:t>
            </a:r>
            <a:endParaRPr/>
          </a:p>
        </p:txBody>
      </p:sp>
      <p:sp>
        <p:nvSpPr>
          <p:cNvPr id="102" name="Google Shape;102;g311989ed975_0_15"/>
          <p:cNvSpPr txBox="1"/>
          <p:nvPr/>
        </p:nvSpPr>
        <p:spPr>
          <a:xfrm>
            <a:off x="1893341" y="5408357"/>
            <a:ext cx="6770100" cy="13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8616" lvl="1" marL="777233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9"/>
              <a:buFont typeface="Arial"/>
              <a:buChar char="•"/>
            </a:pPr>
            <a:r>
              <a:rPr b="0" i="0" lang="en-US" sz="35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Dudas</a:t>
            </a:r>
            <a:endParaRPr/>
          </a:p>
          <a:p>
            <a:pPr indent="-388616" lvl="1" marL="777233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9"/>
              <a:buFont typeface="Arial"/>
              <a:buChar char="•"/>
            </a:pPr>
            <a:r>
              <a:rPr b="0" i="0" lang="en-US" sz="35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XXXX</a:t>
            </a:r>
            <a:endParaRPr/>
          </a:p>
        </p:txBody>
      </p:sp>
      <p:cxnSp>
        <p:nvCxnSpPr>
          <p:cNvPr id="103" name="Google Shape;103;g311989ed975_0_15"/>
          <p:cNvCxnSpPr/>
          <p:nvPr/>
        </p:nvCxnSpPr>
        <p:spPr>
          <a:xfrm>
            <a:off x="1893341" y="4532057"/>
            <a:ext cx="145014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/>
        </p:nvSpPr>
        <p:spPr>
          <a:xfrm>
            <a:off x="1708798" y="1067425"/>
            <a:ext cx="13590300" cy="6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99" u="none" cap="none" strike="noStrike">
                <a:solidFill>
                  <a:srgbClr val="E4D8B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Plan de Continuidad de Negocio (BCP)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/>
        </p:nvSpPr>
        <p:spPr>
          <a:xfrm>
            <a:off x="1893341" y="2507469"/>
            <a:ext cx="14501319" cy="118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Definición y Propósito: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893341" y="5446457"/>
            <a:ext cx="6770249" cy="216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Definición: Un BCP es un conjunto de procedimientos y recursos predefinidos que permiten a una organización continuar sus operaciones críticas durante y después de una interrupción.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9624410" y="5446457"/>
            <a:ext cx="6770249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Propósito: Asegurar la resiliencia organizacional, proteger la reputación de la empresa, y minimizar las pérdidas financieras.</a:t>
            </a:r>
            <a:endParaRPr/>
          </a:p>
        </p:txBody>
      </p:sp>
      <p:cxnSp>
        <p:nvCxnSpPr>
          <p:cNvPr id="116" name="Google Shape;116;p2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CB6A6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/>
        </p:nvSpPr>
        <p:spPr>
          <a:xfrm>
            <a:off x="920575" y="2439975"/>
            <a:ext cx="7846800" cy="26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Componentes Clave:</a:t>
            </a:r>
            <a:endParaRPr/>
          </a:p>
        </p:txBody>
      </p:sp>
      <p:grpSp>
        <p:nvGrpSpPr>
          <p:cNvPr id="122" name="Google Shape;122;p3"/>
          <p:cNvGrpSpPr/>
          <p:nvPr/>
        </p:nvGrpSpPr>
        <p:grpSpPr>
          <a:xfrm>
            <a:off x="9977013" y="2282824"/>
            <a:ext cx="6461944" cy="6803079"/>
            <a:chOff x="0" y="-57150"/>
            <a:chExt cx="8615926" cy="9070772"/>
          </a:xfrm>
        </p:grpSpPr>
        <p:sp>
          <p:nvSpPr>
            <p:cNvPr id="123" name="Google Shape;123;p3"/>
            <p:cNvSpPr txBox="1"/>
            <p:nvPr/>
          </p:nvSpPr>
          <p:spPr>
            <a:xfrm>
              <a:off x="0" y="-57150"/>
              <a:ext cx="8615926" cy="24563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58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Evaluación de Procesos Críticos: Identificar qué procesos son esenciales para la operación continua y priorizarlos.</a:t>
              </a:r>
              <a:endParaRPr/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0" y="2938926"/>
              <a:ext cx="8615926" cy="24563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58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Recursos Necesarios: Determinar los recursos humanos, tecnológicos, y físicos necesarios para mantener la continuidad.</a:t>
              </a:r>
              <a:endParaRPr/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0" y="5934999"/>
              <a:ext cx="8615926" cy="3078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58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Comunicación: Establecer un plan de comunicación para mantener informados a los empleados, clientes, y partes interesadas durante una interrupción.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/>
        </p:nvSpPr>
        <p:spPr>
          <a:xfrm>
            <a:off x="1708800" y="845075"/>
            <a:ext cx="13853100" cy="7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41" u="none" cap="none" strike="noStrike">
                <a:solidFill>
                  <a:srgbClr val="E4D8B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Pasos para Desarrollar un Plan de Continuidad de Negocio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/>
        </p:nvSpPr>
        <p:spPr>
          <a:xfrm>
            <a:off x="1893341" y="1373994"/>
            <a:ext cx="14501319" cy="2314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Análisis de Impacto en el Negocio (BIA):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1893341" y="5446457"/>
            <a:ext cx="6770249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 del BIA: Identificar los procesos críticos y evaluar el impacto de su interrupción en el negocio.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9624410" y="5446457"/>
            <a:ext cx="6770249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Resultados del BIA: Determinar el tiempo máximo tolerable de inactividad (MTD) y los objetivos de tiempo de recuperación (RTO).</a:t>
            </a:r>
            <a:endParaRPr/>
          </a:p>
        </p:txBody>
      </p:sp>
      <p:cxnSp>
        <p:nvCxnSpPr>
          <p:cNvPr id="138" name="Google Shape;138;p5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/>
        </p:nvSpPr>
        <p:spPr>
          <a:xfrm>
            <a:off x="1893341" y="2507469"/>
            <a:ext cx="14501319" cy="118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Evaluación de Riesgos: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1893341" y="5446457"/>
            <a:ext cx="6770249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Identificación de Amenazas: Evaluar amenazas potenciales como desastres naturales, fallos tecnológicos, o ataques cibernéticos.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9624410" y="5446457"/>
            <a:ext cx="6770249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Evaluación de Vulnerabilidades: Determinar las vulnerabilidades de la organización frente a estas amenazas.</a:t>
            </a:r>
            <a:endParaRPr/>
          </a:p>
        </p:txBody>
      </p:sp>
      <p:cxnSp>
        <p:nvCxnSpPr>
          <p:cNvPr id="146" name="Google Shape;146;p6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/>
        </p:nvSpPr>
        <p:spPr>
          <a:xfrm>
            <a:off x="1893341" y="2507469"/>
            <a:ext cx="14501319" cy="118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Desarrollo de Estrategias: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1893341" y="5446457"/>
            <a:ext cx="6770249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Estrategias de Mitigación: Desarrollar estrategias para reducir el impacto de las amenazas identificadas.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9624410" y="5446457"/>
            <a:ext cx="6770249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Planes de Acción: Crear planes detallados para responder a diferentes tipos de interrupciones.</a:t>
            </a:r>
            <a:endParaRPr/>
          </a:p>
        </p:txBody>
      </p:sp>
      <p:cxnSp>
        <p:nvCxnSpPr>
          <p:cNvPr id="154" name="Google Shape;154;p7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/>
        </p:nvSpPr>
        <p:spPr>
          <a:xfrm>
            <a:off x="1893341" y="2507469"/>
            <a:ext cx="14501319" cy="118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Implementación del Plan: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1893341" y="5446457"/>
            <a:ext cx="6770249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Asignación de Responsabilidades: Definir roles y responsabilidades para la ejecución del plan.</a:t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9624410" y="5446457"/>
            <a:ext cx="6770249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Capacitación: Capacitar al personal en sus roles dentro del BCP.</a:t>
            </a:r>
            <a:endParaRPr/>
          </a:p>
        </p:txBody>
      </p:sp>
      <p:cxnSp>
        <p:nvCxnSpPr>
          <p:cNvPr id="162" name="Google Shape;162;p8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/>
        </p:nvSpPr>
        <p:spPr>
          <a:xfrm>
            <a:off x="1893341" y="2507469"/>
            <a:ext cx="14501319" cy="118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Pruebas y Mantenimiento:</a:t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1893341" y="5446457"/>
            <a:ext cx="6770249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Pruebas Regulares: Realizar simulacros y pruebas del plan para asegurar su efectividad.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9624410" y="5446457"/>
            <a:ext cx="6770249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Revisión y Actualización: Actualizar el plan regularmente para reflejar cambios en el negocio o en el entorno de amenazas.</a:t>
            </a:r>
            <a:endParaRPr/>
          </a:p>
        </p:txBody>
      </p:sp>
      <p:cxnSp>
        <p:nvCxnSpPr>
          <p:cNvPr id="170" name="Google Shape;170;p9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0"/>
          <p:cNvGrpSpPr/>
          <p:nvPr/>
        </p:nvGrpSpPr>
        <p:grpSpPr>
          <a:xfrm>
            <a:off x="-12700" y="3383459"/>
            <a:ext cx="18300704" cy="6903541"/>
            <a:chOff x="0" y="-57150"/>
            <a:chExt cx="4819938" cy="1818217"/>
          </a:xfrm>
        </p:grpSpPr>
        <p:sp>
          <p:nvSpPr>
            <p:cNvPr id="176" name="Google Shape;176;p10"/>
            <p:cNvSpPr/>
            <p:nvPr/>
          </p:nvSpPr>
          <p:spPr>
            <a:xfrm>
              <a:off x="0" y="0"/>
              <a:ext cx="4819938" cy="1761067"/>
            </a:xfrm>
            <a:custGeom>
              <a:rect b="b" l="l" r="r" t="t"/>
              <a:pathLst>
                <a:path extrusionOk="0" h="1761067" w="4819938">
                  <a:moveTo>
                    <a:pt x="0" y="0"/>
                  </a:moveTo>
                  <a:lnTo>
                    <a:pt x="4819938" y="0"/>
                  </a:lnTo>
                  <a:lnTo>
                    <a:pt x="4819938" y="1761067"/>
                  </a:lnTo>
                  <a:lnTo>
                    <a:pt x="0" y="1761067"/>
                  </a:lnTo>
                  <a:close/>
                </a:path>
              </a:pathLst>
            </a:custGeom>
            <a:solidFill>
              <a:srgbClr val="ACB6A6"/>
            </a:solidFill>
            <a:ln>
              <a:noFill/>
            </a:ln>
          </p:spPr>
        </p:sp>
        <p:sp>
          <p:nvSpPr>
            <p:cNvPr id="177" name="Google Shape;177;p10"/>
            <p:cNvSpPr txBox="1"/>
            <p:nvPr/>
          </p:nvSpPr>
          <p:spPr>
            <a:xfrm>
              <a:off x="0" y="-57150"/>
              <a:ext cx="4819937" cy="1818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10"/>
          <p:cNvSpPr txBox="1"/>
          <p:nvPr/>
        </p:nvSpPr>
        <p:spPr>
          <a:xfrm>
            <a:off x="1549277" y="1421725"/>
            <a:ext cx="15824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Recuperación de Desastres (DR)</a:t>
            </a:r>
            <a:endParaRPr/>
          </a:p>
        </p:txBody>
      </p:sp>
      <p:grpSp>
        <p:nvGrpSpPr>
          <p:cNvPr id="179" name="Google Shape;179;p10"/>
          <p:cNvGrpSpPr/>
          <p:nvPr/>
        </p:nvGrpSpPr>
        <p:grpSpPr>
          <a:xfrm>
            <a:off x="1549263" y="5191125"/>
            <a:ext cx="7340874" cy="2771775"/>
            <a:chOff x="0" y="-38100"/>
            <a:chExt cx="9787832" cy="3695700"/>
          </a:xfrm>
        </p:grpSpPr>
        <p:sp>
          <p:nvSpPr>
            <p:cNvPr id="180" name="Google Shape;180;p10"/>
            <p:cNvSpPr txBox="1"/>
            <p:nvPr/>
          </p:nvSpPr>
          <p:spPr>
            <a:xfrm>
              <a:off x="0" y="-38100"/>
              <a:ext cx="9787832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Definición y Objetivo:</a:t>
              </a:r>
              <a:endParaRPr/>
            </a:p>
          </p:txBody>
        </p:sp>
        <p:sp>
          <p:nvSpPr>
            <p:cNvPr id="181" name="Google Shape;181;p10"/>
            <p:cNvSpPr txBox="1"/>
            <p:nvPr/>
          </p:nvSpPr>
          <p:spPr>
            <a:xfrm>
              <a:off x="0" y="858308"/>
              <a:ext cx="9787832" cy="2799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Definición: DR se centra en la restauración de sistemas de TI y operaciones después de un desastre.</a:t>
              </a:r>
              <a:endParaRPr/>
            </a:p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Objetivo: Minimizar el tiempo de inactividad y restaurar las funciones de TI críticas lo más rápido posible.</a:t>
              </a:r>
              <a:endParaRPr/>
            </a:p>
          </p:txBody>
        </p:sp>
      </p:grpSp>
      <p:grpSp>
        <p:nvGrpSpPr>
          <p:cNvPr id="182" name="Google Shape;182;p10"/>
          <p:cNvGrpSpPr/>
          <p:nvPr/>
        </p:nvGrpSpPr>
        <p:grpSpPr>
          <a:xfrm>
            <a:off x="9385163" y="5191125"/>
            <a:ext cx="7340874" cy="2419350"/>
            <a:chOff x="0" y="-38100"/>
            <a:chExt cx="9787832" cy="3225800"/>
          </a:xfrm>
        </p:grpSpPr>
        <p:sp>
          <p:nvSpPr>
            <p:cNvPr id="183" name="Google Shape;183;p10"/>
            <p:cNvSpPr txBox="1"/>
            <p:nvPr/>
          </p:nvSpPr>
          <p:spPr>
            <a:xfrm>
              <a:off x="0" y="-38100"/>
              <a:ext cx="9787832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Elementos Clave:</a:t>
              </a:r>
              <a:endParaRPr/>
            </a:p>
          </p:txBody>
        </p:sp>
        <p:sp>
          <p:nvSpPr>
            <p:cNvPr id="184" name="Google Shape;184;p10"/>
            <p:cNvSpPr txBox="1"/>
            <p:nvPr/>
          </p:nvSpPr>
          <p:spPr>
            <a:xfrm>
              <a:off x="0" y="858308"/>
              <a:ext cx="9787832" cy="2329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Planes de Respaldo de Datos: Asegurar que los datos críticos estén respaldados y puedan ser restaurados.</a:t>
              </a:r>
              <a:endParaRPr/>
            </a:p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Infraestructura Alternativa: Preparar sitios de recuperación o soluciones en la nube para restaurar operaciones.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 txBox="1"/>
          <p:nvPr/>
        </p:nvSpPr>
        <p:spPr>
          <a:xfrm>
            <a:off x="1893341" y="1139857"/>
            <a:ext cx="14501319" cy="2548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9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Diferencias entre Continuidad de Negocio y Recuperación de Desastres</a:t>
            </a:r>
            <a:endParaRPr/>
          </a:p>
        </p:txBody>
      </p:sp>
      <p:cxnSp>
        <p:nvCxnSpPr>
          <p:cNvPr id="190" name="Google Shape;190;p11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1" name="Google Shape;191;p11"/>
          <p:cNvGrpSpPr/>
          <p:nvPr/>
        </p:nvGrpSpPr>
        <p:grpSpPr>
          <a:xfrm>
            <a:off x="1893341" y="5351207"/>
            <a:ext cx="6235246" cy="2238375"/>
            <a:chOff x="0" y="-38100"/>
            <a:chExt cx="8313661" cy="2984500"/>
          </a:xfrm>
        </p:grpSpPr>
        <p:sp>
          <p:nvSpPr>
            <p:cNvPr id="192" name="Google Shape;192;p11"/>
            <p:cNvSpPr txBox="1"/>
            <p:nvPr/>
          </p:nvSpPr>
          <p:spPr>
            <a:xfrm>
              <a:off x="0" y="-38100"/>
              <a:ext cx="8313661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Alcance:</a:t>
              </a:r>
              <a:endParaRPr/>
            </a:p>
          </p:txBody>
        </p:sp>
        <p:sp>
          <p:nvSpPr>
            <p:cNvPr id="193" name="Google Shape;193;p11"/>
            <p:cNvSpPr txBox="1"/>
            <p:nvPr/>
          </p:nvSpPr>
          <p:spPr>
            <a:xfrm>
              <a:off x="0" y="858308"/>
              <a:ext cx="8313661" cy="2088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BCP: Cubre todos los aspectos del negocio, incluyendo operaciones, personal, y procesos.</a:t>
              </a:r>
              <a:endParaRPr/>
            </a:p>
            <a:p>
              <a:pPr indent="0" lvl="0" marL="0" marR="0" rtl="0" algn="ctr">
                <a:lnSpc>
                  <a:spcPct val="69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DR: Se enfoca específicamente en la recuperación de sistemas de TI y datos.</a:t>
              </a:r>
              <a:endParaRPr/>
            </a:p>
          </p:txBody>
        </p:sp>
      </p:grpSp>
      <p:grpSp>
        <p:nvGrpSpPr>
          <p:cNvPr id="194" name="Google Shape;194;p11"/>
          <p:cNvGrpSpPr/>
          <p:nvPr/>
        </p:nvGrpSpPr>
        <p:grpSpPr>
          <a:xfrm>
            <a:off x="10159414" y="5351207"/>
            <a:ext cx="6235246" cy="2238375"/>
            <a:chOff x="0" y="-38100"/>
            <a:chExt cx="8313661" cy="2984500"/>
          </a:xfrm>
        </p:grpSpPr>
        <p:sp>
          <p:nvSpPr>
            <p:cNvPr id="195" name="Google Shape;195;p11"/>
            <p:cNvSpPr txBox="1"/>
            <p:nvPr/>
          </p:nvSpPr>
          <p:spPr>
            <a:xfrm>
              <a:off x="0" y="-38100"/>
              <a:ext cx="8313661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Enfoque Temporal:</a:t>
              </a:r>
              <a:endParaRPr/>
            </a:p>
          </p:txBody>
        </p:sp>
        <p:sp>
          <p:nvSpPr>
            <p:cNvPr id="196" name="Google Shape;196;p11"/>
            <p:cNvSpPr txBox="1"/>
            <p:nvPr/>
          </p:nvSpPr>
          <p:spPr>
            <a:xfrm>
              <a:off x="0" y="858308"/>
              <a:ext cx="8313661" cy="2088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BCP: Proactivo, asegurando que las operaciones continúen durante una interrupción.</a:t>
              </a:r>
              <a:endParaRPr/>
            </a:p>
            <a:p>
              <a:pPr indent="0" lvl="0" marL="0" marR="0" rtl="0" algn="ctr">
                <a:lnSpc>
                  <a:spcPct val="69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DR: Reactivo, restaurando sistemas después de que ha ocurrido un desastre.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12"/>
          <p:cNvGrpSpPr/>
          <p:nvPr/>
        </p:nvGrpSpPr>
        <p:grpSpPr>
          <a:xfrm>
            <a:off x="-12700" y="3383459"/>
            <a:ext cx="18300704" cy="6903541"/>
            <a:chOff x="0" y="-57150"/>
            <a:chExt cx="4819938" cy="1818217"/>
          </a:xfrm>
        </p:grpSpPr>
        <p:sp>
          <p:nvSpPr>
            <p:cNvPr id="202" name="Google Shape;202;p12"/>
            <p:cNvSpPr/>
            <p:nvPr/>
          </p:nvSpPr>
          <p:spPr>
            <a:xfrm>
              <a:off x="0" y="0"/>
              <a:ext cx="4819938" cy="1761067"/>
            </a:xfrm>
            <a:custGeom>
              <a:rect b="b" l="l" r="r" t="t"/>
              <a:pathLst>
                <a:path extrusionOk="0" h="1761067" w="4819938">
                  <a:moveTo>
                    <a:pt x="0" y="0"/>
                  </a:moveTo>
                  <a:lnTo>
                    <a:pt x="4819938" y="0"/>
                  </a:lnTo>
                  <a:lnTo>
                    <a:pt x="4819938" y="1761067"/>
                  </a:lnTo>
                  <a:lnTo>
                    <a:pt x="0" y="1761067"/>
                  </a:lnTo>
                  <a:close/>
                </a:path>
              </a:pathLst>
            </a:custGeom>
            <a:solidFill>
              <a:srgbClr val="ACB6A6"/>
            </a:solidFill>
            <a:ln>
              <a:noFill/>
            </a:ln>
          </p:spPr>
        </p:sp>
        <p:sp>
          <p:nvSpPr>
            <p:cNvPr id="203" name="Google Shape;203;p12"/>
            <p:cNvSpPr txBox="1"/>
            <p:nvPr/>
          </p:nvSpPr>
          <p:spPr>
            <a:xfrm>
              <a:off x="0" y="-57150"/>
              <a:ext cx="4819937" cy="1818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12"/>
          <p:cNvSpPr txBox="1"/>
          <p:nvPr/>
        </p:nvSpPr>
        <p:spPr>
          <a:xfrm>
            <a:off x="1549263" y="1114466"/>
            <a:ext cx="13844095" cy="1557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58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Análisis de Riesgos y Análisis de Impacto</a:t>
            </a:r>
            <a:endParaRPr/>
          </a:p>
        </p:txBody>
      </p:sp>
      <p:grpSp>
        <p:nvGrpSpPr>
          <p:cNvPr id="205" name="Google Shape;205;p12"/>
          <p:cNvGrpSpPr/>
          <p:nvPr/>
        </p:nvGrpSpPr>
        <p:grpSpPr>
          <a:xfrm>
            <a:off x="1549263" y="5191125"/>
            <a:ext cx="7340874" cy="2771775"/>
            <a:chOff x="0" y="-38100"/>
            <a:chExt cx="9787832" cy="3695700"/>
          </a:xfrm>
        </p:grpSpPr>
        <p:sp>
          <p:nvSpPr>
            <p:cNvPr id="206" name="Google Shape;206;p12"/>
            <p:cNvSpPr txBox="1"/>
            <p:nvPr/>
          </p:nvSpPr>
          <p:spPr>
            <a:xfrm>
              <a:off x="0" y="-38100"/>
              <a:ext cx="9787832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Análisis de Riesgos:</a:t>
              </a:r>
              <a:endParaRPr/>
            </a:p>
          </p:txBody>
        </p:sp>
        <p:sp>
          <p:nvSpPr>
            <p:cNvPr id="207" name="Google Shape;207;p12"/>
            <p:cNvSpPr txBox="1"/>
            <p:nvPr/>
          </p:nvSpPr>
          <p:spPr>
            <a:xfrm>
              <a:off x="0" y="858308"/>
              <a:ext cx="9787832" cy="2799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Identificación de Amenazas: Evaluar amenazas potenciales como desastres naturales, fallos tecnológicos, o ataques cibernéticos.</a:t>
              </a:r>
              <a:endParaRPr/>
            </a:p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Evaluación de Vulnerabilidades: Determinar las vulnerabilidades de la organización frente a estas amenazas.</a:t>
              </a:r>
              <a:endParaRPr/>
            </a:p>
          </p:txBody>
        </p:sp>
      </p:grpSp>
      <p:grpSp>
        <p:nvGrpSpPr>
          <p:cNvPr id="208" name="Google Shape;208;p12"/>
          <p:cNvGrpSpPr/>
          <p:nvPr/>
        </p:nvGrpSpPr>
        <p:grpSpPr>
          <a:xfrm>
            <a:off x="9385163" y="5191125"/>
            <a:ext cx="7340874" cy="2419350"/>
            <a:chOff x="0" y="-38100"/>
            <a:chExt cx="9787832" cy="3225800"/>
          </a:xfrm>
        </p:grpSpPr>
        <p:sp>
          <p:nvSpPr>
            <p:cNvPr id="209" name="Google Shape;209;p12"/>
            <p:cNvSpPr txBox="1"/>
            <p:nvPr/>
          </p:nvSpPr>
          <p:spPr>
            <a:xfrm>
              <a:off x="0" y="-38100"/>
              <a:ext cx="9787832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Análisis de Impacto en el Negocio (BIA):</a:t>
              </a:r>
              <a:endParaRPr/>
            </a:p>
          </p:txBody>
        </p:sp>
        <p:sp>
          <p:nvSpPr>
            <p:cNvPr id="210" name="Google Shape;210;p12"/>
            <p:cNvSpPr txBox="1"/>
            <p:nvPr/>
          </p:nvSpPr>
          <p:spPr>
            <a:xfrm>
              <a:off x="0" y="858308"/>
              <a:ext cx="9787832" cy="2329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Evaluación de Consecuencias: Analizar el impacto financiero y operativo de una interrupción.</a:t>
              </a:r>
              <a:endParaRPr/>
            </a:p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Prioridades de Recuperación: Identificar qué procesos deben ser restaurados primero para minimizar el impacto.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 txBox="1"/>
          <p:nvPr/>
        </p:nvSpPr>
        <p:spPr>
          <a:xfrm>
            <a:off x="0" y="1374000"/>
            <a:ext cx="18288000" cy="26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Estrategias de </a:t>
            </a:r>
            <a:r>
              <a:rPr lang="en-US" sz="85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</a:t>
            </a: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ontinuidad y</a:t>
            </a:r>
            <a:r>
              <a:rPr lang="en-US" sz="85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Recuperación</a:t>
            </a:r>
            <a:endParaRPr/>
          </a:p>
        </p:txBody>
      </p:sp>
      <p:cxnSp>
        <p:nvCxnSpPr>
          <p:cNvPr id="216" name="Google Shape;216;p13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7" name="Google Shape;217;p13"/>
          <p:cNvGrpSpPr/>
          <p:nvPr/>
        </p:nvGrpSpPr>
        <p:grpSpPr>
          <a:xfrm>
            <a:off x="1893341" y="5351207"/>
            <a:ext cx="6235246" cy="2238375"/>
            <a:chOff x="0" y="-38100"/>
            <a:chExt cx="8313661" cy="2984500"/>
          </a:xfrm>
        </p:grpSpPr>
        <p:sp>
          <p:nvSpPr>
            <p:cNvPr id="218" name="Google Shape;218;p13"/>
            <p:cNvSpPr txBox="1"/>
            <p:nvPr/>
          </p:nvSpPr>
          <p:spPr>
            <a:xfrm>
              <a:off x="0" y="-38100"/>
              <a:ext cx="8313661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Estrategias de Continuidad:</a:t>
              </a:r>
              <a:endParaRPr/>
            </a:p>
          </p:txBody>
        </p:sp>
        <p:sp>
          <p:nvSpPr>
            <p:cNvPr id="219" name="Google Shape;219;p13"/>
            <p:cNvSpPr txBox="1"/>
            <p:nvPr/>
          </p:nvSpPr>
          <p:spPr>
            <a:xfrm>
              <a:off x="0" y="858308"/>
              <a:ext cx="8313661" cy="2088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Redundancia: Implementar sistemas redundantes para asegurar la disponibilidad continua.</a:t>
              </a:r>
              <a:endParaRPr/>
            </a:p>
            <a:p>
              <a:pPr indent="0" lvl="0" marL="0" marR="0" rtl="0" algn="ctr">
                <a:lnSpc>
                  <a:spcPct val="69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Teletrabajo: Facilitar el trabajo remoto para mantener la productividad durante interrupciones.</a:t>
              </a:r>
              <a:endParaRPr/>
            </a:p>
          </p:txBody>
        </p:sp>
      </p:grpSp>
      <p:grpSp>
        <p:nvGrpSpPr>
          <p:cNvPr id="220" name="Google Shape;220;p13"/>
          <p:cNvGrpSpPr/>
          <p:nvPr/>
        </p:nvGrpSpPr>
        <p:grpSpPr>
          <a:xfrm>
            <a:off x="10159414" y="5351207"/>
            <a:ext cx="6235246" cy="2238375"/>
            <a:chOff x="0" y="-38100"/>
            <a:chExt cx="8313661" cy="2984500"/>
          </a:xfrm>
        </p:grpSpPr>
        <p:sp>
          <p:nvSpPr>
            <p:cNvPr id="221" name="Google Shape;221;p13"/>
            <p:cNvSpPr txBox="1"/>
            <p:nvPr/>
          </p:nvSpPr>
          <p:spPr>
            <a:xfrm>
              <a:off x="0" y="-38100"/>
              <a:ext cx="8313661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Estrategias de Recuperación:</a:t>
              </a:r>
              <a:endParaRPr/>
            </a:p>
          </p:txBody>
        </p:sp>
        <p:sp>
          <p:nvSpPr>
            <p:cNvPr id="222" name="Google Shape;222;p13"/>
            <p:cNvSpPr txBox="1"/>
            <p:nvPr/>
          </p:nvSpPr>
          <p:spPr>
            <a:xfrm>
              <a:off x="0" y="858308"/>
              <a:ext cx="8313661" cy="2088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Sitios de Recuperación: Establecer sitios alternativos para restaurar operaciones críticas.</a:t>
              </a:r>
              <a:endParaRPr/>
            </a:p>
            <a:p>
              <a:pPr indent="0" lvl="0" marL="0" marR="0" rtl="0" algn="ctr">
                <a:lnSpc>
                  <a:spcPct val="69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Recuperación en la Nube: Utilizar servicios en la nube para una recuperación rápida y flexible.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14"/>
          <p:cNvGrpSpPr/>
          <p:nvPr/>
        </p:nvGrpSpPr>
        <p:grpSpPr>
          <a:xfrm>
            <a:off x="-12700" y="3383459"/>
            <a:ext cx="18300704" cy="6903541"/>
            <a:chOff x="0" y="-57150"/>
            <a:chExt cx="4819938" cy="1818217"/>
          </a:xfrm>
        </p:grpSpPr>
        <p:sp>
          <p:nvSpPr>
            <p:cNvPr id="228" name="Google Shape;228;p14"/>
            <p:cNvSpPr/>
            <p:nvPr/>
          </p:nvSpPr>
          <p:spPr>
            <a:xfrm>
              <a:off x="0" y="0"/>
              <a:ext cx="4819938" cy="1761067"/>
            </a:xfrm>
            <a:custGeom>
              <a:rect b="b" l="l" r="r" t="t"/>
              <a:pathLst>
                <a:path extrusionOk="0" h="1761067" w="4819938">
                  <a:moveTo>
                    <a:pt x="0" y="0"/>
                  </a:moveTo>
                  <a:lnTo>
                    <a:pt x="4819938" y="0"/>
                  </a:lnTo>
                  <a:lnTo>
                    <a:pt x="4819938" y="1761067"/>
                  </a:lnTo>
                  <a:lnTo>
                    <a:pt x="0" y="1761067"/>
                  </a:lnTo>
                  <a:close/>
                </a:path>
              </a:pathLst>
            </a:custGeom>
            <a:solidFill>
              <a:srgbClr val="ACB6A6"/>
            </a:solidFill>
            <a:ln>
              <a:noFill/>
            </a:ln>
          </p:spPr>
        </p:sp>
        <p:sp>
          <p:nvSpPr>
            <p:cNvPr id="229" name="Google Shape;229;p14"/>
            <p:cNvSpPr txBox="1"/>
            <p:nvPr/>
          </p:nvSpPr>
          <p:spPr>
            <a:xfrm>
              <a:off x="0" y="-57150"/>
              <a:ext cx="4819937" cy="1818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14"/>
          <p:cNvSpPr txBox="1"/>
          <p:nvPr/>
        </p:nvSpPr>
        <p:spPr>
          <a:xfrm>
            <a:off x="1549263" y="1114466"/>
            <a:ext cx="13844095" cy="1557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58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Enfoque Tecnológico en la Recuperación de Desastres</a:t>
            </a:r>
            <a:endParaRPr/>
          </a:p>
        </p:txBody>
      </p:sp>
      <p:grpSp>
        <p:nvGrpSpPr>
          <p:cNvPr id="231" name="Google Shape;231;p14"/>
          <p:cNvGrpSpPr/>
          <p:nvPr/>
        </p:nvGrpSpPr>
        <p:grpSpPr>
          <a:xfrm>
            <a:off x="1549263" y="5191125"/>
            <a:ext cx="7340874" cy="2066925"/>
            <a:chOff x="0" y="-38100"/>
            <a:chExt cx="9787832" cy="2755900"/>
          </a:xfrm>
        </p:grpSpPr>
        <p:sp>
          <p:nvSpPr>
            <p:cNvPr id="232" name="Google Shape;232;p14"/>
            <p:cNvSpPr txBox="1"/>
            <p:nvPr/>
          </p:nvSpPr>
          <p:spPr>
            <a:xfrm>
              <a:off x="0" y="-38100"/>
              <a:ext cx="9787832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Tecnologías de Respaldo:</a:t>
              </a:r>
              <a:endParaRPr/>
            </a:p>
          </p:txBody>
        </p:sp>
        <p:sp>
          <p:nvSpPr>
            <p:cNvPr id="233" name="Google Shape;233;p14"/>
            <p:cNvSpPr txBox="1"/>
            <p:nvPr/>
          </p:nvSpPr>
          <p:spPr>
            <a:xfrm>
              <a:off x="0" y="858308"/>
              <a:ext cx="9787832" cy="1859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Almacenamiento en la Nube: Utilizar la nube para almacenar copias de seguridad de datos críticos.</a:t>
              </a:r>
              <a:endParaRPr/>
            </a:p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Virtualización: Implementar entornos virtuales que puedan ser restaurados rápidamente.</a:t>
              </a:r>
              <a:endParaRPr/>
            </a:p>
          </p:txBody>
        </p:sp>
      </p:grpSp>
      <p:grpSp>
        <p:nvGrpSpPr>
          <p:cNvPr id="234" name="Google Shape;234;p14"/>
          <p:cNvGrpSpPr/>
          <p:nvPr/>
        </p:nvGrpSpPr>
        <p:grpSpPr>
          <a:xfrm>
            <a:off x="9385163" y="5191125"/>
            <a:ext cx="7340874" cy="2419350"/>
            <a:chOff x="0" y="-38100"/>
            <a:chExt cx="9787832" cy="3225800"/>
          </a:xfrm>
        </p:grpSpPr>
        <p:sp>
          <p:nvSpPr>
            <p:cNvPr id="235" name="Google Shape;235;p14"/>
            <p:cNvSpPr txBox="1"/>
            <p:nvPr/>
          </p:nvSpPr>
          <p:spPr>
            <a:xfrm>
              <a:off x="0" y="-38100"/>
              <a:ext cx="9787832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Automatización de Recuperación:</a:t>
              </a:r>
              <a:endParaRPr/>
            </a:p>
          </p:txBody>
        </p:sp>
        <p:sp>
          <p:nvSpPr>
            <p:cNvPr id="236" name="Google Shape;236;p14"/>
            <p:cNvSpPr txBox="1"/>
            <p:nvPr/>
          </p:nvSpPr>
          <p:spPr>
            <a:xfrm>
              <a:off x="0" y="858308"/>
              <a:ext cx="9787832" cy="2329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Orquestación de DR: Utilizar herramientas de automatización para coordinar y ejecutar planes de recuperación.</a:t>
              </a:r>
              <a:endParaRPr/>
            </a:p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Pruebas Automatizadas: Realizar pruebas regulares de los planes de DR para asegurar su efectividad.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