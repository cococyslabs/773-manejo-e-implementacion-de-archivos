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Play"/>
      <p:regular r:id="rId40"/>
      <p:bold r:id="rId41"/>
    </p:embeddedFont>
    <p:embeddedFont>
      <p:font typeface="Inter"/>
      <p:regular r:id="rId42"/>
      <p:bold r:id="rId43"/>
      <p:italic r:id="rId44"/>
      <p:boldItalic r:id="rId45"/>
    </p:embeddedFont>
    <p:embeddedFont>
      <p:font typeface="Gill Sans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F26B43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ih53ItV/HeBVjBfHlXao91jktN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20C9AB-8CCE-4D44-AA0A-2225292FD1C8}">
  <a:tblStyle styleId="{7E20C9AB-8CCE-4D44-AA0A-2225292FD1C8}" styleName="Table_0">
    <a:wholeTbl>
      <a:tcTxStyle b="off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dk1"/>
      </a:tcTxStyle>
      <a:tcStyle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regular.fntdata"/><Relationship Id="rId20" Type="http://schemas.openxmlformats.org/officeDocument/2006/relationships/slide" Target="slides/slide14.xml"/><Relationship Id="rId42" Type="http://schemas.openxmlformats.org/officeDocument/2006/relationships/font" Target="fonts/Inter-regular.fntdata"/><Relationship Id="rId41" Type="http://schemas.openxmlformats.org/officeDocument/2006/relationships/font" Target="fonts/Play-bold.fntdata"/><Relationship Id="rId22" Type="http://schemas.openxmlformats.org/officeDocument/2006/relationships/slide" Target="slides/slide16.xml"/><Relationship Id="rId44" Type="http://schemas.openxmlformats.org/officeDocument/2006/relationships/font" Target="fonts/Inter-italic.fntdata"/><Relationship Id="rId21" Type="http://schemas.openxmlformats.org/officeDocument/2006/relationships/slide" Target="slides/slide15.xml"/><Relationship Id="rId43" Type="http://schemas.openxmlformats.org/officeDocument/2006/relationships/font" Target="fonts/Inter-bold.fntdata"/><Relationship Id="rId24" Type="http://schemas.openxmlformats.org/officeDocument/2006/relationships/slide" Target="slides/slide18.xml"/><Relationship Id="rId46" Type="http://schemas.openxmlformats.org/officeDocument/2006/relationships/font" Target="fonts/GillSans-regular.fntdata"/><Relationship Id="rId23" Type="http://schemas.openxmlformats.org/officeDocument/2006/relationships/slide" Target="slides/slide17.xml"/><Relationship Id="rId45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GillSans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7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21" name="Google Shape;21;p37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" name="Google Shape;22;p37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" name="Google Shape;23;p37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" name="Google Shape;24;p37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5" name="Google Shape;25;p37"/>
          <p:cNvSpPr txBox="1"/>
          <p:nvPr>
            <p:ph type="title"/>
          </p:nvPr>
        </p:nvSpPr>
        <p:spPr>
          <a:xfrm>
            <a:off x="550863" y="483924"/>
            <a:ext cx="11090275" cy="16840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" type="body"/>
          </p:nvPr>
        </p:nvSpPr>
        <p:spPr>
          <a:xfrm>
            <a:off x="550863" y="2419350"/>
            <a:ext cx="11090274" cy="391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grpSp>
        <p:nvGrpSpPr>
          <p:cNvPr id="30" name="Google Shape;30;p37"/>
          <p:cNvGrpSpPr/>
          <p:nvPr/>
        </p:nvGrpSpPr>
        <p:grpSpPr>
          <a:xfrm>
            <a:off x="8896749" y="1383159"/>
            <a:ext cx="897877" cy="934082"/>
            <a:chOff x="5129684" y="1232940"/>
            <a:chExt cx="897877" cy="934082"/>
          </a:xfrm>
        </p:grpSpPr>
        <p:sp>
          <p:nvSpPr>
            <p:cNvPr id="31" name="Google Shape;31;p37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" name="Google Shape;32;p37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" name="Google Shape;33;p37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4" name="Google Shape;34;p37"/>
          <p:cNvSpPr/>
          <p:nvPr/>
        </p:nvSpPr>
        <p:spPr>
          <a:xfrm>
            <a:off x="10168304" y="385236"/>
            <a:ext cx="1080000" cy="108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5" name="Google Shape;35;p37"/>
          <p:cNvGrpSpPr/>
          <p:nvPr/>
        </p:nvGrpSpPr>
        <p:grpSpPr>
          <a:xfrm flipH="1">
            <a:off x="8925426" y="2736835"/>
            <a:ext cx="3990589" cy="4054324"/>
            <a:chOff x="4285509" y="2736835"/>
            <a:chExt cx="3990589" cy="4054324"/>
          </a:xfrm>
        </p:grpSpPr>
        <p:sp>
          <p:nvSpPr>
            <p:cNvPr id="36" name="Google Shape;36;p37"/>
            <p:cNvSpPr/>
            <p:nvPr/>
          </p:nvSpPr>
          <p:spPr>
            <a:xfrm flipH="1" rot="8100000">
              <a:off x="4602175" y="3958416"/>
              <a:ext cx="3536330" cy="1853969"/>
            </a:xfrm>
            <a:custGeom>
              <a:rect b="b" l="l" r="r" t="t"/>
              <a:pathLst>
                <a:path extrusionOk="0" h="1853969" w="3536330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1000">
                  <a:srgbClr val="2B274A"/>
                </a:gs>
                <a:gs pos="97000">
                  <a:schemeClr val="dk2"/>
                </a:gs>
                <a:gs pos="100000">
                  <a:schemeClr val="dk2"/>
                </a:gs>
              </a:gsLst>
              <a:lin ang="15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37" name="Google Shape;37;p37"/>
            <p:cNvGrpSpPr/>
            <p:nvPr/>
          </p:nvGrpSpPr>
          <p:grpSpPr>
            <a:xfrm>
              <a:off x="4285509" y="2736835"/>
              <a:ext cx="3990588" cy="3990588"/>
              <a:chOff x="-737095" y="2736835"/>
              <a:chExt cx="3990588" cy="3990588"/>
            </a:xfrm>
          </p:grpSpPr>
          <p:sp>
            <p:nvSpPr>
              <p:cNvPr id="38" name="Google Shape;38;p37"/>
              <p:cNvSpPr/>
              <p:nvPr/>
            </p:nvSpPr>
            <p:spPr>
              <a:xfrm flipH="1" rot="8100000">
                <a:off x="-481151" y="3649708"/>
                <a:ext cx="3478701" cy="2164843"/>
              </a:xfrm>
              <a:custGeom>
                <a:rect b="b" l="l" r="r" t="t"/>
                <a:pathLst>
                  <a:path extrusionOk="0" h="2164843" w="3478701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rgbClr val="746EB3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39" name="Google Shape;39;p37"/>
              <p:cNvSpPr/>
              <p:nvPr/>
            </p:nvSpPr>
            <p:spPr>
              <a:xfrm flipH="1" rot="2700000">
                <a:off x="1512277" y="2840042"/>
                <a:ext cx="214196" cy="933178"/>
              </a:xfrm>
              <a:prstGeom prst="ellipse">
                <a:avLst/>
              </a:prstGeom>
              <a:solidFill>
                <a:srgbClr val="2B27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pSp>
        <p:nvGrpSpPr>
          <p:cNvPr id="40" name="Google Shape;40;p37"/>
          <p:cNvGrpSpPr/>
          <p:nvPr/>
        </p:nvGrpSpPr>
        <p:grpSpPr>
          <a:xfrm>
            <a:off x="5657788" y="3903772"/>
            <a:ext cx="1656714" cy="1656714"/>
            <a:chOff x="10112258" y="2147095"/>
            <a:chExt cx="1656714" cy="1656714"/>
          </a:xfrm>
        </p:grpSpPr>
        <p:sp>
          <p:nvSpPr>
            <p:cNvPr id="41" name="Google Shape;41;p37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2" name="Google Shape;42;p37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8"/>
          <p:cNvSpPr/>
          <p:nvPr>
            <p:ph idx="2" type="pic"/>
          </p:nvPr>
        </p:nvSpPr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1">
  <p:cSld name="Dos contenidos 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8" name="Google Shape;48;p39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49" name="Google Shape;49;p39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0" name="Google Shape;50;p39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51" name="Google Shape;51;p39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tabla">
  <p:cSld name="Contenido + tabla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" type="body"/>
          </p:nvPr>
        </p:nvSpPr>
        <p:spPr>
          <a:xfrm>
            <a:off x="553720" y="1917065"/>
            <a:ext cx="2921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/>
          <p:nvPr/>
        </p:nvSpPr>
        <p:spPr>
          <a:xfrm>
            <a:off x="5303845" y="5427212"/>
            <a:ext cx="1080000" cy="108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41"/>
          <p:cNvSpPr txBox="1"/>
          <p:nvPr>
            <p:ph type="title"/>
          </p:nvPr>
        </p:nvSpPr>
        <p:spPr>
          <a:xfrm>
            <a:off x="549536" y="549274"/>
            <a:ext cx="5179330" cy="28418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" type="body"/>
          </p:nvPr>
        </p:nvSpPr>
        <p:spPr>
          <a:xfrm>
            <a:off x="549537" y="3646704"/>
            <a:ext cx="5179330" cy="270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926138" y="549275"/>
            <a:ext cx="5654675" cy="578802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" name="Google Shape;68;p41"/>
          <p:cNvGrpSpPr/>
          <p:nvPr/>
        </p:nvGrpSpPr>
        <p:grpSpPr>
          <a:xfrm>
            <a:off x="577658" y="5511950"/>
            <a:ext cx="828358" cy="828358"/>
            <a:chOff x="10462536" y="1408249"/>
            <a:chExt cx="828358" cy="828358"/>
          </a:xfrm>
        </p:grpSpPr>
        <p:sp>
          <p:nvSpPr>
            <p:cNvPr id="69" name="Google Shape;69;p41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" name="Google Shape;70;p41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71" name="Google Shape;71;p41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72" name="Google Shape;72;p41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3" name="Google Shape;73;p41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" name="Google Shape;74;p41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" name="Google Shape;75;p41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6" name="Google Shape;76;p41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">
  <p:cSld name="Dos contenido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" name="Google Shape;81;p42"/>
          <p:cNvSpPr txBox="1"/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" name="Google Shape;82;p42"/>
          <p:cNvGrpSpPr/>
          <p:nvPr/>
        </p:nvGrpSpPr>
        <p:grpSpPr>
          <a:xfrm>
            <a:off x="10346504" y="1833152"/>
            <a:ext cx="1656714" cy="1656714"/>
            <a:chOff x="10112258" y="2147095"/>
            <a:chExt cx="1656714" cy="1656714"/>
          </a:xfrm>
        </p:grpSpPr>
        <p:sp>
          <p:nvSpPr>
            <p:cNvPr id="83" name="Google Shape;83;p42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4" name="Google Shape;84;p42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5" name="Google Shape;85;p42"/>
          <p:cNvSpPr/>
          <p:nvPr/>
        </p:nvSpPr>
        <p:spPr>
          <a:xfrm>
            <a:off x="4295775" y="0"/>
            <a:ext cx="360000" cy="274638"/>
          </a:xfrm>
          <a:custGeom>
            <a:rect b="b" l="l" r="r" t="t"/>
            <a:pathLst>
              <a:path extrusionOk="0" h="274638" w="36000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6" name="Google Shape;86;p42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87" name="Google Shape;87;p42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8" name="Google Shape;88;p42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9" name="Google Shape;89;p42"/>
          <p:cNvSpPr txBox="1"/>
          <p:nvPr>
            <p:ph idx="1" type="body"/>
          </p:nvPr>
        </p:nvSpPr>
        <p:spPr>
          <a:xfrm>
            <a:off x="550862" y="196509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2" type="body"/>
          </p:nvPr>
        </p:nvSpPr>
        <p:spPr>
          <a:xfrm>
            <a:off x="6301305" y="1965095"/>
            <a:ext cx="5339397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2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ón">
  <p:cSld name="Título de secció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"/>
          <p:cNvSpPr txBox="1"/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/>
          <p:nvPr>
            <p:ph idx="2" type="pic"/>
          </p:nvPr>
        </p:nvSpPr>
        <p:spPr>
          <a:xfrm>
            <a:off x="0" y="4594"/>
            <a:ext cx="12192000" cy="3771878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43"/>
          <p:cNvSpPr/>
          <p:nvPr/>
        </p:nvSpPr>
        <p:spPr>
          <a:xfrm>
            <a:off x="1225773" y="385222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43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3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3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">
  <p:cSld name="Título + subtítulo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44"/>
          <p:cNvSpPr txBox="1"/>
          <p:nvPr>
            <p:ph type="ctrTitle"/>
          </p:nvPr>
        </p:nvSpPr>
        <p:spPr>
          <a:xfrm>
            <a:off x="1524000" y="137668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4"/>
          <p:cNvSpPr txBox="1"/>
          <p:nvPr>
            <p:ph idx="1" type="subTitle"/>
          </p:nvPr>
        </p:nvSpPr>
        <p:spPr>
          <a:xfrm>
            <a:off x="1524000" y="379984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44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4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4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 + imagen">
  <p:cSld name="Título + subtítulo + image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5"/>
          <p:cNvSpPr txBox="1"/>
          <p:nvPr>
            <p:ph type="ctrTitle"/>
          </p:nvPr>
        </p:nvSpPr>
        <p:spPr>
          <a:xfrm>
            <a:off x="550863" y="196900"/>
            <a:ext cx="4159160" cy="31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 txBox="1"/>
          <p:nvPr>
            <p:ph idx="1" type="subTitle"/>
          </p:nvPr>
        </p:nvSpPr>
        <p:spPr>
          <a:xfrm>
            <a:off x="547271" y="3505200"/>
            <a:ext cx="4159160" cy="23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1" name="Google Shape;111;p45"/>
          <p:cNvSpPr/>
          <p:nvPr/>
        </p:nvSpPr>
        <p:spPr>
          <a:xfrm>
            <a:off x="5668780" y="5059009"/>
            <a:ext cx="1080000" cy="108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2" name="Google Shape;112;p45"/>
          <p:cNvGrpSpPr/>
          <p:nvPr/>
        </p:nvGrpSpPr>
        <p:grpSpPr>
          <a:xfrm>
            <a:off x="10708081" y="4012605"/>
            <a:ext cx="897877" cy="934082"/>
            <a:chOff x="5129684" y="1232940"/>
            <a:chExt cx="897877" cy="934082"/>
          </a:xfrm>
        </p:grpSpPr>
        <p:sp>
          <p:nvSpPr>
            <p:cNvPr id="113" name="Google Shape;113;p45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4" name="Google Shape;114;p45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5" name="Google Shape;115;p45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16" name="Google Shape;116;p45"/>
          <p:cNvSpPr/>
          <p:nvPr>
            <p:ph idx="2" type="pic"/>
          </p:nvPr>
        </p:nvSpPr>
        <p:spPr>
          <a:xfrm>
            <a:off x="5678049" y="788713"/>
            <a:ext cx="5132388" cy="51323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7" name="Google Shape;117;p4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1">
  <p:cSld name="Título y contenido 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46"/>
          <p:cNvGrpSpPr/>
          <p:nvPr/>
        </p:nvGrpSpPr>
        <p:grpSpPr>
          <a:xfrm rot="10800000">
            <a:off x="8925426" y="-229892"/>
            <a:ext cx="3990589" cy="4054324"/>
            <a:chOff x="4285509" y="2736835"/>
            <a:chExt cx="3990589" cy="4054324"/>
          </a:xfrm>
        </p:grpSpPr>
        <p:sp>
          <p:nvSpPr>
            <p:cNvPr id="122" name="Google Shape;122;p46"/>
            <p:cNvSpPr/>
            <p:nvPr/>
          </p:nvSpPr>
          <p:spPr>
            <a:xfrm flipH="1" rot="8100000">
              <a:off x="4602175" y="3958416"/>
              <a:ext cx="3536330" cy="1853969"/>
            </a:xfrm>
            <a:custGeom>
              <a:rect b="b" l="l" r="r" t="t"/>
              <a:pathLst>
                <a:path extrusionOk="0" h="1853969" w="3536330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1000">
                  <a:srgbClr val="2B274A"/>
                </a:gs>
                <a:gs pos="97000">
                  <a:schemeClr val="dk2"/>
                </a:gs>
                <a:gs pos="100000">
                  <a:schemeClr val="dk2"/>
                </a:gs>
              </a:gsLst>
              <a:lin ang="15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23" name="Google Shape;123;p46"/>
            <p:cNvGrpSpPr/>
            <p:nvPr/>
          </p:nvGrpSpPr>
          <p:grpSpPr>
            <a:xfrm>
              <a:off x="4285509" y="2736835"/>
              <a:ext cx="3990588" cy="3990588"/>
              <a:chOff x="-737095" y="2736835"/>
              <a:chExt cx="3990588" cy="3990588"/>
            </a:xfrm>
          </p:grpSpPr>
          <p:sp>
            <p:nvSpPr>
              <p:cNvPr id="124" name="Google Shape;124;p46"/>
              <p:cNvSpPr/>
              <p:nvPr/>
            </p:nvSpPr>
            <p:spPr>
              <a:xfrm flipH="1" rot="8100000">
                <a:off x="-481151" y="3649708"/>
                <a:ext cx="3478701" cy="2164843"/>
              </a:xfrm>
              <a:custGeom>
                <a:rect b="b" l="l" r="r" t="t"/>
                <a:pathLst>
                  <a:path extrusionOk="0" h="2164843" w="3478701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rgbClr val="746EB3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5" name="Google Shape;125;p46"/>
              <p:cNvSpPr/>
              <p:nvPr/>
            </p:nvSpPr>
            <p:spPr>
              <a:xfrm flipH="1" rot="2700000">
                <a:off x="1512277" y="2840042"/>
                <a:ext cx="214196" cy="933178"/>
              </a:xfrm>
              <a:prstGeom prst="ellipse">
                <a:avLst/>
              </a:prstGeom>
              <a:solidFill>
                <a:srgbClr val="2B27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pSp>
        <p:nvGrpSpPr>
          <p:cNvPr id="126" name="Google Shape;126;p46"/>
          <p:cNvGrpSpPr/>
          <p:nvPr/>
        </p:nvGrpSpPr>
        <p:grpSpPr>
          <a:xfrm>
            <a:off x="8690355" y="4892075"/>
            <a:ext cx="1656714" cy="1656714"/>
            <a:chOff x="10112258" y="2147095"/>
            <a:chExt cx="1656714" cy="1656714"/>
          </a:xfrm>
        </p:grpSpPr>
        <p:sp>
          <p:nvSpPr>
            <p:cNvPr id="127" name="Google Shape;127;p46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8" name="Google Shape;128;p46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9" name="Google Shape;129;p46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130" name="Google Shape;130;p46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46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46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3" name="Google Shape;133;p46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4" name="Google Shape;134;p46"/>
          <p:cNvSpPr txBox="1"/>
          <p:nvPr>
            <p:ph type="title"/>
          </p:nvPr>
        </p:nvSpPr>
        <p:spPr>
          <a:xfrm>
            <a:off x="550862" y="498474"/>
            <a:ext cx="7960421" cy="1450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6"/>
          <p:cNvSpPr txBox="1"/>
          <p:nvPr>
            <p:ph idx="1" type="body"/>
          </p:nvPr>
        </p:nvSpPr>
        <p:spPr>
          <a:xfrm>
            <a:off x="581343" y="2103039"/>
            <a:ext cx="7929940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7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Play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7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2" name="Google Shape;142;p4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45" name="Google Shape;145;p47"/>
          <p:cNvSpPr/>
          <p:nvPr/>
        </p:nvSpPr>
        <p:spPr>
          <a:xfrm rot="2700000">
            <a:off x="612445" y="481888"/>
            <a:ext cx="1080000" cy="1262947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47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47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48" name="Google Shape;148;p47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149" name="Google Shape;149;p47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47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47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2" name="Google Shape;152;p47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47">
          <p15:clr>
            <a:srgbClr val="F26B43"/>
          </p15:clr>
        </p15:guide>
        <p15:guide id="4" pos="7333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824">
          <p15:clr>
            <a:srgbClr val="A4A3A4"/>
          </p15:clr>
        </p15:guide>
        <p15:guide id="8" pos="937">
          <p15:clr>
            <a:srgbClr val="A4A3A4"/>
          </p15:clr>
        </p15:guide>
        <p15:guide id="9" pos="1413">
          <p15:clr>
            <a:srgbClr val="A4A3A4"/>
          </p15:clr>
        </p15:guide>
        <p15:guide id="10" pos="1527">
          <p15:clr>
            <a:srgbClr val="A4A3A4"/>
          </p15:clr>
        </p15:guide>
        <p15:guide id="11" pos="2003">
          <p15:clr>
            <a:srgbClr val="A4A3A4"/>
          </p15:clr>
        </p15:guide>
        <p15:guide id="12" pos="2116">
          <p15:clr>
            <a:srgbClr val="A4A3A4"/>
          </p15:clr>
        </p15:guide>
        <p15:guide id="13" pos="2593">
          <p15:clr>
            <a:srgbClr val="A4A3A4"/>
          </p15:clr>
        </p15:guide>
        <p15:guide id="14" pos="2706">
          <p15:clr>
            <a:srgbClr val="A4A3A4"/>
          </p15:clr>
        </p15:guide>
        <p15:guide id="15" pos="3182">
          <p15:clr>
            <a:srgbClr val="A4A3A4"/>
          </p15:clr>
        </p15:guide>
        <p15:guide id="16" pos="3318">
          <p15:clr>
            <a:srgbClr val="A4A3A4"/>
          </p15:clr>
        </p15:guide>
        <p15:guide id="17" pos="3772">
          <p15:clr>
            <a:srgbClr val="A4A3A4"/>
          </p15:clr>
        </p15:guide>
        <p15:guide id="18" pos="3908">
          <p15:clr>
            <a:srgbClr val="A4A3A4"/>
          </p15:clr>
        </p15:guide>
        <p15:guide id="19" pos="4362">
          <p15:clr>
            <a:srgbClr val="A4A3A4"/>
          </p15:clr>
        </p15:guide>
        <p15:guide id="20" pos="4498">
          <p15:clr>
            <a:srgbClr val="A4A3A4"/>
          </p15:clr>
        </p15:guide>
        <p15:guide id="21" pos="4951">
          <p15:clr>
            <a:srgbClr val="A4A3A4"/>
          </p15:clr>
        </p15:guide>
        <p15:guide id="22" pos="5087">
          <p15:clr>
            <a:srgbClr val="A4A3A4"/>
          </p15:clr>
        </p15:guide>
        <p15:guide id="23" pos="5541">
          <p15:clr>
            <a:srgbClr val="A4A3A4"/>
          </p15:clr>
        </p15:guide>
        <p15:guide id="24" pos="5677">
          <p15:clr>
            <a:srgbClr val="A4A3A4"/>
          </p15:clr>
        </p15:guide>
        <p15:guide id="25" pos="6153">
          <p15:clr>
            <a:srgbClr val="A4A3A4"/>
          </p15:clr>
        </p15:guide>
        <p15:guide id="26" pos="6267">
          <p15:clr>
            <a:srgbClr val="A4A3A4"/>
          </p15:clr>
        </p15:guide>
        <p15:guide id="27" pos="6743">
          <p15:clr>
            <a:srgbClr val="A4A3A4"/>
          </p15:clr>
        </p15:guide>
        <p15:guide id="28" pos="6856">
          <p15:clr>
            <a:srgbClr val="A4A3A4"/>
          </p15:clr>
        </p15:guide>
        <p15:guide id="29" orient="horz" pos="3838">
          <p15:clr>
            <a:srgbClr val="A4A3A4"/>
          </p15:clr>
        </p15:guide>
        <p15:guide id="30" orient="horz" pos="2092">
          <p15:clr>
            <a:srgbClr val="A4A3A4"/>
          </p15:clr>
        </p15:guide>
        <p15:guide id="31" orient="horz" pos="2228">
          <p15:clr>
            <a:srgbClr val="A4A3A4"/>
          </p15:clr>
        </p15:guide>
        <p15:guide id="32" orient="horz" pos="845">
          <p15:clr>
            <a:srgbClr val="A4A3A4"/>
          </p15:clr>
        </p15:guide>
        <p15:guide id="33" orient="horz" pos="958">
          <p15:clr>
            <a:srgbClr val="A4A3A4"/>
          </p15:clr>
        </p15:guide>
        <p15:guide id="34" orient="horz" pos="1480">
          <p15:clr>
            <a:srgbClr val="A4A3A4"/>
          </p15:clr>
        </p15:guide>
        <p15:guide id="35" orient="horz" pos="1593">
          <p15:clr>
            <a:srgbClr val="A4A3A4"/>
          </p15:clr>
        </p15:guide>
        <p15:guide id="36" orient="horz" pos="2727">
          <p15:clr>
            <a:srgbClr val="A4A3A4"/>
          </p15:clr>
        </p15:guide>
        <p15:guide id="37" orient="horz" pos="2840">
          <p15:clr>
            <a:srgbClr val="A4A3A4"/>
          </p15:clr>
        </p15:guide>
        <p15:guide id="38" orient="horz" pos="3339">
          <p15:clr>
            <a:srgbClr val="A4A3A4"/>
          </p15:clr>
        </p15:guide>
        <p15:guide id="39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 txBox="1"/>
          <p:nvPr>
            <p:ph type="title"/>
          </p:nvPr>
        </p:nvSpPr>
        <p:spPr>
          <a:xfrm>
            <a:off x="550863" y="483924"/>
            <a:ext cx="11090275" cy="16840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0" i="0" lang="es-MX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Agenda</a:t>
            </a:r>
            <a:endParaRPr/>
          </a:p>
        </p:txBody>
      </p:sp>
      <p:sp>
        <p:nvSpPr>
          <p:cNvPr id="159" name="Google Shape;159;p2"/>
          <p:cNvSpPr txBox="1"/>
          <p:nvPr>
            <p:ph idx="1" type="body"/>
          </p:nvPr>
        </p:nvSpPr>
        <p:spPr>
          <a:xfrm>
            <a:off x="550863" y="2419350"/>
            <a:ext cx="11090274" cy="391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Introducción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Dudas generales o del proyecto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Avisos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Disponibilidad de la Información 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 codigo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0" i="1" lang="es-MX" sz="4800" u="none" cap="none" strike="noStrike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Disponibilidad de la Información: Acceso, Seguridad y Gestión</a:t>
            </a:r>
            <a:endParaRPr b="0" i="0" sz="4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Fondo digital de puntos de datos" id="166" name="Google Shape;166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936" r="7936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Definición</a:t>
            </a:r>
            <a:br>
              <a:rPr lang="es-MX"/>
            </a:br>
            <a:r>
              <a:rPr lang="es-MX" sz="1800"/>
              <a:t>"Garantizar que los datos sean accesibles y utilizables cuando se necesiten, por quienes estén autorizados."</a:t>
            </a:r>
            <a:endParaRPr sz="1800"/>
          </a:p>
        </p:txBody>
      </p:sp>
      <p:sp>
        <p:nvSpPr>
          <p:cNvPr id="172" name="Google Shape;172;p4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Elementos Clave: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Accesibilidad: Los datos deben estar disponibles en todo momento.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Usabilidad: La información debe ser fácil de recuperar y utilizar.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Seguridad: Solo las personas autorizadas pueden acceder a ella.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Resiliencia: Capacidad para recuperarse ante fallas o ataques.</a:t>
            </a:r>
            <a:endParaRPr/>
          </a:p>
        </p:txBody>
      </p:sp>
      <p:sp>
        <p:nvSpPr>
          <p:cNvPr id="173" name="Google Shape;173;p4"/>
          <p:cNvSpPr txBox="1"/>
          <p:nvPr>
            <p:ph idx="2" type="body"/>
          </p:nvPr>
        </p:nvSpPr>
        <p:spPr>
          <a:xfrm>
            <a:off x="6205540" y="2097175"/>
            <a:ext cx="5435600" cy="14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Ejemplo:</a:t>
            </a:r>
            <a:br>
              <a:rPr lang="es-MX"/>
            </a:br>
            <a:r>
              <a:rPr lang="es-MX"/>
              <a:t>Un banco necesita que su sistema esté disponible 24/7 para que los clientes puedan consultar su saldo y realizar transacciones en cualquier momento.</a:t>
            </a:r>
            <a:endParaRPr/>
          </a:p>
        </p:txBody>
      </p:sp>
      <p:pic>
        <p:nvPicPr>
          <p:cNvPr descr="Una señal de negocio de color azul&#10;&#10;Descripción generada automáticamente con confianza media" id="174" name="Google Shape;1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3556000"/>
            <a:ext cx="4341340" cy="267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>
            <p:ph type="title"/>
          </p:nvPr>
        </p:nvSpPr>
        <p:spPr>
          <a:xfrm>
            <a:off x="423863" y="102925"/>
            <a:ext cx="11090275" cy="6844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3200"/>
              <a:t>Importancia de la Disponibilidad de la Información</a:t>
            </a:r>
            <a:endParaRPr sz="3200"/>
          </a:p>
        </p:txBody>
      </p:sp>
      <p:grpSp>
        <p:nvGrpSpPr>
          <p:cNvPr id="180" name="Google Shape;180;p5"/>
          <p:cNvGrpSpPr/>
          <p:nvPr/>
        </p:nvGrpSpPr>
        <p:grpSpPr>
          <a:xfrm>
            <a:off x="439753" y="1083190"/>
            <a:ext cx="11074373" cy="4885809"/>
            <a:chOff x="15889" y="-72510"/>
            <a:chExt cx="11074373" cy="4885809"/>
          </a:xfrm>
        </p:grpSpPr>
        <p:sp>
          <p:nvSpPr>
            <p:cNvPr id="181" name="Google Shape;181;p5"/>
            <p:cNvSpPr/>
            <p:nvPr/>
          </p:nvSpPr>
          <p:spPr>
            <a:xfrm>
              <a:off x="1088728" y="0"/>
              <a:ext cx="1155365" cy="87601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15889" y="1032794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15889" y="1032794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Gill Sans"/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228608" y="1589816"/>
              <a:ext cx="3301043" cy="205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228608" y="1589816"/>
              <a:ext cx="3301043" cy="205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Impacto en los Negocios: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i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Pérdidas económicas</a:t>
              </a: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El downtime puede costar millones en sectores críticos.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i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Interrupciones operativas</a:t>
              </a: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Detiene procesos esenciales y afecta la productividad.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i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Pérdida de confianza</a:t>
              </a: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Clientes y usuarios pueden migrar a la competencia.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4967454" y="-72510"/>
              <a:ext cx="1155365" cy="87601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3894615" y="960283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3894615" y="960283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Gill Sans"/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4021606" y="1577527"/>
              <a:ext cx="3301043" cy="2346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4021606" y="1577527"/>
              <a:ext cx="3301043" cy="2346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Relación con la Tríada CIA: Confidencialidad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Solo quienes tienen permiso pueden acceder a los datos.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Integridad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La información debe ser precisa y confiable.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Disponibilidad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Los datos deben estar accesibles cuando se necesiten.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8846180" y="0"/>
              <a:ext cx="1155365" cy="87601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789219" y="1627463"/>
              <a:ext cx="3301043" cy="2286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7789219" y="1627463"/>
              <a:ext cx="3301043" cy="2286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Objetivos de la Presentación:</a:t>
              </a:r>
              <a:b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</a:b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Explicar desafíos en la disponibilidad de la información.</a:t>
              </a:r>
              <a:b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</a:b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Analizar tecnologías utilizadas para garantizar acceso continuo.</a:t>
              </a:r>
              <a:b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</a:b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Presentar mejores prácticas para evitar interrupciones.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7773341" y="2756562"/>
              <a:ext cx="3301043" cy="205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/>
          <p:nvPr>
            <p:ph type="title"/>
          </p:nvPr>
        </p:nvSpPr>
        <p:spPr>
          <a:xfrm>
            <a:off x="6941820" y="65798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Fundamentos </a:t>
            </a:r>
            <a:endParaRPr/>
          </a:p>
        </p:txBody>
      </p:sp>
      <p:pic>
        <p:nvPicPr>
          <p:cNvPr descr="Imagen que contiene Texto&#10;&#10;Descripción generada automáticamente" id="200" name="Google Shape;200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4019" r="3967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Componentes de la Disponibilidad de la Información</a:t>
            </a:r>
            <a:endParaRPr/>
          </a:p>
        </p:txBody>
      </p:sp>
      <p:pic>
        <p:nvPicPr>
          <p:cNvPr id="206" name="Google Shape;20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63" y="2070100"/>
            <a:ext cx="3294113" cy="346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>
            <p:ph type="title"/>
          </p:nvPr>
        </p:nvSpPr>
        <p:spPr>
          <a:xfrm>
            <a:off x="549536" y="549275"/>
            <a:ext cx="5179330" cy="17494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/>
              <a:t>Métricas Clave</a:t>
            </a:r>
            <a:endParaRPr/>
          </a:p>
        </p:txBody>
      </p:sp>
      <p:pic>
        <p:nvPicPr>
          <p:cNvPr descr="Imagen que contiene Icono&#10;&#10;Descripción generada automáticamente" id="212" name="Google Shape;21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834" y="2705100"/>
            <a:ext cx="4919662" cy="32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>
            <p:ph idx="2" type="pic"/>
          </p:nvPr>
        </p:nvSpPr>
        <p:spPr>
          <a:xfrm>
            <a:off x="5926138" y="549275"/>
            <a:ext cx="5654675" cy="57880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Tecnologías para Garantizar Disponibilidad </a:t>
            </a:r>
            <a:b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pic>
        <p:nvPicPr>
          <p:cNvPr descr="Un hombre con traje y corbata con un celular en la calle&#10;&#10;Descripción generada automáticamente" id="219" name="Google Shape;219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060" r="21060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>
            <p:ph idx="1" type="body"/>
          </p:nvPr>
        </p:nvSpPr>
        <p:spPr>
          <a:xfrm>
            <a:off x="195263" y="435987"/>
            <a:ext cx="3690937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🔄 Redundancia:</a:t>
            </a:r>
            <a:endParaRPr/>
          </a:p>
          <a:p>
            <a:pPr indent="0" lvl="0" marL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✔ </a:t>
            </a:r>
            <a:r>
              <a:rPr b="1" lang="es-MX"/>
              <a:t>Discos RAID</a:t>
            </a:r>
            <a:r>
              <a:rPr lang="es-MX"/>
              <a:t>: Protegen contra fallos de almacenamiento.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Servidores espejo</a:t>
            </a:r>
            <a:r>
              <a:rPr lang="es-MX"/>
              <a:t>: Réplicas exactas para garantizar continuidad.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Centros de datos distribuidos</a:t>
            </a:r>
            <a:r>
              <a:rPr lang="es-MX"/>
              <a:t>: Infraestructura en múltiples ubicaciones para evitar interrupciones.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4354511" y="2037889"/>
            <a:ext cx="3500438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⚖ Balanceo de Carga: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Distribuye el tráfico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entre múltiples servidores para evitar sobrecargas.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Ejemplos: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AWS ELB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(Elastic Load Balancer)</a:t>
            </a:r>
            <a:endParaRPr/>
          </a:p>
          <a:p>
            <a:pPr indent="-11430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Nginx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(Proxy inverso y balanceador de carga)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8323261" y="3429000"/>
            <a:ext cx="3673476" cy="2949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☁ Almacenamiento en la Nube: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Escalabilidad: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Se adapta a la demanda sin intervención manual.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Redundancia geográfica: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Copias de datos en distintas regiones para evitar pérdidas.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AWS S3, Google Cloud Storage.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/>
          <p:nvPr>
            <p:ph idx="1" type="body"/>
          </p:nvPr>
        </p:nvSpPr>
        <p:spPr>
          <a:xfrm>
            <a:off x="195263" y="588386"/>
            <a:ext cx="3754437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💾 Backups y Recuperación: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Estrategia 3-2-1:</a:t>
            </a:r>
            <a:endParaRPr/>
          </a:p>
          <a:p>
            <a:pPr indent="-105727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3 copias</a:t>
            </a:r>
            <a:r>
              <a:rPr lang="es-MX"/>
              <a:t> de los datos.</a:t>
            </a:r>
            <a:endParaRPr/>
          </a:p>
          <a:p>
            <a:pPr indent="-105727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2 medios diferentes</a:t>
            </a:r>
            <a:r>
              <a:rPr lang="es-MX"/>
              <a:t> (disco local, NAS, etc.).</a:t>
            </a:r>
            <a:endParaRPr/>
          </a:p>
          <a:p>
            <a:pPr indent="-105727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1 copia externa</a:t>
            </a:r>
            <a:r>
              <a:rPr lang="es-MX"/>
              <a:t> (nube o sitio remoto).</a:t>
            </a:r>
            <a:br>
              <a:rPr lang="es-MX"/>
            </a:br>
            <a:r>
              <a:rPr lang="es-MX"/>
              <a:t>✔ Respaldos incrementales y diferenciales para optimizar almacenamiento.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4468811" y="2190289"/>
            <a:ext cx="3500438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🖥️ Virtualización y Contenedores: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VMware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Máquinas virtuales para minimizar tiempo de recuperación.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Docker &amp; Kubernetes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Facilitan la escalabilidad y alta disponibilidad en aplicaciones.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8323261" y="3429000"/>
            <a:ext cx="3673476" cy="2949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🌎 CDN (Redes de Distribución de Contenido):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Reduce latencia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almacenando copias en servidores distribuidos globalmente.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Protección ante ataques DDoS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al filtrar tráfico malicioso.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i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Cloudflare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para mejorar velocidad y seguridad en sitios web.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 txBox="1"/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0" i="0" lang="es-MX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Seguridad y Disponibilidad</a:t>
            </a:r>
            <a:endParaRPr b="0" i="0" sz="54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Fondo digital de puntos de datos" id="240" name="Google Shape;240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1" l="0" r="0" t="52"/>
          <a:stretch/>
        </p:blipFill>
        <p:spPr>
          <a:xfrm>
            <a:off x="0" y="4594"/>
            <a:ext cx="12192000" cy="377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Seguridad y Disponibilidad</a:t>
            </a:r>
            <a:endParaRPr/>
          </a:p>
        </p:txBody>
      </p:sp>
      <p:sp>
        <p:nvSpPr>
          <p:cNvPr id="246" name="Google Shape;246;p13"/>
          <p:cNvSpPr txBox="1"/>
          <p:nvPr>
            <p:ph idx="1" type="body"/>
          </p:nvPr>
        </p:nvSpPr>
        <p:spPr>
          <a:xfrm>
            <a:off x="553720" y="1917065"/>
            <a:ext cx="2921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SQL Injection y Prevención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💻 SQL Injection</a:t>
            </a:r>
            <a:br>
              <a:rPr lang="es-MX" sz="1500"/>
            </a:br>
            <a:r>
              <a:rPr lang="es-MX" sz="1500"/>
              <a:t>⚠ Un atacante inserta código SQL malicioso en formularios web.</a:t>
            </a:r>
            <a:br>
              <a:rPr lang="es-MX" sz="1500"/>
            </a:br>
            <a:r>
              <a:rPr lang="es-MX" sz="1500"/>
              <a:t>⚠ Puede robar, modificar o eliminar bases de datos enteras.</a:t>
            </a:r>
            <a:br>
              <a:rPr lang="es-MX" sz="1500"/>
            </a:br>
            <a:r>
              <a:rPr lang="es-MX" sz="1500"/>
              <a:t>⚠ Ejemplo: Robo de datos en sitios de comercio electrónico.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✅ Prevención:</a:t>
            </a:r>
            <a:br>
              <a:rPr lang="es-MX" sz="1500"/>
            </a:br>
            <a:r>
              <a:rPr lang="es-MX" sz="1500"/>
              <a:t>✔ Filtrar y validar entradas de usuario.</a:t>
            </a:r>
            <a:br>
              <a:rPr lang="es-MX" sz="1500"/>
            </a:br>
            <a:r>
              <a:rPr lang="es-MX" sz="1500"/>
              <a:t>✔ Usar consultas preparadas (Prepared Statements).</a:t>
            </a:r>
            <a:br>
              <a:rPr lang="es-MX" sz="1500"/>
            </a:br>
            <a:r>
              <a:rPr lang="es-MX" sz="1500"/>
              <a:t>✔ Implementar firewalls y monitoreo constante.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  <p:grpSp>
        <p:nvGrpSpPr>
          <p:cNvPr id="247" name="Google Shape;247;p13"/>
          <p:cNvGrpSpPr/>
          <p:nvPr/>
        </p:nvGrpSpPr>
        <p:grpSpPr>
          <a:xfrm>
            <a:off x="4048759" y="1917065"/>
            <a:ext cx="7591799" cy="4297680"/>
            <a:chOff x="0" y="0"/>
            <a:chExt cx="7591799" cy="4297680"/>
          </a:xfrm>
        </p:grpSpPr>
        <p:sp>
          <p:nvSpPr>
            <p:cNvPr id="248" name="Google Shape;248;p13"/>
            <p:cNvSpPr/>
            <p:nvPr/>
          </p:nvSpPr>
          <p:spPr>
            <a:xfrm rot="5400000">
              <a:off x="3443351" y="-280535"/>
              <a:ext cx="3438144" cy="485875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AE8D9">
                <a:alpha val="89803"/>
              </a:srgbClr>
            </a:solidFill>
            <a:ln cap="flat" cmpd="sng" w="12700">
              <a:solidFill>
                <a:srgbClr val="CAE8D9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2733048" y="597604"/>
              <a:ext cx="4690915" cy="3102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425" lIns="102850" spcFirstLastPara="1" rIns="102850" wrap="square" tIns="514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Char char="•"/>
              </a:pPr>
              <a:r>
                <a:rPr b="0" i="0" lang="es-MX" sz="27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Pueden bloquear el acceso a sistemas y datos críticos.</a:t>
              </a:r>
              <a:endParaRPr b="0" i="0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Char char="•"/>
              </a:pPr>
              <a:r>
                <a:rPr b="0" i="0" lang="es-MX" sz="27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Generan pérdidas económicas y dañan la reputación.</a:t>
              </a:r>
              <a:endParaRPr b="0" i="0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Char char="•"/>
              </a:pPr>
              <a:r>
                <a:rPr b="0" i="0" lang="es-MX" sz="27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Pueden ser parte de ataques más amplios que comprometen la seguridad general.</a:t>
              </a:r>
              <a:endParaRPr b="0" i="0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0" y="0"/>
              <a:ext cx="2733047" cy="4297680"/>
            </a:xfrm>
            <a:prstGeom prst="roundRect">
              <a:avLst>
                <a:gd fmla="val 16667" name="adj"/>
              </a:avLst>
            </a:prstGeom>
            <a:solidFill>
              <a:srgbClr val="11BD8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133416" y="133416"/>
              <a:ext cx="2466215" cy="4030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Gill Sans"/>
                <a:buNone/>
              </a:pPr>
              <a:r>
                <a:rPr b="1" lang="es-MX" sz="26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¿Cómo afectan los ataques a la disponibilidad?</a:t>
              </a:r>
              <a:endParaRPr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ndo digital de puntos de datos" id="257" name="Google Shape;257;p14"/>
          <p:cNvPicPr preferRelativeResize="0"/>
          <p:nvPr>
            <p:ph idx="2" type="pic"/>
          </p:nvPr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4"/>
          <p:cNvSpPr txBox="1"/>
          <p:nvPr>
            <p:ph type="ctrTitle"/>
          </p:nvPr>
        </p:nvSpPr>
        <p:spPr>
          <a:xfrm>
            <a:off x="1524000" y="217678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0" i="0" lang="es-MX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Casos Prácticos: Lecciones de Disponibilidad</a:t>
            </a:r>
            <a:endParaRPr b="0" i="0" sz="54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 txBox="1"/>
          <p:nvPr>
            <p:ph type="ctrTitle"/>
          </p:nvPr>
        </p:nvSpPr>
        <p:spPr>
          <a:xfrm>
            <a:off x="550863" y="196900"/>
            <a:ext cx="4159160" cy="31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0" i="0" lang="es-MX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Superar el nerviosismo</a:t>
            </a:r>
            <a:endParaRPr/>
          </a:p>
        </p:txBody>
      </p:sp>
      <p:sp>
        <p:nvSpPr>
          <p:cNvPr id="265" name="Google Shape;265;p15"/>
          <p:cNvSpPr txBox="1"/>
          <p:nvPr>
            <p:ph idx="1" type="subTitle"/>
          </p:nvPr>
        </p:nvSpPr>
        <p:spPr>
          <a:xfrm>
            <a:off x="547271" y="3505200"/>
            <a:ext cx="3526889" cy="23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Estrategias para aumentar la confianza</a:t>
            </a:r>
            <a:endParaRPr/>
          </a:p>
        </p:txBody>
      </p:sp>
      <p:pic>
        <p:nvPicPr>
          <p:cNvPr descr="Una persona dibujando sobre una pizarra" id="266" name="Google Shape;266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8049" y="788713"/>
            <a:ext cx="5132388" cy="51323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/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0" i="0" lang="es-MX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Caso 1: Netflix y la Alta Disponibilidad</a:t>
            </a:r>
            <a:endParaRPr b="0" i="0" sz="4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3" name="Google Shape;273;p16"/>
          <p:cNvSpPr txBox="1"/>
          <p:nvPr>
            <p:ph idx="1" type="body"/>
          </p:nvPr>
        </p:nvSpPr>
        <p:spPr>
          <a:xfrm>
            <a:off x="550862" y="196509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Desafío: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Garantizar disponibilidad global para millones de usuarios.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Solución: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Uso de múltiples regiones en la nube (AWS).</a:t>
            </a:r>
            <a:endParaRPr/>
          </a:p>
          <a:p>
            <a:pPr indent="-11430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basada en microservicios.</a:t>
            </a:r>
            <a:endParaRPr/>
          </a:p>
          <a:p>
            <a:pPr indent="-11430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1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Chaos Engineering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Simulación de fallos para fortalecer la infraestructura.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Lección: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Redundancia y pruebas constantes mejoran la resiliencia.</a:t>
            </a:r>
            <a:endParaRPr/>
          </a:p>
        </p:txBody>
      </p:sp>
      <p:pic>
        <p:nvPicPr>
          <p:cNvPr descr="Un conjunto de imágenes de una persona&#10;&#10;Descripción generada automáticamente con confianza baja" id="274" name="Google Shape;274;p16"/>
          <p:cNvPicPr preferRelativeResize="0"/>
          <p:nvPr/>
        </p:nvPicPr>
        <p:blipFill rotWithShape="1">
          <a:blip r:embed="rId3">
            <a:alphaModFix/>
          </a:blip>
          <a:srcRect b="0" l="7270" r="3531" t="0"/>
          <a:stretch/>
        </p:blipFill>
        <p:spPr>
          <a:xfrm>
            <a:off x="6301305" y="1965095"/>
            <a:ext cx="5339397" cy="39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type="title"/>
          </p:nvPr>
        </p:nvSpPr>
        <p:spPr>
          <a:xfrm>
            <a:off x="549536" y="549275"/>
            <a:ext cx="5179330" cy="23463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/>
              <a:t>Caso 2: Facebook y el Downtime de 2021</a:t>
            </a:r>
            <a:endParaRPr/>
          </a:p>
        </p:txBody>
      </p:sp>
      <p:sp>
        <p:nvSpPr>
          <p:cNvPr id="280" name="Google Shape;280;p17"/>
          <p:cNvSpPr txBox="1"/>
          <p:nvPr>
            <p:ph idx="1" type="body"/>
          </p:nvPr>
        </p:nvSpPr>
        <p:spPr>
          <a:xfrm>
            <a:off x="549537" y="3124200"/>
            <a:ext cx="5179330" cy="322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s-MX" sz="1700"/>
              <a:t>🔹 </a:t>
            </a:r>
            <a:r>
              <a:rPr b="1" lang="es-MX" sz="1700"/>
              <a:t>Problema:</a:t>
            </a:r>
            <a:r>
              <a:rPr lang="es-MX" sz="1700"/>
              <a:t> Caída global de Facebook, WhatsApp e Instagram por fallos en su red interna.</a:t>
            </a:r>
            <a:br>
              <a:rPr lang="es-MX" sz="1700"/>
            </a:br>
            <a:r>
              <a:rPr lang="es-MX" sz="1700"/>
              <a:t>🔹 </a:t>
            </a:r>
            <a:r>
              <a:rPr b="1" lang="es-MX" sz="1700"/>
              <a:t>Causas:</a:t>
            </a:r>
            <a:endParaRPr sz="1700"/>
          </a:p>
          <a:p>
            <a:pPr indent="-1079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MX" sz="1700"/>
              <a:t>Cambio de configuración erróneo en sus routers.</a:t>
            </a:r>
            <a:endParaRPr/>
          </a:p>
          <a:p>
            <a:pPr indent="-1079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MX" sz="1700"/>
              <a:t>Falta de acceso remoto dificultó la recuperación.</a:t>
            </a:r>
            <a:br>
              <a:rPr lang="es-MX" sz="1700"/>
            </a:br>
            <a:r>
              <a:rPr lang="es-MX" sz="1700"/>
              <a:t>🔹 </a:t>
            </a:r>
            <a:r>
              <a:rPr b="1" lang="es-MX" sz="1700"/>
              <a:t>Lección:</a:t>
            </a:r>
            <a:r>
              <a:rPr lang="es-MX" sz="1700"/>
              <a:t> Un solo punto de fallo puede generar un apagón masivo. Es clave tener accesos alternativos y pruebas rigurosas.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descr="Un dibujo con letras&#10;&#10;Descripción generada automáticamente con confianza baja" id="281" name="Google Shape;281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90" r="1213" t="0"/>
          <a:stretch/>
        </p:blipFill>
        <p:spPr>
          <a:xfrm>
            <a:off x="6256338" y="688975"/>
            <a:ext cx="5654675" cy="5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 sz="5400"/>
              <a:t>Análisis de Impacto Económico</a:t>
            </a:r>
            <a:br>
              <a:rPr lang="es-MX"/>
            </a:br>
            <a:r>
              <a:rPr lang="es-MX" sz="2000"/>
              <a:t>La disponibilidad no es solo técnica, también tiene un alto costo económico.</a:t>
            </a:r>
            <a:endParaRPr sz="2000"/>
          </a:p>
        </p:txBody>
      </p:sp>
      <p:sp>
        <p:nvSpPr>
          <p:cNvPr id="287" name="Google Shape;287;p18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🔹 </a:t>
            </a:r>
            <a:r>
              <a:rPr b="1" lang="es-MX"/>
              <a:t>Amazon:</a:t>
            </a:r>
            <a:r>
              <a:rPr lang="es-MX"/>
              <a:t> Pierde aproximadamente </a:t>
            </a:r>
            <a:r>
              <a:rPr b="1" lang="es-MX"/>
              <a:t>$5,600 por minuto</a:t>
            </a:r>
            <a:r>
              <a:rPr lang="es-MX"/>
              <a:t> de inactividad. </a:t>
            </a:r>
            <a:r>
              <a:rPr i="1" lang="es-MX"/>
              <a:t>(Fuente: Gartner)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Hospitales y regulaciones HIPAA:</a:t>
            </a:r>
            <a:r>
              <a:rPr lang="es-MX"/>
              <a:t> Multas e impacto financiero de </a:t>
            </a:r>
            <a:r>
              <a:rPr b="1" lang="es-MX"/>
              <a:t>$50,000 por hora</a:t>
            </a:r>
            <a:r>
              <a:rPr lang="es-MX"/>
              <a:t> por incumplimiento.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Banca y Finanzas:</a:t>
            </a:r>
            <a:r>
              <a:rPr lang="es-MX"/>
              <a:t> Caídas en sistemas pueden generar pérdidas millonarias y afectar la confianza de los clientes.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Reflexión Final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✔ La alta disponibilidad es una inversión, no un gasto.</a:t>
            </a:r>
            <a:br>
              <a:rPr lang="es-MX"/>
            </a:br>
            <a:r>
              <a:rPr lang="es-MX"/>
              <a:t>✔ Downtime no solo genera costos directos, sino pérdida de reputación y confianza.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Imagen que contiene exterior, luz, oscuro, noche&#10;&#10;Descripción generada automáticamente" id="288" name="Google Shape;288;p1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538" y="2355281"/>
            <a:ext cx="5435600" cy="34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Play"/>
              <a:buNone/>
            </a:pPr>
            <a:r>
              <a:rPr b="0" i="0" lang="es-MX" sz="3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Lecciones Aprendidas</a:t>
            </a:r>
            <a:br>
              <a:rPr b="0" i="0" lang="es-MX" sz="3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s-MX" sz="3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Los errores enseñan más que el éxito. ¿Qué aprendimos de grandes caídas?</a:t>
            </a:r>
            <a:endParaRPr b="0" i="0" sz="31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5" name="Google Shape;295;p19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🟢 Netflix: Redundancia y Pruebas Proactivas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✔ Uso de múltiples regiones en la nube.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✔ </a:t>
            </a:r>
            <a:r>
              <a:rPr b="0" i="1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Chaos Engineering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Simulación de fallos para mejorar resiliencia.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✔ Arquitectura distribuida basada en microservicios.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🔴 Facebook: Errores en Protocolos de Red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❌ Cambio de configuración erróneo causó caída global.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❌ Falta de acceso remoto dificultó recuperación.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❌ No se implementó un plan de rollback efectivo.</a:t>
            </a:r>
            <a:endParaRPr/>
          </a:p>
        </p:txBody>
      </p:sp>
      <p:graphicFrame>
        <p:nvGraphicFramePr>
          <p:cNvPr id="296" name="Google Shape;296;p19"/>
          <p:cNvGraphicFramePr/>
          <p:nvPr/>
        </p:nvGraphicFramePr>
        <p:xfrm>
          <a:off x="550862" y="2634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{7E20C9AB-8CCE-4D44-AA0A-2225292FD1C8}</a:tableStyleId>
              </a:tblPr>
              <a:tblGrid>
                <a:gridCol w="2646225"/>
                <a:gridCol w="2789375"/>
              </a:tblGrid>
              <a:tr h="37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✅ Qué Hacer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❌ Qué Evitar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Tener redundancia en servidores y datos.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Depender de una sola ubicación o punto de fallo.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Realizar pruebas de fallos regularmente.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No simular escenarios de desastre.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Implementar planes de rollback.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Hacer cambios sin estrategias de reversión.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Monitoreo constante con alertas tempranas.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Descubrir fallos solo cuando ocurren.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 txBox="1"/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1" i="0" lang="es-MX"/>
              <a:t>Marcos Normativos y Estándares</a:t>
            </a:r>
            <a:br>
              <a:rPr b="1" i="0" lang="es-MX"/>
            </a:br>
            <a:endParaRPr/>
          </a:p>
        </p:txBody>
      </p:sp>
      <p:pic>
        <p:nvPicPr>
          <p:cNvPr descr="Imagen que contiene interior, tabla, pieza, libro&#10;&#10;Descripción generada automáticamente" id="302" name="Google Shape;302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3461" l="0" r="0" t="11540"/>
          <a:stretch/>
        </p:blipFill>
        <p:spPr>
          <a:xfrm>
            <a:off x="20" y="4594"/>
            <a:ext cx="12191980" cy="377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Reglas del Juego: Normativas y SLAs</a:t>
            </a:r>
            <a:br>
              <a:rPr lang="es-MX"/>
            </a:br>
            <a:r>
              <a:rPr lang="es-MX" sz="2000"/>
              <a:t>"Cumplir no es opcional; es estratégico."</a:t>
            </a:r>
            <a:endParaRPr sz="2000"/>
          </a:p>
        </p:txBody>
      </p:sp>
      <p:sp>
        <p:nvSpPr>
          <p:cNvPr id="308" name="Google Shape;308;p21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¿Por qué son importantes las Normativas y SLAs?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🔹 </a:t>
            </a:r>
            <a:r>
              <a:rPr b="1" lang="es-MX"/>
              <a:t>Garantizan la calidad</a:t>
            </a:r>
            <a:r>
              <a:rPr lang="es-MX"/>
              <a:t> del servicio que se ofrece a los usuarios.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Protegen la integridad</a:t>
            </a:r>
            <a:r>
              <a:rPr lang="es-MX"/>
              <a:t> y disponibilidad de los datos en diversos sectores.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Establecen expectativas claras</a:t>
            </a:r>
            <a:r>
              <a:rPr lang="es-MX"/>
              <a:t> entre proveedores y clientes.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Reducción de riesgos legales</a:t>
            </a:r>
            <a:r>
              <a:rPr lang="es-MX"/>
              <a:t> y financieros al cumplir con los requisitos legales.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Normativas Relevantes: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HIPAA</a:t>
            </a:r>
            <a:r>
              <a:rPr lang="es-MX"/>
              <a:t> (para salud): Asegura la privacidad de los datos médicos.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GDPR</a:t>
            </a:r>
            <a:r>
              <a:rPr lang="es-MX"/>
              <a:t> (para Europa): Protección de datos personales.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ISO 27001</a:t>
            </a:r>
            <a:r>
              <a:rPr lang="es-MX"/>
              <a:t>: Establece los requisitos para un sistema de gestión de seguridad de la información.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ISO 27001 – Seguridad de la Información</a:t>
            </a:r>
            <a:endParaRPr/>
          </a:p>
        </p:txBody>
      </p:sp>
      <p:pic>
        <p:nvPicPr>
          <p:cNvPr descr="Un conjunto de letras blancas en un fondo blanco&#10;&#10;Descripción generada automáticamente con confianza baja" id="315" name="Google Shape;31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446" l="0" r="-3" t="12880"/>
          <a:stretch/>
        </p:blipFill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Requisitos clave de ISO 27001:</a:t>
            </a:r>
            <a:endParaRPr sz="1500"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ay"/>
              <a:buAutoNum type="arabicPeriod"/>
            </a:pPr>
            <a:r>
              <a:rPr b="1" lang="es-MX" sz="1500"/>
              <a:t>Gestión de riesgos:</a:t>
            </a:r>
            <a:r>
              <a:rPr lang="es-MX" sz="1500"/>
              <a:t> Identificación, evaluación y tratamiento de riesgos relacionados con la seguridad de la información.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ay"/>
              <a:buAutoNum type="arabicPeriod"/>
            </a:pPr>
            <a:r>
              <a:rPr b="1" lang="es-MX" sz="1500"/>
              <a:t>Controles de acceso:</a:t>
            </a:r>
            <a:r>
              <a:rPr lang="es-MX" sz="1500"/>
              <a:t> Políticas para garantizar que solo personas autorizadas accedan a la información.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ay"/>
              <a:buAutoNum type="arabicPeriod"/>
            </a:pPr>
            <a:r>
              <a:rPr b="1" lang="es-MX" sz="1500"/>
              <a:t>Planes de continuidad:</a:t>
            </a:r>
            <a:r>
              <a:rPr lang="es-MX" sz="1500"/>
              <a:t> Estrategias para mantener la operación y recuperar datos en caso de incidentes.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🔹 Beneficio Clave: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s-MX" sz="1500"/>
              <a:t>✔ </a:t>
            </a:r>
            <a:r>
              <a:rPr b="1" lang="es-MX" sz="1500"/>
              <a:t>Reducción de incidentes de disponibilidad:</a:t>
            </a:r>
            <a:r>
              <a:rPr lang="es-MX" sz="1500"/>
              <a:t> Implementar ISO 27001 puede reducir los incidentes de disponibilidad en un </a:t>
            </a:r>
            <a:r>
              <a:rPr b="1" lang="es-MX" sz="1500"/>
              <a:t>40%</a:t>
            </a:r>
            <a:r>
              <a:rPr lang="es-MX" sz="1500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Regulaciones Globales (GDPR, HIPAA)</a:t>
            </a:r>
            <a:endParaRPr/>
          </a:p>
        </p:txBody>
      </p:sp>
      <p:sp>
        <p:nvSpPr>
          <p:cNvPr id="322" name="Google Shape;322;p23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🔐 GDPR (Unión Europea)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s-MX" sz="1500"/>
              <a:t>📌 </a:t>
            </a:r>
            <a:r>
              <a:rPr b="1" lang="es-MX" sz="1500"/>
              <a:t>Multas</a:t>
            </a:r>
            <a:r>
              <a:rPr lang="es-MX" sz="1500"/>
              <a:t>: Hasta el </a:t>
            </a:r>
            <a:r>
              <a:rPr b="1" lang="es-MX" sz="1500"/>
              <a:t>4% de los ingresos globales</a:t>
            </a:r>
            <a:r>
              <a:rPr lang="es-MX" sz="1500"/>
              <a:t> de la empresa por no garantizar el acceso y protección de los datos personales.</a:t>
            </a:r>
            <a:br>
              <a:rPr lang="es-MX" sz="1500"/>
            </a:br>
            <a:r>
              <a:rPr lang="es-MX" sz="1500"/>
              <a:t>📌 </a:t>
            </a:r>
            <a:r>
              <a:rPr b="1" lang="es-MX" sz="1500"/>
              <a:t>Requisitos</a:t>
            </a:r>
            <a:r>
              <a:rPr lang="es-MX" sz="1500"/>
              <a:t>: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/>
              <a:t>Consentimiento explícito de los usuarios para el manejo de sus datos.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/>
              <a:t>Protección de datos durante todo el ciclo de vida (recolección, almacenamiento y eliminación).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/>
              <a:t>Notificación rápida de brechas de seguridad.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s-MX" sz="1500"/>
              <a:t>GDPR</a:t>
            </a:r>
            <a:r>
              <a:rPr lang="es-MX" sz="1500"/>
              <a:t>: Unión Europea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  <p:sp>
        <p:nvSpPr>
          <p:cNvPr id="323" name="Google Shape;323;p23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🏥 HIPAA (EE. UU.)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📌 </a:t>
            </a:r>
            <a:r>
              <a:rPr b="1" lang="es-MX"/>
              <a:t>Requisitos</a:t>
            </a:r>
            <a:r>
              <a:rPr lang="es-MX"/>
              <a:t>: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Backups diarios</a:t>
            </a:r>
            <a:r>
              <a:rPr lang="es-MX"/>
              <a:t>: Los proveedores de salud deben garantizar la disponibilidad y recuperación de datos médicos.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Protección de información sensible</a:t>
            </a:r>
            <a:r>
              <a:rPr lang="es-MX"/>
              <a:t>: Mantener la confidencialidad de los registros de salud de los pacientes.</a:t>
            </a:r>
            <a:br>
              <a:rPr lang="es-MX"/>
            </a:br>
            <a:r>
              <a:rPr lang="es-MX"/>
              <a:t>📌 </a:t>
            </a:r>
            <a:r>
              <a:rPr b="1" lang="es-MX"/>
              <a:t>Multas</a:t>
            </a:r>
            <a:r>
              <a:rPr lang="es-MX"/>
              <a:t>: Pueden ser significativas en caso de incumplimiento.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HIPAA</a:t>
            </a:r>
            <a:r>
              <a:rPr lang="es-MX"/>
              <a:t>: Estados Unidos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Acuerdos de Nivel de Servicio (SLA)</a:t>
            </a:r>
            <a:endParaRPr/>
          </a:p>
        </p:txBody>
      </p:sp>
      <p:sp>
        <p:nvSpPr>
          <p:cNvPr id="329" name="Google Shape;329;p24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🌐 AWS (Amazon Web Services)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Uptime garantizado:</a:t>
            </a:r>
            <a:r>
              <a:rPr lang="es-MX"/>
              <a:t> </a:t>
            </a:r>
            <a:r>
              <a:rPr b="1" lang="es-MX"/>
              <a:t>99.99%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Downtime estimado:</a:t>
            </a:r>
            <a:r>
              <a:rPr lang="es-MX"/>
              <a:t> ~52 minutos al año.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☁️ Azure (Microsoft)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Uptime garantizado:</a:t>
            </a:r>
            <a:r>
              <a:rPr lang="es-MX"/>
              <a:t> </a:t>
            </a:r>
            <a:r>
              <a:rPr b="1" lang="es-MX"/>
              <a:t>99.9%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Downtime estimado:</a:t>
            </a:r>
            <a:r>
              <a:rPr lang="es-MX"/>
              <a:t> ~8.8 horas al año.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🌩️ Google Cloud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Uptime garantizado:</a:t>
            </a:r>
            <a:r>
              <a:rPr lang="es-MX"/>
              <a:t> </a:t>
            </a:r>
            <a:r>
              <a:rPr b="1" lang="es-MX"/>
              <a:t>99.95%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Downtime estimado:</a:t>
            </a:r>
            <a:r>
              <a:rPr lang="es-MX"/>
              <a:t> ~4.38 horas al año.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 txBox="1"/>
          <p:nvPr>
            <p:ph idx="2" type="body"/>
          </p:nvPr>
        </p:nvSpPr>
        <p:spPr>
          <a:xfrm>
            <a:off x="5176911" y="2663431"/>
            <a:ext cx="5435600" cy="561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Visual: Tabla Comparativa de SLAs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31" name="Google Shape;331;p24"/>
          <p:cNvGraphicFramePr/>
          <p:nvPr/>
        </p:nvGraphicFramePr>
        <p:xfrm>
          <a:off x="5176911" y="3353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{7E20C9AB-8CCE-4D44-AA0A-2225292FD1C8}</a:tableStyleId>
              </a:tblPr>
              <a:tblGrid>
                <a:gridCol w="2203950"/>
                <a:gridCol w="2203950"/>
                <a:gridCol w="2203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cap="none" strike="noStrike"/>
                        <a:t>Proveedor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Uptime Garantizado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Downtime Estimado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99.99%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~52 minutos/año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Azure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99.99%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~8.8 horas/año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Google Cloud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99.99%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~4.38 horas/año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Consecuencias de Incumplimiento</a:t>
            </a:r>
            <a:endParaRPr/>
          </a:p>
        </p:txBody>
      </p:sp>
      <p:sp>
        <p:nvSpPr>
          <p:cNvPr id="337" name="Google Shape;337;p25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Multa a British Airways (2018)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Multa:</a:t>
            </a:r>
            <a:r>
              <a:rPr lang="es-MX"/>
              <a:t> £20 millones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Causa:</a:t>
            </a:r>
            <a:r>
              <a:rPr lang="es-MX"/>
              <a:t> Fallos graves en la disponibilidad de servicios online que afectaron a millones de clientes.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Impacto: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Pérdida de confianza</a:t>
            </a:r>
            <a:r>
              <a:rPr lang="es-MX"/>
              <a:t> de los clientes.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Daño a la reputación</a:t>
            </a:r>
            <a:r>
              <a:rPr lang="es-MX"/>
              <a:t> de la marca.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Reembolso</a:t>
            </a:r>
            <a:r>
              <a:rPr lang="es-MX"/>
              <a:t> a clientes afectados.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Imagen que contiene Diagrama&#10;&#10;Descripción generada automáticamente" id="338" name="Google Shape;338;p2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538" y="2471826"/>
            <a:ext cx="5435600" cy="3246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Tendencias Futuras</a:t>
            </a:r>
            <a:b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pic>
        <p:nvPicPr>
          <p:cNvPr descr="Imagen de la pantalla de un video juego&#10;&#10;Descripción generada automáticamente con confianza baja" id="344" name="Google Shape;344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654" r="4953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El Futuro de la Disponibilidad</a:t>
            </a:r>
            <a:br>
              <a:rPr lang="es-MX"/>
            </a:br>
            <a:r>
              <a:rPr lang="es-MX"/>
              <a:t>“La tecnología avanza; los riesgos también.”</a:t>
            </a:r>
            <a:endParaRPr/>
          </a:p>
        </p:txBody>
      </p:sp>
      <p:grpSp>
        <p:nvGrpSpPr>
          <p:cNvPr id="350" name="Google Shape;350;p27"/>
          <p:cNvGrpSpPr/>
          <p:nvPr/>
        </p:nvGrpSpPr>
        <p:grpSpPr>
          <a:xfrm>
            <a:off x="550862" y="2150594"/>
            <a:ext cx="5435600" cy="3888811"/>
            <a:chOff x="0" y="53419"/>
            <a:chExt cx="5435600" cy="3888811"/>
          </a:xfrm>
        </p:grpSpPr>
        <p:sp>
          <p:nvSpPr>
            <p:cNvPr id="351" name="Google Shape;351;p27"/>
            <p:cNvSpPr/>
            <p:nvPr/>
          </p:nvSpPr>
          <p:spPr>
            <a:xfrm>
              <a:off x="0" y="319099"/>
              <a:ext cx="5435600" cy="15025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 txBox="1"/>
            <p:nvPr/>
          </p:nvSpPr>
          <p:spPr>
            <a:xfrm>
              <a:off x="0" y="319099"/>
              <a:ext cx="5435600" cy="1502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421850" spcFirstLastPara="1" rIns="421850" wrap="square" tIns="3749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Monitoreo proactivo: Detección automática de fallos y resolución sin intervención humana.</a:t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Análisis predictivo: Anticipación de posibles caídas para mejorar la resiliencia.</a:t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271780" y="53419"/>
              <a:ext cx="3804920" cy="53136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 txBox="1"/>
            <p:nvPr/>
          </p:nvSpPr>
          <p:spPr>
            <a:xfrm>
              <a:off x="297719" y="79358"/>
              <a:ext cx="3753042" cy="47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Inteligencia Artificial (IA) y Automatización: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0" y="2184530"/>
              <a:ext cx="5435600" cy="17577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 txBox="1"/>
            <p:nvPr/>
          </p:nvSpPr>
          <p:spPr>
            <a:xfrm>
              <a:off x="0" y="2184530"/>
              <a:ext cx="5435600" cy="17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421850" spcFirstLastPara="1" rIns="421850" wrap="square" tIns="3749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Procesamiento de datos cerca del usuario: Minimiza la latencia y mejora la disponibilidad global.</a:t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Reducción de la dependencia de servidores centrales.</a:t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271780" y="1918850"/>
              <a:ext cx="3804920" cy="53136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 txBox="1"/>
            <p:nvPr/>
          </p:nvSpPr>
          <p:spPr>
            <a:xfrm>
              <a:off x="297719" y="1944789"/>
              <a:ext cx="3753042" cy="47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Edge Computing: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359" name="Google Shape;359;p27"/>
          <p:cNvGrpSpPr/>
          <p:nvPr/>
        </p:nvGrpSpPr>
        <p:grpSpPr>
          <a:xfrm>
            <a:off x="6384930" y="2157277"/>
            <a:ext cx="5435600" cy="3875445"/>
            <a:chOff x="0" y="60102"/>
            <a:chExt cx="5435600" cy="3875445"/>
          </a:xfrm>
        </p:grpSpPr>
        <p:sp>
          <p:nvSpPr>
            <p:cNvPr id="360" name="Google Shape;360;p27"/>
            <p:cNvSpPr/>
            <p:nvPr/>
          </p:nvSpPr>
          <p:spPr>
            <a:xfrm>
              <a:off x="0" y="370062"/>
              <a:ext cx="5435600" cy="142222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 txBox="1"/>
            <p:nvPr/>
          </p:nvSpPr>
          <p:spPr>
            <a:xfrm>
              <a:off x="0" y="370062"/>
              <a:ext cx="5435600" cy="142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421850" spcFirstLastPara="1" rIns="421850" wrap="square" tIns="4373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Gill Sans"/>
                <a:buChar char="•"/>
              </a:pPr>
              <a:r>
                <a:rPr b="0" i="0" lang="es-MX" sz="21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Redundancia distribuida: Registros descentralizados para aumentar la disponibilidad y evitar caídas.</a:t>
              </a:r>
              <a:endParaRPr b="0" i="0" sz="2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271780" y="60102"/>
              <a:ext cx="3804920" cy="61992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 txBox="1"/>
            <p:nvPr/>
          </p:nvSpPr>
          <p:spPr>
            <a:xfrm>
              <a:off x="302042" y="90364"/>
              <a:ext cx="374439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Gill Sans"/>
                <a:buNone/>
              </a:pPr>
              <a:r>
                <a:rPr lang="es-MX" sz="21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Blockchain para Seguridad y Disponibilidad:</a:t>
              </a:r>
              <a:endParaRPr sz="2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0" y="2215647"/>
              <a:ext cx="5435600" cy="17199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7"/>
            <p:cNvSpPr txBox="1"/>
            <p:nvPr/>
          </p:nvSpPr>
          <p:spPr>
            <a:xfrm>
              <a:off x="0" y="2215647"/>
              <a:ext cx="5435600" cy="17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421850" spcFirstLastPara="1" rIns="421850" wrap="square" tIns="4373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Gill Sans"/>
                <a:buChar char="•"/>
              </a:pPr>
              <a:r>
                <a:rPr b="0" i="0" lang="es-MX" sz="21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Despliegue de infraestructuras de manera automatizada para evitar errores humanos y aumentar la disponibilidad.</a:t>
              </a:r>
              <a:endParaRPr b="0" i="0" sz="21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271780" y="1905687"/>
              <a:ext cx="3804920" cy="61992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7"/>
            <p:cNvSpPr txBox="1"/>
            <p:nvPr/>
          </p:nvSpPr>
          <p:spPr>
            <a:xfrm>
              <a:off x="302042" y="1935949"/>
              <a:ext cx="374439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Gill Sans"/>
                <a:buNone/>
              </a:pPr>
              <a:r>
                <a:rPr lang="es-MX" sz="21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Infraestructuras como Código (IaC):</a:t>
              </a:r>
              <a:endParaRPr sz="2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"/>
          <p:cNvSpPr txBox="1"/>
          <p:nvPr>
            <p:ph type="title"/>
          </p:nvPr>
        </p:nvSpPr>
        <p:spPr>
          <a:xfrm>
            <a:off x="549536" y="549275"/>
            <a:ext cx="5179330" cy="7588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/>
              <a:t>Edge Computing</a:t>
            </a:r>
            <a:endParaRPr/>
          </a:p>
        </p:txBody>
      </p:sp>
      <p:sp>
        <p:nvSpPr>
          <p:cNvPr id="373" name="Google Shape;373;p28"/>
          <p:cNvSpPr txBox="1"/>
          <p:nvPr>
            <p:ph idx="1" type="body"/>
          </p:nvPr>
        </p:nvSpPr>
        <p:spPr>
          <a:xfrm>
            <a:off x="549537" y="1600200"/>
            <a:ext cx="5179330" cy="475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📌 </a:t>
            </a:r>
            <a:r>
              <a:rPr b="1" lang="es-MX"/>
              <a:t>¿Qué es Edge Computing?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Procesamiento cercano al usuario</a:t>
            </a:r>
            <a:r>
              <a:rPr lang="es-MX"/>
              <a:t>: En lugar de enviar todos los datos a un centro de datos centralizado, el procesamiento se realiza localmente en dispositivos cercanos al usuario.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s-MX" sz="1600"/>
              <a:t>Ejemplos: </a:t>
            </a:r>
            <a:r>
              <a:rPr b="1" lang="es-MX" sz="1600"/>
              <a:t>IoT (Internet de las Cosas)</a:t>
            </a:r>
            <a:r>
              <a:rPr lang="es-MX" sz="1600"/>
              <a:t>, </a:t>
            </a:r>
            <a:r>
              <a:rPr b="1" lang="es-MX" sz="1600"/>
              <a:t>5G</a:t>
            </a:r>
            <a:r>
              <a:rPr lang="es-MX" sz="1600"/>
              <a:t>, </a:t>
            </a:r>
            <a:r>
              <a:rPr b="1" lang="es-MX" sz="1600"/>
              <a:t>dispositivos inteligentes</a:t>
            </a:r>
            <a:r>
              <a:rPr lang="es-MX"/>
              <a:t>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🔍 Beneficios de Edge Computing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Reducción de latencia</a:t>
            </a:r>
            <a:r>
              <a:rPr lang="es-MX"/>
              <a:t> en un </a:t>
            </a:r>
            <a:r>
              <a:rPr b="1" lang="es-MX"/>
              <a:t>50%</a:t>
            </a:r>
            <a:r>
              <a:rPr lang="es-MX"/>
              <a:t>. </a:t>
            </a:r>
            <a:r>
              <a:rPr i="1" lang="es-MX"/>
              <a:t>(Fuente: IDC)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s-MX"/>
              <a:t>Mejora la experiencia del usuario al reducir el tiempo de respuesta.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Mayor disponibilidad y resiliencia</a:t>
            </a:r>
            <a:r>
              <a:rPr lang="es-MX"/>
              <a:t>: Al procesar datos localmente, la infraestructura es menos vulnerable a caídas globales.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Optimización de ancho de banda</a:t>
            </a:r>
            <a:r>
              <a:rPr lang="es-MX"/>
              <a:t>: Solo se envían datos relevantes al centro de datos, lo que reduce el tráfico y la carga de la red.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Imagen que contiene Mapa&#10;&#10;Descripción generada automáticamente" id="374" name="Google Shape;374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81" r="35292" t="0"/>
          <a:stretch/>
        </p:blipFill>
        <p:spPr>
          <a:xfrm>
            <a:off x="5926138" y="549275"/>
            <a:ext cx="5654675" cy="5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IA para Monitoreo Proactivo</a:t>
            </a:r>
            <a:endParaRPr/>
          </a:p>
        </p:txBody>
      </p:sp>
      <p:pic>
        <p:nvPicPr>
          <p:cNvPr descr="Imagen que contiene raqueta, sostener, mujer, jugador&#10;&#10;Descripción generada automáticamente" id="380" name="Google Shape;3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23" y="1834773"/>
            <a:ext cx="5545137" cy="3188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 txBox="1"/>
          <p:nvPr>
            <p:ph type="title"/>
          </p:nvPr>
        </p:nvSpPr>
        <p:spPr>
          <a:xfrm>
            <a:off x="550863" y="483924"/>
            <a:ext cx="11090275" cy="16840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1" lang="es-MX"/>
              <a:t>Quantum Computing </a:t>
            </a:r>
            <a:br>
              <a:rPr b="1" lang="es-MX"/>
            </a:br>
            <a:endParaRPr/>
          </a:p>
        </p:txBody>
      </p:sp>
      <p:sp>
        <p:nvSpPr>
          <p:cNvPr id="386" name="Google Shape;386;p30"/>
          <p:cNvSpPr txBox="1"/>
          <p:nvPr>
            <p:ph idx="1" type="body"/>
          </p:nvPr>
        </p:nvSpPr>
        <p:spPr>
          <a:xfrm>
            <a:off x="550863" y="2044700"/>
            <a:ext cx="11090274" cy="4329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s-MX" sz="1600"/>
              <a:t>📌 </a:t>
            </a:r>
            <a:r>
              <a:rPr b="1" lang="es-MX" sz="1600"/>
              <a:t>Amenaza: Rompería la Encriptación Actual</a:t>
            </a:r>
            <a:endParaRPr sz="1600"/>
          </a:p>
          <a:p>
            <a:pPr indent="-1016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Impacto:</a:t>
            </a:r>
            <a:endParaRPr sz="1600"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Riesgo de seguridad</a:t>
            </a:r>
            <a:r>
              <a:rPr lang="es-MX" sz="1600"/>
              <a:t>: La computación cuántica podría romper algoritmos de encriptación utilizados hoy en día, como </a:t>
            </a:r>
            <a:r>
              <a:rPr b="1" lang="es-MX" sz="1600"/>
              <a:t>RSA</a:t>
            </a:r>
            <a:r>
              <a:rPr lang="es-MX" sz="1600"/>
              <a:t>, que son fundamentales para proteger la disponibilidad y privacidad de la información.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Vulnerabilidad de sistemas críticos</a:t>
            </a:r>
            <a:r>
              <a:rPr lang="es-MX" sz="1600"/>
              <a:t>: La confidencialidad y la integridad de los datos podrían verse comprometidas.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s-MX" sz="1600"/>
              <a:t>💡 Oportunidad: Simulación de Redundancia Ultra-rápida</a:t>
            </a:r>
            <a:endParaRPr b="1" sz="1600"/>
          </a:p>
          <a:p>
            <a:pPr indent="-1016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Optimización de sistemas</a:t>
            </a:r>
            <a:r>
              <a:rPr lang="es-MX" sz="1600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MX" sz="1600"/>
              <a:t>La computación cuántica podría permitir la creación de </a:t>
            </a:r>
            <a:r>
              <a:rPr b="1" lang="es-MX" sz="1600"/>
              <a:t>redes y sistemas de redundancia</a:t>
            </a:r>
            <a:r>
              <a:rPr lang="es-MX" sz="1600"/>
              <a:t> mucho más rápidos y eficientes, reduciendo tiempos de recuperación y mejorando la disponibilidad.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Simulación de grandes volúmenes de datos</a:t>
            </a:r>
            <a:r>
              <a:rPr lang="es-MX" sz="1600"/>
              <a:t>: Permite modelar fallos y escenarios de recuperación de manera mucho más precisa y veloz</a:t>
            </a:r>
            <a:r>
              <a:rPr lang="es-MX" sz="1400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/>
          <p:nvPr>
            <p:ph type="ctrTitle"/>
          </p:nvPr>
        </p:nvSpPr>
        <p:spPr>
          <a:xfrm>
            <a:off x="614363" y="1851050"/>
            <a:ext cx="4159160" cy="31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0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Conclusión y Recomendaciones</a:t>
            </a:r>
            <a:b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pic>
        <p:nvPicPr>
          <p:cNvPr descr="Un dibujo de un perro&#10;&#10;Descripción generada automáticamente con confianza media" id="392" name="Google Shape;392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749" l="0" r="0" t="9750"/>
          <a:stretch/>
        </p:blipFill>
        <p:spPr>
          <a:xfrm>
            <a:off x="5678049" y="788713"/>
            <a:ext cx="5132388" cy="51323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Disponibilidad = Prioridad</a:t>
            </a:r>
            <a:endParaRPr/>
          </a:p>
        </p:txBody>
      </p:sp>
      <p:sp>
        <p:nvSpPr>
          <p:cNvPr id="398" name="Google Shape;398;p32"/>
          <p:cNvSpPr txBox="1"/>
          <p:nvPr>
            <p:ph idx="1" type="body"/>
          </p:nvPr>
        </p:nvSpPr>
        <p:spPr>
          <a:xfrm>
            <a:off x="550863" y="1820315"/>
            <a:ext cx="10663238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AutoNum type="arabicPeriod"/>
            </a:pPr>
            <a:r>
              <a:rPr lang="es-MX"/>
              <a:t>La disponibilidad afecta directamente al negocio.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Cada minuto de inactividad puede significar pérdidas económicas y daño reputacional.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AutoNum type="arabicPeriod"/>
            </a:pPr>
            <a:r>
              <a:rPr lang="es-MX"/>
              <a:t>Requiere enfoque en tecnología + capacitación + cumplimiento.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No solo es cuestión de tener la infraestructura adecuada, sino también capacitar al personal y cumplir con normativas y SLAs.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AutoNum type="arabicPeriod"/>
            </a:pPr>
            <a:r>
              <a:rPr lang="es-MX"/>
              <a:t>Ejemplos como Netflix y Facebook son lecciones claras.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Netflix invirtió en redundancia, mientras que Facebook revisó protocolos de red, ambos aprendiendo de sus caídas pasadas.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3"/>
          <p:cNvSpPr txBox="1"/>
          <p:nvPr>
            <p:ph type="title"/>
          </p:nvPr>
        </p:nvSpPr>
        <p:spPr>
          <a:xfrm>
            <a:off x="550862" y="498474"/>
            <a:ext cx="7960421" cy="1450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Recomendaciones Accionables</a:t>
            </a:r>
            <a:endParaRPr/>
          </a:p>
        </p:txBody>
      </p:sp>
      <p:sp>
        <p:nvSpPr>
          <p:cNvPr id="404" name="Google Shape;404;p33"/>
          <p:cNvSpPr txBox="1"/>
          <p:nvPr>
            <p:ph idx="1" type="body"/>
          </p:nvPr>
        </p:nvSpPr>
        <p:spPr>
          <a:xfrm>
            <a:off x="550862" y="1798239"/>
            <a:ext cx="9832657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✅ </a:t>
            </a:r>
            <a:r>
              <a:rPr b="1" lang="es-MX"/>
              <a:t>Backups automatizados (regla 3-2-1)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 sz="1800"/>
              <a:t>Mantén </a:t>
            </a:r>
            <a:r>
              <a:rPr b="1" lang="es-MX" sz="1800"/>
              <a:t>3 copias</a:t>
            </a:r>
            <a:r>
              <a:rPr lang="es-MX" sz="1800"/>
              <a:t> de los datos, en </a:t>
            </a:r>
            <a:r>
              <a:rPr b="1" lang="es-MX" sz="1800"/>
              <a:t>2 medios diferentes</a:t>
            </a:r>
            <a:r>
              <a:rPr lang="es-MX" sz="1800"/>
              <a:t>, y al menos </a:t>
            </a:r>
            <a:r>
              <a:rPr b="1" lang="es-MX" sz="1800"/>
              <a:t>1 copia externa</a:t>
            </a:r>
            <a:r>
              <a:rPr lang="es-MX" sz="1800"/>
              <a:t>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✅ </a:t>
            </a:r>
            <a:r>
              <a:rPr b="1" lang="es-MX"/>
              <a:t>Pruebas de recuperación cada 6 meses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 sz="1800"/>
              <a:t>Realiza simulacros de recuperación de datos para asegurar que los procesos sean efectivos cuando se necesiten.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✅ </a:t>
            </a:r>
            <a:r>
              <a:rPr b="1" lang="es-MX"/>
              <a:t>SLAs revisados por legales + IT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 sz="1800"/>
              <a:t>Asegúrate de que los </a:t>
            </a:r>
            <a:r>
              <a:rPr b="1" lang="es-MX" sz="1800"/>
              <a:t>acuerdos de nivel de servicio (SLAs)</a:t>
            </a:r>
            <a:r>
              <a:rPr lang="es-MX" sz="1800"/>
              <a:t> sean revisados y ajustados regularmente por </a:t>
            </a:r>
            <a:r>
              <a:rPr b="1" lang="es-MX" sz="1800"/>
              <a:t>departamentos legales</a:t>
            </a:r>
            <a:r>
              <a:rPr lang="es-MX" sz="1800"/>
              <a:t> e </a:t>
            </a:r>
            <a:r>
              <a:rPr b="1" lang="es-MX" sz="1800"/>
              <a:t>informática</a:t>
            </a:r>
            <a:r>
              <a:rPr lang="es-MX" sz="1800"/>
              <a:t> para mantener estándares adecuados.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1" lang="es-MX"/>
              <a:t>¡Implementa estas recomendaciones para garantizar la disponibilidad!</a:t>
            </a:r>
            <a:endParaRPr/>
          </a:p>
          <a:p>
            <a:pPr indent="-13335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b="0" i="0" lang="es-MX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Gracias</a:t>
            </a:r>
            <a:endParaRPr/>
          </a:p>
        </p:txBody>
      </p:sp>
      <p:pic>
        <p:nvPicPr>
          <p:cNvPr descr="Aplicación&#10;&#10;Descripción generada automáticamente" id="411" name="Google Shape;411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645" r="12645" t="0"/>
          <a:stretch/>
        </p:blipFill>
        <p:spPr>
          <a:xfrm>
            <a:off x="19" y="0"/>
            <a:ext cx="626741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DFloatVTI">
  <a:themeElements>
    <a:clrScheme name="Float">
      <a:dk1>
        <a:srgbClr val="000000"/>
      </a:dk1>
      <a:lt1>
        <a:srgbClr val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2025-03-24T14:45:00Z</dcterms:created>
  <dc:creator>Saul Andre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  <property fmtid="{D5CDD505-2E9C-101B-9397-08002B2CF9AE}" pid="3" name="MediaServiceImageTags">
    <vt:lpwstr/>
  </property>
</Properties>
</file>