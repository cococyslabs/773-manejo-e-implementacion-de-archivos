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8229600" cx="14630400"/>
  <p:notesSz cx="8229600" cy="14630400"/>
  <p:embeddedFontLst>
    <p:embeddedFont>
      <p:font typeface="Roboto"/>
      <p:regular r:id="rId13"/>
      <p:bold r:id="rId14"/>
      <p:italic r:id="rId15"/>
      <p:boldItalic r:id="rId16"/>
    </p:embeddedFont>
    <p:embeddedFont>
      <p:font typeface="Saira Medium"/>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hAIe0nb8tAQ9VKhg3Mr7HxapqA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SairaMedium-boldItalic.fntdata"/><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font" Target="fonts/Roboto-regular.fntdata"/><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SairaMedium-regular.fntdata"/><Relationship Id="rId16" Type="http://schemas.openxmlformats.org/officeDocument/2006/relationships/font" Target="fonts/Roboto-boldItalic.fntdata"/><Relationship Id="rId5" Type="http://schemas.openxmlformats.org/officeDocument/2006/relationships/slide" Target="slides/slide1.xml"/><Relationship Id="rId19" Type="http://schemas.openxmlformats.org/officeDocument/2006/relationships/font" Target="fonts/SairaMedium-italic.fntdata"/><Relationship Id="rId6" Type="http://schemas.openxmlformats.org/officeDocument/2006/relationships/slide" Target="slides/slide2.xml"/><Relationship Id="rId18" Type="http://schemas.openxmlformats.org/officeDocument/2006/relationships/font" Target="fonts/SairaMedium-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 name="Google Shape;7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hyperlink" Target="https://gamma.app/?utm_source=made-with-gamma" TargetMode="Externa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10"/>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11"/>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12"/>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13"/>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14"/>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15"/>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16"/>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17"/>
          <p:cNvSpPr/>
          <p:nvPr/>
        </p:nvSpPr>
        <p:spPr>
          <a:xfrm>
            <a:off x="0" y="0"/>
            <a:ext cx="14630400" cy="8229600"/>
          </a:xfrm>
          <a:prstGeom prst="rect">
            <a:avLst/>
          </a:prstGeom>
          <a:solidFill>
            <a:srgbClr val="030303">
              <a:alpha val="7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42" name="Shape 4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 name="Shape 47"/>
        <p:cNvGrpSpPr/>
        <p:nvPr/>
      </p:nvGrpSpPr>
      <p:grpSpPr>
        <a:xfrm>
          <a:off x="0" y="0"/>
          <a:ext cx="0" cy="0"/>
          <a:chOff x="0" y="0"/>
          <a:chExt cx="0" cy="0"/>
        </a:xfrm>
      </p:grpSpPr>
      <p:pic>
        <p:nvPicPr>
          <p:cNvPr descr="preencoded.png" id="48" name="Google Shape;48;p1"/>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9" name="Google Shape;49;p1"/>
          <p:cNvSpPr/>
          <p:nvPr/>
        </p:nvSpPr>
        <p:spPr>
          <a:xfrm>
            <a:off x="6280190" y="825937"/>
            <a:ext cx="7556421" cy="1956435"/>
          </a:xfrm>
          <a:prstGeom prst="rect">
            <a:avLst/>
          </a:prstGeom>
          <a:noFill/>
          <a:ln>
            <a:noFill/>
          </a:ln>
        </p:spPr>
        <p:txBody>
          <a:bodyPr anchorCtr="0" anchor="t" bIns="0" lIns="0" spcFirstLastPara="1" rIns="0" wrap="square" tIns="0">
            <a:noAutofit/>
          </a:bodyPr>
          <a:lstStyle/>
          <a:p>
            <a:pPr indent="0" lvl="0" marL="0" marR="0" rtl="0" algn="l">
              <a:lnSpc>
                <a:spcPct val="125203"/>
              </a:lnSpc>
              <a:spcBef>
                <a:spcPts val="0"/>
              </a:spcBef>
              <a:spcAft>
                <a:spcPts val="0"/>
              </a:spcAft>
              <a:buClr>
                <a:srgbClr val="FFFFFF"/>
              </a:buClr>
              <a:buSzPts val="6150"/>
              <a:buFont typeface="Saira Medium"/>
              <a:buNone/>
            </a:pPr>
            <a:r>
              <a:rPr b="0" i="0" lang="en-US" sz="6150" u="none" cap="none" strike="noStrike">
                <a:solidFill>
                  <a:srgbClr val="FFFFFF"/>
                </a:solidFill>
                <a:latin typeface="Saira Medium"/>
                <a:ea typeface="Saira Medium"/>
                <a:cs typeface="Saira Medium"/>
                <a:sym typeface="Saira Medium"/>
              </a:rPr>
              <a:t>Introducción a RAID: Concepto y Tipos</a:t>
            </a:r>
            <a:endParaRPr b="0" i="0" sz="6150" u="none" cap="none" strike="noStrike"/>
          </a:p>
        </p:txBody>
      </p:sp>
      <p:sp>
        <p:nvSpPr>
          <p:cNvPr id="50" name="Google Shape;50;p1"/>
          <p:cNvSpPr/>
          <p:nvPr/>
        </p:nvSpPr>
        <p:spPr>
          <a:xfrm>
            <a:off x="6280190" y="3122533"/>
            <a:ext cx="7556421" cy="362902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(Redundant Array of Independent Disks) es una tecnología de almacenamiento que combina múltiples unidades de disco duro para mejorar el rendimiento, la fiabilidad y la capacidad de los sistemas de almacenamiento. Al agrupar varios discos duros, RAID ofrece una variedad de beneficios, como una mayor velocidad de lectura/escritura, redundancia de datos y tolerancia a fallos. Existen diferentes niveles de RAID, cada uno con sus propias características y aplicaciones específicas. En esta presentación, exploraremos los conceptos clave de RAID y los principales niveles, desde el RAID 0 orientado al rendimiento hasta el RAID 6 y RAID 10 que priorizan la tolerancia a fallos.</a:t>
            </a:r>
            <a:endParaRPr b="0" i="0" sz="1750" u="none" cap="none" strike="noStrike"/>
          </a:p>
        </p:txBody>
      </p:sp>
      <p:sp>
        <p:nvSpPr>
          <p:cNvPr id="51" name="Google Shape;51;p1"/>
          <p:cNvSpPr/>
          <p:nvPr/>
        </p:nvSpPr>
        <p:spPr>
          <a:xfrm>
            <a:off x="6280190" y="7023616"/>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2"/>
          <p:cNvSpPr/>
          <p:nvPr/>
        </p:nvSpPr>
        <p:spPr>
          <a:xfrm>
            <a:off x="721043" y="731282"/>
            <a:ext cx="7351871" cy="643771"/>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FFFFF"/>
              </a:buClr>
              <a:buSzPts val="4050"/>
              <a:buFont typeface="Saira Medium"/>
              <a:buNone/>
            </a:pPr>
            <a:r>
              <a:rPr b="0" i="0" lang="en-US" sz="4050" u="none" cap="none" strike="noStrike">
                <a:solidFill>
                  <a:srgbClr val="FFFFFF"/>
                </a:solidFill>
                <a:latin typeface="Saira Medium"/>
                <a:ea typeface="Saira Medium"/>
                <a:cs typeface="Saira Medium"/>
                <a:sym typeface="Saira Medium"/>
              </a:rPr>
              <a:t>RAID 0: Rendimiento mejorado</a:t>
            </a:r>
            <a:endParaRPr b="0" i="0" sz="4050" u="none" cap="none" strike="noStrike"/>
          </a:p>
        </p:txBody>
      </p:sp>
      <p:sp>
        <p:nvSpPr>
          <p:cNvPr id="58" name="Google Shape;58;p2"/>
          <p:cNvSpPr/>
          <p:nvPr/>
        </p:nvSpPr>
        <p:spPr>
          <a:xfrm>
            <a:off x="721043" y="5136952"/>
            <a:ext cx="13188315" cy="22860"/>
          </a:xfrm>
          <a:prstGeom prst="roundRect">
            <a:avLst>
              <a:gd fmla="val 811156" name="adj"/>
            </a:avLst>
          </a:prstGeom>
          <a:solidFill>
            <a:srgbClr val="FFFFFF">
              <a:alpha val="2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a:off x="3955018" y="4415969"/>
            <a:ext cx="22860" cy="721043"/>
          </a:xfrm>
          <a:prstGeom prst="roundRect">
            <a:avLst>
              <a:gd fmla="val 811156"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3734752" y="4905196"/>
            <a:ext cx="463510" cy="463510"/>
          </a:xfrm>
          <a:prstGeom prst="roundRect">
            <a:avLst>
              <a:gd fmla="val 40006"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3907274" y="4982349"/>
            <a:ext cx="118348"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1</a:t>
            </a:r>
            <a:endParaRPr b="0" i="0" sz="2400" u="none" cap="none" strike="noStrike"/>
          </a:p>
        </p:txBody>
      </p:sp>
      <p:sp>
        <p:nvSpPr>
          <p:cNvPr id="62" name="Google Shape;62;p2"/>
          <p:cNvSpPr/>
          <p:nvPr/>
        </p:nvSpPr>
        <p:spPr>
          <a:xfrm>
            <a:off x="2571155" y="1787009"/>
            <a:ext cx="2790944" cy="32182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Segmentación de datos</a:t>
            </a:r>
            <a:endParaRPr b="0" i="0" sz="2000" u="none" cap="none" strike="noStrike"/>
          </a:p>
        </p:txBody>
      </p:sp>
      <p:sp>
        <p:nvSpPr>
          <p:cNvPr id="63" name="Google Shape;63;p2"/>
          <p:cNvSpPr/>
          <p:nvPr/>
        </p:nvSpPr>
        <p:spPr>
          <a:xfrm>
            <a:off x="927021" y="2232422"/>
            <a:ext cx="6079212" cy="1977390"/>
          </a:xfrm>
          <a:prstGeom prst="rect">
            <a:avLst/>
          </a:prstGeom>
          <a:noFill/>
          <a:ln>
            <a:noFill/>
          </a:ln>
        </p:spPr>
        <p:txBody>
          <a:bodyPr anchorCtr="0" anchor="t" bIns="0" lIns="0" spcFirstLastPara="1" rIns="0" wrap="square" tIns="0">
            <a:noAutofit/>
          </a:bodyPr>
          <a:lstStyle/>
          <a:p>
            <a:pPr indent="0" lvl="0" marL="0" marR="0" rtl="0" algn="ctr">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El RAID 0 divide los datos en bloques más pequeños y los distribuye uniformemente entre las unidades de disco. Esto permite una lectura y escritura simultánea en varios discos, lo que mejora significativamente el rendimiento en aplicaciones que requieren un alto ancho de banda, como edición de vídeo o servidores de archivos.</a:t>
            </a:r>
            <a:endParaRPr b="0" i="0" sz="1600" u="none" cap="none" strike="noStrike"/>
          </a:p>
        </p:txBody>
      </p:sp>
      <p:sp>
        <p:nvSpPr>
          <p:cNvPr id="64" name="Google Shape;64;p2"/>
          <p:cNvSpPr/>
          <p:nvPr/>
        </p:nvSpPr>
        <p:spPr>
          <a:xfrm>
            <a:off x="7303532" y="5136892"/>
            <a:ext cx="22860" cy="721043"/>
          </a:xfrm>
          <a:prstGeom prst="roundRect">
            <a:avLst>
              <a:gd fmla="val 811156"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7083266" y="4905196"/>
            <a:ext cx="463510" cy="463510"/>
          </a:xfrm>
          <a:prstGeom prst="roundRect">
            <a:avLst>
              <a:gd fmla="val 40006"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7220545" y="4982349"/>
            <a:ext cx="188833"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2</a:t>
            </a:r>
            <a:endParaRPr b="0" i="0" sz="2400" u="none" cap="none" strike="noStrike"/>
          </a:p>
        </p:txBody>
      </p:sp>
      <p:sp>
        <p:nvSpPr>
          <p:cNvPr id="67" name="Google Shape;67;p2"/>
          <p:cNvSpPr/>
          <p:nvPr/>
        </p:nvSpPr>
        <p:spPr>
          <a:xfrm>
            <a:off x="6027420" y="6064091"/>
            <a:ext cx="2575322" cy="32182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Sin redundancia</a:t>
            </a:r>
            <a:endParaRPr b="0" i="0" sz="2000" u="none" cap="none" strike="noStrike"/>
          </a:p>
        </p:txBody>
      </p:sp>
      <p:sp>
        <p:nvSpPr>
          <p:cNvPr id="68" name="Google Shape;68;p2"/>
          <p:cNvSpPr/>
          <p:nvPr/>
        </p:nvSpPr>
        <p:spPr>
          <a:xfrm>
            <a:off x="4275534" y="6509504"/>
            <a:ext cx="6079212" cy="988695"/>
          </a:xfrm>
          <a:prstGeom prst="rect">
            <a:avLst/>
          </a:prstGeom>
          <a:noFill/>
          <a:ln>
            <a:noFill/>
          </a:ln>
        </p:spPr>
        <p:txBody>
          <a:bodyPr anchorCtr="0" anchor="t" bIns="0" lIns="0" spcFirstLastPara="1" rIns="0" wrap="square" tIns="0">
            <a:noAutofit/>
          </a:bodyPr>
          <a:lstStyle/>
          <a:p>
            <a:pPr indent="0" lvl="0" marL="0" marR="0" rtl="0" algn="ctr">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A diferencia de otros niveles de RAID, el RAID 0 no proporciona redundancia de datos. Si falla uno de los discos, se perderán todos los datos almacenados en el conjunto RAID 0.</a:t>
            </a:r>
            <a:endParaRPr b="0" i="0" sz="1600" u="none" cap="none" strike="noStrike"/>
          </a:p>
        </p:txBody>
      </p:sp>
      <p:sp>
        <p:nvSpPr>
          <p:cNvPr id="69" name="Google Shape;69;p2"/>
          <p:cNvSpPr/>
          <p:nvPr/>
        </p:nvSpPr>
        <p:spPr>
          <a:xfrm>
            <a:off x="10652165" y="4415969"/>
            <a:ext cx="22860" cy="721043"/>
          </a:xfrm>
          <a:prstGeom prst="roundRect">
            <a:avLst>
              <a:gd fmla="val 811156"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0431899" y="4905196"/>
            <a:ext cx="463510" cy="463510"/>
          </a:xfrm>
          <a:prstGeom prst="roundRect">
            <a:avLst>
              <a:gd fmla="val 40006"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2"/>
          <p:cNvSpPr/>
          <p:nvPr/>
        </p:nvSpPr>
        <p:spPr>
          <a:xfrm>
            <a:off x="10570250" y="4982349"/>
            <a:ext cx="186690" cy="30908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3</a:t>
            </a:r>
            <a:endParaRPr b="0" i="0" sz="2400" u="none" cap="none" strike="noStrike"/>
          </a:p>
        </p:txBody>
      </p:sp>
      <p:sp>
        <p:nvSpPr>
          <p:cNvPr id="72" name="Google Shape;72;p2"/>
          <p:cNvSpPr/>
          <p:nvPr/>
        </p:nvSpPr>
        <p:spPr>
          <a:xfrm>
            <a:off x="9013388" y="2116574"/>
            <a:ext cx="3300651" cy="321826"/>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Aplicaciones recomendadas</a:t>
            </a:r>
            <a:endParaRPr b="0" i="0" sz="2000" u="none" cap="none" strike="noStrike"/>
          </a:p>
        </p:txBody>
      </p:sp>
      <p:sp>
        <p:nvSpPr>
          <p:cNvPr id="73" name="Google Shape;73;p2"/>
          <p:cNvSpPr/>
          <p:nvPr/>
        </p:nvSpPr>
        <p:spPr>
          <a:xfrm>
            <a:off x="7624167" y="2561987"/>
            <a:ext cx="6079212" cy="1647825"/>
          </a:xfrm>
          <a:prstGeom prst="rect">
            <a:avLst/>
          </a:prstGeom>
          <a:noFill/>
          <a:ln>
            <a:noFill/>
          </a:ln>
        </p:spPr>
        <p:txBody>
          <a:bodyPr anchorCtr="0" anchor="t" bIns="0" lIns="0" spcFirstLastPara="1" rIns="0" wrap="square" tIns="0">
            <a:noAutofit/>
          </a:bodyPr>
          <a:lstStyle/>
          <a:p>
            <a:pPr indent="0" lvl="0" marL="0" marR="0" rtl="0" algn="ctr">
              <a:lnSpc>
                <a:spcPct val="159375"/>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El RAID 0 es ideal para aplicaciones que requieren un rendimiento de lectura/escritura elevado, como servidores de bases de datos, edición de vídeo y procesamiento de imágenes. Sin embargo, es importante tener en cuenta el riesgo de pérdida de datos en caso de fallo de disco.</a:t>
            </a:r>
            <a:endParaRPr b="0" i="0" sz="16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3"/>
          <p:cNvSpPr/>
          <p:nvPr/>
        </p:nvSpPr>
        <p:spPr>
          <a:xfrm>
            <a:off x="793790" y="1455539"/>
            <a:ext cx="667392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1: Tolerancia a fallos</a:t>
            </a:r>
            <a:endParaRPr b="0" i="0" sz="4450" u="none" cap="none" strike="noStrike"/>
          </a:p>
        </p:txBody>
      </p:sp>
      <p:sp>
        <p:nvSpPr>
          <p:cNvPr id="80" name="Google Shape;80;p3"/>
          <p:cNvSpPr/>
          <p:nvPr/>
        </p:nvSpPr>
        <p:spPr>
          <a:xfrm>
            <a:off x="793790" y="2731294"/>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Duplicación de datos</a:t>
            </a:r>
            <a:endParaRPr b="0" i="0" sz="2200" u="none" cap="none" strike="noStrike"/>
          </a:p>
        </p:txBody>
      </p:sp>
      <p:sp>
        <p:nvSpPr>
          <p:cNvPr id="81" name="Google Shape;81;p3"/>
          <p:cNvSpPr/>
          <p:nvPr/>
        </p:nvSpPr>
        <p:spPr>
          <a:xfrm>
            <a:off x="793790" y="3312438"/>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En el RAID 1, los datos se escriben simultáneamente en dos o más unidades de disco. Esto crea una copia exacta (espejo) de los datos en cada disco, lo que proporciona redundancia y tolerancia a fallos.</a:t>
            </a:r>
            <a:endParaRPr b="0" i="0" sz="1750" u="none" cap="none" strike="noStrike"/>
          </a:p>
        </p:txBody>
      </p:sp>
      <p:sp>
        <p:nvSpPr>
          <p:cNvPr id="82" name="Google Shape;82;p3"/>
          <p:cNvSpPr/>
          <p:nvPr/>
        </p:nvSpPr>
        <p:spPr>
          <a:xfrm>
            <a:off x="5332928" y="2731294"/>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Lectura mejorada, escritura reducida</a:t>
            </a:r>
            <a:endParaRPr b="0" i="0" sz="2200" u="none" cap="none" strike="noStrike"/>
          </a:p>
        </p:txBody>
      </p:sp>
      <p:sp>
        <p:nvSpPr>
          <p:cNvPr id="83" name="Google Shape;83;p3"/>
          <p:cNvSpPr/>
          <p:nvPr/>
        </p:nvSpPr>
        <p:spPr>
          <a:xfrm>
            <a:off x="5332928" y="3666768"/>
            <a:ext cx="3978116"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Aunque la capacidad total del conjunto RAID 1 es igual a la de un solo disco, el rendimiento de lectura se ve mejorado, ya que los datos pueden leerse de cualquiera de los discos. Sin embargo, la escritura se ve ligeramente reducida, ya que los datos deben escribirse en múltiples discos.</a:t>
            </a:r>
            <a:endParaRPr b="0" i="0" sz="1750" u="none" cap="none" strike="noStrike"/>
          </a:p>
        </p:txBody>
      </p:sp>
      <p:sp>
        <p:nvSpPr>
          <p:cNvPr id="84" name="Google Shape;84;p3"/>
          <p:cNvSpPr/>
          <p:nvPr/>
        </p:nvSpPr>
        <p:spPr>
          <a:xfrm>
            <a:off x="9872067" y="2731294"/>
            <a:ext cx="363343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Aplicaciones recomendadas</a:t>
            </a:r>
            <a:endParaRPr b="0" i="0" sz="2200" u="none" cap="none" strike="noStrike"/>
          </a:p>
        </p:txBody>
      </p:sp>
      <p:sp>
        <p:nvSpPr>
          <p:cNvPr id="85" name="Google Shape;85;p3"/>
          <p:cNvSpPr/>
          <p:nvPr/>
        </p:nvSpPr>
        <p:spPr>
          <a:xfrm>
            <a:off x="9872067" y="3312438"/>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El RAID 1 es ideal para entornos que requieren una alta disponibilidad y tolerancia a fallos (redundancia de datos), como servidores web, bases de datos críticas y sistemas de almacenamiento de archivos importantes.</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4"/>
          <p:cNvSpPr/>
          <p:nvPr/>
        </p:nvSpPr>
        <p:spPr>
          <a:xfrm>
            <a:off x="760690" y="768191"/>
            <a:ext cx="13109019" cy="1358503"/>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FFFFFF"/>
              </a:buClr>
              <a:buSzPts val="4250"/>
              <a:buFont typeface="Saira Medium"/>
              <a:buNone/>
            </a:pPr>
            <a:r>
              <a:rPr b="0" i="0" lang="en-US" sz="4250" u="none" cap="none" strike="noStrike">
                <a:solidFill>
                  <a:srgbClr val="FFFFFF"/>
                </a:solidFill>
                <a:latin typeface="Saira Medium"/>
                <a:ea typeface="Saira Medium"/>
                <a:cs typeface="Saira Medium"/>
                <a:sym typeface="Saira Medium"/>
              </a:rPr>
              <a:t>RAID 5: Equilibrio entre rendimiento y tolerancia a fallos</a:t>
            </a:r>
            <a:endParaRPr b="0" i="0" sz="4250" u="none" cap="none" strike="noStrike"/>
          </a:p>
        </p:txBody>
      </p:sp>
      <p:sp>
        <p:nvSpPr>
          <p:cNvPr id="92" name="Google Shape;92;p4"/>
          <p:cNvSpPr/>
          <p:nvPr/>
        </p:nvSpPr>
        <p:spPr>
          <a:xfrm>
            <a:off x="760690" y="2561392"/>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1000839" y="2801541"/>
            <a:ext cx="3973830"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Bloques de paridad distribuidos</a:t>
            </a:r>
            <a:endParaRPr b="0" i="0" sz="2100" u="none" cap="none" strike="noStrike"/>
          </a:p>
        </p:txBody>
      </p:sp>
      <p:sp>
        <p:nvSpPr>
          <p:cNvPr id="94" name="Google Shape;94;p4"/>
          <p:cNvSpPr/>
          <p:nvPr/>
        </p:nvSpPr>
        <p:spPr>
          <a:xfrm>
            <a:off x="1000839" y="3271480"/>
            <a:ext cx="5965627" cy="139112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El RAID 5 distribuye los bloques de paridad entre todos los discos del conjunto. Esto permite una mayor tolerancia a fallos en comparación con el RAID 0, ya que puede sobrevivir a la falla de un disco sin perder datos.</a:t>
            </a:r>
            <a:endParaRPr b="0" i="0" sz="1700" u="none" cap="none" strike="noStrike"/>
          </a:p>
        </p:txBody>
      </p:sp>
      <p:sp>
        <p:nvSpPr>
          <p:cNvPr id="95" name="Google Shape;95;p4"/>
          <p:cNvSpPr/>
          <p:nvPr/>
        </p:nvSpPr>
        <p:spPr>
          <a:xfrm>
            <a:off x="7423904" y="2561392"/>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7664053" y="2801541"/>
            <a:ext cx="3091220"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Rendimiento equilibrado</a:t>
            </a:r>
            <a:endParaRPr b="0" i="0" sz="2100" u="none" cap="none" strike="noStrike"/>
          </a:p>
        </p:txBody>
      </p:sp>
      <p:sp>
        <p:nvSpPr>
          <p:cNvPr id="97" name="Google Shape;97;p4"/>
          <p:cNvSpPr/>
          <p:nvPr/>
        </p:nvSpPr>
        <p:spPr>
          <a:xfrm>
            <a:off x="7664053" y="3271480"/>
            <a:ext cx="5965627" cy="139112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RAID 5 ofrece un buen equilibrio entre rendimiento y tolerancia a fallos. La lectura de datos es rápida, mientras que la escritura se ve ligeramente ralentizada debido al cálculo y la escritura de los bloques de paridad.</a:t>
            </a:r>
            <a:endParaRPr b="0" i="0" sz="1700" u="none" cap="none" strike="noStrike"/>
          </a:p>
        </p:txBody>
      </p:sp>
      <p:sp>
        <p:nvSpPr>
          <p:cNvPr id="98" name="Google Shape;98;p4"/>
          <p:cNvSpPr/>
          <p:nvPr/>
        </p:nvSpPr>
        <p:spPr>
          <a:xfrm>
            <a:off x="760690" y="5120045"/>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1000839" y="5360194"/>
            <a:ext cx="3482340"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Aplicaciones recomendadas</a:t>
            </a:r>
            <a:endParaRPr b="0" i="0" sz="2100" u="none" cap="none" strike="noStrike"/>
          </a:p>
        </p:txBody>
      </p:sp>
      <p:sp>
        <p:nvSpPr>
          <p:cNvPr id="100" name="Google Shape;100;p4"/>
          <p:cNvSpPr/>
          <p:nvPr/>
        </p:nvSpPr>
        <p:spPr>
          <a:xfrm>
            <a:off x="1000839" y="5830133"/>
            <a:ext cx="5965627" cy="139112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RAID 5 es adecuado para una amplia gama de aplicaciones, como servidores de archivos, bases de datos empresariales y sistemas de almacenamiento que requieren un buen balance entre rendimiento y redundancia.</a:t>
            </a:r>
            <a:endParaRPr b="0" i="0" sz="1700" u="none" cap="none" strike="noStrike"/>
          </a:p>
        </p:txBody>
      </p:sp>
      <p:sp>
        <p:nvSpPr>
          <p:cNvPr id="101" name="Google Shape;101;p4"/>
          <p:cNvSpPr/>
          <p:nvPr/>
        </p:nvSpPr>
        <p:spPr>
          <a:xfrm>
            <a:off x="7423904" y="5120045"/>
            <a:ext cx="6445925" cy="2341364"/>
          </a:xfrm>
          <a:prstGeom prst="roundRect">
            <a:avLst>
              <a:gd fmla="val 8355"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4"/>
          <p:cNvSpPr/>
          <p:nvPr/>
        </p:nvSpPr>
        <p:spPr>
          <a:xfrm>
            <a:off x="7664053" y="5360194"/>
            <a:ext cx="2717006" cy="339566"/>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Capacidad útil</a:t>
            </a:r>
            <a:endParaRPr b="0" i="0" sz="2100" u="none" cap="none" strike="noStrike"/>
          </a:p>
        </p:txBody>
      </p:sp>
      <p:sp>
        <p:nvSpPr>
          <p:cNvPr id="103" name="Google Shape;103;p4"/>
          <p:cNvSpPr/>
          <p:nvPr/>
        </p:nvSpPr>
        <p:spPr>
          <a:xfrm>
            <a:off x="7664053" y="5830133"/>
            <a:ext cx="5965627" cy="1043345"/>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E5E0DF"/>
              </a:buClr>
              <a:buSzPts val="1700"/>
              <a:buFont typeface="Roboto"/>
              <a:buNone/>
            </a:pPr>
            <a:r>
              <a:rPr b="0" i="0" lang="en-US" sz="1700" u="none" cap="none" strike="noStrike">
                <a:solidFill>
                  <a:srgbClr val="E5E0DF"/>
                </a:solidFill>
                <a:latin typeface="Roboto"/>
                <a:ea typeface="Roboto"/>
                <a:cs typeface="Roboto"/>
                <a:sym typeface="Roboto"/>
              </a:rPr>
              <a:t>La capacidad útil de un conjunto RAID 5 es igual al tamaño de un disco menos uno, lo que significa que se pierde un disco de capacidad para garantizar la redundancia.</a:t>
            </a:r>
            <a:endParaRPr b="0" i="0" sz="17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p:nvPr/>
        </p:nvSpPr>
        <p:spPr>
          <a:xfrm>
            <a:off x="750689" y="591383"/>
            <a:ext cx="8137088" cy="67032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4200"/>
              <a:buFont typeface="Saira Medium"/>
              <a:buNone/>
            </a:pPr>
            <a:r>
              <a:rPr b="0" i="0" lang="en-US" sz="4200" u="none" cap="none" strike="noStrike">
                <a:solidFill>
                  <a:srgbClr val="FFFFFF"/>
                </a:solidFill>
                <a:latin typeface="Saira Medium"/>
                <a:ea typeface="Saira Medium"/>
                <a:cs typeface="Saira Medium"/>
                <a:sym typeface="Saira Medium"/>
              </a:rPr>
              <a:t>RAID 6: Mayor tolerancia a fallos</a:t>
            </a:r>
            <a:endParaRPr b="0" i="0" sz="4200" u="none" cap="none" strike="noStrike"/>
          </a:p>
        </p:txBody>
      </p:sp>
      <p:sp>
        <p:nvSpPr>
          <p:cNvPr id="110" name="Google Shape;110;p5"/>
          <p:cNvSpPr/>
          <p:nvPr/>
        </p:nvSpPr>
        <p:spPr>
          <a:xfrm>
            <a:off x="750689" y="4836081"/>
            <a:ext cx="13129022" cy="30480"/>
          </a:xfrm>
          <a:prstGeom prst="roundRect">
            <a:avLst>
              <a:gd fmla="val 633405" name="adj"/>
            </a:avLst>
          </a:prstGeom>
          <a:solidFill>
            <a:srgbClr val="FFFFFF">
              <a:alpha val="2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3963948" y="4085451"/>
            <a:ext cx="30480" cy="750689"/>
          </a:xfrm>
          <a:prstGeom prst="roundRect">
            <a:avLst>
              <a:gd fmla="val 633405"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3737967" y="4594800"/>
            <a:ext cx="482560" cy="482560"/>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3917633" y="4675168"/>
            <a:ext cx="123230" cy="321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00"/>
              <a:buFont typeface="Saira Medium"/>
              <a:buNone/>
            </a:pPr>
            <a:r>
              <a:rPr b="0" i="0" lang="en-US" sz="2500" u="none" cap="none" strike="noStrike">
                <a:solidFill>
                  <a:srgbClr val="E5E0DF"/>
                </a:solidFill>
                <a:latin typeface="Saira Medium"/>
                <a:ea typeface="Saira Medium"/>
                <a:cs typeface="Saira Medium"/>
                <a:sym typeface="Saira Medium"/>
              </a:rPr>
              <a:t>1</a:t>
            </a:r>
            <a:endParaRPr b="0" i="0" sz="2500" u="none" cap="none" strike="noStrike"/>
          </a:p>
        </p:txBody>
      </p:sp>
      <p:sp>
        <p:nvSpPr>
          <p:cNvPr id="114" name="Google Shape;114;p5"/>
          <p:cNvSpPr/>
          <p:nvPr/>
        </p:nvSpPr>
        <p:spPr>
          <a:xfrm>
            <a:off x="2638544" y="2033945"/>
            <a:ext cx="2681407" cy="335161"/>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Doble paridad</a:t>
            </a:r>
            <a:endParaRPr b="0" i="0" sz="2100" u="none" cap="none" strike="noStrike"/>
          </a:p>
        </p:txBody>
      </p:sp>
      <p:sp>
        <p:nvSpPr>
          <p:cNvPr id="115" name="Google Shape;115;p5"/>
          <p:cNvSpPr/>
          <p:nvPr/>
        </p:nvSpPr>
        <p:spPr>
          <a:xfrm>
            <a:off x="965121" y="2497812"/>
            <a:ext cx="6028373" cy="1373029"/>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E5E0DF"/>
              </a:buClr>
              <a:buSzPts val="1650"/>
              <a:buFont typeface="Roboto"/>
              <a:buNone/>
            </a:pPr>
            <a:r>
              <a:rPr b="0" i="0" lang="en-US" sz="1650" u="none" cap="none" strike="noStrike">
                <a:solidFill>
                  <a:srgbClr val="E5E0DF"/>
                </a:solidFill>
                <a:latin typeface="Roboto"/>
                <a:ea typeface="Roboto"/>
                <a:cs typeface="Roboto"/>
                <a:sym typeface="Roboto"/>
              </a:rPr>
              <a:t>A diferencia del RAID 5, el RAID 6 utiliza dos bloques de paridad distribuidos entre todos los discos del conjunto. Esto proporciona una mayor tolerancia a fallos, ya que el sistema puede sobrevivir a la falla de hasta dos discos sin perder datos.</a:t>
            </a:r>
            <a:endParaRPr b="0" i="0" sz="1650" u="none" cap="none" strike="noStrike"/>
          </a:p>
        </p:txBody>
      </p:sp>
      <p:sp>
        <p:nvSpPr>
          <p:cNvPr id="116" name="Google Shape;116;p5"/>
          <p:cNvSpPr/>
          <p:nvPr/>
        </p:nvSpPr>
        <p:spPr>
          <a:xfrm>
            <a:off x="7299722" y="4836021"/>
            <a:ext cx="30480" cy="750689"/>
          </a:xfrm>
          <a:prstGeom prst="roundRect">
            <a:avLst>
              <a:gd fmla="val 633405"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7073741" y="4594800"/>
            <a:ext cx="482560" cy="482560"/>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7216735" y="4675168"/>
            <a:ext cx="196572" cy="321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00"/>
              <a:buFont typeface="Saira Medium"/>
              <a:buNone/>
            </a:pPr>
            <a:r>
              <a:rPr b="0" i="0" lang="en-US" sz="2500" u="none" cap="none" strike="noStrike">
                <a:solidFill>
                  <a:srgbClr val="E5E0DF"/>
                </a:solidFill>
                <a:latin typeface="Saira Medium"/>
                <a:ea typeface="Saira Medium"/>
                <a:cs typeface="Saira Medium"/>
                <a:sym typeface="Saira Medium"/>
              </a:rPr>
              <a:t>2</a:t>
            </a:r>
            <a:endParaRPr b="0" i="0" sz="2500" u="none" cap="none" strike="noStrike"/>
          </a:p>
        </p:txBody>
      </p:sp>
      <p:sp>
        <p:nvSpPr>
          <p:cNvPr id="119" name="Google Shape;119;p5"/>
          <p:cNvSpPr/>
          <p:nvPr/>
        </p:nvSpPr>
        <p:spPr>
          <a:xfrm>
            <a:off x="5880378" y="5801320"/>
            <a:ext cx="2869406" cy="335161"/>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Rendimiento más lento</a:t>
            </a:r>
            <a:endParaRPr b="0" i="0" sz="2100" u="none" cap="none" strike="noStrike"/>
          </a:p>
        </p:txBody>
      </p:sp>
      <p:sp>
        <p:nvSpPr>
          <p:cNvPr id="120" name="Google Shape;120;p5"/>
          <p:cNvSpPr/>
          <p:nvPr/>
        </p:nvSpPr>
        <p:spPr>
          <a:xfrm>
            <a:off x="4300895" y="6265188"/>
            <a:ext cx="6028492" cy="1373029"/>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E5E0DF"/>
              </a:buClr>
              <a:buSzPts val="1650"/>
              <a:buFont typeface="Roboto"/>
              <a:buNone/>
            </a:pPr>
            <a:r>
              <a:rPr b="0" i="0" lang="en-US" sz="1650" u="none" cap="none" strike="noStrike">
                <a:solidFill>
                  <a:srgbClr val="E5E0DF"/>
                </a:solidFill>
                <a:latin typeface="Roboto"/>
                <a:ea typeface="Roboto"/>
                <a:cs typeface="Roboto"/>
                <a:sym typeface="Roboto"/>
              </a:rPr>
              <a:t>Debido a la sobrecarga adicional del cálculo y la escritura de los dos bloques de paridad, el rendimiento de escritura en RAID 6 es ligeramente más lento que en RAID 5. Sin embargo, el rendimiento de lectura sigue siendo bueno.</a:t>
            </a:r>
            <a:endParaRPr b="0" i="0" sz="1650" u="none" cap="none" strike="noStrike"/>
          </a:p>
        </p:txBody>
      </p:sp>
      <p:sp>
        <p:nvSpPr>
          <p:cNvPr id="121" name="Google Shape;121;p5"/>
          <p:cNvSpPr/>
          <p:nvPr/>
        </p:nvSpPr>
        <p:spPr>
          <a:xfrm>
            <a:off x="10635615" y="4085451"/>
            <a:ext cx="30480" cy="750689"/>
          </a:xfrm>
          <a:prstGeom prst="roundRect">
            <a:avLst>
              <a:gd fmla="val 633405" name="adj"/>
            </a:avLst>
          </a:prstGeom>
          <a:solidFill>
            <a:srgbClr val="FC83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10409634" y="4594800"/>
            <a:ext cx="482560" cy="482560"/>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10553700" y="4675168"/>
            <a:ext cx="194429" cy="32182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500"/>
              <a:buFont typeface="Saira Medium"/>
              <a:buNone/>
            </a:pPr>
            <a:r>
              <a:rPr b="0" i="0" lang="en-US" sz="2500" u="none" cap="none" strike="noStrike">
                <a:solidFill>
                  <a:srgbClr val="E5E0DF"/>
                </a:solidFill>
                <a:latin typeface="Saira Medium"/>
                <a:ea typeface="Saira Medium"/>
                <a:cs typeface="Saira Medium"/>
                <a:sym typeface="Saira Medium"/>
              </a:rPr>
              <a:t>3</a:t>
            </a:r>
            <a:endParaRPr b="0" i="0" sz="2500" u="none" cap="none" strike="noStrike"/>
          </a:p>
        </p:txBody>
      </p:sp>
      <p:sp>
        <p:nvSpPr>
          <p:cNvPr id="124" name="Google Shape;124;p5"/>
          <p:cNvSpPr/>
          <p:nvPr/>
        </p:nvSpPr>
        <p:spPr>
          <a:xfrm>
            <a:off x="8932783" y="1690687"/>
            <a:ext cx="3436501" cy="335161"/>
          </a:xfrm>
          <a:prstGeom prst="rect">
            <a:avLst/>
          </a:prstGeom>
          <a:noFill/>
          <a:ln>
            <a:noFill/>
          </a:ln>
        </p:spPr>
        <p:txBody>
          <a:bodyPr anchorCtr="0" anchor="t" bIns="0" lIns="0" spcFirstLastPara="1" rIns="0" wrap="square" tIns="0">
            <a:noAutofit/>
          </a:bodyPr>
          <a:lstStyle/>
          <a:p>
            <a:pPr indent="0" lvl="0" marL="0" marR="0" rtl="0" algn="ctr">
              <a:lnSpc>
                <a:spcPct val="123809"/>
              </a:lnSpc>
              <a:spcBef>
                <a:spcPts val="0"/>
              </a:spcBef>
              <a:spcAft>
                <a:spcPts val="0"/>
              </a:spcAft>
              <a:buClr>
                <a:srgbClr val="E5E0DF"/>
              </a:buClr>
              <a:buSzPts val="2100"/>
              <a:buFont typeface="Saira Medium"/>
              <a:buNone/>
            </a:pPr>
            <a:r>
              <a:rPr b="0" i="0" lang="en-US" sz="2100" u="none" cap="none" strike="noStrike">
                <a:solidFill>
                  <a:srgbClr val="E5E0DF"/>
                </a:solidFill>
                <a:latin typeface="Saira Medium"/>
                <a:ea typeface="Saira Medium"/>
                <a:cs typeface="Saira Medium"/>
                <a:sym typeface="Saira Medium"/>
              </a:rPr>
              <a:t>Aplicaciones recomendadas</a:t>
            </a:r>
            <a:endParaRPr b="0" i="0" sz="2100" u="none" cap="none" strike="noStrike"/>
          </a:p>
        </p:txBody>
      </p:sp>
      <p:sp>
        <p:nvSpPr>
          <p:cNvPr id="125" name="Google Shape;125;p5"/>
          <p:cNvSpPr/>
          <p:nvPr/>
        </p:nvSpPr>
        <p:spPr>
          <a:xfrm>
            <a:off x="7636788" y="2154555"/>
            <a:ext cx="6028492" cy="1716286"/>
          </a:xfrm>
          <a:prstGeom prst="rect">
            <a:avLst/>
          </a:prstGeom>
          <a:noFill/>
          <a:ln>
            <a:noFill/>
          </a:ln>
        </p:spPr>
        <p:txBody>
          <a:bodyPr anchorCtr="0" anchor="t" bIns="0" lIns="0" spcFirstLastPara="1" rIns="0" wrap="square" tIns="0">
            <a:noAutofit/>
          </a:bodyPr>
          <a:lstStyle/>
          <a:p>
            <a:pPr indent="0" lvl="0" marL="0" marR="0" rtl="0" algn="ctr">
              <a:lnSpc>
                <a:spcPct val="163636"/>
              </a:lnSpc>
              <a:spcBef>
                <a:spcPts val="0"/>
              </a:spcBef>
              <a:spcAft>
                <a:spcPts val="0"/>
              </a:spcAft>
              <a:buClr>
                <a:srgbClr val="E5E0DF"/>
              </a:buClr>
              <a:buSzPts val="1650"/>
              <a:buFont typeface="Roboto"/>
              <a:buNone/>
            </a:pPr>
            <a:r>
              <a:rPr b="0" i="0" lang="en-US" sz="1650" u="none" cap="none" strike="noStrike">
                <a:solidFill>
                  <a:srgbClr val="E5E0DF"/>
                </a:solidFill>
                <a:latin typeface="Roboto"/>
                <a:ea typeface="Roboto"/>
                <a:cs typeface="Roboto"/>
                <a:sym typeface="Roboto"/>
              </a:rPr>
              <a:t>RAID 6 es ideal para entornos que requieren un alto nivel de tolerancia a fallos y redundancia, como almacenamiento de datos a largo plazo, copias de seguridad y sistemas críticos que no pueden permitirse perder datos, incluso en caso de fallo de dos discos.</a:t>
            </a:r>
            <a:endParaRPr b="0" i="0" sz="16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p:nvPr/>
        </p:nvSpPr>
        <p:spPr>
          <a:xfrm>
            <a:off x="793790" y="1258372"/>
            <a:ext cx="929901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10: Combinación de RAID 0 y 1</a:t>
            </a:r>
            <a:endParaRPr b="0" i="0" sz="4450" u="none" cap="none" strike="noStrike"/>
          </a:p>
        </p:txBody>
      </p:sp>
      <p:pic>
        <p:nvPicPr>
          <p:cNvPr descr="preencoded.png" id="132" name="Google Shape;132;p6"/>
          <p:cNvPicPr preferRelativeResize="0"/>
          <p:nvPr/>
        </p:nvPicPr>
        <p:blipFill rotWithShape="1">
          <a:blip r:embed="rId3">
            <a:alphaModFix/>
          </a:blip>
          <a:srcRect b="0" l="0" r="0" t="0"/>
          <a:stretch/>
        </p:blipFill>
        <p:spPr>
          <a:xfrm>
            <a:off x="793790" y="2420779"/>
            <a:ext cx="566976" cy="566976"/>
          </a:xfrm>
          <a:prstGeom prst="rect">
            <a:avLst/>
          </a:prstGeom>
          <a:noFill/>
          <a:ln>
            <a:noFill/>
          </a:ln>
        </p:spPr>
      </p:pic>
      <p:sp>
        <p:nvSpPr>
          <p:cNvPr id="133" name="Google Shape;133;p6"/>
          <p:cNvSpPr/>
          <p:nvPr/>
        </p:nvSpPr>
        <p:spPr>
          <a:xfrm>
            <a:off x="793790" y="3214568"/>
            <a:ext cx="2992160"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Rendimiento Mejorado</a:t>
            </a:r>
            <a:endParaRPr b="0" i="0" sz="2200" u="none" cap="none" strike="noStrike"/>
          </a:p>
        </p:txBody>
      </p:sp>
      <p:sp>
        <p:nvSpPr>
          <p:cNvPr id="134" name="Google Shape;134;p6"/>
          <p:cNvSpPr/>
          <p:nvPr/>
        </p:nvSpPr>
        <p:spPr>
          <a:xfrm>
            <a:off x="793790" y="3704987"/>
            <a:ext cx="3005495"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10 combina las ventajas del RAID 0 (segmentación de datos) con la redundancia del RAID 1 (duplicación de datos). Esto proporciona un alto rendimiento de lectura/escritura junto con una excelente tolerancia a fallos.</a:t>
            </a:r>
            <a:endParaRPr b="0" i="0" sz="1750" u="none" cap="none" strike="noStrike"/>
          </a:p>
        </p:txBody>
      </p:sp>
      <p:pic>
        <p:nvPicPr>
          <p:cNvPr descr="preencoded.png" id="135" name="Google Shape;135;p6"/>
          <p:cNvPicPr preferRelativeResize="0"/>
          <p:nvPr/>
        </p:nvPicPr>
        <p:blipFill rotWithShape="1">
          <a:blip r:embed="rId4">
            <a:alphaModFix/>
          </a:blip>
          <a:srcRect b="0" l="0" r="0" t="0"/>
          <a:stretch/>
        </p:blipFill>
        <p:spPr>
          <a:xfrm>
            <a:off x="4139446" y="2420779"/>
            <a:ext cx="566976" cy="566976"/>
          </a:xfrm>
          <a:prstGeom prst="rect">
            <a:avLst/>
          </a:prstGeom>
          <a:noFill/>
          <a:ln>
            <a:noFill/>
          </a:ln>
        </p:spPr>
      </p:pic>
      <p:sp>
        <p:nvSpPr>
          <p:cNvPr id="136" name="Google Shape;136;p6"/>
          <p:cNvSpPr/>
          <p:nvPr/>
        </p:nvSpPr>
        <p:spPr>
          <a:xfrm>
            <a:off x="4139446"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Tolerancia a Fallos</a:t>
            </a:r>
            <a:endParaRPr b="0" i="0" sz="2200" u="none" cap="none" strike="noStrike"/>
          </a:p>
        </p:txBody>
      </p:sp>
      <p:sp>
        <p:nvSpPr>
          <p:cNvPr id="137" name="Google Shape;137;p6"/>
          <p:cNvSpPr/>
          <p:nvPr/>
        </p:nvSpPr>
        <p:spPr>
          <a:xfrm>
            <a:off x="4139446" y="3704987"/>
            <a:ext cx="3005614" cy="326612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10 puede sobrevivir a la falla de uno o más discos en cada uno de los conjuntos espejo, lo que lo convierte en una solución robusta y confiable para aplicaciones críticas que requieren tanto alto rendimiento como alta disponibilidad.</a:t>
            </a:r>
            <a:endParaRPr b="0" i="0" sz="1750" u="none" cap="none" strike="noStrike"/>
          </a:p>
        </p:txBody>
      </p:sp>
      <p:pic>
        <p:nvPicPr>
          <p:cNvPr descr="preencoded.png" id="138" name="Google Shape;138;p6"/>
          <p:cNvPicPr preferRelativeResize="0"/>
          <p:nvPr/>
        </p:nvPicPr>
        <p:blipFill rotWithShape="1">
          <a:blip r:embed="rId5">
            <a:alphaModFix/>
          </a:blip>
          <a:srcRect b="0" l="0" r="0" t="0"/>
          <a:stretch/>
        </p:blipFill>
        <p:spPr>
          <a:xfrm>
            <a:off x="7485221" y="2420779"/>
            <a:ext cx="566976" cy="566976"/>
          </a:xfrm>
          <a:prstGeom prst="rect">
            <a:avLst/>
          </a:prstGeom>
          <a:noFill/>
          <a:ln>
            <a:noFill/>
          </a:ln>
        </p:spPr>
      </p:pic>
      <p:sp>
        <p:nvSpPr>
          <p:cNvPr id="139" name="Google Shape;139;p6"/>
          <p:cNvSpPr/>
          <p:nvPr/>
        </p:nvSpPr>
        <p:spPr>
          <a:xfrm>
            <a:off x="7485221" y="321456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Capacidad Reducida</a:t>
            </a:r>
            <a:endParaRPr b="0" i="0" sz="2200" u="none" cap="none" strike="noStrike"/>
          </a:p>
        </p:txBody>
      </p:sp>
      <p:sp>
        <p:nvSpPr>
          <p:cNvPr id="140" name="Google Shape;140;p6"/>
          <p:cNvSpPr/>
          <p:nvPr/>
        </p:nvSpPr>
        <p:spPr>
          <a:xfrm>
            <a:off x="7485221" y="3704987"/>
            <a:ext cx="300561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capacidad útil de un conjunto RAID 10 es la mitad del total de los discos, ya que se reserva espacio para la duplicación de datos.</a:t>
            </a:r>
            <a:endParaRPr b="0" i="0" sz="1750" u="none" cap="none" strike="noStrike"/>
          </a:p>
        </p:txBody>
      </p:sp>
      <p:pic>
        <p:nvPicPr>
          <p:cNvPr descr="preencoded.png" id="141" name="Google Shape;141;p6"/>
          <p:cNvPicPr preferRelativeResize="0"/>
          <p:nvPr/>
        </p:nvPicPr>
        <p:blipFill rotWithShape="1">
          <a:blip r:embed="rId6">
            <a:alphaModFix/>
          </a:blip>
          <a:srcRect b="0" l="0" r="0" t="0"/>
          <a:stretch/>
        </p:blipFill>
        <p:spPr>
          <a:xfrm>
            <a:off x="10830997" y="2420779"/>
            <a:ext cx="566976" cy="566976"/>
          </a:xfrm>
          <a:prstGeom prst="rect">
            <a:avLst/>
          </a:prstGeom>
          <a:noFill/>
          <a:ln>
            <a:noFill/>
          </a:ln>
        </p:spPr>
      </p:pic>
      <p:sp>
        <p:nvSpPr>
          <p:cNvPr id="142" name="Google Shape;142;p6"/>
          <p:cNvSpPr/>
          <p:nvPr/>
        </p:nvSpPr>
        <p:spPr>
          <a:xfrm>
            <a:off x="10830997" y="3214568"/>
            <a:ext cx="300561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200"/>
              <a:buFont typeface="Saira Medium"/>
              <a:buNone/>
            </a:pPr>
            <a:r>
              <a:rPr b="0" i="0" lang="en-US" sz="2200" u="none" cap="none" strike="noStrike">
                <a:solidFill>
                  <a:srgbClr val="E5E0DF"/>
                </a:solidFill>
                <a:latin typeface="Saira Medium"/>
                <a:ea typeface="Saira Medium"/>
                <a:cs typeface="Saira Medium"/>
                <a:sym typeface="Saira Medium"/>
              </a:rPr>
              <a:t>Configuración Compleja</a:t>
            </a:r>
            <a:endParaRPr b="0" i="0" sz="2200" u="none" cap="none" strike="noStrike"/>
          </a:p>
        </p:txBody>
      </p:sp>
      <p:sp>
        <p:nvSpPr>
          <p:cNvPr id="143" name="Google Shape;143;p6"/>
          <p:cNvSpPr/>
          <p:nvPr/>
        </p:nvSpPr>
        <p:spPr>
          <a:xfrm>
            <a:off x="10830997" y="4059317"/>
            <a:ext cx="3005614"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La implementación de RAID 10 es más compleja que otros niveles de RAID, ya que requiere la configuración de conjuntos de discos espejo y una capa adicional de agregación.</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p:nvPr/>
        </p:nvSpPr>
        <p:spPr>
          <a:xfrm>
            <a:off x="793790" y="1814155"/>
            <a:ext cx="9568934"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FFFFFF"/>
              </a:buClr>
              <a:buSzPts val="4450"/>
              <a:buFont typeface="Saira Medium"/>
              <a:buNone/>
            </a:pPr>
            <a:r>
              <a:rPr b="0" i="0" lang="en-US" sz="4450" u="none" cap="none" strike="noStrike">
                <a:solidFill>
                  <a:srgbClr val="FFFFFF"/>
                </a:solidFill>
                <a:latin typeface="Saira Medium"/>
                <a:ea typeface="Saira Medium"/>
                <a:cs typeface="Saira Medium"/>
                <a:sym typeface="Saira Medium"/>
              </a:rPr>
              <a:t>RAID 50: Combinación de RAID 5 y 0</a:t>
            </a:r>
            <a:endParaRPr b="0" i="0" sz="4450" u="none" cap="none" strike="noStrike"/>
          </a:p>
        </p:txBody>
      </p:sp>
      <p:sp>
        <p:nvSpPr>
          <p:cNvPr id="150" name="Google Shape;150;p7"/>
          <p:cNvSpPr/>
          <p:nvPr/>
        </p:nvSpPr>
        <p:spPr>
          <a:xfrm>
            <a:off x="793790" y="3089910"/>
            <a:ext cx="3203019"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Segmentación y Paridad</a:t>
            </a:r>
            <a:endParaRPr b="0" i="0" sz="2200" u="none" cap="none" strike="noStrike"/>
          </a:p>
        </p:txBody>
      </p:sp>
      <p:sp>
        <p:nvSpPr>
          <p:cNvPr id="151" name="Google Shape;151;p7"/>
          <p:cNvSpPr/>
          <p:nvPr/>
        </p:nvSpPr>
        <p:spPr>
          <a:xfrm>
            <a:off x="793790" y="3671054"/>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50 combina las ventajas del RAID 5 (paridad distribuida) con la segmentación de datos del RAID 0. Esto proporciona un equilibrio entre rendimiento, tolerancia a fallos y capacidad.</a:t>
            </a:r>
            <a:endParaRPr b="0" i="0" sz="1750" u="none" cap="none" strike="noStrike"/>
          </a:p>
        </p:txBody>
      </p:sp>
      <p:sp>
        <p:nvSpPr>
          <p:cNvPr id="152" name="Google Shape;152;p7"/>
          <p:cNvSpPr/>
          <p:nvPr/>
        </p:nvSpPr>
        <p:spPr>
          <a:xfrm>
            <a:off x="5332928" y="308991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Mejor Rendimiento</a:t>
            </a:r>
            <a:endParaRPr b="0" i="0" sz="2200" u="none" cap="none" strike="noStrike"/>
          </a:p>
        </p:txBody>
      </p:sp>
      <p:sp>
        <p:nvSpPr>
          <p:cNvPr id="153" name="Google Shape;153;p7"/>
          <p:cNvSpPr/>
          <p:nvPr/>
        </p:nvSpPr>
        <p:spPr>
          <a:xfrm>
            <a:off x="5332928" y="3671054"/>
            <a:ext cx="3978116"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Al distribuir los datos en varias unidades de disco y utilizar paridad, RAID 50 ofrece un mejor rendimiento de lectura/escritura en comparación con el RAID 5 tradicional.</a:t>
            </a:r>
            <a:endParaRPr b="0" i="0" sz="1750" u="none" cap="none" strike="noStrike"/>
          </a:p>
        </p:txBody>
      </p:sp>
      <p:sp>
        <p:nvSpPr>
          <p:cNvPr id="154" name="Google Shape;154;p7"/>
          <p:cNvSpPr/>
          <p:nvPr/>
        </p:nvSpPr>
        <p:spPr>
          <a:xfrm>
            <a:off x="9872067" y="3089910"/>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2200"/>
              <a:buFont typeface="Saira Medium"/>
              <a:buNone/>
            </a:pPr>
            <a:r>
              <a:rPr b="0" i="0" lang="en-US" sz="2200" u="none" cap="none" strike="noStrike">
                <a:solidFill>
                  <a:srgbClr val="FFFFFF"/>
                </a:solidFill>
                <a:latin typeface="Saira Medium"/>
                <a:ea typeface="Saira Medium"/>
                <a:cs typeface="Saira Medium"/>
                <a:sym typeface="Saira Medium"/>
              </a:rPr>
              <a:t>Tolerancia a Fallos</a:t>
            </a:r>
            <a:endParaRPr b="0" i="0" sz="2200" u="none" cap="none" strike="noStrike"/>
          </a:p>
        </p:txBody>
      </p:sp>
      <p:sp>
        <p:nvSpPr>
          <p:cNvPr id="155" name="Google Shape;155;p7"/>
          <p:cNvSpPr/>
          <p:nvPr/>
        </p:nvSpPr>
        <p:spPr>
          <a:xfrm>
            <a:off x="9872067" y="3671054"/>
            <a:ext cx="3978116"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E5E0DF"/>
              </a:buClr>
              <a:buSzPts val="1750"/>
              <a:buFont typeface="Roboto"/>
              <a:buNone/>
            </a:pPr>
            <a:r>
              <a:rPr b="0" i="0" lang="en-US" sz="1750" u="none" cap="none" strike="noStrike">
                <a:solidFill>
                  <a:srgbClr val="E5E0DF"/>
                </a:solidFill>
                <a:latin typeface="Roboto"/>
                <a:ea typeface="Roboto"/>
                <a:cs typeface="Roboto"/>
                <a:sym typeface="Roboto"/>
              </a:rPr>
              <a:t>RAID 50 puede sobrevivir a la falla de uno o más discos en cada uno de los conjuntos RAID 5 que lo componen. Esto lo convierte en una solución robusta y confiable para aplicaciones que requieren un alto nivel de redundancia.</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preencoded.png" id="161" name="Google Shape;161;p8"/>
          <p:cNvPicPr preferRelativeResize="0"/>
          <p:nvPr/>
        </p:nvPicPr>
        <p:blipFill rotWithShape="1">
          <a:blip r:embed="rId3">
            <a:alphaModFix/>
          </a:blip>
          <a:srcRect b="0" l="0" r="0" t="0"/>
          <a:stretch/>
        </p:blipFill>
        <p:spPr>
          <a:xfrm>
            <a:off x="0" y="0"/>
            <a:ext cx="14630400" cy="2580799"/>
          </a:xfrm>
          <a:prstGeom prst="rect">
            <a:avLst/>
          </a:prstGeom>
          <a:noFill/>
          <a:ln>
            <a:noFill/>
          </a:ln>
        </p:spPr>
      </p:pic>
      <p:sp>
        <p:nvSpPr>
          <p:cNvPr id="162" name="Google Shape;162;p8"/>
          <p:cNvSpPr/>
          <p:nvPr/>
        </p:nvSpPr>
        <p:spPr>
          <a:xfrm>
            <a:off x="722590" y="3267313"/>
            <a:ext cx="8840391" cy="645081"/>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FFFFF"/>
              </a:buClr>
              <a:buSzPts val="4050"/>
              <a:buFont typeface="Saira Medium"/>
              <a:buNone/>
            </a:pPr>
            <a:r>
              <a:rPr b="0" i="0" lang="en-US" sz="4050" u="none" cap="none" strike="noStrike">
                <a:solidFill>
                  <a:srgbClr val="FFFFFF"/>
                </a:solidFill>
                <a:latin typeface="Saira Medium"/>
                <a:ea typeface="Saira Medium"/>
                <a:cs typeface="Saira Medium"/>
                <a:sym typeface="Saira Medium"/>
              </a:rPr>
              <a:t>Otros niveles RAID y consideraciones</a:t>
            </a:r>
            <a:endParaRPr b="0" i="0" sz="4050" u="none" cap="none" strike="noStrike"/>
          </a:p>
        </p:txBody>
      </p:sp>
      <p:sp>
        <p:nvSpPr>
          <p:cNvPr id="163" name="Google Shape;163;p8"/>
          <p:cNvSpPr/>
          <p:nvPr/>
        </p:nvSpPr>
        <p:spPr>
          <a:xfrm>
            <a:off x="722590" y="4454247"/>
            <a:ext cx="464463" cy="464463"/>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895469" y="4531638"/>
            <a:ext cx="118586" cy="30968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1</a:t>
            </a:r>
            <a:endParaRPr b="0" i="0" sz="2400" u="none" cap="none" strike="noStrike"/>
          </a:p>
        </p:txBody>
      </p:sp>
      <p:sp>
        <p:nvSpPr>
          <p:cNvPr id="165" name="Google Shape;165;p8"/>
          <p:cNvSpPr/>
          <p:nvPr/>
        </p:nvSpPr>
        <p:spPr>
          <a:xfrm>
            <a:off x="1393508" y="4454247"/>
            <a:ext cx="2976920" cy="3226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Niveles RAID Adicionales</a:t>
            </a:r>
            <a:endParaRPr b="0" i="0" sz="2000" u="none" cap="none" strike="noStrike"/>
          </a:p>
        </p:txBody>
      </p:sp>
      <p:sp>
        <p:nvSpPr>
          <p:cNvPr id="166" name="Google Shape;166;p8"/>
          <p:cNvSpPr/>
          <p:nvPr/>
        </p:nvSpPr>
        <p:spPr>
          <a:xfrm>
            <a:off x="1393508" y="4900732"/>
            <a:ext cx="3586520" cy="198167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Además de los niveles cubiertos anteriormente, existen otros niveles RAID, como RAID 2, 3, 4, 6, 60 y 61, cada uno con sus propias características y aplicaciones específicas.</a:t>
            </a:r>
            <a:endParaRPr b="0" i="0" sz="1600" u="none" cap="none" strike="noStrike"/>
          </a:p>
        </p:txBody>
      </p:sp>
      <p:sp>
        <p:nvSpPr>
          <p:cNvPr id="167" name="Google Shape;167;p8"/>
          <p:cNvSpPr/>
          <p:nvPr/>
        </p:nvSpPr>
        <p:spPr>
          <a:xfrm>
            <a:off x="5186482" y="4454247"/>
            <a:ext cx="464463" cy="464463"/>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5324118" y="4531638"/>
            <a:ext cx="189190" cy="30968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2</a:t>
            </a:r>
            <a:endParaRPr b="0" i="0" sz="2400" u="none" cap="none" strike="noStrike"/>
          </a:p>
        </p:txBody>
      </p:sp>
      <p:sp>
        <p:nvSpPr>
          <p:cNvPr id="169" name="Google Shape;169;p8"/>
          <p:cNvSpPr/>
          <p:nvPr/>
        </p:nvSpPr>
        <p:spPr>
          <a:xfrm>
            <a:off x="5857399" y="4454247"/>
            <a:ext cx="2734985" cy="3226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Elección del Nivel RAID</a:t>
            </a:r>
            <a:endParaRPr b="0" i="0" sz="2000" u="none" cap="none" strike="noStrike"/>
          </a:p>
        </p:txBody>
      </p:sp>
      <p:sp>
        <p:nvSpPr>
          <p:cNvPr id="170" name="Google Shape;170;p8"/>
          <p:cNvSpPr/>
          <p:nvPr/>
        </p:nvSpPr>
        <p:spPr>
          <a:xfrm>
            <a:off x="5857399" y="4900732"/>
            <a:ext cx="3586520" cy="2642235"/>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La selección del nivel de RAID adecuado depende de los requisitos de la aplicación, como el rendimiento, la tolerancia a fallos, la capacidad y el presupuesto. Es importante evaluar cuidadosamente las necesidades del sistema para elegir la configuración RAID más apropiada.</a:t>
            </a:r>
            <a:endParaRPr b="0" i="0" sz="1600" u="none" cap="none" strike="noStrike"/>
          </a:p>
        </p:txBody>
      </p:sp>
      <p:sp>
        <p:nvSpPr>
          <p:cNvPr id="171" name="Google Shape;171;p8"/>
          <p:cNvSpPr/>
          <p:nvPr/>
        </p:nvSpPr>
        <p:spPr>
          <a:xfrm>
            <a:off x="9650373" y="4454247"/>
            <a:ext cx="464463" cy="464463"/>
          </a:xfrm>
          <a:prstGeom prst="roundRect">
            <a:avLst>
              <a:gd fmla="val 40008" name="adj"/>
            </a:avLst>
          </a:prstGeom>
          <a:solidFill>
            <a:srgbClr val="030303"/>
          </a:solidFill>
          <a:ln cap="flat" cmpd="sng" w="22850">
            <a:solidFill>
              <a:srgbClr val="FC83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9789081" y="4531638"/>
            <a:ext cx="187047" cy="30968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E5E0DF"/>
              </a:buClr>
              <a:buSzPts val="2400"/>
              <a:buFont typeface="Saira Medium"/>
              <a:buNone/>
            </a:pPr>
            <a:r>
              <a:rPr b="0" i="0" lang="en-US" sz="2400" u="none" cap="none" strike="noStrike">
                <a:solidFill>
                  <a:srgbClr val="E5E0DF"/>
                </a:solidFill>
                <a:latin typeface="Saira Medium"/>
                <a:ea typeface="Saira Medium"/>
                <a:cs typeface="Saira Medium"/>
                <a:sym typeface="Saira Medium"/>
              </a:rPr>
              <a:t>3</a:t>
            </a:r>
            <a:endParaRPr b="0" i="0" sz="2400" u="none" cap="none" strike="noStrike"/>
          </a:p>
        </p:txBody>
      </p:sp>
      <p:sp>
        <p:nvSpPr>
          <p:cNvPr id="173" name="Google Shape;173;p8"/>
          <p:cNvSpPr/>
          <p:nvPr/>
        </p:nvSpPr>
        <p:spPr>
          <a:xfrm>
            <a:off x="10321290" y="4454247"/>
            <a:ext cx="3379232" cy="32265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E5E0DF"/>
              </a:buClr>
              <a:buSzPts val="2000"/>
              <a:buFont typeface="Saira Medium"/>
              <a:buNone/>
            </a:pPr>
            <a:r>
              <a:rPr b="0" i="0" lang="en-US" sz="2000" u="none" cap="none" strike="noStrike">
                <a:solidFill>
                  <a:srgbClr val="E5E0DF"/>
                </a:solidFill>
                <a:latin typeface="Saira Medium"/>
                <a:ea typeface="Saira Medium"/>
                <a:cs typeface="Saira Medium"/>
                <a:sym typeface="Saira Medium"/>
              </a:rPr>
              <a:t>Consideraciones Adicionales</a:t>
            </a:r>
            <a:endParaRPr b="0" i="0" sz="2000" u="none" cap="none" strike="noStrike"/>
          </a:p>
        </p:txBody>
      </p:sp>
      <p:sp>
        <p:nvSpPr>
          <p:cNvPr id="174" name="Google Shape;174;p8"/>
          <p:cNvSpPr/>
          <p:nvPr/>
        </p:nvSpPr>
        <p:spPr>
          <a:xfrm>
            <a:off x="10321290" y="4900732"/>
            <a:ext cx="3586520" cy="2311956"/>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E5E0DF"/>
              </a:buClr>
              <a:buSzPts val="1600"/>
              <a:buFont typeface="Roboto"/>
              <a:buNone/>
            </a:pPr>
            <a:r>
              <a:rPr b="0" i="0" lang="en-US" sz="1600" u="none" cap="none" strike="noStrike">
                <a:solidFill>
                  <a:srgbClr val="E5E0DF"/>
                </a:solidFill>
                <a:latin typeface="Roboto"/>
                <a:ea typeface="Roboto"/>
                <a:cs typeface="Roboto"/>
                <a:sym typeface="Roboto"/>
              </a:rPr>
              <a:t>Otros factores a tener en cuenta al implementar RAID incluyen la compatibilidad de los controladores, la complejidad de la configuración, la sobrecarga de procesamiento y los costos de implementación y mantenimiento.</a:t>
            </a:r>
            <a:endParaRPr b="0" i="0" sz="16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2024-11-03T23:58:36Z</dcterms:created>
  <dc:creator>PptxGenJS</dc:creator>
</cp:coreProperties>
</file>